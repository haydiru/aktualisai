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8" r:id="rId1"/>
  </p:sldMasterIdLst>
  <p:notesMasterIdLst>
    <p:notesMasterId r:id="rId44"/>
  </p:notesMasterIdLst>
  <p:sldIdLst>
    <p:sldId id="256" r:id="rId2"/>
    <p:sldId id="258" r:id="rId3"/>
    <p:sldId id="260" r:id="rId4"/>
    <p:sldId id="270" r:id="rId5"/>
    <p:sldId id="340" r:id="rId6"/>
    <p:sldId id="259" r:id="rId7"/>
    <p:sldId id="283" r:id="rId8"/>
    <p:sldId id="284" r:id="rId9"/>
    <p:sldId id="286" r:id="rId10"/>
    <p:sldId id="295" r:id="rId11"/>
    <p:sldId id="309" r:id="rId12"/>
    <p:sldId id="310" r:id="rId13"/>
    <p:sldId id="311" r:id="rId14"/>
    <p:sldId id="312" r:id="rId15"/>
    <p:sldId id="313" r:id="rId16"/>
    <p:sldId id="314" r:id="rId17"/>
    <p:sldId id="315" r:id="rId18"/>
    <p:sldId id="316" r:id="rId19"/>
    <p:sldId id="317" r:id="rId20"/>
    <p:sldId id="318" r:id="rId21"/>
    <p:sldId id="319" r:id="rId22"/>
    <p:sldId id="320" r:id="rId23"/>
    <p:sldId id="321" r:id="rId24"/>
    <p:sldId id="322" r:id="rId25"/>
    <p:sldId id="324" r:id="rId26"/>
    <p:sldId id="325" r:id="rId27"/>
    <p:sldId id="326" r:id="rId28"/>
    <p:sldId id="327" r:id="rId29"/>
    <p:sldId id="328" r:id="rId30"/>
    <p:sldId id="329" r:id="rId31"/>
    <p:sldId id="330" r:id="rId32"/>
    <p:sldId id="331" r:id="rId33"/>
    <p:sldId id="332" r:id="rId34"/>
    <p:sldId id="333" r:id="rId35"/>
    <p:sldId id="334" r:id="rId36"/>
    <p:sldId id="335" r:id="rId37"/>
    <p:sldId id="336" r:id="rId38"/>
    <p:sldId id="337" r:id="rId39"/>
    <p:sldId id="338" r:id="rId40"/>
    <p:sldId id="279" r:id="rId41"/>
    <p:sldId id="271" r:id="rId42"/>
    <p:sldId id="339" r:id="rId43"/>
  </p:sldIdLst>
  <p:sldSz cx="9144000" cy="5143500" type="screen16x9"/>
  <p:notesSz cx="6858000" cy="9144000"/>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E76403A-0E00-4F40-B57C-24428DF4E4F1}">
  <a:tblStyle styleId="{AE76403A-0E00-4F40-B57C-24428DF4E4F1}" styleName="Table_0">
    <a:wholeTbl>
      <a:tcStyle>
        <a:tcBdr>
          <a:left>
            <a:ln w="9525" cap="flat" cmpd="sng">
              <a:solidFill>
                <a:srgbClr val="000000"/>
              </a:solidFill>
              <a:prstDash val="solid"/>
              <a:round/>
              <a:headEnd type="none" w="med" len="med"/>
              <a:tailEnd type="none" w="med" len="med"/>
            </a:ln>
          </a:left>
          <a:right>
            <a:ln w="9525" cap="flat" cmpd="sng">
              <a:solidFill>
                <a:srgbClr val="000000"/>
              </a:solidFill>
              <a:prstDash val="solid"/>
              <a:round/>
              <a:headEnd type="none" w="med" len="med"/>
              <a:tailEnd type="none" w="med" len="med"/>
            </a:ln>
          </a:right>
          <a:top>
            <a:ln w="9525" cap="flat" cmpd="sng">
              <a:solidFill>
                <a:srgbClr val="000000"/>
              </a:solidFill>
              <a:prstDash val="solid"/>
              <a:round/>
              <a:headEnd type="none" w="med" len="med"/>
              <a:tailEnd type="none" w="med" len="med"/>
            </a:ln>
          </a:top>
          <a:bottom>
            <a:ln w="9525" cap="flat" cmpd="sng">
              <a:solidFill>
                <a:srgbClr val="000000"/>
              </a:solidFill>
              <a:prstDash val="solid"/>
              <a:round/>
              <a:headEnd type="none" w="med" len="med"/>
              <a:tailEnd type="none" w="med" len="med"/>
            </a:ln>
          </a:bottom>
          <a:insideH>
            <a:ln w="9525" cap="flat" cmpd="sng">
              <a:solidFill>
                <a:srgbClr val="000000"/>
              </a:solidFill>
              <a:prstDash val="solid"/>
              <a:round/>
              <a:headEnd type="none" w="med" len="med"/>
              <a:tailEnd type="none" w="med" len="med"/>
            </a:ln>
          </a:insideH>
          <a:insideV>
            <a:ln w="9525" cap="flat" cmpd="sng">
              <a:solidFill>
                <a:srgbClr val="000000"/>
              </a:solidFill>
              <a:prstDash val="solid"/>
              <a:round/>
              <a:headEnd type="none" w="med" len="med"/>
              <a:tailEnd type="none" w="med" len="med"/>
            </a:ln>
          </a:insideV>
        </a:tcBdr>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3" autoAdjust="0"/>
    <p:restoredTop sz="94660"/>
  </p:normalViewPr>
  <p:slideViewPr>
    <p:cSldViewPr snapToGrid="0">
      <p:cViewPr varScale="1">
        <p:scale>
          <a:sx n="91" d="100"/>
          <a:sy n="91" d="100"/>
        </p:scale>
        <p:origin x="9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1"/>
        <p:cNvGrpSpPr/>
        <p:nvPr/>
      </p:nvGrpSpPr>
      <p:grpSpPr>
        <a:xfrm>
          <a:off x="0" y="0"/>
          <a:ext cx="0" cy="0"/>
          <a:chOff x="0" y="0"/>
          <a:chExt cx="0" cy="0"/>
        </a:xfrm>
      </p:grpSpPr>
      <p:sp>
        <p:nvSpPr>
          <p:cNvPr id="2" name="Shape 2"/>
          <p:cNvSpPr>
            <a:spLocks noGrp="1" noRot="1" noChangeAspect="1"/>
          </p:cNvSpPr>
          <p:nvPr>
            <p:ph type="sldImg" idx="2"/>
          </p:nvPr>
        </p:nvSpPr>
        <p:spPr>
          <a:xfrm>
            <a:off x="381175" y="685800"/>
            <a:ext cx="6096299"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 name="Shape 3"/>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a:spcBef>
                <a:spcPts val="0"/>
              </a:spcBef>
              <a:defRPr sz="1100"/>
            </a:lvl1pPr>
            <a:lvl2pPr>
              <a:spcBef>
                <a:spcPts val="0"/>
              </a:spcBef>
              <a:defRPr sz="1100"/>
            </a:lvl2pPr>
            <a:lvl3pPr>
              <a:spcBef>
                <a:spcPts val="0"/>
              </a:spcBef>
              <a:defRPr sz="1100"/>
            </a:lvl3pPr>
            <a:lvl4pPr>
              <a:spcBef>
                <a:spcPts val="0"/>
              </a:spcBef>
              <a:defRPr sz="1100"/>
            </a:lvl4pPr>
            <a:lvl5pPr>
              <a:spcBef>
                <a:spcPts val="0"/>
              </a:spcBef>
              <a:defRPr sz="1100"/>
            </a:lvl5pPr>
            <a:lvl6pPr>
              <a:spcBef>
                <a:spcPts val="0"/>
              </a:spcBef>
              <a:defRPr sz="1100"/>
            </a:lvl6pPr>
            <a:lvl7pPr>
              <a:spcBef>
                <a:spcPts val="0"/>
              </a:spcBef>
              <a:defRPr sz="1100"/>
            </a:lvl7pPr>
            <a:lvl8pPr>
              <a:spcBef>
                <a:spcPts val="0"/>
              </a:spcBef>
              <a:defRPr sz="1100"/>
            </a:lvl8pPr>
            <a:lvl9pPr>
              <a:spcBef>
                <a:spcPts val="0"/>
              </a:spcBef>
              <a:defRPr sz="1100"/>
            </a:lvl9pPr>
          </a:lstStyle>
          <a:p>
            <a:endParaRPr/>
          </a:p>
        </p:txBody>
      </p:sp>
    </p:spTree>
    <p:extLst>
      <p:ext uri="{BB962C8B-B14F-4D97-AF65-F5344CB8AC3E}">
        <p14:creationId xmlns:p14="http://schemas.microsoft.com/office/powerpoint/2010/main" val="2599415736"/>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Shape 6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69" name="Shape 6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6518210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Shape 9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93" name="Shape 9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552042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Shape 10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05" name="Shape 105"/>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8217739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Shape 23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32" name="Shape 23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5463953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dirty="0"/>
          </a:p>
        </p:txBody>
      </p:sp>
    </p:spTree>
    <p:extLst>
      <p:ext uri="{BB962C8B-B14F-4D97-AF65-F5344CB8AC3E}">
        <p14:creationId xmlns:p14="http://schemas.microsoft.com/office/powerpoint/2010/main" val="4707634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Shape 9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00" name="Shape 10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917002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0070098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dirty="0"/>
          </a:p>
        </p:txBody>
      </p:sp>
    </p:spTree>
    <p:extLst>
      <p:ext uri="{BB962C8B-B14F-4D97-AF65-F5344CB8AC3E}">
        <p14:creationId xmlns:p14="http://schemas.microsoft.com/office/powerpoint/2010/main" val="23610899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6309891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4753888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Shape 9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00" name="Shape 10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9547733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9027609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dirty="0"/>
          </a:p>
        </p:txBody>
      </p:sp>
    </p:spTree>
    <p:extLst>
      <p:ext uri="{BB962C8B-B14F-4D97-AF65-F5344CB8AC3E}">
        <p14:creationId xmlns:p14="http://schemas.microsoft.com/office/powerpoint/2010/main" val="799585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9932336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621915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Shape 9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00" name="Shape 10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8779864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8846142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dirty="0"/>
          </a:p>
        </p:txBody>
      </p:sp>
    </p:spTree>
    <p:extLst>
      <p:ext uri="{BB962C8B-B14F-4D97-AF65-F5344CB8AC3E}">
        <p14:creationId xmlns:p14="http://schemas.microsoft.com/office/powerpoint/2010/main" val="27157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790577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2420197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Shape 9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00" name="Shape 10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6227121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9426121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dirty="0"/>
          </a:p>
        </p:txBody>
      </p:sp>
    </p:spTree>
    <p:extLst>
      <p:ext uri="{BB962C8B-B14F-4D97-AF65-F5344CB8AC3E}">
        <p14:creationId xmlns:p14="http://schemas.microsoft.com/office/powerpoint/2010/main" val="18858865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5453917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Shape 9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00" name="Shape 10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9789697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5767526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dirty="0"/>
          </a:p>
        </p:txBody>
      </p:sp>
    </p:spTree>
    <p:extLst>
      <p:ext uri="{BB962C8B-B14F-4D97-AF65-F5344CB8AC3E}">
        <p14:creationId xmlns:p14="http://schemas.microsoft.com/office/powerpoint/2010/main" val="30778396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5505253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9186261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Shape 9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00" name="Shape 10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5519218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1245609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dirty="0"/>
          </a:p>
        </p:txBody>
      </p:sp>
    </p:spTree>
    <p:extLst>
      <p:ext uri="{BB962C8B-B14F-4D97-AF65-F5344CB8AC3E}">
        <p14:creationId xmlns:p14="http://schemas.microsoft.com/office/powerpoint/2010/main" val="38000686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3895570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8745113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Shape 9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00" name="Shape 10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44531083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64931966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dirty="0"/>
          </a:p>
        </p:txBody>
      </p:sp>
    </p:spTree>
    <p:extLst>
      <p:ext uri="{BB962C8B-B14F-4D97-AF65-F5344CB8AC3E}">
        <p14:creationId xmlns:p14="http://schemas.microsoft.com/office/powerpoint/2010/main" val="418283101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23129971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6" name="Shape 1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4551543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Shape 34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41" name="Shape 341"/>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77156223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Shape 24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48" name="Shape 248"/>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192842419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Shape 34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41" name="Shape 341"/>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extLst>
      <p:ext uri="{BB962C8B-B14F-4D97-AF65-F5344CB8AC3E}">
        <p14:creationId xmlns:p14="http://schemas.microsoft.com/office/powerpoint/2010/main" val="3852046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Shape 7"/>
        <p:cNvGrpSpPr/>
        <p:nvPr/>
      </p:nvGrpSpPr>
      <p:grpSpPr>
        <a:xfrm>
          <a:off x="0" y="0"/>
          <a:ext cx="0" cy="0"/>
          <a:chOff x="0" y="0"/>
          <a:chExt cx="0" cy="0"/>
        </a:xfrm>
      </p:grpSpPr>
      <p:sp>
        <p:nvSpPr>
          <p:cNvPr id="8" name="Shape 8"/>
          <p:cNvSpPr txBox="1">
            <a:spLocks noGrp="1"/>
          </p:cNvSpPr>
          <p:nvPr>
            <p:ph type="ctrTitle"/>
          </p:nvPr>
        </p:nvSpPr>
        <p:spPr>
          <a:xfrm>
            <a:off x="996630" y="2003888"/>
            <a:ext cx="4523699" cy="1159799"/>
          </a:xfrm>
          <a:prstGeom prst="rect">
            <a:avLst/>
          </a:prstGeom>
        </p:spPr>
        <p:txBody>
          <a:bodyPr lIns="91425" tIns="91425" rIns="91425" bIns="91425" anchor="b" anchorCtr="0"/>
          <a:lstStyle>
            <a:lvl1pPr>
              <a:spcBef>
                <a:spcPts val="0"/>
              </a:spcBef>
              <a:buSzPct val="100000"/>
              <a:defRPr sz="3600"/>
            </a:lvl1pPr>
            <a:lvl2pPr>
              <a:spcBef>
                <a:spcPts val="0"/>
              </a:spcBef>
              <a:buSzPct val="100000"/>
              <a:defRPr sz="3600"/>
            </a:lvl2pPr>
            <a:lvl3pPr>
              <a:spcBef>
                <a:spcPts val="0"/>
              </a:spcBef>
              <a:buSzPct val="100000"/>
              <a:defRPr sz="3600"/>
            </a:lvl3pPr>
            <a:lvl4pPr>
              <a:spcBef>
                <a:spcPts val="0"/>
              </a:spcBef>
              <a:buSzPct val="100000"/>
              <a:defRPr sz="3600"/>
            </a:lvl4pPr>
            <a:lvl5pPr>
              <a:spcBef>
                <a:spcPts val="0"/>
              </a:spcBef>
              <a:buSzPct val="100000"/>
              <a:defRPr sz="3600"/>
            </a:lvl5pPr>
            <a:lvl6pPr>
              <a:spcBef>
                <a:spcPts val="0"/>
              </a:spcBef>
              <a:buSzPct val="100000"/>
              <a:defRPr sz="3600"/>
            </a:lvl6pPr>
            <a:lvl7pPr>
              <a:spcBef>
                <a:spcPts val="0"/>
              </a:spcBef>
              <a:buSzPct val="100000"/>
              <a:defRPr sz="3600"/>
            </a:lvl7pPr>
            <a:lvl8pPr>
              <a:spcBef>
                <a:spcPts val="0"/>
              </a:spcBef>
              <a:buSzPct val="100000"/>
              <a:defRPr sz="3600"/>
            </a:lvl8pPr>
            <a:lvl9pPr>
              <a:spcBef>
                <a:spcPts val="0"/>
              </a:spcBef>
              <a:buSzPct val="100000"/>
              <a:defRPr sz="3600"/>
            </a:lvl9pPr>
          </a:lstStyle>
          <a:p>
            <a:endParaRPr/>
          </a:p>
        </p:txBody>
      </p:sp>
      <p:cxnSp>
        <p:nvCxnSpPr>
          <p:cNvPr id="9" name="Shape 9"/>
          <p:cNvCxnSpPr/>
          <p:nvPr/>
        </p:nvCxnSpPr>
        <p:spPr>
          <a:xfrm>
            <a:off x="-6025" y="3676511"/>
            <a:ext cx="9161999" cy="0"/>
          </a:xfrm>
          <a:prstGeom prst="straightConnector1">
            <a:avLst/>
          </a:prstGeom>
          <a:noFill/>
          <a:ln w="9525" cap="flat" cmpd="sng">
            <a:solidFill>
              <a:srgbClr val="000000"/>
            </a:solidFill>
            <a:prstDash val="solid"/>
            <a:round/>
            <a:headEnd type="none" w="lg" len="lg"/>
            <a:tailEnd type="none" w="lg" len="lg"/>
          </a:ln>
        </p:spPr>
      </p:cxnSp>
      <p:sp>
        <p:nvSpPr>
          <p:cNvPr id="10" name="Shape 10"/>
          <p:cNvSpPr/>
          <p:nvPr/>
        </p:nvSpPr>
        <p:spPr>
          <a:xfrm>
            <a:off x="1117950" y="3393000"/>
            <a:ext cx="566999" cy="566999"/>
          </a:xfrm>
          <a:prstGeom prst="ellipse">
            <a:avLst/>
          </a:prstGeom>
          <a:solidFill>
            <a:srgbClr val="FFCD00"/>
          </a:solidFill>
          <a:ln>
            <a:noFill/>
          </a:ln>
        </p:spPr>
        <p:txBody>
          <a:bodyPr lIns="91425" tIns="91425" rIns="91425" bIns="91425" anchor="ctr" anchorCtr="0">
            <a:noAutofit/>
          </a:bodyPr>
          <a:lstStyle/>
          <a:p>
            <a:pPr>
              <a:spcBef>
                <a:spcPts val="0"/>
              </a:spcBef>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ubtitle">
    <p:spTree>
      <p:nvGrpSpPr>
        <p:cNvPr id="1" name="Shape 11"/>
        <p:cNvGrpSpPr/>
        <p:nvPr/>
      </p:nvGrpSpPr>
      <p:grpSpPr>
        <a:xfrm>
          <a:off x="0" y="0"/>
          <a:ext cx="0" cy="0"/>
          <a:chOff x="0" y="0"/>
          <a:chExt cx="0" cy="0"/>
        </a:xfrm>
      </p:grpSpPr>
      <p:sp>
        <p:nvSpPr>
          <p:cNvPr id="12" name="Shape 12"/>
          <p:cNvSpPr txBox="1">
            <a:spLocks noGrp="1"/>
          </p:cNvSpPr>
          <p:nvPr>
            <p:ph type="subTitle" idx="1"/>
          </p:nvPr>
        </p:nvSpPr>
        <p:spPr>
          <a:xfrm>
            <a:off x="2022300" y="2815923"/>
            <a:ext cx="5591400" cy="784799"/>
          </a:xfrm>
          <a:prstGeom prst="rect">
            <a:avLst/>
          </a:prstGeom>
        </p:spPr>
        <p:txBody>
          <a:bodyPr lIns="91425" tIns="91425" rIns="91425" bIns="91425" anchor="t" anchorCtr="0"/>
          <a:lstStyle>
            <a:lvl1pPr rtl="0">
              <a:spcBef>
                <a:spcPts val="0"/>
              </a:spcBef>
              <a:buClr>
                <a:srgbClr val="000000"/>
              </a:buClr>
              <a:buSzPct val="100000"/>
              <a:buNone/>
              <a:defRPr sz="1400"/>
            </a:lvl1pPr>
            <a:lvl2pPr rtl="0">
              <a:spcBef>
                <a:spcPts val="0"/>
              </a:spcBef>
              <a:buClr>
                <a:schemeClr val="dk2"/>
              </a:buClr>
              <a:buSzPct val="100000"/>
              <a:buNone/>
              <a:defRPr sz="1400">
                <a:solidFill>
                  <a:schemeClr val="dk2"/>
                </a:solidFill>
              </a:defRPr>
            </a:lvl2pPr>
            <a:lvl3pPr rtl="0">
              <a:spcBef>
                <a:spcPts val="0"/>
              </a:spcBef>
              <a:buClr>
                <a:schemeClr val="dk2"/>
              </a:buClr>
              <a:buSzPct val="100000"/>
              <a:buNone/>
              <a:defRPr sz="1400">
                <a:solidFill>
                  <a:schemeClr val="dk2"/>
                </a:solidFill>
              </a:defRPr>
            </a:lvl3pPr>
            <a:lvl4pPr rtl="0">
              <a:spcBef>
                <a:spcPts val="0"/>
              </a:spcBef>
              <a:buClr>
                <a:schemeClr val="dk2"/>
              </a:buClr>
              <a:buSzPct val="100000"/>
              <a:buNone/>
              <a:defRPr sz="1400">
                <a:solidFill>
                  <a:schemeClr val="dk2"/>
                </a:solidFill>
              </a:defRPr>
            </a:lvl4pPr>
            <a:lvl5pPr rtl="0">
              <a:spcBef>
                <a:spcPts val="0"/>
              </a:spcBef>
              <a:buClr>
                <a:schemeClr val="dk2"/>
              </a:buClr>
              <a:buSzPct val="100000"/>
              <a:buNone/>
              <a:defRPr sz="1400">
                <a:solidFill>
                  <a:schemeClr val="dk2"/>
                </a:solidFill>
              </a:defRPr>
            </a:lvl5pPr>
            <a:lvl6pPr rtl="0">
              <a:spcBef>
                <a:spcPts val="0"/>
              </a:spcBef>
              <a:buClr>
                <a:schemeClr val="dk2"/>
              </a:buClr>
              <a:buSzPct val="100000"/>
              <a:buNone/>
              <a:defRPr sz="1400">
                <a:solidFill>
                  <a:schemeClr val="dk2"/>
                </a:solidFill>
              </a:defRPr>
            </a:lvl6pPr>
            <a:lvl7pPr rtl="0">
              <a:spcBef>
                <a:spcPts val="0"/>
              </a:spcBef>
              <a:buClr>
                <a:schemeClr val="dk2"/>
              </a:buClr>
              <a:buSzPct val="100000"/>
              <a:buNone/>
              <a:defRPr sz="1400">
                <a:solidFill>
                  <a:schemeClr val="dk2"/>
                </a:solidFill>
              </a:defRPr>
            </a:lvl7pPr>
            <a:lvl8pPr rtl="0">
              <a:spcBef>
                <a:spcPts val="0"/>
              </a:spcBef>
              <a:buClr>
                <a:schemeClr val="dk2"/>
              </a:buClr>
              <a:buSzPct val="100000"/>
              <a:buNone/>
              <a:defRPr sz="1400">
                <a:solidFill>
                  <a:schemeClr val="dk2"/>
                </a:solidFill>
              </a:defRPr>
            </a:lvl8pPr>
            <a:lvl9pPr rtl="0">
              <a:spcBef>
                <a:spcPts val="0"/>
              </a:spcBef>
              <a:buClr>
                <a:schemeClr val="dk2"/>
              </a:buClr>
              <a:buSzPct val="100000"/>
              <a:buNone/>
              <a:defRPr sz="1400">
                <a:solidFill>
                  <a:schemeClr val="dk2"/>
                </a:solidFill>
              </a:defRPr>
            </a:lvl9pPr>
          </a:lstStyle>
          <a:p>
            <a:endParaRPr/>
          </a:p>
        </p:txBody>
      </p:sp>
      <p:cxnSp>
        <p:nvCxnSpPr>
          <p:cNvPr id="13" name="Shape 13"/>
          <p:cNvCxnSpPr/>
          <p:nvPr/>
        </p:nvCxnSpPr>
        <p:spPr>
          <a:xfrm>
            <a:off x="-6025" y="2571761"/>
            <a:ext cx="1984499" cy="0"/>
          </a:xfrm>
          <a:prstGeom prst="straightConnector1">
            <a:avLst/>
          </a:prstGeom>
          <a:noFill/>
          <a:ln w="9525" cap="flat" cmpd="sng">
            <a:solidFill>
              <a:srgbClr val="CCCCCC"/>
            </a:solidFill>
            <a:prstDash val="solid"/>
            <a:round/>
            <a:headEnd type="none" w="lg" len="lg"/>
            <a:tailEnd type="none" w="lg" len="lg"/>
          </a:ln>
        </p:spPr>
      </p:cxnSp>
      <p:sp>
        <p:nvSpPr>
          <p:cNvPr id="14" name="Shape 14"/>
          <p:cNvSpPr/>
          <p:nvPr/>
        </p:nvSpPr>
        <p:spPr>
          <a:xfrm>
            <a:off x="1117950" y="2288250"/>
            <a:ext cx="566999" cy="566999"/>
          </a:xfrm>
          <a:prstGeom prst="ellipse">
            <a:avLst/>
          </a:prstGeom>
          <a:solidFill>
            <a:srgbClr val="FFCD00"/>
          </a:solidFill>
          <a:ln>
            <a:noFill/>
          </a:ln>
        </p:spPr>
        <p:txBody>
          <a:bodyPr lIns="91425" tIns="91425" rIns="91425" bIns="91425" anchor="ctr" anchorCtr="0">
            <a:noAutofit/>
          </a:bodyPr>
          <a:lstStyle/>
          <a:p>
            <a:pPr lvl="0" rtl="0">
              <a:spcBef>
                <a:spcPts val="0"/>
              </a:spcBef>
              <a:buNone/>
            </a:pPr>
            <a:endParaRPr/>
          </a:p>
        </p:txBody>
      </p:sp>
      <p:sp>
        <p:nvSpPr>
          <p:cNvPr id="15" name="Shape 15"/>
          <p:cNvSpPr txBox="1">
            <a:spLocks noGrp="1"/>
          </p:cNvSpPr>
          <p:nvPr>
            <p:ph type="ctrTitle"/>
          </p:nvPr>
        </p:nvSpPr>
        <p:spPr>
          <a:xfrm>
            <a:off x="2022225" y="1693523"/>
            <a:ext cx="3787799" cy="1159799"/>
          </a:xfrm>
          <a:prstGeom prst="rect">
            <a:avLst/>
          </a:prstGeom>
        </p:spPr>
        <p:txBody>
          <a:bodyPr lIns="91425" tIns="91425" rIns="91425" bIns="91425" anchor="b" anchorCtr="0"/>
          <a:lstStyle>
            <a:lvl1pPr rtl="0">
              <a:spcBef>
                <a:spcPts val="0"/>
              </a:spcBef>
              <a:buSzPct val="100000"/>
              <a:defRPr sz="3000"/>
            </a:lvl1pPr>
            <a:lvl2pPr rtl="0">
              <a:spcBef>
                <a:spcPts val="0"/>
              </a:spcBef>
              <a:buSzPct val="100000"/>
              <a:defRPr sz="3000"/>
            </a:lvl2pPr>
            <a:lvl3pPr rtl="0">
              <a:spcBef>
                <a:spcPts val="0"/>
              </a:spcBef>
              <a:buSzPct val="100000"/>
              <a:defRPr sz="3000"/>
            </a:lvl3pPr>
            <a:lvl4pPr rtl="0">
              <a:spcBef>
                <a:spcPts val="0"/>
              </a:spcBef>
              <a:buSzPct val="100000"/>
              <a:defRPr sz="3000"/>
            </a:lvl4pPr>
            <a:lvl5pPr rtl="0">
              <a:spcBef>
                <a:spcPts val="0"/>
              </a:spcBef>
              <a:buSzPct val="100000"/>
              <a:defRPr sz="3000"/>
            </a:lvl5pPr>
            <a:lvl6pPr rtl="0">
              <a:spcBef>
                <a:spcPts val="0"/>
              </a:spcBef>
              <a:buSzPct val="100000"/>
              <a:defRPr sz="3000"/>
            </a:lvl6pPr>
            <a:lvl7pPr rtl="0">
              <a:spcBef>
                <a:spcPts val="0"/>
              </a:spcBef>
              <a:buSzPct val="100000"/>
              <a:defRPr sz="3000"/>
            </a:lvl7pPr>
            <a:lvl8pPr rtl="0">
              <a:spcBef>
                <a:spcPts val="0"/>
              </a:spcBef>
              <a:buSzPct val="100000"/>
              <a:defRPr sz="3000"/>
            </a:lvl8pPr>
            <a:lvl9pPr rtl="0">
              <a:spcBef>
                <a:spcPts val="0"/>
              </a:spcBef>
              <a:buSzPct val="100000"/>
              <a:defRPr sz="3000"/>
            </a:lvl9pPr>
          </a:lstStyle>
          <a:p>
            <a:endParaRPr/>
          </a:p>
        </p:txBody>
      </p:sp>
      <p:cxnSp>
        <p:nvCxnSpPr>
          <p:cNvPr id="16" name="Shape 16"/>
          <p:cNvCxnSpPr/>
          <p:nvPr/>
        </p:nvCxnSpPr>
        <p:spPr>
          <a:xfrm>
            <a:off x="5898975" y="2571750"/>
            <a:ext cx="3251099" cy="0"/>
          </a:xfrm>
          <a:prstGeom prst="straightConnector1">
            <a:avLst/>
          </a:prstGeom>
          <a:noFill/>
          <a:ln w="9525" cap="flat" cmpd="sng">
            <a:solidFill>
              <a:srgbClr val="CCCCCC"/>
            </a:solidFill>
            <a:prstDash val="solid"/>
            <a:round/>
            <a:headEnd type="none" w="lg" len="lg"/>
            <a:tailEnd type="none" w="lg" len="lg"/>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Quote">
    <p:spTree>
      <p:nvGrpSpPr>
        <p:cNvPr id="1" name="Shape 17"/>
        <p:cNvGrpSpPr/>
        <p:nvPr/>
      </p:nvGrpSpPr>
      <p:grpSpPr>
        <a:xfrm>
          <a:off x="0" y="0"/>
          <a:ext cx="0" cy="0"/>
          <a:chOff x="0" y="0"/>
          <a:chExt cx="0" cy="0"/>
        </a:xfrm>
      </p:grpSpPr>
      <p:sp>
        <p:nvSpPr>
          <p:cNvPr id="18" name="Shape 18"/>
          <p:cNvSpPr txBox="1">
            <a:spLocks noGrp="1"/>
          </p:cNvSpPr>
          <p:nvPr>
            <p:ph type="body" idx="1"/>
          </p:nvPr>
        </p:nvSpPr>
        <p:spPr>
          <a:xfrm>
            <a:off x="2105050" y="2238000"/>
            <a:ext cx="4933800" cy="819899"/>
          </a:xfrm>
          <a:prstGeom prst="rect">
            <a:avLst/>
          </a:prstGeom>
        </p:spPr>
        <p:txBody>
          <a:bodyPr lIns="91425" tIns="91425" rIns="91425" bIns="91425" anchor="b" anchorCtr="0"/>
          <a:lstStyle>
            <a:lvl1pPr algn="ctr" rtl="0">
              <a:spcBef>
                <a:spcPts val="0"/>
              </a:spcBef>
              <a:buSzPct val="100000"/>
              <a:buFont typeface="Lora"/>
              <a:defRPr sz="2400" i="1">
                <a:latin typeface="Lora"/>
                <a:ea typeface="Lora"/>
                <a:cs typeface="Lora"/>
                <a:sym typeface="Lora"/>
              </a:defRPr>
            </a:lvl1pPr>
            <a:lvl2pPr algn="ctr" rtl="0">
              <a:spcBef>
                <a:spcPts val="0"/>
              </a:spcBef>
              <a:buFont typeface="Lora"/>
              <a:defRPr i="1">
                <a:latin typeface="Lora"/>
                <a:ea typeface="Lora"/>
                <a:cs typeface="Lora"/>
                <a:sym typeface="Lora"/>
              </a:defRPr>
            </a:lvl2pPr>
            <a:lvl3pPr algn="ctr" rtl="0">
              <a:spcBef>
                <a:spcPts val="0"/>
              </a:spcBef>
              <a:buFont typeface="Lora"/>
              <a:defRPr i="1">
                <a:latin typeface="Lora"/>
                <a:ea typeface="Lora"/>
                <a:cs typeface="Lora"/>
                <a:sym typeface="Lora"/>
              </a:defRPr>
            </a:lvl3pPr>
            <a:lvl4pPr algn="ctr" rtl="0">
              <a:spcBef>
                <a:spcPts val="0"/>
              </a:spcBef>
              <a:buSzPct val="100000"/>
              <a:buFont typeface="Lora"/>
              <a:defRPr sz="2400" i="1">
                <a:latin typeface="Lora"/>
                <a:ea typeface="Lora"/>
                <a:cs typeface="Lora"/>
                <a:sym typeface="Lora"/>
              </a:defRPr>
            </a:lvl4pPr>
            <a:lvl5pPr algn="ctr" rtl="0">
              <a:spcBef>
                <a:spcPts val="0"/>
              </a:spcBef>
              <a:buSzPct val="100000"/>
              <a:buFont typeface="Lora"/>
              <a:defRPr sz="2400" i="1">
                <a:latin typeface="Lora"/>
                <a:ea typeface="Lora"/>
                <a:cs typeface="Lora"/>
                <a:sym typeface="Lora"/>
              </a:defRPr>
            </a:lvl5pPr>
            <a:lvl6pPr algn="ctr" rtl="0">
              <a:spcBef>
                <a:spcPts val="0"/>
              </a:spcBef>
              <a:buSzPct val="100000"/>
              <a:buFont typeface="Lora"/>
              <a:defRPr sz="2400" i="1">
                <a:latin typeface="Lora"/>
                <a:ea typeface="Lora"/>
                <a:cs typeface="Lora"/>
                <a:sym typeface="Lora"/>
              </a:defRPr>
            </a:lvl6pPr>
            <a:lvl7pPr algn="ctr" rtl="0">
              <a:spcBef>
                <a:spcPts val="0"/>
              </a:spcBef>
              <a:buSzPct val="100000"/>
              <a:buFont typeface="Lora"/>
              <a:defRPr sz="2400" i="1">
                <a:latin typeface="Lora"/>
                <a:ea typeface="Lora"/>
                <a:cs typeface="Lora"/>
                <a:sym typeface="Lora"/>
              </a:defRPr>
            </a:lvl7pPr>
            <a:lvl8pPr algn="ctr" rtl="0">
              <a:spcBef>
                <a:spcPts val="0"/>
              </a:spcBef>
              <a:buSzPct val="100000"/>
              <a:buFont typeface="Lora"/>
              <a:defRPr sz="2400" i="1">
                <a:latin typeface="Lora"/>
                <a:ea typeface="Lora"/>
                <a:cs typeface="Lora"/>
                <a:sym typeface="Lora"/>
              </a:defRPr>
            </a:lvl8pPr>
            <a:lvl9pPr algn="ctr">
              <a:spcBef>
                <a:spcPts val="0"/>
              </a:spcBef>
              <a:buSzPct val="100000"/>
              <a:buFont typeface="Lora"/>
              <a:defRPr sz="2400" i="1">
                <a:latin typeface="Lora"/>
                <a:ea typeface="Lora"/>
                <a:cs typeface="Lora"/>
                <a:sym typeface="Lora"/>
              </a:defRPr>
            </a:lvl9pPr>
          </a:lstStyle>
          <a:p>
            <a:endParaRPr/>
          </a:p>
        </p:txBody>
      </p:sp>
      <p:cxnSp>
        <p:nvCxnSpPr>
          <p:cNvPr id="19" name="Shape 19"/>
          <p:cNvCxnSpPr/>
          <p:nvPr/>
        </p:nvCxnSpPr>
        <p:spPr>
          <a:xfrm>
            <a:off x="4584075" y="3676500"/>
            <a:ext cx="0" cy="1480499"/>
          </a:xfrm>
          <a:prstGeom prst="straightConnector1">
            <a:avLst/>
          </a:prstGeom>
          <a:noFill/>
          <a:ln w="9525" cap="flat" cmpd="sng">
            <a:solidFill>
              <a:srgbClr val="CCCCCC"/>
            </a:solidFill>
            <a:prstDash val="solid"/>
            <a:round/>
            <a:headEnd type="none" w="lg" len="lg"/>
            <a:tailEnd type="none" w="lg" len="lg"/>
          </a:ln>
        </p:spPr>
      </p:cxnSp>
      <p:sp>
        <p:nvSpPr>
          <p:cNvPr id="20" name="Shape 20"/>
          <p:cNvSpPr/>
          <p:nvPr/>
        </p:nvSpPr>
        <p:spPr>
          <a:xfrm>
            <a:off x="4288500" y="3393000"/>
            <a:ext cx="566999" cy="566999"/>
          </a:xfrm>
          <a:prstGeom prst="ellipse">
            <a:avLst/>
          </a:prstGeom>
          <a:solidFill>
            <a:srgbClr val="FFCD00"/>
          </a:solidFill>
          <a:ln>
            <a:noFill/>
          </a:ln>
        </p:spPr>
        <p:txBody>
          <a:bodyPr lIns="91425" tIns="91425" rIns="91425" bIns="91425" anchor="ctr" anchorCtr="0">
            <a:noAutofit/>
          </a:bodyPr>
          <a:lstStyle/>
          <a:p>
            <a:pPr lvl="0" rtl="0">
              <a:spcBef>
                <a:spcPts val="0"/>
              </a:spcBef>
              <a:buNone/>
            </a:pPr>
            <a:endParaRPr/>
          </a:p>
        </p:txBody>
      </p:sp>
      <p:sp>
        <p:nvSpPr>
          <p:cNvPr id="21" name="Shape 21"/>
          <p:cNvSpPr txBox="1"/>
          <p:nvPr/>
        </p:nvSpPr>
        <p:spPr>
          <a:xfrm>
            <a:off x="3593400" y="3412651"/>
            <a:ext cx="1957200" cy="653699"/>
          </a:xfrm>
          <a:prstGeom prst="rect">
            <a:avLst/>
          </a:prstGeom>
          <a:noFill/>
          <a:ln>
            <a:noFill/>
          </a:ln>
        </p:spPr>
        <p:txBody>
          <a:bodyPr lIns="91425" tIns="91425" rIns="91425" bIns="91425" anchor="t" anchorCtr="0">
            <a:noAutofit/>
          </a:bodyPr>
          <a:lstStyle/>
          <a:p>
            <a:pPr algn="ctr">
              <a:spcBef>
                <a:spcPts val="0"/>
              </a:spcBef>
              <a:buNone/>
            </a:pPr>
            <a:r>
              <a:rPr lang="en" sz="3600" b="1">
                <a:latin typeface="Lora"/>
                <a:ea typeface="Lora"/>
                <a:cs typeface="Lora"/>
                <a:sym typeface="Lora"/>
              </a:rPr>
              <a: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22"/>
        <p:cNvGrpSpPr/>
        <p:nvPr/>
      </p:nvGrpSpPr>
      <p:grpSpPr>
        <a:xfrm>
          <a:off x="0" y="0"/>
          <a:ext cx="0" cy="0"/>
          <a:chOff x="0" y="0"/>
          <a:chExt cx="0" cy="0"/>
        </a:xfrm>
      </p:grpSpPr>
      <p:cxnSp>
        <p:nvCxnSpPr>
          <p:cNvPr id="23" name="Shape 23"/>
          <p:cNvCxnSpPr/>
          <p:nvPr/>
        </p:nvCxnSpPr>
        <p:spPr>
          <a:xfrm>
            <a:off x="0" y="1131725"/>
            <a:ext cx="1375800" cy="0"/>
          </a:xfrm>
          <a:prstGeom prst="straightConnector1">
            <a:avLst/>
          </a:prstGeom>
          <a:noFill/>
          <a:ln w="9525" cap="flat" cmpd="sng">
            <a:solidFill>
              <a:srgbClr val="CCCCCC"/>
            </a:solidFill>
            <a:prstDash val="solid"/>
            <a:round/>
            <a:headEnd type="none" w="lg" len="lg"/>
            <a:tailEnd type="none" w="lg" len="lg"/>
          </a:ln>
        </p:spPr>
      </p:cxnSp>
      <p:sp>
        <p:nvSpPr>
          <p:cNvPr id="24" name="Shape 24"/>
          <p:cNvSpPr/>
          <p:nvPr/>
        </p:nvSpPr>
        <p:spPr>
          <a:xfrm>
            <a:off x="817475" y="928766"/>
            <a:ext cx="405899" cy="405899"/>
          </a:xfrm>
          <a:prstGeom prst="ellipse">
            <a:avLst/>
          </a:prstGeom>
          <a:solidFill>
            <a:srgbClr val="FFCD00"/>
          </a:solidFill>
          <a:ln>
            <a:noFill/>
          </a:ln>
        </p:spPr>
        <p:txBody>
          <a:bodyPr lIns="91425" tIns="91425" rIns="91425" bIns="91425" anchor="ctr" anchorCtr="0">
            <a:noAutofit/>
          </a:bodyPr>
          <a:lstStyle/>
          <a:p>
            <a:pPr lvl="0" rtl="0">
              <a:spcBef>
                <a:spcPts val="0"/>
              </a:spcBef>
              <a:buNone/>
            </a:pPr>
            <a:endParaRPr/>
          </a:p>
        </p:txBody>
      </p:sp>
      <p:sp>
        <p:nvSpPr>
          <p:cNvPr id="25" name="Shape 25"/>
          <p:cNvSpPr txBox="1">
            <a:spLocks noGrp="1"/>
          </p:cNvSpPr>
          <p:nvPr>
            <p:ph type="title"/>
          </p:nvPr>
        </p:nvSpPr>
        <p:spPr>
          <a:xfrm>
            <a:off x="1381250" y="922668"/>
            <a:ext cx="3878399" cy="435599"/>
          </a:xfrm>
          <a:prstGeom prst="rect">
            <a:avLst/>
          </a:prstGeom>
        </p:spPr>
        <p:txBody>
          <a:bodyPr lIns="91425" tIns="91425" rIns="91425" bIns="91425" anchor="ctr" anchorCtr="0"/>
          <a:lstStyle>
            <a:lvl1pPr rtl="0">
              <a:spcBef>
                <a:spcPts val="0"/>
              </a:spcBef>
              <a:buSzPct val="100000"/>
              <a:buFont typeface="Lora"/>
              <a:buNone/>
              <a:defRPr sz="2000" b="1">
                <a:latin typeface="Lora"/>
                <a:ea typeface="Lora"/>
                <a:cs typeface="Lora"/>
                <a:sym typeface="Lora"/>
              </a:defRPr>
            </a:lvl1pPr>
            <a:lvl2pPr rtl="0">
              <a:spcBef>
                <a:spcPts val="0"/>
              </a:spcBef>
              <a:buSzPct val="100000"/>
              <a:buFont typeface="Lora"/>
              <a:buNone/>
              <a:defRPr sz="2000" b="1">
                <a:latin typeface="Lora"/>
                <a:ea typeface="Lora"/>
                <a:cs typeface="Lora"/>
                <a:sym typeface="Lora"/>
              </a:defRPr>
            </a:lvl2pPr>
            <a:lvl3pPr rtl="0">
              <a:spcBef>
                <a:spcPts val="0"/>
              </a:spcBef>
              <a:buSzPct val="100000"/>
              <a:buFont typeface="Lora"/>
              <a:buNone/>
              <a:defRPr sz="2000" b="1">
                <a:latin typeface="Lora"/>
                <a:ea typeface="Lora"/>
                <a:cs typeface="Lora"/>
                <a:sym typeface="Lora"/>
              </a:defRPr>
            </a:lvl3pPr>
            <a:lvl4pPr rtl="0">
              <a:spcBef>
                <a:spcPts val="0"/>
              </a:spcBef>
              <a:buSzPct val="100000"/>
              <a:buFont typeface="Lora"/>
              <a:buNone/>
              <a:defRPr sz="2000" b="1">
                <a:latin typeface="Lora"/>
                <a:ea typeface="Lora"/>
                <a:cs typeface="Lora"/>
                <a:sym typeface="Lora"/>
              </a:defRPr>
            </a:lvl4pPr>
            <a:lvl5pPr rtl="0">
              <a:spcBef>
                <a:spcPts val="0"/>
              </a:spcBef>
              <a:buSzPct val="100000"/>
              <a:buFont typeface="Lora"/>
              <a:buNone/>
              <a:defRPr sz="2000" b="1">
                <a:latin typeface="Lora"/>
                <a:ea typeface="Lora"/>
                <a:cs typeface="Lora"/>
                <a:sym typeface="Lora"/>
              </a:defRPr>
            </a:lvl5pPr>
            <a:lvl6pPr rtl="0">
              <a:spcBef>
                <a:spcPts val="0"/>
              </a:spcBef>
              <a:buSzPct val="100000"/>
              <a:buFont typeface="Lora"/>
              <a:buNone/>
              <a:defRPr sz="2000" b="1">
                <a:latin typeface="Lora"/>
                <a:ea typeface="Lora"/>
                <a:cs typeface="Lora"/>
                <a:sym typeface="Lora"/>
              </a:defRPr>
            </a:lvl6pPr>
            <a:lvl7pPr rtl="0">
              <a:spcBef>
                <a:spcPts val="0"/>
              </a:spcBef>
              <a:buSzPct val="100000"/>
              <a:buFont typeface="Lora"/>
              <a:buNone/>
              <a:defRPr sz="2000" b="1">
                <a:latin typeface="Lora"/>
                <a:ea typeface="Lora"/>
                <a:cs typeface="Lora"/>
                <a:sym typeface="Lora"/>
              </a:defRPr>
            </a:lvl7pPr>
            <a:lvl8pPr rtl="0">
              <a:spcBef>
                <a:spcPts val="0"/>
              </a:spcBef>
              <a:buSzPct val="100000"/>
              <a:buFont typeface="Lora"/>
              <a:buNone/>
              <a:defRPr sz="2000" b="1">
                <a:latin typeface="Lora"/>
                <a:ea typeface="Lora"/>
                <a:cs typeface="Lora"/>
                <a:sym typeface="Lora"/>
              </a:defRPr>
            </a:lvl8pPr>
            <a:lvl9pPr rtl="0">
              <a:spcBef>
                <a:spcPts val="0"/>
              </a:spcBef>
              <a:buSzPct val="100000"/>
              <a:buFont typeface="Lora"/>
              <a:buNone/>
              <a:defRPr sz="2000" b="1">
                <a:latin typeface="Lora"/>
                <a:ea typeface="Lora"/>
                <a:cs typeface="Lora"/>
                <a:sym typeface="Lora"/>
              </a:defRPr>
            </a:lvl9pPr>
          </a:lstStyle>
          <a:p>
            <a:endParaRPr/>
          </a:p>
        </p:txBody>
      </p:sp>
      <p:sp>
        <p:nvSpPr>
          <p:cNvPr id="26" name="Shape 26"/>
          <p:cNvSpPr txBox="1">
            <a:spLocks noGrp="1"/>
          </p:cNvSpPr>
          <p:nvPr>
            <p:ph type="body" idx="1"/>
          </p:nvPr>
        </p:nvSpPr>
        <p:spPr>
          <a:xfrm>
            <a:off x="1381250" y="1616470"/>
            <a:ext cx="6809700" cy="3112200"/>
          </a:xfrm>
          <a:prstGeom prst="rect">
            <a:avLst/>
          </a:prstGeom>
        </p:spPr>
        <p:txBody>
          <a:bodyPr lIns="91425" tIns="91425" rIns="91425" bIns="91425" anchor="t" anchorCtr="0"/>
          <a:lstStyle>
            <a:lvl1pPr rtl="0">
              <a:spcBef>
                <a:spcPts val="600"/>
              </a:spcBef>
              <a:buClr>
                <a:srgbClr val="FFCD00"/>
              </a:buClr>
              <a:buSzPct val="100000"/>
              <a:buFont typeface="Quattrocento Sans"/>
              <a:buChar char="◉"/>
              <a:defRPr sz="2400">
                <a:latin typeface="Quattrocento Sans"/>
                <a:ea typeface="Quattrocento Sans"/>
                <a:cs typeface="Quattrocento Sans"/>
                <a:sym typeface="Quattrocento Sans"/>
              </a:defRPr>
            </a:lvl1pPr>
            <a:lvl2pPr rtl="0">
              <a:spcBef>
                <a:spcPts val="480"/>
              </a:spcBef>
              <a:buClr>
                <a:srgbClr val="FFCD00"/>
              </a:buClr>
              <a:buSzPct val="100000"/>
              <a:buFont typeface="Quattrocento Sans"/>
              <a:defRPr sz="2000">
                <a:latin typeface="Quattrocento Sans"/>
                <a:ea typeface="Quattrocento Sans"/>
                <a:cs typeface="Quattrocento Sans"/>
                <a:sym typeface="Quattrocento Sans"/>
              </a:defRPr>
            </a:lvl2pPr>
            <a:lvl3pPr rtl="0">
              <a:spcBef>
                <a:spcPts val="480"/>
              </a:spcBef>
              <a:buClr>
                <a:srgbClr val="FFCD00"/>
              </a:buClr>
              <a:buSzPct val="100000"/>
              <a:buFont typeface="Quattrocento Sans"/>
              <a:defRPr sz="2000">
                <a:latin typeface="Quattrocento Sans"/>
                <a:ea typeface="Quattrocento Sans"/>
                <a:cs typeface="Quattrocento Sans"/>
                <a:sym typeface="Quattrocento Sans"/>
              </a:defRPr>
            </a:lvl3pPr>
            <a:lvl4pPr rtl="0">
              <a:spcBef>
                <a:spcPts val="360"/>
              </a:spcBef>
              <a:buClr>
                <a:srgbClr val="FFCD00"/>
              </a:buClr>
              <a:buSzPct val="100000"/>
              <a:buFont typeface="Quattrocento Sans"/>
              <a:defRPr sz="1800">
                <a:latin typeface="Quattrocento Sans"/>
                <a:ea typeface="Quattrocento Sans"/>
                <a:cs typeface="Quattrocento Sans"/>
                <a:sym typeface="Quattrocento Sans"/>
              </a:defRPr>
            </a:lvl4pPr>
            <a:lvl5pPr rtl="0">
              <a:spcBef>
                <a:spcPts val="360"/>
              </a:spcBef>
              <a:buClr>
                <a:srgbClr val="FFCD00"/>
              </a:buClr>
              <a:buSzPct val="100000"/>
              <a:buFont typeface="Quattrocento Sans"/>
              <a:defRPr sz="1800">
                <a:latin typeface="Quattrocento Sans"/>
                <a:ea typeface="Quattrocento Sans"/>
                <a:cs typeface="Quattrocento Sans"/>
                <a:sym typeface="Quattrocento Sans"/>
              </a:defRPr>
            </a:lvl5pPr>
            <a:lvl6pPr rtl="0">
              <a:spcBef>
                <a:spcPts val="360"/>
              </a:spcBef>
              <a:buClr>
                <a:srgbClr val="FFCD00"/>
              </a:buClr>
              <a:buSzPct val="100000"/>
              <a:buFont typeface="Quattrocento Sans"/>
              <a:defRPr sz="1800">
                <a:latin typeface="Quattrocento Sans"/>
                <a:ea typeface="Quattrocento Sans"/>
                <a:cs typeface="Quattrocento Sans"/>
                <a:sym typeface="Quattrocento Sans"/>
              </a:defRPr>
            </a:lvl6pPr>
            <a:lvl7pPr rtl="0">
              <a:spcBef>
                <a:spcPts val="360"/>
              </a:spcBef>
              <a:buClr>
                <a:srgbClr val="FFCD00"/>
              </a:buClr>
              <a:buSzPct val="100000"/>
              <a:buFont typeface="Quattrocento Sans"/>
              <a:defRPr sz="1800">
                <a:latin typeface="Quattrocento Sans"/>
                <a:ea typeface="Quattrocento Sans"/>
                <a:cs typeface="Quattrocento Sans"/>
                <a:sym typeface="Quattrocento Sans"/>
              </a:defRPr>
            </a:lvl7pPr>
            <a:lvl8pPr rtl="0">
              <a:spcBef>
                <a:spcPts val="360"/>
              </a:spcBef>
              <a:buClr>
                <a:srgbClr val="FFCD00"/>
              </a:buClr>
              <a:buSzPct val="100000"/>
              <a:buFont typeface="Quattrocento Sans"/>
              <a:defRPr sz="1800">
                <a:latin typeface="Quattrocento Sans"/>
                <a:ea typeface="Quattrocento Sans"/>
                <a:cs typeface="Quattrocento Sans"/>
                <a:sym typeface="Quattrocento Sans"/>
              </a:defRPr>
            </a:lvl8pPr>
            <a:lvl9pPr rtl="0">
              <a:spcBef>
                <a:spcPts val="360"/>
              </a:spcBef>
              <a:buClr>
                <a:srgbClr val="FFCD00"/>
              </a:buClr>
              <a:buSzPct val="100000"/>
              <a:buFont typeface="Quattrocento Sans"/>
              <a:defRPr sz="1800">
                <a:latin typeface="Quattrocento Sans"/>
                <a:ea typeface="Quattrocento Sans"/>
                <a:cs typeface="Quattrocento Sans"/>
                <a:sym typeface="Quattrocento Sans"/>
              </a:defRPr>
            </a:lvl9pPr>
          </a:lstStyle>
          <a:p>
            <a:endParaRPr/>
          </a:p>
        </p:txBody>
      </p:sp>
      <p:cxnSp>
        <p:nvCxnSpPr>
          <p:cNvPr id="27" name="Shape 27"/>
          <p:cNvCxnSpPr/>
          <p:nvPr/>
        </p:nvCxnSpPr>
        <p:spPr>
          <a:xfrm>
            <a:off x="5265650" y="1131725"/>
            <a:ext cx="3878399" cy="0"/>
          </a:xfrm>
          <a:prstGeom prst="straightConnector1">
            <a:avLst/>
          </a:prstGeom>
          <a:noFill/>
          <a:ln w="9525" cap="flat" cmpd="sng">
            <a:solidFill>
              <a:srgbClr val="CCCCCC"/>
            </a:solidFill>
            <a:prstDash val="solid"/>
            <a:round/>
            <a:headEnd type="none" w="lg" len="lg"/>
            <a:tailEnd type="none" w="lg" len="lg"/>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52"/>
        <p:cNvGrpSpPr/>
        <p:nvPr/>
      </p:nvGrpSpPr>
      <p:grpSpPr>
        <a:xfrm>
          <a:off x="0" y="0"/>
          <a:ext cx="0" cy="0"/>
          <a:chOff x="0" y="0"/>
          <a:chExt cx="0" cy="0"/>
        </a:xfrm>
      </p:grpSpPr>
      <p:cxnSp>
        <p:nvCxnSpPr>
          <p:cNvPr id="53" name="Shape 53"/>
          <p:cNvCxnSpPr/>
          <p:nvPr/>
        </p:nvCxnSpPr>
        <p:spPr>
          <a:xfrm>
            <a:off x="-6025" y="4513728"/>
            <a:ext cx="9161999" cy="0"/>
          </a:xfrm>
          <a:prstGeom prst="straightConnector1">
            <a:avLst/>
          </a:prstGeom>
          <a:noFill/>
          <a:ln w="9525" cap="flat" cmpd="sng">
            <a:solidFill>
              <a:srgbClr val="CCCCCC"/>
            </a:solidFill>
            <a:prstDash val="solid"/>
            <a:round/>
            <a:headEnd type="none" w="lg" len="lg"/>
            <a:tailEnd type="none" w="lg" len="lg"/>
          </a:ln>
        </p:spPr>
      </p:cxnSp>
      <p:sp>
        <p:nvSpPr>
          <p:cNvPr id="54" name="Shape 54"/>
          <p:cNvSpPr/>
          <p:nvPr/>
        </p:nvSpPr>
        <p:spPr>
          <a:xfrm>
            <a:off x="4293700" y="4235405"/>
            <a:ext cx="556499" cy="556499"/>
          </a:xfrm>
          <a:prstGeom prst="ellipse">
            <a:avLst/>
          </a:prstGeom>
          <a:solidFill>
            <a:srgbClr val="FFCD00"/>
          </a:solidFill>
          <a:ln>
            <a:noFill/>
          </a:ln>
        </p:spPr>
        <p:txBody>
          <a:bodyPr lIns="91425" tIns="91425" rIns="91425" bIns="91425" anchor="ctr" anchorCtr="0">
            <a:noAutofit/>
          </a:bodyPr>
          <a:lstStyle/>
          <a:p>
            <a:pPr lvl="0" rtl="0">
              <a:spcBef>
                <a:spcPts val="0"/>
              </a:spcBef>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Completely blank">
    <p:spTree>
      <p:nvGrpSpPr>
        <p:cNvPr id="1" name="Shape 5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
        <p:cNvGrpSpPr/>
        <p:nvPr/>
      </p:nvGrpSpPr>
      <p:grpSpPr>
        <a:xfrm>
          <a:off x="0" y="0"/>
          <a:ext cx="0" cy="0"/>
          <a:chOff x="0" y="0"/>
          <a:chExt cx="0" cy="0"/>
        </a:xfrm>
      </p:grpSpPr>
      <p:sp>
        <p:nvSpPr>
          <p:cNvPr id="5" name="Shape 5"/>
          <p:cNvSpPr txBox="1">
            <a:spLocks noGrp="1"/>
          </p:cNvSpPr>
          <p:nvPr>
            <p:ph type="body" idx="1"/>
          </p:nvPr>
        </p:nvSpPr>
        <p:spPr>
          <a:xfrm>
            <a:off x="1381250" y="1616470"/>
            <a:ext cx="6809700" cy="3112200"/>
          </a:xfrm>
          <a:prstGeom prst="rect">
            <a:avLst/>
          </a:prstGeom>
          <a:noFill/>
          <a:ln>
            <a:noFill/>
          </a:ln>
        </p:spPr>
        <p:txBody>
          <a:bodyPr lIns="91425" tIns="91425" rIns="91425" bIns="91425" anchor="t" anchorCtr="0"/>
          <a:lstStyle>
            <a:lvl1pPr>
              <a:spcBef>
                <a:spcPts val="600"/>
              </a:spcBef>
              <a:buClr>
                <a:srgbClr val="FFCD00"/>
              </a:buClr>
              <a:buSzPct val="100000"/>
              <a:buFont typeface="Quattrocento Sans"/>
              <a:buChar char="◉"/>
              <a:defRPr sz="2400">
                <a:latin typeface="Quattrocento Sans"/>
                <a:ea typeface="Quattrocento Sans"/>
                <a:cs typeface="Quattrocento Sans"/>
                <a:sym typeface="Quattrocento Sans"/>
              </a:defRPr>
            </a:lvl1pPr>
            <a:lvl2pPr>
              <a:spcBef>
                <a:spcPts val="480"/>
              </a:spcBef>
              <a:buClr>
                <a:srgbClr val="FFCD00"/>
              </a:buClr>
              <a:buSzPct val="100000"/>
              <a:buFont typeface="Quattrocento Sans"/>
              <a:defRPr sz="2000">
                <a:latin typeface="Quattrocento Sans"/>
                <a:ea typeface="Quattrocento Sans"/>
                <a:cs typeface="Quattrocento Sans"/>
                <a:sym typeface="Quattrocento Sans"/>
              </a:defRPr>
            </a:lvl2pPr>
            <a:lvl3pPr>
              <a:spcBef>
                <a:spcPts val="480"/>
              </a:spcBef>
              <a:buClr>
                <a:srgbClr val="FFCD00"/>
              </a:buClr>
              <a:buSzPct val="100000"/>
              <a:buFont typeface="Quattrocento Sans"/>
              <a:defRPr sz="2000">
                <a:latin typeface="Quattrocento Sans"/>
                <a:ea typeface="Quattrocento Sans"/>
                <a:cs typeface="Quattrocento Sans"/>
                <a:sym typeface="Quattrocento Sans"/>
              </a:defRPr>
            </a:lvl3pPr>
            <a:lvl4pPr>
              <a:spcBef>
                <a:spcPts val="360"/>
              </a:spcBef>
              <a:buClr>
                <a:srgbClr val="FFCD00"/>
              </a:buClr>
              <a:buSzPct val="100000"/>
              <a:buFont typeface="Quattrocento Sans"/>
              <a:defRPr sz="1800">
                <a:latin typeface="Quattrocento Sans"/>
                <a:ea typeface="Quattrocento Sans"/>
                <a:cs typeface="Quattrocento Sans"/>
                <a:sym typeface="Quattrocento Sans"/>
              </a:defRPr>
            </a:lvl4pPr>
            <a:lvl5pPr>
              <a:spcBef>
                <a:spcPts val="360"/>
              </a:spcBef>
              <a:buClr>
                <a:srgbClr val="FFCD00"/>
              </a:buClr>
              <a:buSzPct val="100000"/>
              <a:buFont typeface="Quattrocento Sans"/>
              <a:defRPr sz="1800">
                <a:latin typeface="Quattrocento Sans"/>
                <a:ea typeface="Quattrocento Sans"/>
                <a:cs typeface="Quattrocento Sans"/>
                <a:sym typeface="Quattrocento Sans"/>
              </a:defRPr>
            </a:lvl5pPr>
            <a:lvl6pPr>
              <a:spcBef>
                <a:spcPts val="360"/>
              </a:spcBef>
              <a:buClr>
                <a:srgbClr val="FFCD00"/>
              </a:buClr>
              <a:buSzPct val="100000"/>
              <a:buFont typeface="Quattrocento Sans"/>
              <a:defRPr sz="1800">
                <a:latin typeface="Quattrocento Sans"/>
                <a:ea typeface="Quattrocento Sans"/>
                <a:cs typeface="Quattrocento Sans"/>
                <a:sym typeface="Quattrocento Sans"/>
              </a:defRPr>
            </a:lvl6pPr>
            <a:lvl7pPr>
              <a:spcBef>
                <a:spcPts val="360"/>
              </a:spcBef>
              <a:buClr>
                <a:srgbClr val="FFCD00"/>
              </a:buClr>
              <a:buSzPct val="100000"/>
              <a:buFont typeface="Quattrocento Sans"/>
              <a:defRPr sz="1800">
                <a:latin typeface="Quattrocento Sans"/>
                <a:ea typeface="Quattrocento Sans"/>
                <a:cs typeface="Quattrocento Sans"/>
                <a:sym typeface="Quattrocento Sans"/>
              </a:defRPr>
            </a:lvl7pPr>
            <a:lvl8pPr>
              <a:spcBef>
                <a:spcPts val="360"/>
              </a:spcBef>
              <a:buClr>
                <a:srgbClr val="FFCD00"/>
              </a:buClr>
              <a:buSzPct val="100000"/>
              <a:buFont typeface="Quattrocento Sans"/>
              <a:defRPr sz="1800">
                <a:latin typeface="Quattrocento Sans"/>
                <a:ea typeface="Quattrocento Sans"/>
                <a:cs typeface="Quattrocento Sans"/>
                <a:sym typeface="Quattrocento Sans"/>
              </a:defRPr>
            </a:lvl8pPr>
            <a:lvl9pPr>
              <a:spcBef>
                <a:spcPts val="360"/>
              </a:spcBef>
              <a:buClr>
                <a:srgbClr val="FFCD00"/>
              </a:buClr>
              <a:buSzPct val="100000"/>
              <a:buFont typeface="Quattrocento Sans"/>
              <a:defRPr sz="1800">
                <a:latin typeface="Quattrocento Sans"/>
                <a:ea typeface="Quattrocento Sans"/>
                <a:cs typeface="Quattrocento Sans"/>
                <a:sym typeface="Quattrocento Sans"/>
              </a:defRPr>
            </a:lvl9pPr>
          </a:lstStyle>
          <a:p>
            <a:endParaRPr/>
          </a:p>
        </p:txBody>
      </p:sp>
      <p:sp>
        <p:nvSpPr>
          <p:cNvPr id="6" name="Shape 6"/>
          <p:cNvSpPr txBox="1">
            <a:spLocks noGrp="1"/>
          </p:cNvSpPr>
          <p:nvPr>
            <p:ph type="title"/>
          </p:nvPr>
        </p:nvSpPr>
        <p:spPr>
          <a:xfrm>
            <a:off x="1381250" y="937116"/>
            <a:ext cx="6809700" cy="435599"/>
          </a:xfrm>
          <a:prstGeom prst="rect">
            <a:avLst/>
          </a:prstGeom>
          <a:noFill/>
          <a:ln>
            <a:noFill/>
          </a:ln>
        </p:spPr>
        <p:txBody>
          <a:bodyPr lIns="91425" tIns="91425" rIns="91425" bIns="91425" anchor="ctr" anchorCtr="0"/>
          <a:lstStyle>
            <a:lvl1pPr>
              <a:spcBef>
                <a:spcPts val="0"/>
              </a:spcBef>
              <a:buSzPct val="100000"/>
              <a:buFont typeface="Lora"/>
              <a:buNone/>
              <a:defRPr sz="2000" b="1">
                <a:latin typeface="Lora"/>
                <a:ea typeface="Lora"/>
                <a:cs typeface="Lora"/>
                <a:sym typeface="Lora"/>
              </a:defRPr>
            </a:lvl1pPr>
            <a:lvl2pPr>
              <a:spcBef>
                <a:spcPts val="0"/>
              </a:spcBef>
              <a:buSzPct val="100000"/>
              <a:buFont typeface="Lora"/>
              <a:buNone/>
              <a:defRPr sz="2000" b="1">
                <a:latin typeface="Lora"/>
                <a:ea typeface="Lora"/>
                <a:cs typeface="Lora"/>
                <a:sym typeface="Lora"/>
              </a:defRPr>
            </a:lvl2pPr>
            <a:lvl3pPr>
              <a:spcBef>
                <a:spcPts val="0"/>
              </a:spcBef>
              <a:buSzPct val="100000"/>
              <a:buFont typeface="Lora"/>
              <a:buNone/>
              <a:defRPr sz="2000" b="1">
                <a:latin typeface="Lora"/>
                <a:ea typeface="Lora"/>
                <a:cs typeface="Lora"/>
                <a:sym typeface="Lora"/>
              </a:defRPr>
            </a:lvl3pPr>
            <a:lvl4pPr>
              <a:spcBef>
                <a:spcPts val="0"/>
              </a:spcBef>
              <a:buSzPct val="100000"/>
              <a:buFont typeface="Lora"/>
              <a:buNone/>
              <a:defRPr sz="2000" b="1">
                <a:latin typeface="Lora"/>
                <a:ea typeface="Lora"/>
                <a:cs typeface="Lora"/>
                <a:sym typeface="Lora"/>
              </a:defRPr>
            </a:lvl4pPr>
            <a:lvl5pPr>
              <a:spcBef>
                <a:spcPts val="0"/>
              </a:spcBef>
              <a:buSzPct val="100000"/>
              <a:buFont typeface="Lora"/>
              <a:buNone/>
              <a:defRPr sz="2000" b="1">
                <a:latin typeface="Lora"/>
                <a:ea typeface="Lora"/>
                <a:cs typeface="Lora"/>
                <a:sym typeface="Lora"/>
              </a:defRPr>
            </a:lvl5pPr>
            <a:lvl6pPr>
              <a:spcBef>
                <a:spcPts val="0"/>
              </a:spcBef>
              <a:buSzPct val="100000"/>
              <a:buFont typeface="Lora"/>
              <a:buNone/>
              <a:defRPr sz="2000" b="1">
                <a:latin typeface="Lora"/>
                <a:ea typeface="Lora"/>
                <a:cs typeface="Lora"/>
                <a:sym typeface="Lora"/>
              </a:defRPr>
            </a:lvl6pPr>
            <a:lvl7pPr>
              <a:spcBef>
                <a:spcPts val="0"/>
              </a:spcBef>
              <a:buSzPct val="100000"/>
              <a:buFont typeface="Lora"/>
              <a:buNone/>
              <a:defRPr sz="2000" b="1">
                <a:latin typeface="Lora"/>
                <a:ea typeface="Lora"/>
                <a:cs typeface="Lora"/>
                <a:sym typeface="Lora"/>
              </a:defRPr>
            </a:lvl7pPr>
            <a:lvl8pPr>
              <a:spcBef>
                <a:spcPts val="0"/>
              </a:spcBef>
              <a:buSzPct val="100000"/>
              <a:buFont typeface="Lora"/>
              <a:buNone/>
              <a:defRPr sz="2000" b="1">
                <a:latin typeface="Lora"/>
                <a:ea typeface="Lora"/>
                <a:cs typeface="Lora"/>
                <a:sym typeface="Lora"/>
              </a:defRPr>
            </a:lvl8pPr>
            <a:lvl9pPr>
              <a:spcBef>
                <a:spcPts val="0"/>
              </a:spcBef>
              <a:buSzPct val="100000"/>
              <a:buFont typeface="Lora"/>
              <a:buNone/>
              <a:defRPr sz="2000" b="1">
                <a:latin typeface="Lora"/>
                <a:ea typeface="Lora"/>
                <a:cs typeface="Lora"/>
                <a:sym typeface="Lora"/>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6" r:id="rId5"/>
    <p:sldLayoutId id="2147483657" r:id="rId6"/>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Shape 57"/>
          <p:cNvSpPr txBox="1">
            <a:spLocks noGrp="1"/>
          </p:cNvSpPr>
          <p:nvPr>
            <p:ph type="ctrTitle"/>
          </p:nvPr>
        </p:nvSpPr>
        <p:spPr>
          <a:xfrm>
            <a:off x="559940" y="1058238"/>
            <a:ext cx="8075488" cy="2228739"/>
          </a:xfrm>
          <a:prstGeom prst="rect">
            <a:avLst/>
          </a:prstGeom>
        </p:spPr>
        <p:txBody>
          <a:bodyPr lIns="91425" tIns="91425" rIns="91425" bIns="91425" anchor="b" anchorCtr="0">
            <a:noAutofit/>
          </a:bodyPr>
          <a:lstStyle/>
          <a:p>
            <a:r>
              <a:rPr lang="id-ID" sz="2800" dirty="0"/>
              <a:t>RANCANGAN AKTUALISASI </a:t>
            </a:r>
            <a:r>
              <a:rPr lang="id-ID" sz="2800" dirty="0" smtClean="0"/>
              <a:t>NILAI-NILAI </a:t>
            </a:r>
            <a:r>
              <a:rPr lang="id-ID" sz="2800" dirty="0"/>
              <a:t>DASAR PROFESI PEGAWAI NEGERI </a:t>
            </a:r>
            <a:r>
              <a:rPr lang="id-ID" sz="2800" dirty="0" smtClean="0"/>
              <a:t>SIPIL </a:t>
            </a:r>
            <a:r>
              <a:rPr lang="id-ID" sz="2800" dirty="0"/>
              <a:t>PADA SEKSI </a:t>
            </a:r>
            <a:r>
              <a:rPr lang="en-US" sz="2800" dirty="0" smtClean="0"/>
              <a:t>IPDS </a:t>
            </a:r>
            <a:r>
              <a:rPr lang="id-ID" sz="2800" dirty="0" smtClean="0"/>
              <a:t>BPS </a:t>
            </a:r>
            <a:r>
              <a:rPr lang="id-ID" sz="2800" dirty="0"/>
              <a:t>KOTA </a:t>
            </a:r>
            <a:r>
              <a:rPr lang="id-ID" sz="2800" dirty="0" smtClean="0"/>
              <a:t>BONTANG</a:t>
            </a:r>
            <a:r>
              <a:rPr lang="en-US" sz="2800" dirty="0" smtClean="0"/>
              <a:t/>
            </a:r>
            <a:br>
              <a:rPr lang="en-US" sz="2800" dirty="0" smtClean="0"/>
            </a:br>
            <a:r>
              <a:rPr lang="en-US" sz="2800" dirty="0" smtClean="0"/>
              <a:t>PROVINSI KALIMANTAN TIMUR</a:t>
            </a:r>
            <a:endParaRPr lang="id-ID" sz="2800" dirty="0"/>
          </a:p>
        </p:txBody>
      </p:sp>
      <p:grpSp>
        <p:nvGrpSpPr>
          <p:cNvPr id="58" name="Shape 58"/>
          <p:cNvGrpSpPr/>
          <p:nvPr/>
        </p:nvGrpSpPr>
        <p:grpSpPr>
          <a:xfrm>
            <a:off x="1299164" y="3511423"/>
            <a:ext cx="215966" cy="342398"/>
            <a:chOff x="6718575" y="2318625"/>
            <a:chExt cx="256950" cy="407375"/>
          </a:xfrm>
        </p:grpSpPr>
        <p:sp>
          <p:nvSpPr>
            <p:cNvPr id="59" name="Shape 59"/>
            <p:cNvSpPr/>
            <p:nvPr/>
          </p:nvSpPr>
          <p:spPr>
            <a:xfrm>
              <a:off x="6795900" y="2673600"/>
              <a:ext cx="102300" cy="22550"/>
            </a:xfrm>
            <a:custGeom>
              <a:avLst/>
              <a:gdLst/>
              <a:ahLst/>
              <a:cxnLst/>
              <a:rect l="0" t="0" r="0" b="0"/>
              <a:pathLst>
                <a:path w="4092" h="902" fill="none" extrusionOk="0">
                  <a:moveTo>
                    <a:pt x="4092" y="902"/>
                  </a:moveTo>
                  <a:lnTo>
                    <a:pt x="4092" y="1"/>
                  </a:lnTo>
                  <a:lnTo>
                    <a:pt x="0" y="1"/>
                  </a:lnTo>
                  <a:lnTo>
                    <a:pt x="0" y="902"/>
                  </a:lnTo>
                  <a:lnTo>
                    <a:pt x="4092" y="902"/>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60" name="Shape 60"/>
            <p:cNvSpPr/>
            <p:nvPr/>
          </p:nvSpPr>
          <p:spPr>
            <a:xfrm>
              <a:off x="6795900" y="2650475"/>
              <a:ext cx="102300" cy="22550"/>
            </a:xfrm>
            <a:custGeom>
              <a:avLst/>
              <a:gdLst/>
              <a:ahLst/>
              <a:cxnLst/>
              <a:rect l="0" t="0" r="0" b="0"/>
              <a:pathLst>
                <a:path w="4092" h="902" fill="none" extrusionOk="0">
                  <a:moveTo>
                    <a:pt x="4092" y="901"/>
                  </a:moveTo>
                  <a:lnTo>
                    <a:pt x="4092" y="0"/>
                  </a:lnTo>
                  <a:lnTo>
                    <a:pt x="0" y="0"/>
                  </a:lnTo>
                  <a:lnTo>
                    <a:pt x="0" y="901"/>
                  </a:lnTo>
                  <a:lnTo>
                    <a:pt x="4092" y="901"/>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61" name="Shape 61"/>
            <p:cNvSpPr/>
            <p:nvPr/>
          </p:nvSpPr>
          <p:spPr>
            <a:xfrm>
              <a:off x="6795900" y="2696125"/>
              <a:ext cx="102300" cy="29875"/>
            </a:xfrm>
            <a:custGeom>
              <a:avLst/>
              <a:gdLst/>
              <a:ahLst/>
              <a:cxnLst/>
              <a:rect l="0" t="0" r="0" b="0"/>
              <a:pathLst>
                <a:path w="4092" h="1195" fill="none" extrusionOk="0">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62" name="Shape 62"/>
            <p:cNvSpPr/>
            <p:nvPr/>
          </p:nvSpPr>
          <p:spPr>
            <a:xfrm>
              <a:off x="6784925" y="2459275"/>
              <a:ext cx="35350" cy="166875"/>
            </a:xfrm>
            <a:custGeom>
              <a:avLst/>
              <a:gdLst/>
              <a:ahLst/>
              <a:cxnLst/>
              <a:rect l="0" t="0" r="0" b="0"/>
              <a:pathLst>
                <a:path w="1414" h="6675" fill="none" extrusionOk="0">
                  <a:moveTo>
                    <a:pt x="1413" y="6674"/>
                  </a:moveTo>
                  <a:lnTo>
                    <a:pt x="1413" y="6674"/>
                  </a:lnTo>
                  <a:lnTo>
                    <a:pt x="585" y="2850"/>
                  </a:lnTo>
                  <a:lnTo>
                    <a:pt x="1" y="1"/>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63" name="Shape 63"/>
            <p:cNvSpPr/>
            <p:nvPr/>
          </p:nvSpPr>
          <p:spPr>
            <a:xfrm>
              <a:off x="6718575" y="2318625"/>
              <a:ext cx="256950" cy="307525"/>
            </a:xfrm>
            <a:custGeom>
              <a:avLst/>
              <a:gdLst/>
              <a:ahLst/>
              <a:cxnLst/>
              <a:rect l="0" t="0" r="0" b="0"/>
              <a:pathLst>
                <a:path w="10278" h="12301" fill="none" extrusionOk="0">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64" name="Shape 64"/>
            <p:cNvSpPr/>
            <p:nvPr/>
          </p:nvSpPr>
          <p:spPr>
            <a:xfrm>
              <a:off x="6873825" y="2459275"/>
              <a:ext cx="35350" cy="166875"/>
            </a:xfrm>
            <a:custGeom>
              <a:avLst/>
              <a:gdLst/>
              <a:ahLst/>
              <a:cxnLst/>
              <a:rect l="0" t="0" r="0" b="0"/>
              <a:pathLst>
                <a:path w="1414" h="6675" fill="none" extrusionOk="0">
                  <a:moveTo>
                    <a:pt x="1413" y="1"/>
                  </a:moveTo>
                  <a:lnTo>
                    <a:pt x="1413" y="1"/>
                  </a:lnTo>
                  <a:lnTo>
                    <a:pt x="829" y="2850"/>
                  </a:lnTo>
                  <a:lnTo>
                    <a:pt x="1" y="6674"/>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65" name="Shape 65"/>
            <p:cNvSpPr/>
            <p:nvPr/>
          </p:nvSpPr>
          <p:spPr>
            <a:xfrm>
              <a:off x="6801975" y="2453200"/>
              <a:ext cx="90150" cy="19500"/>
            </a:xfrm>
            <a:custGeom>
              <a:avLst/>
              <a:gdLst/>
              <a:ahLst/>
              <a:cxnLst/>
              <a:rect l="0" t="0" r="0" b="0"/>
              <a:pathLst>
                <a:path w="3606" h="780" fill="none" extrusionOk="0">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66" name="Shape 66"/>
            <p:cNvSpPr/>
            <p:nvPr/>
          </p:nvSpPr>
          <p:spPr>
            <a:xfrm>
              <a:off x="6795900" y="2628550"/>
              <a:ext cx="102300" cy="25"/>
            </a:xfrm>
            <a:custGeom>
              <a:avLst/>
              <a:gdLst/>
              <a:ahLst/>
              <a:cxnLst/>
              <a:rect l="0" t="0" r="0" b="0"/>
              <a:pathLst>
                <a:path w="4092" h="1" fill="none" extrusionOk="0">
                  <a:moveTo>
                    <a:pt x="0" y="1"/>
                  </a:moveTo>
                  <a:lnTo>
                    <a:pt x="4092" y="1"/>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2" name="Shape 96"/>
          <p:cNvSpPr txBox="1">
            <a:spLocks/>
          </p:cNvSpPr>
          <p:nvPr/>
        </p:nvSpPr>
        <p:spPr>
          <a:xfrm>
            <a:off x="4597684" y="3766347"/>
            <a:ext cx="4279187" cy="784799"/>
          </a:xfrm>
          <a:prstGeom prst="rect">
            <a:avLst/>
          </a:prstGeom>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algn="r"/>
            <a:r>
              <a:rPr lang="id-ID" b="1" dirty="0"/>
              <a:t>HAIDIR MAGRIBI</a:t>
            </a:r>
          </a:p>
          <a:p>
            <a:pPr algn="r"/>
            <a:r>
              <a:rPr lang="id-ID" b="1" dirty="0"/>
              <a:t>NIP. </a:t>
            </a:r>
            <a:r>
              <a:rPr lang="id-ID" b="1" dirty="0" smtClean="0"/>
              <a:t>199310012016021001</a:t>
            </a:r>
            <a:endParaRPr lang="id-ID" b="1" dirty="0"/>
          </a:p>
        </p:txBody>
      </p:sp>
    </p:spTree>
  </p:cSld>
  <p:clrMapOvr>
    <a:masterClrMapping/>
  </p:clrMapOvr>
  <p:transition spd="slow">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Shape 86"/>
          <p:cNvSpPr txBox="1">
            <a:spLocks noGrp="1"/>
          </p:cNvSpPr>
          <p:nvPr>
            <p:ph type="subTitle" idx="1"/>
          </p:nvPr>
        </p:nvSpPr>
        <p:spPr>
          <a:xfrm>
            <a:off x="2371500" y="2093775"/>
            <a:ext cx="5021399" cy="784799"/>
          </a:xfrm>
          <a:prstGeom prst="rect">
            <a:avLst/>
          </a:prstGeom>
          <a:noFill/>
          <a:ln>
            <a:noFill/>
          </a:ln>
        </p:spPr>
        <p:txBody>
          <a:bodyPr lIns="91425" tIns="91425" rIns="91425" bIns="91425" anchor="t" anchorCtr="0">
            <a:noAutofit/>
          </a:bodyPr>
          <a:lstStyle/>
          <a:p>
            <a:pPr rtl="0">
              <a:spcBef>
                <a:spcPts val="0"/>
              </a:spcBef>
              <a:buNone/>
            </a:pPr>
            <a:r>
              <a:rPr lang="en" sz="3600" b="1" i="1" dirty="0">
                <a:latin typeface="Lora"/>
                <a:ea typeface="Lora"/>
                <a:cs typeface="Lora"/>
                <a:sym typeface="Lora"/>
              </a:rPr>
              <a:t>I am </a:t>
            </a:r>
            <a:r>
              <a:rPr lang="en" sz="3600" b="1" i="1" dirty="0" smtClean="0">
                <a:latin typeface="Lora"/>
                <a:ea typeface="Lora"/>
                <a:cs typeface="Lora"/>
                <a:sym typeface="Lora"/>
              </a:rPr>
              <a:t>Haidir Magribi</a:t>
            </a:r>
            <a:endParaRPr lang="en" sz="3600" b="1" i="1" dirty="0">
              <a:latin typeface="Lora"/>
              <a:ea typeface="Lora"/>
              <a:cs typeface="Lora"/>
              <a:sym typeface="Lora"/>
            </a:endParaRPr>
          </a:p>
          <a:p>
            <a:pPr lvl="0" rtl="0">
              <a:spcBef>
                <a:spcPts val="0"/>
              </a:spcBef>
              <a:buClr>
                <a:schemeClr val="dk1"/>
              </a:buClr>
              <a:buSzPct val="61111"/>
              <a:buFont typeface="Arial"/>
              <a:buNone/>
            </a:pPr>
            <a:r>
              <a:rPr lang="en" sz="1800" dirty="0">
                <a:solidFill>
                  <a:schemeClr val="dk1"/>
                </a:solidFill>
              </a:rPr>
              <a:t>I </a:t>
            </a:r>
            <a:r>
              <a:rPr lang="en" sz="1800" dirty="0" smtClean="0">
                <a:solidFill>
                  <a:schemeClr val="dk1"/>
                </a:solidFill>
              </a:rPr>
              <a:t>am a staff IPDS BPS statistic of Bontang city </a:t>
            </a:r>
            <a:endParaRPr lang="en" sz="1800" dirty="0">
              <a:solidFill>
                <a:schemeClr val="dk1"/>
              </a:solidFill>
            </a:endParaRPr>
          </a:p>
          <a:p>
            <a:pPr>
              <a:spcBef>
                <a:spcPts val="0"/>
              </a:spcBef>
              <a:buNone/>
            </a:pPr>
            <a:endParaRPr b="1" dirty="0"/>
          </a:p>
        </p:txBody>
      </p:sp>
      <p:cxnSp>
        <p:nvCxnSpPr>
          <p:cNvPr id="87" name="Shape 87"/>
          <p:cNvCxnSpPr/>
          <p:nvPr/>
        </p:nvCxnSpPr>
        <p:spPr>
          <a:xfrm>
            <a:off x="6450" y="1428750"/>
            <a:ext cx="2397299" cy="0"/>
          </a:xfrm>
          <a:prstGeom prst="straightConnector1">
            <a:avLst/>
          </a:prstGeom>
          <a:noFill/>
          <a:ln w="9525" cap="flat" cmpd="sng">
            <a:solidFill>
              <a:srgbClr val="CCCCCC"/>
            </a:solidFill>
            <a:prstDash val="solid"/>
            <a:round/>
            <a:headEnd type="none" w="lg" len="lg"/>
            <a:tailEnd type="none" w="lg" len="lg"/>
          </a:ln>
        </p:spPr>
      </p:cxnSp>
      <p:pic>
        <p:nvPicPr>
          <p:cNvPr id="88" name="Shape 88"/>
          <p:cNvPicPr preferRelativeResize="0"/>
          <p:nvPr/>
        </p:nvPicPr>
        <p:blipFill>
          <a:blip r:embed="rId3">
            <a:alphaModFix/>
          </a:blip>
          <a:stretch>
            <a:fillRect/>
          </a:stretch>
        </p:blipFill>
        <p:spPr>
          <a:xfrm>
            <a:off x="834600" y="861898"/>
            <a:ext cx="1133700" cy="1133700"/>
          </a:xfrm>
          <a:prstGeom prst="ellipse">
            <a:avLst/>
          </a:prstGeom>
          <a:noFill/>
          <a:ln>
            <a:noFill/>
          </a:ln>
        </p:spPr>
      </p:pic>
      <p:sp>
        <p:nvSpPr>
          <p:cNvPr id="89" name="Shape 89"/>
          <p:cNvSpPr txBox="1">
            <a:spLocks noGrp="1"/>
          </p:cNvSpPr>
          <p:nvPr>
            <p:ph type="ctrTitle"/>
          </p:nvPr>
        </p:nvSpPr>
        <p:spPr>
          <a:xfrm>
            <a:off x="2371625" y="816550"/>
            <a:ext cx="4908000" cy="1159799"/>
          </a:xfrm>
          <a:prstGeom prst="rect">
            <a:avLst/>
          </a:prstGeom>
          <a:noFill/>
          <a:ln>
            <a:noFill/>
          </a:ln>
        </p:spPr>
        <p:txBody>
          <a:bodyPr lIns="91425" tIns="91425" rIns="91425" bIns="91425" anchor="ctr" anchorCtr="0">
            <a:noAutofit/>
          </a:bodyPr>
          <a:lstStyle/>
          <a:p>
            <a:pPr>
              <a:spcBef>
                <a:spcPts val="0"/>
              </a:spcBef>
              <a:buNone/>
            </a:pPr>
            <a:r>
              <a:rPr lang="en" sz="6000"/>
              <a:t>Hello!</a:t>
            </a:r>
          </a:p>
        </p:txBody>
      </p:sp>
      <p:cxnSp>
        <p:nvCxnSpPr>
          <p:cNvPr id="90" name="Shape 90"/>
          <p:cNvCxnSpPr/>
          <p:nvPr/>
        </p:nvCxnSpPr>
        <p:spPr>
          <a:xfrm>
            <a:off x="4738400" y="1428750"/>
            <a:ext cx="4405500" cy="0"/>
          </a:xfrm>
          <a:prstGeom prst="straightConnector1">
            <a:avLst/>
          </a:prstGeom>
          <a:noFill/>
          <a:ln w="9525" cap="flat" cmpd="sng">
            <a:solidFill>
              <a:srgbClr val="CCCCCC"/>
            </a:solidFill>
            <a:prstDash val="solid"/>
            <a:round/>
            <a:headEnd type="none" w="lg" len="lg"/>
            <a:tailEnd type="none" w="lg" len="lg"/>
          </a:ln>
        </p:spPr>
      </p:cxnSp>
    </p:spTree>
  </p:cSld>
  <p:clrMapOvr>
    <a:masterClrMapping/>
  </p:clrMapOvr>
  <p:transition spd="slow">
    <p:cu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Shape 102"/>
          <p:cNvSpPr txBox="1">
            <a:spLocks noGrp="1"/>
          </p:cNvSpPr>
          <p:nvPr>
            <p:ph type="body" idx="1"/>
          </p:nvPr>
        </p:nvSpPr>
        <p:spPr>
          <a:xfrm>
            <a:off x="1212351" y="2361289"/>
            <a:ext cx="6719298" cy="819899"/>
          </a:xfrm>
          <a:prstGeom prst="rect">
            <a:avLst/>
          </a:prstGeom>
        </p:spPr>
        <p:txBody>
          <a:bodyPr lIns="91425" tIns="91425" rIns="91425" bIns="91425" anchor="b" anchorCtr="0">
            <a:noAutofit/>
          </a:bodyPr>
          <a:lstStyle/>
          <a:p>
            <a:pPr>
              <a:buNone/>
            </a:pPr>
            <a:r>
              <a:rPr lang="id-ID" dirty="0"/>
              <a:t>BPS Kota Bontang adalah Lembaga Pemerintah Non Kementerian, yang merupakan perwakilan BPS RI di daerah yang berada di bawah dan bertanggung jawab kepada BPS Provinsi Kalimantan Timur</a:t>
            </a:r>
            <a:r>
              <a:rPr lang="en" dirty="0" smtClean="0"/>
              <a:t>.</a:t>
            </a:r>
            <a:endParaRPr lang="en" dirty="0"/>
          </a:p>
        </p:txBody>
      </p:sp>
    </p:spTree>
  </p:cSld>
  <p:clrMapOvr>
    <a:masterClrMapping/>
  </p:clrMapOvr>
  <p:transition spd="slow">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Shape 222"/>
          <p:cNvSpPr txBox="1">
            <a:spLocks noGrp="1"/>
          </p:cNvSpPr>
          <p:nvPr>
            <p:ph type="ctrTitle"/>
          </p:nvPr>
        </p:nvSpPr>
        <p:spPr>
          <a:xfrm>
            <a:off x="685800" y="1583342"/>
            <a:ext cx="7772400" cy="1159799"/>
          </a:xfrm>
          <a:prstGeom prst="rect">
            <a:avLst/>
          </a:prstGeom>
          <a:noFill/>
          <a:ln>
            <a:noFill/>
          </a:ln>
        </p:spPr>
        <p:txBody>
          <a:bodyPr lIns="91425" tIns="91425" rIns="91425" bIns="91425" anchor="ctr" anchorCtr="0">
            <a:noAutofit/>
          </a:bodyPr>
          <a:lstStyle/>
          <a:p>
            <a:pPr lvl="0" algn="ctr" rtl="0">
              <a:spcBef>
                <a:spcPts val="0"/>
              </a:spcBef>
              <a:buNone/>
            </a:pPr>
            <a:r>
              <a:rPr lang="en" sz="6600" smtClean="0"/>
              <a:t>8-26 </a:t>
            </a:r>
            <a:r>
              <a:rPr lang="en" sz="6600" dirty="0" smtClean="0"/>
              <a:t>Agustus 2016</a:t>
            </a:r>
            <a:endParaRPr lang="en" sz="6600" dirty="0"/>
          </a:p>
        </p:txBody>
      </p:sp>
      <p:sp>
        <p:nvSpPr>
          <p:cNvPr id="223" name="Shape 223"/>
          <p:cNvSpPr txBox="1">
            <a:spLocks noGrp="1"/>
          </p:cNvSpPr>
          <p:nvPr>
            <p:ph type="subTitle" idx="1"/>
          </p:nvPr>
        </p:nvSpPr>
        <p:spPr>
          <a:xfrm>
            <a:off x="685800" y="2840053"/>
            <a:ext cx="7772400" cy="784799"/>
          </a:xfrm>
          <a:prstGeom prst="rect">
            <a:avLst/>
          </a:prstGeom>
          <a:noFill/>
          <a:ln>
            <a:noFill/>
          </a:ln>
        </p:spPr>
        <p:txBody>
          <a:bodyPr lIns="91425" tIns="91425" rIns="91425" bIns="91425" anchor="t" anchorCtr="0">
            <a:noAutofit/>
          </a:bodyPr>
          <a:lstStyle/>
          <a:p>
            <a:pPr lvl="0" algn="ctr"/>
            <a:r>
              <a:rPr lang="en-US" sz="1800" i="1" dirty="0" smtClean="0"/>
              <a:t>“You </a:t>
            </a:r>
            <a:r>
              <a:rPr lang="en-US" sz="1800" i="1" dirty="0"/>
              <a:t>may delay, but time will </a:t>
            </a:r>
            <a:r>
              <a:rPr lang="en-US" sz="1800" i="1" dirty="0" smtClean="0"/>
              <a:t>not. </a:t>
            </a:r>
            <a:r>
              <a:rPr lang="en-US" sz="1800" i="1" dirty="0"/>
              <a:t>(Benjamin Franklin</a:t>
            </a:r>
            <a:r>
              <a:rPr lang="en-US" sz="1800" i="1" dirty="0" smtClean="0"/>
              <a:t>)”</a:t>
            </a:r>
            <a:endParaRPr lang="en" sz="1800" i="1" dirty="0"/>
          </a:p>
        </p:txBody>
      </p:sp>
      <p:grpSp>
        <p:nvGrpSpPr>
          <p:cNvPr id="224" name="Shape 224"/>
          <p:cNvGrpSpPr/>
          <p:nvPr/>
        </p:nvGrpSpPr>
        <p:grpSpPr>
          <a:xfrm>
            <a:off x="4433047" y="4413424"/>
            <a:ext cx="277858" cy="201655"/>
            <a:chOff x="3932350" y="3714775"/>
            <a:chExt cx="439650" cy="319075"/>
          </a:xfrm>
        </p:grpSpPr>
        <p:sp>
          <p:nvSpPr>
            <p:cNvPr id="225" name="Shape 225"/>
            <p:cNvSpPr/>
            <p:nvPr/>
          </p:nvSpPr>
          <p:spPr>
            <a:xfrm>
              <a:off x="3932350" y="3714775"/>
              <a:ext cx="439650" cy="319075"/>
            </a:xfrm>
            <a:custGeom>
              <a:avLst/>
              <a:gdLst/>
              <a:ahLst/>
              <a:cxnLst/>
              <a:rect l="0" t="0" r="0" b="0"/>
              <a:pathLst>
                <a:path w="17586" h="12763" fill="none" extrusionOk="0">
                  <a:moveTo>
                    <a:pt x="1" y="1"/>
                  </a:moveTo>
                  <a:lnTo>
                    <a:pt x="1" y="12276"/>
                  </a:lnTo>
                  <a:lnTo>
                    <a:pt x="1" y="12276"/>
                  </a:lnTo>
                  <a:lnTo>
                    <a:pt x="1" y="12373"/>
                  </a:lnTo>
                  <a:lnTo>
                    <a:pt x="25" y="12471"/>
                  </a:lnTo>
                  <a:lnTo>
                    <a:pt x="74" y="12544"/>
                  </a:lnTo>
                  <a:lnTo>
                    <a:pt x="123" y="12617"/>
                  </a:lnTo>
                  <a:lnTo>
                    <a:pt x="196" y="12690"/>
                  </a:lnTo>
                  <a:lnTo>
                    <a:pt x="293" y="12714"/>
                  </a:lnTo>
                  <a:lnTo>
                    <a:pt x="366" y="12763"/>
                  </a:lnTo>
                  <a:lnTo>
                    <a:pt x="488" y="12763"/>
                  </a:lnTo>
                  <a:lnTo>
                    <a:pt x="17585" y="1276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226" name="Shape 226"/>
            <p:cNvSpPr/>
            <p:nvPr/>
          </p:nvSpPr>
          <p:spPr>
            <a:xfrm>
              <a:off x="3970100" y="3862750"/>
              <a:ext cx="77350" cy="132750"/>
            </a:xfrm>
            <a:custGeom>
              <a:avLst/>
              <a:gdLst/>
              <a:ahLst/>
              <a:cxnLst/>
              <a:rect l="0" t="0" r="0" b="0"/>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227" name="Shape 227"/>
            <p:cNvSpPr/>
            <p:nvPr/>
          </p:nvSpPr>
          <p:spPr>
            <a:xfrm>
              <a:off x="4278800" y="3862750"/>
              <a:ext cx="77350" cy="132750"/>
            </a:xfrm>
            <a:custGeom>
              <a:avLst/>
              <a:gdLst/>
              <a:ahLst/>
              <a:cxnLst/>
              <a:rect l="0" t="0" r="0" b="0"/>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0"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228" name="Shape 228"/>
            <p:cNvSpPr/>
            <p:nvPr/>
          </p:nvSpPr>
          <p:spPr>
            <a:xfrm>
              <a:off x="4073000" y="3716600"/>
              <a:ext cx="77350" cy="278900"/>
            </a:xfrm>
            <a:custGeom>
              <a:avLst/>
              <a:gdLst/>
              <a:ahLst/>
              <a:cxnLst/>
              <a:rect l="0" t="0" r="0" b="0"/>
              <a:pathLst>
                <a:path w="3094" h="11156" fill="none" extrusionOk="0">
                  <a:moveTo>
                    <a:pt x="3094" y="11155"/>
                  </a:moveTo>
                  <a:lnTo>
                    <a:pt x="3094" y="488"/>
                  </a:lnTo>
                  <a:lnTo>
                    <a:pt x="3094" y="488"/>
                  </a:lnTo>
                  <a:lnTo>
                    <a:pt x="3094" y="391"/>
                  </a:lnTo>
                  <a:lnTo>
                    <a:pt x="3070" y="293"/>
                  </a:lnTo>
                  <a:lnTo>
                    <a:pt x="3021" y="220"/>
                  </a:lnTo>
                  <a:lnTo>
                    <a:pt x="2948" y="147"/>
                  </a:lnTo>
                  <a:lnTo>
                    <a:pt x="2899" y="98"/>
                  </a:lnTo>
                  <a:lnTo>
                    <a:pt x="2802" y="50"/>
                  </a:lnTo>
                  <a:lnTo>
                    <a:pt x="2704" y="25"/>
                  </a:lnTo>
                  <a:lnTo>
                    <a:pt x="2607" y="1"/>
                  </a:lnTo>
                  <a:lnTo>
                    <a:pt x="488" y="1"/>
                  </a:lnTo>
                  <a:lnTo>
                    <a:pt x="488" y="1"/>
                  </a:lnTo>
                  <a:lnTo>
                    <a:pt x="391" y="25"/>
                  </a:lnTo>
                  <a:lnTo>
                    <a:pt x="293" y="50"/>
                  </a:lnTo>
                  <a:lnTo>
                    <a:pt x="220" y="98"/>
                  </a:lnTo>
                  <a:lnTo>
                    <a:pt x="147" y="147"/>
                  </a:lnTo>
                  <a:lnTo>
                    <a:pt x="74" y="220"/>
                  </a:lnTo>
                  <a:lnTo>
                    <a:pt x="50" y="293"/>
                  </a:lnTo>
                  <a:lnTo>
                    <a:pt x="1" y="391"/>
                  </a:lnTo>
                  <a:lnTo>
                    <a:pt x="1" y="488"/>
                  </a:lnTo>
                  <a:lnTo>
                    <a:pt x="1" y="11155"/>
                  </a:lnTo>
                  <a:lnTo>
                    <a:pt x="3094" y="11155"/>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229" name="Shape 229"/>
            <p:cNvSpPr/>
            <p:nvPr/>
          </p:nvSpPr>
          <p:spPr>
            <a:xfrm>
              <a:off x="4175900" y="3787250"/>
              <a:ext cx="77350" cy="208250"/>
            </a:xfrm>
            <a:custGeom>
              <a:avLst/>
              <a:gdLst/>
              <a:ahLst/>
              <a:cxnLst/>
              <a:rect l="0" t="0" r="0" b="0"/>
              <a:pathLst>
                <a:path w="3094" h="8330" fill="none" extrusionOk="0">
                  <a:moveTo>
                    <a:pt x="3094" y="832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8329"/>
                  </a:lnTo>
                  <a:lnTo>
                    <a:pt x="3094" y="8329"/>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Tree>
  </p:cSld>
  <p:clrMapOvr>
    <a:masterClrMapping/>
  </p:clrMapOvr>
  <p:transition spd="slow">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Shape 107"/>
          <p:cNvSpPr txBox="1">
            <a:spLocks noGrp="1"/>
          </p:cNvSpPr>
          <p:nvPr>
            <p:ph type="title"/>
          </p:nvPr>
        </p:nvSpPr>
        <p:spPr>
          <a:xfrm>
            <a:off x="1381251" y="924720"/>
            <a:ext cx="3001564" cy="435599"/>
          </a:xfrm>
          <a:prstGeom prst="rect">
            <a:avLst/>
          </a:prstGeom>
        </p:spPr>
        <p:txBody>
          <a:bodyPr lIns="91425" tIns="91425" rIns="91425" bIns="91425" anchor="ctr" anchorCtr="0">
            <a:noAutofit/>
          </a:bodyPr>
          <a:lstStyle/>
          <a:p>
            <a:r>
              <a:rPr lang="en-US" dirty="0" smtClean="0"/>
              <a:t>Outline</a:t>
            </a:r>
            <a:endParaRPr lang="en"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384830" y="2192205"/>
            <a:ext cx="3549216" cy="163323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endParaRPr lang="en" sz="1400" dirty="0"/>
          </a:p>
        </p:txBody>
      </p:sp>
      <p:sp>
        <p:nvSpPr>
          <p:cNvPr id="2" name="Text Placeholder 1"/>
          <p:cNvSpPr>
            <a:spLocks noGrp="1"/>
          </p:cNvSpPr>
          <p:nvPr>
            <p:ph type="body" idx="1"/>
          </p:nvPr>
        </p:nvSpPr>
        <p:spPr/>
        <p:txBody>
          <a:bodyPr/>
          <a:lstStyle/>
          <a:p>
            <a:r>
              <a:rPr lang="en-US" dirty="0" smtClean="0"/>
              <a:t> </a:t>
            </a:r>
            <a:r>
              <a:rPr lang="en-US" dirty="0" err="1"/>
              <a:t>D</a:t>
            </a:r>
            <a:r>
              <a:rPr lang="en-US" dirty="0" err="1" smtClean="0"/>
              <a:t>ijelaskan</a:t>
            </a:r>
            <a:r>
              <a:rPr lang="en-US" dirty="0" smtClean="0"/>
              <a:t> per </a:t>
            </a:r>
            <a:r>
              <a:rPr lang="en-US" dirty="0" err="1" smtClean="0"/>
              <a:t>kegiatan</a:t>
            </a:r>
            <a:endParaRPr lang="en-US" dirty="0" smtClean="0"/>
          </a:p>
          <a:p>
            <a:r>
              <a:rPr lang="en-US" dirty="0"/>
              <a:t> </a:t>
            </a:r>
            <a:r>
              <a:rPr lang="en-US" dirty="0" err="1" smtClean="0"/>
              <a:t>Nilai-Nilai</a:t>
            </a:r>
            <a:r>
              <a:rPr lang="en-US" dirty="0" smtClean="0"/>
              <a:t> ANEKA yang </a:t>
            </a:r>
            <a:r>
              <a:rPr lang="en-US" dirty="0" err="1" smtClean="0"/>
              <a:t>akan</a:t>
            </a:r>
            <a:r>
              <a:rPr lang="en-US" dirty="0" smtClean="0"/>
              <a:t> </a:t>
            </a:r>
            <a:r>
              <a:rPr lang="en-US" dirty="0" err="1" smtClean="0"/>
              <a:t>diaktualisasikan</a:t>
            </a:r>
            <a:endParaRPr lang="en-US" dirty="0" smtClean="0"/>
          </a:p>
          <a:p>
            <a:r>
              <a:rPr lang="en-US" dirty="0"/>
              <a:t> </a:t>
            </a:r>
            <a:r>
              <a:rPr lang="en-US" dirty="0" err="1" smtClean="0"/>
              <a:t>Contoh</a:t>
            </a:r>
            <a:r>
              <a:rPr lang="en-US" dirty="0" smtClean="0"/>
              <a:t> </a:t>
            </a:r>
            <a:r>
              <a:rPr lang="en-US" dirty="0" err="1" smtClean="0"/>
              <a:t>penerapan</a:t>
            </a:r>
            <a:r>
              <a:rPr lang="en-US" dirty="0" smtClean="0"/>
              <a:t> </a:t>
            </a:r>
            <a:r>
              <a:rPr lang="en-US" dirty="0" err="1" smtClean="0"/>
              <a:t>nilai-nilai</a:t>
            </a:r>
            <a:r>
              <a:rPr lang="en-US" dirty="0" smtClean="0"/>
              <a:t> ANEKA</a:t>
            </a:r>
          </a:p>
          <a:p>
            <a:r>
              <a:rPr lang="en-US" dirty="0"/>
              <a:t> </a:t>
            </a:r>
            <a:r>
              <a:rPr lang="en-US" dirty="0" err="1"/>
              <a:t>K</a:t>
            </a:r>
            <a:r>
              <a:rPr lang="en-US" dirty="0" err="1" smtClean="0"/>
              <a:t>endala</a:t>
            </a:r>
            <a:r>
              <a:rPr lang="en-US" dirty="0" smtClean="0"/>
              <a:t> &amp; </a:t>
            </a:r>
            <a:r>
              <a:rPr lang="en-US" dirty="0" err="1" smtClean="0"/>
              <a:t>Antisipasi</a:t>
            </a:r>
            <a:endParaRPr lang="en-US" dirty="0" smtClean="0"/>
          </a:p>
        </p:txBody>
      </p:sp>
    </p:spTree>
    <p:extLst>
      <p:ext uri="{BB962C8B-B14F-4D97-AF65-F5344CB8AC3E}">
        <p14:creationId xmlns:p14="http://schemas.microsoft.com/office/powerpoint/2010/main" val="478443469"/>
      </p:ext>
    </p:extLst>
  </p:cSld>
  <p:clrMapOvr>
    <a:masterClrMapping/>
  </p:clrMapOvr>
  <p:transition spd="slow">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Rectangle 1"/>
          <p:cNvSpPr/>
          <p:nvPr/>
        </p:nvSpPr>
        <p:spPr>
          <a:xfrm>
            <a:off x="5411972" y="2291149"/>
            <a:ext cx="1765005" cy="562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n>
                <a:solidFill>
                  <a:schemeClr val="bg1"/>
                </a:solidFill>
              </a:ln>
              <a:solidFill>
                <a:schemeClr val="bg1"/>
              </a:solidFill>
            </a:endParaRPr>
          </a:p>
        </p:txBody>
      </p:sp>
      <p:sp>
        <p:nvSpPr>
          <p:cNvPr id="95" name="Shape 95"/>
          <p:cNvSpPr txBox="1">
            <a:spLocks noGrp="1"/>
          </p:cNvSpPr>
          <p:nvPr>
            <p:ph type="ctrTitle"/>
          </p:nvPr>
        </p:nvSpPr>
        <p:spPr>
          <a:xfrm>
            <a:off x="1993196" y="1711250"/>
            <a:ext cx="7012582" cy="1159799"/>
          </a:xfrm>
          <a:prstGeom prst="rect">
            <a:avLst/>
          </a:prstGeom>
        </p:spPr>
        <p:txBody>
          <a:bodyPr lIns="91425" tIns="91425" rIns="91425" bIns="91425" anchor="b" anchorCtr="0">
            <a:noAutofit/>
          </a:bodyPr>
          <a:lstStyle/>
          <a:p>
            <a:pPr lvl="0"/>
            <a:r>
              <a:rPr lang="id-ID" dirty="0"/>
              <a:t>Pelayanan Konsumen Data</a:t>
            </a:r>
            <a:endParaRPr lang="en" dirty="0"/>
          </a:p>
        </p:txBody>
      </p:sp>
      <p:sp>
        <p:nvSpPr>
          <p:cNvPr id="96" name="Shape 96"/>
          <p:cNvSpPr txBox="1">
            <a:spLocks noGrp="1"/>
          </p:cNvSpPr>
          <p:nvPr>
            <p:ph type="subTitle" idx="1"/>
          </p:nvPr>
        </p:nvSpPr>
        <p:spPr>
          <a:xfrm>
            <a:off x="1677874" y="2871049"/>
            <a:ext cx="7153202" cy="784799"/>
          </a:xfrm>
          <a:prstGeom prst="rect">
            <a:avLst/>
          </a:prstGeom>
        </p:spPr>
        <p:txBody>
          <a:bodyPr lIns="91425" tIns="91425" rIns="91425" bIns="91425" anchor="t" anchorCtr="0">
            <a:noAutofit/>
          </a:bodyPr>
          <a:lstStyle/>
          <a:p>
            <a:pPr lvl="0" algn="ctr"/>
            <a:r>
              <a:rPr lang="id-ID" dirty="0"/>
              <a:t>Dalam memberikan pelayanan </a:t>
            </a:r>
            <a:r>
              <a:rPr lang="id-ID" dirty="0" smtClean="0"/>
              <a:t>statistik, </a:t>
            </a:r>
            <a:r>
              <a:rPr lang="id-ID" dirty="0"/>
              <a:t>BPS berinteraksi dengan pengguna data baik menggunakan alat bantu komunikasi, seperti telepon, e-mail, surat, faksimili maupun langsung datang ke unit pelayanan </a:t>
            </a:r>
            <a:r>
              <a:rPr lang="id-ID" dirty="0" smtClean="0"/>
              <a:t>BPS</a:t>
            </a:r>
            <a:endParaRPr lang="en-US" dirty="0" smtClean="0"/>
          </a:p>
          <a:p>
            <a:pPr lvl="0" algn="ctr"/>
            <a:endParaRPr lang="en-US" dirty="0"/>
          </a:p>
          <a:p>
            <a:pPr algn="ctr"/>
            <a:r>
              <a:rPr lang="en-US" b="1" dirty="0"/>
              <a:t>Output:</a:t>
            </a:r>
          </a:p>
          <a:p>
            <a:pPr algn="ctr"/>
            <a:r>
              <a:rPr lang="en-US" dirty="0" smtClean="0"/>
              <a:t>2 orang </a:t>
            </a:r>
            <a:r>
              <a:rPr lang="en-US" dirty="0" err="1" smtClean="0"/>
              <a:t>konsumen</a:t>
            </a:r>
            <a:r>
              <a:rPr lang="en-US" dirty="0" smtClean="0"/>
              <a:t> data yang </a:t>
            </a:r>
            <a:r>
              <a:rPr lang="en-US" dirty="0" err="1" smtClean="0"/>
              <a:t>telah</a:t>
            </a:r>
            <a:r>
              <a:rPr lang="en-US" dirty="0" smtClean="0"/>
              <a:t> </a:t>
            </a:r>
            <a:r>
              <a:rPr lang="en-US" dirty="0" err="1" smtClean="0"/>
              <a:t>mengisi</a:t>
            </a:r>
            <a:r>
              <a:rPr lang="en-US" dirty="0" smtClean="0"/>
              <a:t> </a:t>
            </a:r>
            <a:r>
              <a:rPr lang="en-US" dirty="0" err="1" smtClean="0"/>
              <a:t>buku</a:t>
            </a:r>
            <a:r>
              <a:rPr lang="en-US" dirty="0" smtClean="0"/>
              <a:t> </a:t>
            </a:r>
            <a:r>
              <a:rPr lang="en-US" dirty="0" err="1" smtClean="0"/>
              <a:t>tamu</a:t>
            </a:r>
            <a:endParaRPr lang="en" dirty="0"/>
          </a:p>
        </p:txBody>
      </p:sp>
      <p:sp>
        <p:nvSpPr>
          <p:cNvPr id="97" name="Shape 97"/>
          <p:cNvSpPr txBox="1"/>
          <p:nvPr/>
        </p:nvSpPr>
        <p:spPr>
          <a:xfrm>
            <a:off x="1133975" y="2291150"/>
            <a:ext cx="543899" cy="562199"/>
          </a:xfrm>
          <a:prstGeom prst="rect">
            <a:avLst/>
          </a:prstGeom>
          <a:noFill/>
          <a:ln>
            <a:noFill/>
          </a:ln>
        </p:spPr>
        <p:txBody>
          <a:bodyPr lIns="91425" tIns="91425" rIns="91425" bIns="91425" anchor="ctr" anchorCtr="0">
            <a:noAutofit/>
          </a:bodyPr>
          <a:lstStyle/>
          <a:p>
            <a:pPr algn="ctr">
              <a:spcBef>
                <a:spcPts val="0"/>
              </a:spcBef>
              <a:buNone/>
            </a:pPr>
            <a:r>
              <a:rPr lang="en" sz="2400" dirty="0">
                <a:solidFill>
                  <a:schemeClr val="dk1"/>
                </a:solidFill>
                <a:latin typeface="Lora"/>
                <a:ea typeface="Lora"/>
                <a:cs typeface="Lora"/>
                <a:sym typeface="Lora"/>
              </a:rPr>
              <a:t>1</a:t>
            </a:r>
          </a:p>
        </p:txBody>
      </p:sp>
    </p:spTree>
  </p:cSld>
  <p:clrMapOvr>
    <a:masterClrMapping/>
  </p:clrMapOvr>
  <p:transition spd="slow">
    <p:cu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Shape 107"/>
          <p:cNvSpPr txBox="1">
            <a:spLocks noGrp="1"/>
          </p:cNvSpPr>
          <p:nvPr>
            <p:ph type="title"/>
          </p:nvPr>
        </p:nvSpPr>
        <p:spPr>
          <a:xfrm>
            <a:off x="1381250" y="924720"/>
            <a:ext cx="3878399" cy="435599"/>
          </a:xfrm>
          <a:prstGeom prst="rect">
            <a:avLst/>
          </a:prstGeom>
        </p:spPr>
        <p:txBody>
          <a:bodyPr lIns="91425" tIns="91425" rIns="91425" bIns="91425" anchor="ctr" anchorCtr="0">
            <a:noAutofit/>
          </a:bodyPr>
          <a:lstStyle/>
          <a:p>
            <a:r>
              <a:rPr lang="id-ID" dirty="0"/>
              <a:t>Pelayanan Konsumen Data</a:t>
            </a:r>
            <a:endParaRPr lang="en"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222"/>
          <p:cNvSpPr txBox="1">
            <a:spLocks/>
          </p:cNvSpPr>
          <p:nvPr/>
        </p:nvSpPr>
        <p:spPr>
          <a:xfrm>
            <a:off x="707065" y="2370151"/>
            <a:ext cx="7772400" cy="1159799"/>
          </a:xfrm>
          <a:prstGeom prst="rect">
            <a:avLst/>
          </a:prstGeom>
          <a:noFill/>
          <a:ln>
            <a:noFill/>
          </a:ln>
        </p:spPr>
        <p:txBody>
          <a:bodyPr lIns="91425" tIns="91425" rIns="91425" bIns="91425" anchor="ctr"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SzPct val="100000"/>
              <a:buFont typeface="Lora"/>
              <a:buNone/>
              <a:defRPr sz="2000" b="1" i="0" u="none" strike="noStrike" cap="none" baseline="0">
                <a:solidFill>
                  <a:srgbClr val="000000"/>
                </a:solidFill>
                <a:latin typeface="Lora"/>
                <a:ea typeface="Lora"/>
                <a:cs typeface="Lora"/>
                <a:sym typeface="Lora"/>
                <a:rtl val="0"/>
              </a:defRPr>
            </a:lvl1pPr>
            <a:lvl2pPr rtl="0">
              <a:spcBef>
                <a:spcPts val="0"/>
              </a:spcBef>
              <a:buSzPct val="100000"/>
              <a:buFont typeface="Lora"/>
              <a:buNone/>
              <a:defRPr sz="2000" b="1">
                <a:latin typeface="Lora"/>
                <a:ea typeface="Lora"/>
                <a:cs typeface="Lora"/>
                <a:sym typeface="Lora"/>
              </a:defRPr>
            </a:lvl2pPr>
            <a:lvl3pPr rtl="0">
              <a:spcBef>
                <a:spcPts val="0"/>
              </a:spcBef>
              <a:buSzPct val="100000"/>
              <a:buFont typeface="Lora"/>
              <a:buNone/>
              <a:defRPr sz="2000" b="1">
                <a:latin typeface="Lora"/>
                <a:ea typeface="Lora"/>
                <a:cs typeface="Lora"/>
                <a:sym typeface="Lora"/>
              </a:defRPr>
            </a:lvl3pPr>
            <a:lvl4pPr rtl="0">
              <a:spcBef>
                <a:spcPts val="0"/>
              </a:spcBef>
              <a:buSzPct val="100000"/>
              <a:buFont typeface="Lora"/>
              <a:buNone/>
              <a:defRPr sz="2000" b="1">
                <a:latin typeface="Lora"/>
                <a:ea typeface="Lora"/>
                <a:cs typeface="Lora"/>
                <a:sym typeface="Lora"/>
              </a:defRPr>
            </a:lvl4pPr>
            <a:lvl5pPr rtl="0">
              <a:spcBef>
                <a:spcPts val="0"/>
              </a:spcBef>
              <a:buSzPct val="100000"/>
              <a:buFont typeface="Lora"/>
              <a:buNone/>
              <a:defRPr sz="2000" b="1">
                <a:latin typeface="Lora"/>
                <a:ea typeface="Lora"/>
                <a:cs typeface="Lora"/>
                <a:sym typeface="Lora"/>
              </a:defRPr>
            </a:lvl5pPr>
            <a:lvl6pPr rtl="0">
              <a:spcBef>
                <a:spcPts val="0"/>
              </a:spcBef>
              <a:buSzPct val="100000"/>
              <a:buFont typeface="Lora"/>
              <a:buNone/>
              <a:defRPr sz="2000" b="1">
                <a:latin typeface="Lora"/>
                <a:ea typeface="Lora"/>
                <a:cs typeface="Lora"/>
                <a:sym typeface="Lora"/>
              </a:defRPr>
            </a:lvl6pPr>
            <a:lvl7pPr rtl="0">
              <a:spcBef>
                <a:spcPts val="0"/>
              </a:spcBef>
              <a:buSzPct val="100000"/>
              <a:buFont typeface="Lora"/>
              <a:buNone/>
              <a:defRPr sz="2000" b="1">
                <a:latin typeface="Lora"/>
                <a:ea typeface="Lora"/>
                <a:cs typeface="Lora"/>
                <a:sym typeface="Lora"/>
              </a:defRPr>
            </a:lvl7pPr>
            <a:lvl8pPr rtl="0">
              <a:spcBef>
                <a:spcPts val="0"/>
              </a:spcBef>
              <a:buSzPct val="100000"/>
              <a:buFont typeface="Lora"/>
              <a:buNone/>
              <a:defRPr sz="2000" b="1">
                <a:latin typeface="Lora"/>
                <a:ea typeface="Lora"/>
                <a:cs typeface="Lora"/>
                <a:sym typeface="Lora"/>
              </a:defRPr>
            </a:lvl8pPr>
            <a:lvl9pPr rtl="0">
              <a:spcBef>
                <a:spcPts val="0"/>
              </a:spcBef>
              <a:buSzPct val="100000"/>
              <a:buFont typeface="Lora"/>
              <a:buNone/>
              <a:defRPr sz="2000" b="1">
                <a:latin typeface="Lora"/>
                <a:ea typeface="Lora"/>
                <a:cs typeface="Lora"/>
                <a:sym typeface="Lora"/>
              </a:defRPr>
            </a:lvl9pPr>
          </a:lstStyle>
          <a:p>
            <a:pPr algn="ctr"/>
            <a:r>
              <a:rPr lang="en" sz="6600" b="0" dirty="0" smtClean="0">
                <a:latin typeface="Arial" panose="020B0604020202020204" pitchFamily="34" charset="0"/>
                <a:cs typeface="Arial" panose="020B0604020202020204" pitchFamily="34" charset="0"/>
              </a:rPr>
              <a:t>8-24 Agustus 2016</a:t>
            </a:r>
            <a:endParaRPr lang="en" sz="6600" b="0" dirty="0">
              <a:latin typeface="Arial" panose="020B0604020202020204" pitchFamily="34" charset="0"/>
              <a:cs typeface="Arial" panose="020B0604020202020204" pitchFamily="34" charset="0"/>
            </a:endParaRPr>
          </a:p>
        </p:txBody>
      </p:sp>
      <p:sp>
        <p:nvSpPr>
          <p:cNvPr id="3" name="TextBox 2"/>
          <p:cNvSpPr txBox="1"/>
          <p:nvPr/>
        </p:nvSpPr>
        <p:spPr>
          <a:xfrm>
            <a:off x="1045171" y="2183622"/>
            <a:ext cx="3463035" cy="369332"/>
          </a:xfrm>
          <a:prstGeom prst="rect">
            <a:avLst/>
          </a:prstGeom>
          <a:noFill/>
        </p:spPr>
        <p:txBody>
          <a:bodyPr wrap="square" rtlCol="0">
            <a:spAutoFit/>
          </a:bodyPr>
          <a:lstStyle/>
          <a:p>
            <a:r>
              <a:rPr lang="en-US" sz="1800" dirty="0" err="1" smtClean="0">
                <a:latin typeface="Lora"/>
              </a:rPr>
              <a:t>Tanggal</a:t>
            </a:r>
            <a:r>
              <a:rPr lang="en-US" sz="1800" dirty="0" smtClean="0">
                <a:latin typeface="Lora"/>
              </a:rPr>
              <a:t> </a:t>
            </a:r>
            <a:r>
              <a:rPr lang="en-US" sz="1800" dirty="0" err="1" smtClean="0">
                <a:latin typeface="Lora"/>
              </a:rPr>
              <a:t>Rencana</a:t>
            </a:r>
            <a:r>
              <a:rPr lang="en-US" sz="1800" dirty="0" smtClean="0">
                <a:latin typeface="Lora"/>
              </a:rPr>
              <a:t> </a:t>
            </a:r>
            <a:r>
              <a:rPr lang="en-US" sz="1800" dirty="0" err="1" smtClean="0">
                <a:latin typeface="Lora"/>
              </a:rPr>
              <a:t>Pelaksanaan</a:t>
            </a:r>
            <a:r>
              <a:rPr lang="en-US" sz="1800" dirty="0" smtClean="0">
                <a:latin typeface="Lora"/>
              </a:rPr>
              <a:t>:</a:t>
            </a:r>
            <a:endParaRPr lang="id-ID" sz="1800" dirty="0">
              <a:latin typeface="Lora"/>
            </a:endParaRPr>
          </a:p>
        </p:txBody>
      </p:sp>
    </p:spTree>
    <p:extLst>
      <p:ext uri="{BB962C8B-B14F-4D97-AF65-F5344CB8AC3E}">
        <p14:creationId xmlns:p14="http://schemas.microsoft.com/office/powerpoint/2010/main" val="2231151604"/>
      </p:ext>
    </p:extLst>
  </p:cSld>
  <p:clrMapOvr>
    <a:masterClrMapping/>
  </p:clrMapOvr>
  <p:transition spd="slow">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Shape 107"/>
          <p:cNvSpPr txBox="1">
            <a:spLocks noGrp="1"/>
          </p:cNvSpPr>
          <p:nvPr>
            <p:ph type="title"/>
          </p:nvPr>
        </p:nvSpPr>
        <p:spPr>
          <a:xfrm>
            <a:off x="1381250" y="924720"/>
            <a:ext cx="3878399" cy="435599"/>
          </a:xfrm>
          <a:prstGeom prst="rect">
            <a:avLst/>
          </a:prstGeom>
        </p:spPr>
        <p:txBody>
          <a:bodyPr lIns="91425" tIns="91425" rIns="91425" bIns="91425" anchor="ctr" anchorCtr="0">
            <a:noAutofit/>
          </a:bodyPr>
          <a:lstStyle/>
          <a:p>
            <a:r>
              <a:rPr lang="id-ID" dirty="0"/>
              <a:t>Pelayanan Konsumen Data</a:t>
            </a:r>
            <a:endParaRPr lang="en" dirty="0"/>
          </a:p>
        </p:txBody>
      </p:sp>
      <p:sp>
        <p:nvSpPr>
          <p:cNvPr id="108" name="Shape 108"/>
          <p:cNvSpPr txBox="1">
            <a:spLocks noGrp="1"/>
          </p:cNvSpPr>
          <p:nvPr>
            <p:ph type="body" idx="1"/>
          </p:nvPr>
        </p:nvSpPr>
        <p:spPr>
          <a:xfrm>
            <a:off x="-1" y="1450099"/>
            <a:ext cx="6528391" cy="559454"/>
          </a:xfrm>
          <a:prstGeom prst="rect">
            <a:avLst/>
          </a:prstGeom>
        </p:spPr>
        <p:txBody>
          <a:bodyPr lIns="91425" tIns="91425" rIns="91425" bIns="91425" anchor="t" anchorCtr="0">
            <a:noAutofit/>
          </a:bodyPr>
          <a:lstStyle/>
          <a:p>
            <a:pPr marL="228600" lvl="0">
              <a:spcBef>
                <a:spcPts val="0"/>
              </a:spcBef>
              <a:buNone/>
            </a:pPr>
            <a:r>
              <a:rPr lang="en-US" dirty="0" err="1" smtClean="0"/>
              <a:t>Nilai-nilai</a:t>
            </a:r>
            <a:r>
              <a:rPr lang="en-US" dirty="0" smtClean="0"/>
              <a:t> ANEKA </a:t>
            </a:r>
            <a:r>
              <a:rPr lang="en-US" dirty="0" err="1" smtClean="0"/>
              <a:t>akan</a:t>
            </a:r>
            <a:r>
              <a:rPr lang="en-US" dirty="0" smtClean="0"/>
              <a:t> </a:t>
            </a:r>
            <a:r>
              <a:rPr lang="en-US" dirty="0" err="1" smtClean="0"/>
              <a:t>diaktualisasikan</a:t>
            </a:r>
            <a:endParaRPr lang="id-ID"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384830" y="2192205"/>
            <a:ext cx="3549216" cy="163323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endParaRPr lang="en" sz="1400" dirty="0"/>
          </a:p>
        </p:txBody>
      </p:sp>
      <p:sp>
        <p:nvSpPr>
          <p:cNvPr id="11" name="Shape 151"/>
          <p:cNvSpPr txBox="1">
            <a:spLocks/>
          </p:cNvSpPr>
          <p:nvPr/>
        </p:nvSpPr>
        <p:spPr>
          <a:xfrm>
            <a:off x="1131082" y="2099333"/>
            <a:ext cx="2333999" cy="2164323"/>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buNone/>
            </a:pPr>
            <a:r>
              <a:rPr lang="en-US" sz="1400" b="1" dirty="0" err="1" smtClean="0"/>
              <a:t>Akuntabilitas</a:t>
            </a:r>
            <a:r>
              <a:rPr lang="en-US" sz="1400" b="1" dirty="0"/>
              <a:t>:</a:t>
            </a:r>
            <a:endParaRPr lang="id-ID" sz="1400" dirty="0"/>
          </a:p>
          <a:p>
            <a:pPr marL="285750" indent="-285750">
              <a:spcBef>
                <a:spcPts val="0"/>
              </a:spcBef>
            </a:pPr>
            <a:r>
              <a:rPr lang="en-US" sz="1400" dirty="0" err="1">
                <a:sym typeface="Arial"/>
              </a:rPr>
              <a:t>Kejelasan</a:t>
            </a:r>
            <a:endParaRPr lang="id-ID" sz="1400" dirty="0">
              <a:sym typeface="Arial"/>
            </a:endParaRPr>
          </a:p>
          <a:p>
            <a:pPr marL="285750" indent="-285750">
              <a:spcBef>
                <a:spcPts val="0"/>
              </a:spcBef>
            </a:pPr>
            <a:r>
              <a:rPr lang="en-US" sz="1400" dirty="0" err="1">
                <a:sym typeface="Arial"/>
              </a:rPr>
              <a:t>Penggunaan</a:t>
            </a:r>
            <a:r>
              <a:rPr lang="en-US" sz="1400" dirty="0">
                <a:sym typeface="Arial"/>
              </a:rPr>
              <a:t> </a:t>
            </a:r>
            <a:r>
              <a:rPr lang="en-US" sz="1400" dirty="0" err="1">
                <a:sym typeface="Arial"/>
              </a:rPr>
              <a:t>sumber</a:t>
            </a:r>
            <a:r>
              <a:rPr lang="en-US" sz="1400" dirty="0">
                <a:sym typeface="Arial"/>
              </a:rPr>
              <a:t> </a:t>
            </a:r>
            <a:r>
              <a:rPr lang="en-US" sz="1400" dirty="0" err="1">
                <a:sym typeface="Arial"/>
              </a:rPr>
              <a:t>daya</a:t>
            </a:r>
            <a:r>
              <a:rPr lang="en-US" sz="1400" dirty="0">
                <a:sym typeface="Arial"/>
              </a:rPr>
              <a:t> yang </a:t>
            </a:r>
            <a:r>
              <a:rPr lang="en-US" sz="1400" dirty="0" err="1">
                <a:sym typeface="Arial"/>
              </a:rPr>
              <a:t>efektif</a:t>
            </a:r>
            <a:endParaRPr lang="id-ID" sz="1400" dirty="0">
              <a:sym typeface="Arial"/>
            </a:endParaRPr>
          </a:p>
          <a:p>
            <a:pPr marL="285750" indent="-285750">
              <a:spcBef>
                <a:spcPts val="0"/>
              </a:spcBef>
            </a:pPr>
            <a:r>
              <a:rPr lang="en-US" sz="1400" dirty="0" err="1">
                <a:sym typeface="Arial"/>
              </a:rPr>
              <a:t>Laporan</a:t>
            </a:r>
            <a:endParaRPr lang="id-ID" sz="1400" dirty="0">
              <a:sym typeface="Arial"/>
            </a:endParaRPr>
          </a:p>
          <a:p>
            <a:pPr marL="285750" indent="-285750">
              <a:spcBef>
                <a:spcPts val="0"/>
              </a:spcBef>
            </a:pPr>
            <a:r>
              <a:rPr lang="en-US" sz="1400" dirty="0" err="1">
                <a:sym typeface="Arial"/>
              </a:rPr>
              <a:t>Tanggung</a:t>
            </a:r>
            <a:r>
              <a:rPr lang="en-US" sz="1400" dirty="0">
                <a:sym typeface="Arial"/>
              </a:rPr>
              <a:t> </a:t>
            </a:r>
            <a:r>
              <a:rPr lang="en-US" sz="1400" dirty="0" err="1">
                <a:sym typeface="Arial"/>
              </a:rPr>
              <a:t>jawab</a:t>
            </a:r>
            <a:endParaRPr lang="en" sz="1400" dirty="0">
              <a:sym typeface="Arial"/>
            </a:endParaRPr>
          </a:p>
        </p:txBody>
      </p:sp>
      <p:sp>
        <p:nvSpPr>
          <p:cNvPr id="12" name="Shape 152"/>
          <p:cNvSpPr txBox="1">
            <a:spLocks/>
          </p:cNvSpPr>
          <p:nvPr/>
        </p:nvSpPr>
        <p:spPr>
          <a:xfrm>
            <a:off x="3584743" y="2099333"/>
            <a:ext cx="2333999" cy="2164323"/>
          </a:xfrm>
          <a:prstGeom prst="rect">
            <a:avLst/>
          </a:prstGeom>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r>
              <a:rPr lang="en-US" b="1" dirty="0" err="1" smtClean="0"/>
              <a:t>Nasionalisme</a:t>
            </a:r>
            <a:r>
              <a:rPr lang="en-US" b="1" dirty="0"/>
              <a:t>:</a:t>
            </a:r>
            <a:endParaRPr lang="id-ID" dirty="0"/>
          </a:p>
          <a:p>
            <a:pPr marL="285750" indent="-285750">
              <a:buClr>
                <a:srgbClr val="FFCD00"/>
              </a:buClr>
              <a:buSzPct val="100000"/>
              <a:buFont typeface="Quattrocento Sans"/>
              <a:buChar char="◉"/>
            </a:pPr>
            <a:r>
              <a:rPr lang="en-US" dirty="0" err="1">
                <a:latin typeface="Quattrocento Sans"/>
                <a:ea typeface="Quattrocento Sans"/>
                <a:cs typeface="Quattrocento Sans"/>
              </a:rPr>
              <a:t>Takwa</a:t>
            </a:r>
            <a:endParaRPr lang="en-US" dirty="0">
              <a:latin typeface="Quattrocento Sans"/>
              <a:ea typeface="Quattrocento Sans"/>
              <a:cs typeface="Quattrocento Sans"/>
            </a:endParaRPr>
          </a:p>
          <a:p>
            <a:pPr lvl="0"/>
            <a:endParaRPr lang="id-ID" dirty="0"/>
          </a:p>
          <a:p>
            <a:r>
              <a:rPr lang="en-US" b="1" dirty="0" err="1"/>
              <a:t>Etika</a:t>
            </a:r>
            <a:r>
              <a:rPr lang="en-US" b="1" dirty="0"/>
              <a:t> </a:t>
            </a:r>
            <a:r>
              <a:rPr lang="en-US" b="1" dirty="0" err="1"/>
              <a:t>Publik</a:t>
            </a:r>
            <a:r>
              <a:rPr lang="en-US" b="1" dirty="0"/>
              <a:t>:</a:t>
            </a:r>
            <a:endParaRPr lang="id-ID" dirty="0"/>
          </a:p>
          <a:p>
            <a:pPr marL="285750" lvl="0" indent="-285750">
              <a:buClr>
                <a:srgbClr val="FFCD00"/>
              </a:buClr>
              <a:buSzPct val="100000"/>
              <a:buFont typeface="Quattrocento Sans"/>
              <a:buChar char="◉"/>
            </a:pPr>
            <a:r>
              <a:rPr lang="en-US" dirty="0" err="1">
                <a:latin typeface="Quattrocento Sans"/>
                <a:ea typeface="Quattrocento Sans"/>
                <a:cs typeface="Quattrocento Sans"/>
                <a:sym typeface="Quattrocento Sans"/>
              </a:rPr>
              <a:t>Menyelesaikan</a:t>
            </a:r>
            <a:r>
              <a:rPr lang="en-US" dirty="0">
                <a:latin typeface="Quattrocento Sans"/>
                <a:ea typeface="Quattrocento Sans"/>
                <a:cs typeface="Quattrocento Sans"/>
                <a:sym typeface="Quattrocento Sans"/>
              </a:rPr>
              <a:t> </a:t>
            </a:r>
            <a:r>
              <a:rPr lang="en-US" dirty="0" err="1">
                <a:latin typeface="Quattrocento Sans"/>
                <a:ea typeface="Quattrocento Sans"/>
                <a:cs typeface="Quattrocento Sans"/>
                <a:sym typeface="Quattrocento Sans"/>
              </a:rPr>
              <a:t>tugas</a:t>
            </a:r>
            <a:r>
              <a:rPr lang="en-US" dirty="0">
                <a:latin typeface="Quattrocento Sans"/>
                <a:ea typeface="Quattrocento Sans"/>
                <a:cs typeface="Quattrocento Sans"/>
                <a:sym typeface="Quattrocento Sans"/>
              </a:rPr>
              <a:t> </a:t>
            </a:r>
            <a:r>
              <a:rPr lang="en-US" dirty="0" err="1">
                <a:latin typeface="Quattrocento Sans"/>
                <a:ea typeface="Quattrocento Sans"/>
                <a:cs typeface="Quattrocento Sans"/>
                <a:sym typeface="Quattrocento Sans"/>
              </a:rPr>
              <a:t>dengan</a:t>
            </a:r>
            <a:r>
              <a:rPr lang="en-US" dirty="0">
                <a:latin typeface="Quattrocento Sans"/>
                <a:ea typeface="Quattrocento Sans"/>
                <a:cs typeface="Quattrocento Sans"/>
                <a:sym typeface="Quattrocento Sans"/>
              </a:rPr>
              <a:t> </a:t>
            </a:r>
            <a:r>
              <a:rPr lang="en-US" dirty="0" err="1">
                <a:latin typeface="Quattrocento Sans"/>
                <a:ea typeface="Quattrocento Sans"/>
                <a:cs typeface="Quattrocento Sans"/>
                <a:sym typeface="Quattrocento Sans"/>
              </a:rPr>
              <a:t>baik</a:t>
            </a:r>
            <a:endParaRPr lang="id-ID" dirty="0">
              <a:latin typeface="Quattrocento Sans"/>
              <a:ea typeface="Quattrocento Sans"/>
              <a:cs typeface="Quattrocento Sans"/>
              <a:sym typeface="Quattrocento Sans"/>
            </a:endParaRPr>
          </a:p>
          <a:p>
            <a:pPr marL="285750" lvl="0" indent="-285750">
              <a:buClr>
                <a:srgbClr val="FFCD00"/>
              </a:buClr>
              <a:buSzPct val="100000"/>
              <a:buFont typeface="Quattrocento Sans"/>
              <a:buChar char="◉"/>
            </a:pPr>
            <a:r>
              <a:rPr lang="en-US" dirty="0" err="1">
                <a:latin typeface="Quattrocento Sans"/>
                <a:ea typeface="Quattrocento Sans"/>
                <a:cs typeface="Quattrocento Sans"/>
                <a:sym typeface="Quattrocento Sans"/>
              </a:rPr>
              <a:t>Santun</a:t>
            </a:r>
            <a:endParaRPr lang="id-ID" dirty="0">
              <a:latin typeface="Quattrocento Sans"/>
              <a:ea typeface="Quattrocento Sans"/>
              <a:cs typeface="Quattrocento Sans"/>
              <a:sym typeface="Quattrocento Sans"/>
            </a:endParaRPr>
          </a:p>
          <a:p>
            <a:pPr marL="285750" lvl="0" indent="-285750">
              <a:buClr>
                <a:srgbClr val="FFCD00"/>
              </a:buClr>
              <a:buSzPct val="100000"/>
              <a:buFont typeface="Quattrocento Sans"/>
              <a:buChar char="◉"/>
            </a:pPr>
            <a:r>
              <a:rPr lang="en-US" dirty="0" err="1">
                <a:latin typeface="Quattrocento Sans"/>
                <a:ea typeface="Quattrocento Sans"/>
                <a:cs typeface="Quattrocento Sans"/>
                <a:sym typeface="Quattrocento Sans"/>
              </a:rPr>
              <a:t>Teliti</a:t>
            </a:r>
            <a:endParaRPr lang="en" dirty="0">
              <a:latin typeface="Quattrocento Sans"/>
              <a:ea typeface="Quattrocento Sans"/>
              <a:cs typeface="Quattrocento Sans"/>
              <a:sym typeface="Quattrocento Sans"/>
            </a:endParaRPr>
          </a:p>
        </p:txBody>
      </p:sp>
      <p:sp>
        <p:nvSpPr>
          <p:cNvPr id="13" name="Shape 153"/>
          <p:cNvSpPr txBox="1">
            <a:spLocks/>
          </p:cNvSpPr>
          <p:nvPr/>
        </p:nvSpPr>
        <p:spPr>
          <a:xfrm>
            <a:off x="6038405" y="2099333"/>
            <a:ext cx="2659028" cy="1983569"/>
          </a:xfrm>
          <a:prstGeom prst="rect">
            <a:avLst/>
          </a:prstGeom>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r>
              <a:rPr lang="en-US" b="1" dirty="0" err="1"/>
              <a:t>Komitmen</a:t>
            </a:r>
            <a:r>
              <a:rPr lang="en-US" b="1" dirty="0"/>
              <a:t> </a:t>
            </a:r>
            <a:r>
              <a:rPr lang="en-US" b="1" dirty="0" err="1"/>
              <a:t>Mutu</a:t>
            </a:r>
            <a:r>
              <a:rPr lang="en-US" b="1" dirty="0"/>
              <a:t>:</a:t>
            </a:r>
            <a:endParaRPr lang="id-ID" dirty="0"/>
          </a:p>
          <a:p>
            <a:pPr marL="285750" indent="-285750">
              <a:buClr>
                <a:srgbClr val="FFCD00"/>
              </a:buClr>
              <a:buSzPct val="100000"/>
              <a:buFont typeface="Quattrocento Sans"/>
              <a:buChar char="◉"/>
            </a:pPr>
            <a:r>
              <a:rPr lang="en-US" dirty="0" err="1">
                <a:latin typeface="Quattrocento Sans"/>
                <a:ea typeface="Quattrocento Sans"/>
                <a:cs typeface="Quattrocento Sans"/>
              </a:rPr>
              <a:t>Efisien</a:t>
            </a:r>
            <a:endParaRPr lang="id-ID" dirty="0">
              <a:latin typeface="Quattrocento Sans"/>
              <a:ea typeface="Quattrocento Sans"/>
              <a:cs typeface="Quattrocento Sans"/>
            </a:endParaRPr>
          </a:p>
          <a:p>
            <a:pPr marL="285750" indent="-285750">
              <a:buClr>
                <a:srgbClr val="FFCD00"/>
              </a:buClr>
              <a:buSzPct val="100000"/>
              <a:buFont typeface="Quattrocento Sans"/>
              <a:buChar char="◉"/>
            </a:pPr>
            <a:r>
              <a:rPr lang="en-AU" dirty="0" err="1">
                <a:latin typeface="Quattrocento Sans"/>
                <a:ea typeface="Quattrocento Sans"/>
                <a:cs typeface="Quattrocento Sans"/>
              </a:rPr>
              <a:t>Orientasi</a:t>
            </a:r>
            <a:r>
              <a:rPr lang="en-AU" dirty="0">
                <a:latin typeface="Quattrocento Sans"/>
                <a:ea typeface="Quattrocento Sans"/>
                <a:cs typeface="Quattrocento Sans"/>
              </a:rPr>
              <a:t> </a:t>
            </a:r>
            <a:r>
              <a:rPr lang="en-AU" dirty="0" err="1">
                <a:latin typeface="Quattrocento Sans"/>
                <a:ea typeface="Quattrocento Sans"/>
                <a:cs typeface="Quattrocento Sans"/>
              </a:rPr>
              <a:t>pada</a:t>
            </a:r>
            <a:r>
              <a:rPr lang="en-AU" dirty="0">
                <a:latin typeface="Quattrocento Sans"/>
                <a:ea typeface="Quattrocento Sans"/>
                <a:cs typeface="Quattrocento Sans"/>
              </a:rPr>
              <a:t> </a:t>
            </a:r>
            <a:r>
              <a:rPr lang="en-AU" dirty="0" err="1">
                <a:latin typeface="Quattrocento Sans"/>
                <a:ea typeface="Quattrocento Sans"/>
                <a:cs typeface="Quattrocento Sans"/>
              </a:rPr>
              <a:t>keunggulan</a:t>
            </a:r>
            <a:endParaRPr lang="en-AU" dirty="0">
              <a:latin typeface="Quattrocento Sans"/>
              <a:ea typeface="Quattrocento Sans"/>
              <a:cs typeface="Quattrocento Sans"/>
            </a:endParaRPr>
          </a:p>
          <a:p>
            <a:pPr marL="285750" indent="-285750">
              <a:buClr>
                <a:srgbClr val="FFCD00"/>
              </a:buClr>
              <a:buSzPct val="100000"/>
              <a:buFont typeface="Quattrocento Sans"/>
              <a:buChar char="◉"/>
            </a:pPr>
            <a:endParaRPr lang="id-ID" dirty="0">
              <a:latin typeface="Quattrocento Sans"/>
              <a:ea typeface="Quattrocento Sans"/>
              <a:cs typeface="Quattrocento Sans"/>
            </a:endParaRPr>
          </a:p>
          <a:p>
            <a:r>
              <a:rPr lang="en-US" b="1" dirty="0"/>
              <a:t>Anti </a:t>
            </a:r>
            <a:r>
              <a:rPr lang="en-US" b="1" dirty="0" err="1"/>
              <a:t>Korupsi</a:t>
            </a:r>
            <a:r>
              <a:rPr lang="en-US" b="1" dirty="0"/>
              <a:t>:</a:t>
            </a:r>
            <a:endParaRPr lang="id-ID" dirty="0"/>
          </a:p>
          <a:p>
            <a:pPr marL="285750" indent="-285750">
              <a:buClr>
                <a:srgbClr val="FFCD00"/>
              </a:buClr>
              <a:buSzPct val="100000"/>
              <a:buFont typeface="Quattrocento Sans"/>
              <a:buChar char="◉"/>
            </a:pPr>
            <a:r>
              <a:rPr lang="id-ID" dirty="0">
                <a:latin typeface="Quattrocento Sans"/>
                <a:ea typeface="Quattrocento Sans"/>
                <a:cs typeface="Quattrocento Sans"/>
              </a:rPr>
              <a:t>Jujur</a:t>
            </a:r>
            <a:endParaRPr lang="en-US" dirty="0">
              <a:latin typeface="Quattrocento Sans"/>
              <a:ea typeface="Quattrocento Sans"/>
              <a:cs typeface="Quattrocento Sans"/>
            </a:endParaRPr>
          </a:p>
        </p:txBody>
      </p:sp>
    </p:spTree>
    <p:extLst>
      <p:ext uri="{BB962C8B-B14F-4D97-AF65-F5344CB8AC3E}">
        <p14:creationId xmlns:p14="http://schemas.microsoft.com/office/powerpoint/2010/main" val="391080495"/>
      </p:ext>
    </p:extLst>
  </p:cSld>
  <p:clrMapOvr>
    <a:masterClrMapping/>
  </p:clrMapOvr>
  <p:transition spd="slow">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Shape 107"/>
          <p:cNvSpPr txBox="1">
            <a:spLocks noGrp="1"/>
          </p:cNvSpPr>
          <p:nvPr>
            <p:ph type="title"/>
          </p:nvPr>
        </p:nvSpPr>
        <p:spPr>
          <a:xfrm>
            <a:off x="1381250" y="924720"/>
            <a:ext cx="3878399" cy="435599"/>
          </a:xfrm>
          <a:prstGeom prst="rect">
            <a:avLst/>
          </a:prstGeom>
        </p:spPr>
        <p:txBody>
          <a:bodyPr lIns="91425" tIns="91425" rIns="91425" bIns="91425" anchor="ctr" anchorCtr="0">
            <a:noAutofit/>
          </a:bodyPr>
          <a:lstStyle/>
          <a:p>
            <a:r>
              <a:rPr lang="id-ID" dirty="0"/>
              <a:t>Pelayanan Konsumen Data</a:t>
            </a:r>
            <a:endParaRPr lang="en" dirty="0"/>
          </a:p>
        </p:txBody>
      </p:sp>
      <p:sp>
        <p:nvSpPr>
          <p:cNvPr id="108" name="Shape 108"/>
          <p:cNvSpPr txBox="1">
            <a:spLocks noGrp="1"/>
          </p:cNvSpPr>
          <p:nvPr>
            <p:ph type="body" idx="1"/>
          </p:nvPr>
        </p:nvSpPr>
        <p:spPr>
          <a:xfrm>
            <a:off x="0" y="1450099"/>
            <a:ext cx="5883684" cy="559454"/>
          </a:xfrm>
          <a:prstGeom prst="rect">
            <a:avLst/>
          </a:prstGeom>
        </p:spPr>
        <p:txBody>
          <a:bodyPr lIns="91425" tIns="91425" rIns="91425" bIns="91425" anchor="t" anchorCtr="0">
            <a:noAutofit/>
          </a:bodyPr>
          <a:lstStyle/>
          <a:p>
            <a:pPr marL="228600" lvl="0">
              <a:spcBef>
                <a:spcPts val="0"/>
              </a:spcBef>
              <a:buNone/>
            </a:pPr>
            <a:r>
              <a:rPr lang="en-US" dirty="0" err="1" smtClean="0"/>
              <a:t>Contoh</a:t>
            </a:r>
            <a:r>
              <a:rPr lang="en-US" dirty="0" smtClean="0"/>
              <a:t> </a:t>
            </a:r>
            <a:r>
              <a:rPr lang="en-US" dirty="0" err="1" smtClean="0"/>
              <a:t>penerapannya</a:t>
            </a:r>
            <a:endParaRPr lang="id-ID"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916458" y="2353979"/>
            <a:ext cx="7153202" cy="784799"/>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spcBef>
                <a:spcPts val="0"/>
              </a:spcBef>
              <a:buClr>
                <a:srgbClr val="000000"/>
              </a:buClr>
              <a:buNone/>
            </a:pPr>
            <a:r>
              <a:rPr lang="en-US" sz="1400" dirty="0" err="1"/>
              <a:t>Saya</a:t>
            </a:r>
            <a:r>
              <a:rPr lang="en-US" sz="1400" dirty="0"/>
              <a:t> </a:t>
            </a:r>
            <a:r>
              <a:rPr lang="en-US" sz="1400" dirty="0" err="1"/>
              <a:t>akan</a:t>
            </a:r>
            <a:r>
              <a:rPr lang="en-US" sz="1400" dirty="0"/>
              <a:t> </a:t>
            </a:r>
            <a:r>
              <a:rPr lang="en-US" sz="1400" dirty="0" err="1"/>
              <a:t>melaksanakan</a:t>
            </a:r>
            <a:r>
              <a:rPr lang="en-US" sz="1400" dirty="0"/>
              <a:t> </a:t>
            </a:r>
            <a:r>
              <a:rPr lang="en-US" sz="1400" dirty="0" err="1"/>
              <a:t>tugas</a:t>
            </a:r>
            <a:r>
              <a:rPr lang="en-US" sz="1400" dirty="0"/>
              <a:t> </a:t>
            </a:r>
            <a:r>
              <a:rPr lang="en-US" sz="1400" dirty="0" err="1"/>
              <a:t>ini</a:t>
            </a:r>
            <a:r>
              <a:rPr lang="en-US" sz="1400" dirty="0"/>
              <a:t> </a:t>
            </a:r>
            <a:r>
              <a:rPr lang="en-US" sz="1400" dirty="0" err="1"/>
              <a:t>dengan</a:t>
            </a:r>
            <a:r>
              <a:rPr lang="en-US" sz="1400" dirty="0"/>
              <a:t> </a:t>
            </a:r>
            <a:r>
              <a:rPr lang="en-US" sz="1400" dirty="0" err="1"/>
              <a:t>penuh</a:t>
            </a:r>
            <a:r>
              <a:rPr lang="en-US" sz="1400" dirty="0"/>
              <a:t> </a:t>
            </a:r>
            <a:r>
              <a:rPr lang="en-US" sz="1400" b="1" dirty="0" err="1"/>
              <a:t>tanggung</a:t>
            </a:r>
            <a:r>
              <a:rPr lang="en-US" sz="1400" b="1" dirty="0"/>
              <a:t> </a:t>
            </a:r>
            <a:r>
              <a:rPr lang="en-US" sz="1400" b="1" dirty="0" err="1"/>
              <a:t>jawab</a:t>
            </a:r>
            <a:r>
              <a:rPr lang="en-US" sz="1400" b="1" dirty="0"/>
              <a:t> </a:t>
            </a:r>
            <a:r>
              <a:rPr lang="en-US" sz="1400" dirty="0" err="1"/>
              <a:t>sesuai</a:t>
            </a:r>
            <a:r>
              <a:rPr lang="en-US" sz="1400" dirty="0"/>
              <a:t> target yang </a:t>
            </a:r>
            <a:r>
              <a:rPr lang="en-US" sz="1400" dirty="0" err="1"/>
              <a:t>telah</a:t>
            </a:r>
            <a:r>
              <a:rPr lang="en-US" sz="1400" dirty="0"/>
              <a:t> </a:t>
            </a:r>
            <a:r>
              <a:rPr lang="en-US" sz="1400" dirty="0" err="1"/>
              <a:t>ditentukan</a:t>
            </a:r>
            <a:r>
              <a:rPr lang="en-US" sz="1400" dirty="0"/>
              <a:t> (</a:t>
            </a:r>
            <a:r>
              <a:rPr lang="en-US" sz="1400" b="1" dirty="0" err="1"/>
              <a:t>akuntabilitas</a:t>
            </a:r>
            <a:r>
              <a:rPr lang="en-US" sz="1400" dirty="0"/>
              <a:t>)</a:t>
            </a:r>
            <a:r>
              <a:rPr lang="en-US" sz="1400" b="1" dirty="0"/>
              <a:t>. </a:t>
            </a:r>
            <a:r>
              <a:rPr lang="en-US" sz="1400" dirty="0" err="1"/>
              <a:t>Tak</a:t>
            </a:r>
            <a:r>
              <a:rPr lang="en-US" sz="1400" dirty="0"/>
              <a:t> </a:t>
            </a:r>
            <a:r>
              <a:rPr lang="en-US" sz="1400" dirty="0" err="1"/>
              <a:t>lupa</a:t>
            </a:r>
            <a:r>
              <a:rPr lang="en-US" sz="1400" dirty="0"/>
              <a:t> </a:t>
            </a:r>
            <a:r>
              <a:rPr lang="en-US" sz="1400" dirty="0" err="1"/>
              <a:t>saya</a:t>
            </a:r>
            <a:r>
              <a:rPr lang="en-US" sz="1400" dirty="0"/>
              <a:t> </a:t>
            </a:r>
            <a:r>
              <a:rPr lang="en-US" sz="1400" dirty="0" err="1"/>
              <a:t>akan</a:t>
            </a:r>
            <a:r>
              <a:rPr lang="en-US" sz="1400" dirty="0"/>
              <a:t> </a:t>
            </a:r>
            <a:r>
              <a:rPr lang="en-US" sz="1400" b="1" dirty="0" err="1"/>
              <a:t>berdoa</a:t>
            </a:r>
            <a:r>
              <a:rPr lang="en-US" sz="1400" dirty="0"/>
              <a:t> </a:t>
            </a:r>
            <a:r>
              <a:rPr lang="en-US" sz="1400" dirty="0" err="1"/>
              <a:t>sebelum</a:t>
            </a:r>
            <a:r>
              <a:rPr lang="en-US" sz="1400" dirty="0"/>
              <a:t> </a:t>
            </a:r>
            <a:r>
              <a:rPr lang="en-US" sz="1400" dirty="0" err="1"/>
              <a:t>memulai</a:t>
            </a:r>
            <a:r>
              <a:rPr lang="en-US" sz="1400" dirty="0"/>
              <a:t> </a:t>
            </a:r>
            <a:r>
              <a:rPr lang="en-US" sz="1400" dirty="0" err="1"/>
              <a:t>kegiatan</a:t>
            </a:r>
            <a:r>
              <a:rPr lang="en-US" sz="1400" dirty="0"/>
              <a:t> (</a:t>
            </a:r>
            <a:r>
              <a:rPr lang="en-US" sz="1400" b="1" dirty="0" err="1"/>
              <a:t>nasionalisme</a:t>
            </a:r>
            <a:r>
              <a:rPr lang="en-US" sz="1400" dirty="0"/>
              <a:t>). </a:t>
            </a:r>
            <a:endParaRPr lang="en" sz="1400" dirty="0"/>
          </a:p>
        </p:txBody>
      </p:sp>
    </p:spTree>
    <p:extLst>
      <p:ext uri="{BB962C8B-B14F-4D97-AF65-F5344CB8AC3E}">
        <p14:creationId xmlns:p14="http://schemas.microsoft.com/office/powerpoint/2010/main" val="331385176"/>
      </p:ext>
    </p:extLst>
  </p:cSld>
  <p:clrMapOvr>
    <a:masterClrMapping/>
  </p:clrMapOvr>
  <p:transition spd="slow">
    <p:cu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Shape 107"/>
          <p:cNvSpPr txBox="1">
            <a:spLocks noGrp="1"/>
          </p:cNvSpPr>
          <p:nvPr>
            <p:ph type="title"/>
          </p:nvPr>
        </p:nvSpPr>
        <p:spPr>
          <a:xfrm>
            <a:off x="1381250" y="924720"/>
            <a:ext cx="3878399" cy="435599"/>
          </a:xfrm>
          <a:prstGeom prst="rect">
            <a:avLst/>
          </a:prstGeom>
        </p:spPr>
        <p:txBody>
          <a:bodyPr lIns="91425" tIns="91425" rIns="91425" bIns="91425" anchor="ctr" anchorCtr="0">
            <a:noAutofit/>
          </a:bodyPr>
          <a:lstStyle/>
          <a:p>
            <a:r>
              <a:rPr lang="id-ID" dirty="0"/>
              <a:t>Pelayanan Konsumen Data</a:t>
            </a:r>
            <a:endParaRPr lang="en" dirty="0"/>
          </a:p>
        </p:txBody>
      </p:sp>
      <p:sp>
        <p:nvSpPr>
          <p:cNvPr id="108" name="Shape 108"/>
          <p:cNvSpPr txBox="1">
            <a:spLocks noGrp="1"/>
          </p:cNvSpPr>
          <p:nvPr>
            <p:ph type="body" idx="1"/>
          </p:nvPr>
        </p:nvSpPr>
        <p:spPr>
          <a:xfrm>
            <a:off x="1381250" y="1567753"/>
            <a:ext cx="1867376" cy="559454"/>
          </a:xfrm>
          <a:prstGeom prst="rect">
            <a:avLst/>
          </a:prstGeom>
        </p:spPr>
        <p:txBody>
          <a:bodyPr lIns="91425" tIns="91425" rIns="91425" bIns="91425" anchor="t" anchorCtr="0">
            <a:noAutofit/>
          </a:bodyPr>
          <a:lstStyle/>
          <a:p>
            <a:pPr marL="228600" lvl="0">
              <a:spcBef>
                <a:spcPts val="0"/>
              </a:spcBef>
              <a:buNone/>
            </a:pPr>
            <a:r>
              <a:rPr lang="en-US" b="1" dirty="0" err="1" smtClean="0"/>
              <a:t>Kendala</a:t>
            </a:r>
            <a:endParaRPr lang="fi-FI"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916458" y="2353979"/>
            <a:ext cx="7026063" cy="750728"/>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85750" indent="-285750"/>
            <a:r>
              <a:rPr lang="en-US" sz="1400" dirty="0" smtClean="0"/>
              <a:t>Data </a:t>
            </a:r>
            <a:r>
              <a:rPr lang="en-US" sz="1400" dirty="0"/>
              <a:t>yang </a:t>
            </a:r>
            <a:r>
              <a:rPr lang="en-US" sz="1400" dirty="0" err="1"/>
              <a:t>diminta</a:t>
            </a:r>
            <a:r>
              <a:rPr lang="en-US" sz="1400" dirty="0"/>
              <a:t> </a:t>
            </a:r>
            <a:r>
              <a:rPr lang="en-US" sz="1400" dirty="0" err="1"/>
              <a:t>tidak</a:t>
            </a:r>
            <a:r>
              <a:rPr lang="en-US" sz="1400" dirty="0"/>
              <a:t> </a:t>
            </a:r>
            <a:r>
              <a:rPr lang="en-US" sz="1400" dirty="0" err="1"/>
              <a:t>tersedia</a:t>
            </a:r>
            <a:r>
              <a:rPr lang="en-US" sz="1400" dirty="0"/>
              <a:t> </a:t>
            </a:r>
            <a:r>
              <a:rPr lang="en-US" sz="1400" dirty="0" err="1"/>
              <a:t>karena</a:t>
            </a:r>
            <a:r>
              <a:rPr lang="en-US" sz="1400" dirty="0"/>
              <a:t> </a:t>
            </a:r>
            <a:r>
              <a:rPr lang="en-US" sz="1400" dirty="0" err="1"/>
              <a:t>publikasi</a:t>
            </a:r>
            <a:r>
              <a:rPr lang="en-US" sz="1400" dirty="0"/>
              <a:t> </a:t>
            </a:r>
            <a:r>
              <a:rPr lang="en-US" sz="1400" dirty="0" err="1" smtClean="0"/>
              <a:t>hilang</a:t>
            </a:r>
            <a:endParaRPr lang="en-US" sz="1400" dirty="0" smtClean="0"/>
          </a:p>
          <a:p>
            <a:pPr marL="285750" indent="-285750"/>
            <a:r>
              <a:rPr lang="en-US" sz="1400" dirty="0" err="1"/>
              <a:t>Tidak</a:t>
            </a:r>
            <a:r>
              <a:rPr lang="en-US" sz="1400" dirty="0"/>
              <a:t> </a:t>
            </a:r>
            <a:r>
              <a:rPr lang="en-US" sz="1400" dirty="0" err="1"/>
              <a:t>ada</a:t>
            </a:r>
            <a:r>
              <a:rPr lang="en-US" sz="1400" dirty="0"/>
              <a:t> </a:t>
            </a:r>
            <a:r>
              <a:rPr lang="en-US" sz="1400" dirty="0" err="1"/>
              <a:t>permintaan</a:t>
            </a:r>
            <a:r>
              <a:rPr lang="en-US" sz="1400" dirty="0"/>
              <a:t> data </a:t>
            </a:r>
            <a:r>
              <a:rPr lang="en-US" sz="1400" dirty="0" err="1"/>
              <a:t>selama</a:t>
            </a:r>
            <a:r>
              <a:rPr lang="en-US" sz="1400" dirty="0"/>
              <a:t> </a:t>
            </a:r>
            <a:r>
              <a:rPr lang="en-US" sz="1400" dirty="0" err="1"/>
              <a:t>periode</a:t>
            </a:r>
            <a:r>
              <a:rPr lang="en-US" sz="1400" dirty="0"/>
              <a:t> </a:t>
            </a:r>
            <a:r>
              <a:rPr lang="en-US" sz="1400" dirty="0" err="1"/>
              <a:t>aktualisasi</a:t>
            </a:r>
            <a:r>
              <a:rPr lang="en-US" sz="1400" dirty="0" smtClean="0"/>
              <a:t> </a:t>
            </a:r>
            <a:endParaRPr lang="id-ID" sz="1400" dirty="0"/>
          </a:p>
        </p:txBody>
      </p:sp>
      <p:sp>
        <p:nvSpPr>
          <p:cNvPr id="11" name="Shape 96"/>
          <p:cNvSpPr txBox="1">
            <a:spLocks/>
          </p:cNvSpPr>
          <p:nvPr/>
        </p:nvSpPr>
        <p:spPr>
          <a:xfrm>
            <a:off x="1381250" y="3591868"/>
            <a:ext cx="7026063" cy="1012997"/>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85750" indent="-285750"/>
            <a:r>
              <a:rPr lang="en-US" sz="1400" dirty="0" err="1"/>
              <a:t>Menunda</a:t>
            </a:r>
            <a:r>
              <a:rPr lang="en-US" sz="1400" dirty="0"/>
              <a:t> </a:t>
            </a:r>
            <a:r>
              <a:rPr lang="en-US" sz="1400" dirty="0" err="1"/>
              <a:t>serah</a:t>
            </a:r>
            <a:r>
              <a:rPr lang="en-US" sz="1400" dirty="0"/>
              <a:t> </a:t>
            </a:r>
            <a:r>
              <a:rPr lang="en-US" sz="1400" dirty="0" err="1"/>
              <a:t>terima</a:t>
            </a:r>
            <a:r>
              <a:rPr lang="en-US" sz="1400" dirty="0"/>
              <a:t> data </a:t>
            </a:r>
            <a:r>
              <a:rPr lang="en-US" sz="1400" dirty="0" err="1"/>
              <a:t>dan</a:t>
            </a:r>
            <a:r>
              <a:rPr lang="en-US" sz="1400" dirty="0"/>
              <a:t> </a:t>
            </a:r>
            <a:r>
              <a:rPr lang="en-US" sz="1400" dirty="0" err="1"/>
              <a:t>mengkonsultasikan</a:t>
            </a:r>
            <a:r>
              <a:rPr lang="en-US" sz="1400" dirty="0"/>
              <a:t> </a:t>
            </a:r>
            <a:r>
              <a:rPr lang="en-US" sz="1400" dirty="0" err="1"/>
              <a:t>ke</a:t>
            </a:r>
            <a:r>
              <a:rPr lang="en-US" sz="1400" dirty="0"/>
              <a:t> </a:t>
            </a:r>
            <a:r>
              <a:rPr lang="en-US" sz="1400" dirty="0" err="1"/>
              <a:t>subjek</a:t>
            </a:r>
            <a:r>
              <a:rPr lang="en-US" sz="1400" dirty="0"/>
              <a:t> </a:t>
            </a:r>
            <a:r>
              <a:rPr lang="en-US" sz="1400" dirty="0" err="1"/>
              <a:t>metter</a:t>
            </a:r>
            <a:r>
              <a:rPr lang="en-US" sz="1400" dirty="0"/>
              <a:t> yang </a:t>
            </a:r>
            <a:r>
              <a:rPr lang="en-US" sz="1400" dirty="0" err="1"/>
              <a:t>sesuai</a:t>
            </a:r>
            <a:r>
              <a:rPr lang="en-US" sz="1400" dirty="0"/>
              <a:t> </a:t>
            </a:r>
            <a:r>
              <a:rPr lang="en-US" sz="1400" dirty="0" err="1"/>
              <a:t>dengan</a:t>
            </a:r>
            <a:r>
              <a:rPr lang="en-US" sz="1400" dirty="0"/>
              <a:t> data yang </a:t>
            </a:r>
            <a:r>
              <a:rPr lang="en-US" sz="1400" dirty="0" err="1" smtClean="0"/>
              <a:t>diminta</a:t>
            </a:r>
            <a:endParaRPr lang="en-US" sz="1400" dirty="0" smtClean="0"/>
          </a:p>
          <a:p>
            <a:pPr marL="285750" indent="-285750"/>
            <a:r>
              <a:rPr lang="en-US" sz="1400" dirty="0" err="1" smtClean="0"/>
              <a:t>Mengkonsultasikan</a:t>
            </a:r>
            <a:r>
              <a:rPr lang="en-US" sz="1400" dirty="0" smtClean="0"/>
              <a:t> </a:t>
            </a:r>
            <a:r>
              <a:rPr lang="en-US" sz="1400" dirty="0" err="1"/>
              <a:t>dengan</a:t>
            </a:r>
            <a:r>
              <a:rPr lang="en-US" sz="1400" dirty="0"/>
              <a:t> mentor &amp; coach </a:t>
            </a:r>
            <a:r>
              <a:rPr lang="en-US" sz="1400" dirty="0" err="1"/>
              <a:t>untuk</a:t>
            </a:r>
            <a:r>
              <a:rPr lang="en-US" sz="1400" dirty="0"/>
              <a:t> </a:t>
            </a:r>
            <a:r>
              <a:rPr lang="en-US" sz="1400" dirty="0" err="1"/>
              <a:t>mengganti</a:t>
            </a:r>
            <a:r>
              <a:rPr lang="en-US" sz="1400" dirty="0"/>
              <a:t> </a:t>
            </a:r>
            <a:r>
              <a:rPr lang="en-US" sz="1400" dirty="0" err="1"/>
              <a:t>kegiatan</a:t>
            </a:r>
            <a:r>
              <a:rPr lang="en-US" sz="1400" dirty="0"/>
              <a:t> yang </a:t>
            </a:r>
            <a:r>
              <a:rPr lang="en-US" sz="1400" dirty="0" smtClean="0"/>
              <a:t>lain</a:t>
            </a:r>
          </a:p>
        </p:txBody>
      </p:sp>
      <p:sp>
        <p:nvSpPr>
          <p:cNvPr id="12" name="Shape 108"/>
          <p:cNvSpPr txBox="1">
            <a:spLocks/>
          </p:cNvSpPr>
          <p:nvPr/>
        </p:nvSpPr>
        <p:spPr>
          <a:xfrm>
            <a:off x="3689498" y="3032414"/>
            <a:ext cx="3880884" cy="559454"/>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28600">
              <a:spcBef>
                <a:spcPts val="0"/>
              </a:spcBef>
              <a:buFont typeface="Quattrocento Sans"/>
              <a:buNone/>
            </a:pPr>
            <a:r>
              <a:rPr lang="en-US" b="1" dirty="0" err="1" smtClean="0"/>
              <a:t>Rencana</a:t>
            </a:r>
            <a:r>
              <a:rPr lang="en-US" b="1" dirty="0" smtClean="0"/>
              <a:t> </a:t>
            </a:r>
            <a:r>
              <a:rPr lang="en-US" b="1" dirty="0" err="1" smtClean="0"/>
              <a:t>Antisipasi</a:t>
            </a:r>
            <a:endParaRPr lang="fi-FI" dirty="0"/>
          </a:p>
        </p:txBody>
      </p:sp>
      <p:sp>
        <p:nvSpPr>
          <p:cNvPr id="3" name="U-Turn Arrow 2"/>
          <p:cNvSpPr/>
          <p:nvPr/>
        </p:nvSpPr>
        <p:spPr>
          <a:xfrm rot="5400000">
            <a:off x="4901607" y="-120126"/>
            <a:ext cx="1743739" cy="5507663"/>
          </a:xfrm>
          <a:prstGeom prst="uturnArrow">
            <a:avLst>
              <a:gd name="adj1" fmla="val 11284"/>
              <a:gd name="adj2" fmla="val 11449"/>
              <a:gd name="adj3" fmla="val 0"/>
              <a:gd name="adj4" fmla="val 47097"/>
              <a:gd name="adj5" fmla="val 26051"/>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id-ID">
              <a:solidFill>
                <a:schemeClr val="tx1"/>
              </a:solidFill>
            </a:endParaRPr>
          </a:p>
        </p:txBody>
      </p:sp>
    </p:spTree>
    <p:extLst>
      <p:ext uri="{BB962C8B-B14F-4D97-AF65-F5344CB8AC3E}">
        <p14:creationId xmlns:p14="http://schemas.microsoft.com/office/powerpoint/2010/main" val="4252123955"/>
      </p:ext>
    </p:extLst>
  </p:cSld>
  <p:clrMapOvr>
    <a:masterClrMapping/>
  </p:clrMapOvr>
  <p:transition spd="slow">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Rectangle 1"/>
          <p:cNvSpPr/>
          <p:nvPr/>
        </p:nvSpPr>
        <p:spPr>
          <a:xfrm>
            <a:off x="5411972" y="2291149"/>
            <a:ext cx="3419104" cy="562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n>
                <a:solidFill>
                  <a:schemeClr val="bg1"/>
                </a:solidFill>
              </a:ln>
              <a:solidFill>
                <a:schemeClr val="bg1"/>
              </a:solidFill>
            </a:endParaRPr>
          </a:p>
        </p:txBody>
      </p:sp>
      <p:sp>
        <p:nvSpPr>
          <p:cNvPr id="95" name="Shape 95"/>
          <p:cNvSpPr txBox="1">
            <a:spLocks noGrp="1"/>
          </p:cNvSpPr>
          <p:nvPr>
            <p:ph type="ctrTitle"/>
          </p:nvPr>
        </p:nvSpPr>
        <p:spPr>
          <a:xfrm>
            <a:off x="1993196" y="1711250"/>
            <a:ext cx="6837880" cy="1159799"/>
          </a:xfrm>
          <a:prstGeom prst="rect">
            <a:avLst/>
          </a:prstGeom>
        </p:spPr>
        <p:txBody>
          <a:bodyPr lIns="91425" tIns="91425" rIns="91425" bIns="91425" anchor="b" anchorCtr="0">
            <a:noAutofit/>
          </a:bodyPr>
          <a:lstStyle/>
          <a:p>
            <a:pPr lvl="0"/>
            <a:r>
              <a:rPr lang="en-US" dirty="0" err="1"/>
              <a:t>Mengunggah</a:t>
            </a:r>
            <a:r>
              <a:rPr lang="en-US" dirty="0"/>
              <a:t> </a:t>
            </a:r>
            <a:r>
              <a:rPr lang="en-US" dirty="0" err="1"/>
              <a:t>tabel</a:t>
            </a:r>
            <a:r>
              <a:rPr lang="en-US" dirty="0"/>
              <a:t> </a:t>
            </a:r>
            <a:r>
              <a:rPr lang="en-US" dirty="0" err="1"/>
              <a:t>statis</a:t>
            </a:r>
            <a:r>
              <a:rPr lang="en-US" dirty="0"/>
              <a:t> </a:t>
            </a:r>
            <a:r>
              <a:rPr lang="en-US" dirty="0" err="1" smtClean="0"/>
              <a:t>ke</a:t>
            </a:r>
            <a:r>
              <a:rPr lang="en-US" dirty="0" smtClean="0"/>
              <a:t> Website</a:t>
            </a:r>
            <a:endParaRPr lang="en" dirty="0"/>
          </a:p>
        </p:txBody>
      </p:sp>
      <p:sp>
        <p:nvSpPr>
          <p:cNvPr id="96" name="Shape 96"/>
          <p:cNvSpPr txBox="1">
            <a:spLocks noGrp="1"/>
          </p:cNvSpPr>
          <p:nvPr>
            <p:ph type="subTitle" idx="1"/>
          </p:nvPr>
        </p:nvSpPr>
        <p:spPr>
          <a:xfrm>
            <a:off x="1677874" y="2871049"/>
            <a:ext cx="7153202" cy="1084263"/>
          </a:xfrm>
          <a:prstGeom prst="rect">
            <a:avLst/>
          </a:prstGeom>
        </p:spPr>
        <p:txBody>
          <a:bodyPr lIns="91425" tIns="91425" rIns="91425" bIns="91425" anchor="t" anchorCtr="0">
            <a:noAutofit/>
          </a:bodyPr>
          <a:lstStyle/>
          <a:p>
            <a:pPr lvl="0" algn="ctr"/>
            <a:r>
              <a:rPr lang="id-ID" dirty="0"/>
              <a:t>Mengunggah tabel statis adalah salah satu bagian dari fasilitas yang disediakan website. Dengan adanya fasilitas tersebut diharapkan website BPS akan selalu up to date. Tabel yang akan diunggah adalah tabel yang berasal dari </a:t>
            </a:r>
            <a:r>
              <a:rPr lang="id-ID" dirty="0" smtClean="0"/>
              <a:t>publikasi </a:t>
            </a:r>
            <a:r>
              <a:rPr lang="id-ID" dirty="0"/>
              <a:t>Bontang dalam Angka Tahun 2015. </a:t>
            </a:r>
            <a:endParaRPr lang="en-US" dirty="0" smtClean="0"/>
          </a:p>
          <a:p>
            <a:pPr lvl="0" algn="ctr"/>
            <a:endParaRPr lang="en-US" dirty="0" smtClean="0"/>
          </a:p>
          <a:p>
            <a:pPr algn="ctr"/>
            <a:r>
              <a:rPr lang="en-US" b="1" dirty="0"/>
              <a:t>Output:</a:t>
            </a:r>
          </a:p>
          <a:p>
            <a:pPr algn="ctr"/>
            <a:r>
              <a:rPr lang="en-US" dirty="0" smtClean="0"/>
              <a:t>20 </a:t>
            </a:r>
            <a:r>
              <a:rPr lang="en-US" dirty="0" err="1" smtClean="0"/>
              <a:t>tabel</a:t>
            </a:r>
            <a:r>
              <a:rPr lang="en-US" dirty="0" smtClean="0"/>
              <a:t> </a:t>
            </a:r>
            <a:r>
              <a:rPr lang="en-US" dirty="0" err="1" smtClean="0"/>
              <a:t>statis</a:t>
            </a:r>
            <a:r>
              <a:rPr lang="en-US" dirty="0" smtClean="0"/>
              <a:t> yang </a:t>
            </a:r>
            <a:r>
              <a:rPr lang="en-US" dirty="0" err="1" smtClean="0"/>
              <a:t>telah</a:t>
            </a:r>
            <a:r>
              <a:rPr lang="en-US" dirty="0" smtClean="0"/>
              <a:t> </a:t>
            </a:r>
            <a:r>
              <a:rPr lang="en-US" dirty="0" err="1" smtClean="0"/>
              <a:t>diunggah</a:t>
            </a:r>
            <a:r>
              <a:rPr lang="en-US" dirty="0" smtClean="0"/>
              <a:t> </a:t>
            </a:r>
            <a:r>
              <a:rPr lang="en-US" dirty="0" err="1" smtClean="0"/>
              <a:t>ke</a:t>
            </a:r>
            <a:r>
              <a:rPr lang="en-US" dirty="0" smtClean="0"/>
              <a:t> </a:t>
            </a:r>
            <a:r>
              <a:rPr lang="en-US" i="1" dirty="0" smtClean="0"/>
              <a:t>website </a:t>
            </a:r>
            <a:r>
              <a:rPr lang="en-US" dirty="0" smtClean="0"/>
              <a:t>BPS Kota </a:t>
            </a:r>
            <a:r>
              <a:rPr lang="en-US" dirty="0" err="1" smtClean="0"/>
              <a:t>Bontang</a:t>
            </a:r>
            <a:endParaRPr lang="en" dirty="0"/>
          </a:p>
        </p:txBody>
      </p:sp>
      <p:sp>
        <p:nvSpPr>
          <p:cNvPr id="97" name="Shape 97"/>
          <p:cNvSpPr txBox="1"/>
          <p:nvPr/>
        </p:nvSpPr>
        <p:spPr>
          <a:xfrm>
            <a:off x="1133975" y="2291150"/>
            <a:ext cx="543899" cy="562199"/>
          </a:xfrm>
          <a:prstGeom prst="rect">
            <a:avLst/>
          </a:prstGeom>
          <a:noFill/>
          <a:ln>
            <a:noFill/>
          </a:ln>
        </p:spPr>
        <p:txBody>
          <a:bodyPr lIns="91425" tIns="91425" rIns="91425" bIns="91425" anchor="ctr" anchorCtr="0">
            <a:noAutofit/>
          </a:bodyPr>
          <a:lstStyle/>
          <a:p>
            <a:pPr algn="ctr">
              <a:spcBef>
                <a:spcPts val="0"/>
              </a:spcBef>
              <a:buNone/>
            </a:pPr>
            <a:r>
              <a:rPr lang="en" sz="2400" dirty="0" smtClean="0">
                <a:solidFill>
                  <a:schemeClr val="dk1"/>
                </a:solidFill>
                <a:latin typeface="Lora"/>
                <a:ea typeface="Lora"/>
                <a:cs typeface="Lora"/>
                <a:sym typeface="Lora"/>
              </a:rPr>
              <a:t>2</a:t>
            </a:r>
            <a:endParaRPr lang="en" sz="2400" dirty="0">
              <a:solidFill>
                <a:schemeClr val="dk1"/>
              </a:solidFill>
              <a:latin typeface="Lora"/>
              <a:ea typeface="Lora"/>
              <a:cs typeface="Lora"/>
              <a:sym typeface="Lora"/>
            </a:endParaRPr>
          </a:p>
        </p:txBody>
      </p:sp>
    </p:spTree>
    <p:extLst>
      <p:ext uri="{BB962C8B-B14F-4D97-AF65-F5344CB8AC3E}">
        <p14:creationId xmlns:p14="http://schemas.microsoft.com/office/powerpoint/2010/main" val="2037211757"/>
      </p:ext>
    </p:extLst>
  </p:cSld>
  <p:clrMapOvr>
    <a:masterClrMapping/>
  </p:clrMapOvr>
  <p:transition spd="slow">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2" name="Rectangle 1"/>
          <p:cNvSpPr/>
          <p:nvPr/>
        </p:nvSpPr>
        <p:spPr>
          <a:xfrm>
            <a:off x="5103628" y="924720"/>
            <a:ext cx="1052623" cy="4355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7" name="Shape 107"/>
          <p:cNvSpPr txBox="1">
            <a:spLocks noGrp="1"/>
          </p:cNvSpPr>
          <p:nvPr>
            <p:ph type="title"/>
          </p:nvPr>
        </p:nvSpPr>
        <p:spPr>
          <a:xfrm>
            <a:off x="1381250" y="924720"/>
            <a:ext cx="4775001" cy="435599"/>
          </a:xfrm>
          <a:prstGeom prst="rect">
            <a:avLst/>
          </a:prstGeom>
        </p:spPr>
        <p:txBody>
          <a:bodyPr lIns="91425" tIns="91425" rIns="91425" bIns="91425" anchor="ctr" anchorCtr="0">
            <a:noAutofit/>
          </a:bodyPr>
          <a:lstStyle/>
          <a:p>
            <a:r>
              <a:rPr lang="en-US" dirty="0" err="1"/>
              <a:t>Mengunggah</a:t>
            </a:r>
            <a:r>
              <a:rPr lang="en-US" dirty="0"/>
              <a:t> </a:t>
            </a:r>
            <a:r>
              <a:rPr lang="en-US" dirty="0" err="1"/>
              <a:t>tabel</a:t>
            </a:r>
            <a:r>
              <a:rPr lang="en-US" dirty="0"/>
              <a:t> </a:t>
            </a:r>
            <a:r>
              <a:rPr lang="en-US" dirty="0" err="1"/>
              <a:t>statis</a:t>
            </a:r>
            <a:r>
              <a:rPr lang="en-US" dirty="0"/>
              <a:t> </a:t>
            </a:r>
            <a:r>
              <a:rPr lang="en-US" dirty="0" err="1"/>
              <a:t>ke</a:t>
            </a:r>
            <a:r>
              <a:rPr lang="en-US" dirty="0"/>
              <a:t> Website</a:t>
            </a:r>
            <a:endParaRPr lang="en"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222"/>
          <p:cNvSpPr txBox="1">
            <a:spLocks/>
          </p:cNvSpPr>
          <p:nvPr/>
        </p:nvSpPr>
        <p:spPr>
          <a:xfrm>
            <a:off x="707065" y="2370151"/>
            <a:ext cx="7772400" cy="1159799"/>
          </a:xfrm>
          <a:prstGeom prst="rect">
            <a:avLst/>
          </a:prstGeom>
          <a:noFill/>
          <a:ln>
            <a:noFill/>
          </a:ln>
        </p:spPr>
        <p:txBody>
          <a:bodyPr lIns="91425" tIns="91425" rIns="91425" bIns="91425" anchor="ctr"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SzPct val="100000"/>
              <a:buFont typeface="Lora"/>
              <a:buNone/>
              <a:defRPr sz="2000" b="1" i="0" u="none" strike="noStrike" cap="none" baseline="0">
                <a:solidFill>
                  <a:srgbClr val="000000"/>
                </a:solidFill>
                <a:latin typeface="Lora"/>
                <a:ea typeface="Lora"/>
                <a:cs typeface="Lora"/>
                <a:sym typeface="Lora"/>
                <a:rtl val="0"/>
              </a:defRPr>
            </a:lvl1pPr>
            <a:lvl2pPr rtl="0">
              <a:spcBef>
                <a:spcPts val="0"/>
              </a:spcBef>
              <a:buSzPct val="100000"/>
              <a:buFont typeface="Lora"/>
              <a:buNone/>
              <a:defRPr sz="2000" b="1">
                <a:latin typeface="Lora"/>
                <a:ea typeface="Lora"/>
                <a:cs typeface="Lora"/>
                <a:sym typeface="Lora"/>
              </a:defRPr>
            </a:lvl2pPr>
            <a:lvl3pPr rtl="0">
              <a:spcBef>
                <a:spcPts val="0"/>
              </a:spcBef>
              <a:buSzPct val="100000"/>
              <a:buFont typeface="Lora"/>
              <a:buNone/>
              <a:defRPr sz="2000" b="1">
                <a:latin typeface="Lora"/>
                <a:ea typeface="Lora"/>
                <a:cs typeface="Lora"/>
                <a:sym typeface="Lora"/>
              </a:defRPr>
            </a:lvl3pPr>
            <a:lvl4pPr rtl="0">
              <a:spcBef>
                <a:spcPts val="0"/>
              </a:spcBef>
              <a:buSzPct val="100000"/>
              <a:buFont typeface="Lora"/>
              <a:buNone/>
              <a:defRPr sz="2000" b="1">
                <a:latin typeface="Lora"/>
                <a:ea typeface="Lora"/>
                <a:cs typeface="Lora"/>
                <a:sym typeface="Lora"/>
              </a:defRPr>
            </a:lvl4pPr>
            <a:lvl5pPr rtl="0">
              <a:spcBef>
                <a:spcPts val="0"/>
              </a:spcBef>
              <a:buSzPct val="100000"/>
              <a:buFont typeface="Lora"/>
              <a:buNone/>
              <a:defRPr sz="2000" b="1">
                <a:latin typeface="Lora"/>
                <a:ea typeface="Lora"/>
                <a:cs typeface="Lora"/>
                <a:sym typeface="Lora"/>
              </a:defRPr>
            </a:lvl5pPr>
            <a:lvl6pPr rtl="0">
              <a:spcBef>
                <a:spcPts val="0"/>
              </a:spcBef>
              <a:buSzPct val="100000"/>
              <a:buFont typeface="Lora"/>
              <a:buNone/>
              <a:defRPr sz="2000" b="1">
                <a:latin typeface="Lora"/>
                <a:ea typeface="Lora"/>
                <a:cs typeface="Lora"/>
                <a:sym typeface="Lora"/>
              </a:defRPr>
            </a:lvl6pPr>
            <a:lvl7pPr rtl="0">
              <a:spcBef>
                <a:spcPts val="0"/>
              </a:spcBef>
              <a:buSzPct val="100000"/>
              <a:buFont typeface="Lora"/>
              <a:buNone/>
              <a:defRPr sz="2000" b="1">
                <a:latin typeface="Lora"/>
                <a:ea typeface="Lora"/>
                <a:cs typeface="Lora"/>
                <a:sym typeface="Lora"/>
              </a:defRPr>
            </a:lvl7pPr>
            <a:lvl8pPr rtl="0">
              <a:spcBef>
                <a:spcPts val="0"/>
              </a:spcBef>
              <a:buSzPct val="100000"/>
              <a:buFont typeface="Lora"/>
              <a:buNone/>
              <a:defRPr sz="2000" b="1">
                <a:latin typeface="Lora"/>
                <a:ea typeface="Lora"/>
                <a:cs typeface="Lora"/>
                <a:sym typeface="Lora"/>
              </a:defRPr>
            </a:lvl8pPr>
            <a:lvl9pPr rtl="0">
              <a:spcBef>
                <a:spcPts val="0"/>
              </a:spcBef>
              <a:buSzPct val="100000"/>
              <a:buFont typeface="Lora"/>
              <a:buNone/>
              <a:defRPr sz="2000" b="1">
                <a:latin typeface="Lora"/>
                <a:ea typeface="Lora"/>
                <a:cs typeface="Lora"/>
                <a:sym typeface="Lora"/>
              </a:defRPr>
            </a:lvl9pPr>
          </a:lstStyle>
          <a:p>
            <a:pPr algn="ctr"/>
            <a:r>
              <a:rPr lang="en" sz="6600" b="0" dirty="0" smtClean="0">
                <a:latin typeface="Arial" panose="020B0604020202020204" pitchFamily="34" charset="0"/>
                <a:cs typeface="Arial" panose="020B0604020202020204" pitchFamily="34" charset="0"/>
              </a:rPr>
              <a:t>8-9 Agustus 2016</a:t>
            </a:r>
            <a:endParaRPr lang="en" sz="6600" b="0" dirty="0">
              <a:latin typeface="Arial" panose="020B0604020202020204" pitchFamily="34" charset="0"/>
              <a:cs typeface="Arial" panose="020B0604020202020204" pitchFamily="34" charset="0"/>
            </a:endParaRPr>
          </a:p>
        </p:txBody>
      </p:sp>
      <p:sp>
        <p:nvSpPr>
          <p:cNvPr id="3" name="TextBox 2"/>
          <p:cNvSpPr txBox="1"/>
          <p:nvPr/>
        </p:nvSpPr>
        <p:spPr>
          <a:xfrm>
            <a:off x="1045171" y="2183622"/>
            <a:ext cx="3463035" cy="369332"/>
          </a:xfrm>
          <a:prstGeom prst="rect">
            <a:avLst/>
          </a:prstGeom>
          <a:noFill/>
        </p:spPr>
        <p:txBody>
          <a:bodyPr wrap="square" rtlCol="0">
            <a:spAutoFit/>
          </a:bodyPr>
          <a:lstStyle/>
          <a:p>
            <a:r>
              <a:rPr lang="en-US" sz="1800" dirty="0" err="1" smtClean="0">
                <a:latin typeface="Lora"/>
              </a:rPr>
              <a:t>Tanggal</a:t>
            </a:r>
            <a:r>
              <a:rPr lang="en-US" sz="1800" dirty="0" smtClean="0">
                <a:latin typeface="Lora"/>
              </a:rPr>
              <a:t> </a:t>
            </a:r>
            <a:r>
              <a:rPr lang="en-US" sz="1800" dirty="0" err="1" smtClean="0">
                <a:latin typeface="Lora"/>
              </a:rPr>
              <a:t>Rencana</a:t>
            </a:r>
            <a:r>
              <a:rPr lang="en-US" sz="1800" dirty="0" smtClean="0">
                <a:latin typeface="Lora"/>
              </a:rPr>
              <a:t> </a:t>
            </a:r>
            <a:r>
              <a:rPr lang="en-US" sz="1800" dirty="0" err="1" smtClean="0">
                <a:latin typeface="Lora"/>
              </a:rPr>
              <a:t>Pelaksanaan</a:t>
            </a:r>
            <a:r>
              <a:rPr lang="en-US" sz="1800" dirty="0" smtClean="0">
                <a:latin typeface="Lora"/>
              </a:rPr>
              <a:t>:</a:t>
            </a:r>
            <a:endParaRPr lang="id-ID" sz="1800" dirty="0">
              <a:latin typeface="Lora"/>
            </a:endParaRPr>
          </a:p>
        </p:txBody>
      </p:sp>
    </p:spTree>
    <p:extLst>
      <p:ext uri="{BB962C8B-B14F-4D97-AF65-F5344CB8AC3E}">
        <p14:creationId xmlns:p14="http://schemas.microsoft.com/office/powerpoint/2010/main" val="1275988612"/>
      </p:ext>
    </p:extLst>
  </p:cSld>
  <p:clrMapOvr>
    <a:masterClrMapping/>
  </p:clrMapOvr>
  <p:transition spd="slow">
    <p:cu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4" name="Rectangle 13"/>
          <p:cNvSpPr/>
          <p:nvPr/>
        </p:nvSpPr>
        <p:spPr>
          <a:xfrm>
            <a:off x="5103628" y="924720"/>
            <a:ext cx="1052623" cy="4355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7" name="Shape 107"/>
          <p:cNvSpPr txBox="1">
            <a:spLocks noGrp="1"/>
          </p:cNvSpPr>
          <p:nvPr>
            <p:ph type="title"/>
          </p:nvPr>
        </p:nvSpPr>
        <p:spPr>
          <a:xfrm>
            <a:off x="1381251" y="924720"/>
            <a:ext cx="4657154" cy="435599"/>
          </a:xfrm>
          <a:prstGeom prst="rect">
            <a:avLst/>
          </a:prstGeom>
        </p:spPr>
        <p:txBody>
          <a:bodyPr lIns="91425" tIns="91425" rIns="91425" bIns="91425" anchor="ctr" anchorCtr="0">
            <a:noAutofit/>
          </a:bodyPr>
          <a:lstStyle/>
          <a:p>
            <a:r>
              <a:rPr lang="en-US" dirty="0" err="1"/>
              <a:t>Mengunggah</a:t>
            </a:r>
            <a:r>
              <a:rPr lang="en-US" dirty="0"/>
              <a:t> </a:t>
            </a:r>
            <a:r>
              <a:rPr lang="en-US" dirty="0" err="1"/>
              <a:t>tabel</a:t>
            </a:r>
            <a:r>
              <a:rPr lang="en-US" dirty="0"/>
              <a:t> </a:t>
            </a:r>
            <a:r>
              <a:rPr lang="en-US" dirty="0" err="1"/>
              <a:t>statis</a:t>
            </a:r>
            <a:r>
              <a:rPr lang="en-US" dirty="0"/>
              <a:t> </a:t>
            </a:r>
            <a:r>
              <a:rPr lang="en-US" dirty="0" err="1"/>
              <a:t>ke</a:t>
            </a:r>
            <a:r>
              <a:rPr lang="en-US" dirty="0"/>
              <a:t> Website</a:t>
            </a:r>
            <a:endParaRPr lang="en" dirty="0"/>
          </a:p>
        </p:txBody>
      </p:sp>
      <p:sp>
        <p:nvSpPr>
          <p:cNvPr id="108" name="Shape 108"/>
          <p:cNvSpPr txBox="1">
            <a:spLocks noGrp="1"/>
          </p:cNvSpPr>
          <p:nvPr>
            <p:ph type="body" idx="1"/>
          </p:nvPr>
        </p:nvSpPr>
        <p:spPr>
          <a:xfrm>
            <a:off x="-1" y="1450099"/>
            <a:ext cx="6528391" cy="559454"/>
          </a:xfrm>
          <a:prstGeom prst="rect">
            <a:avLst/>
          </a:prstGeom>
        </p:spPr>
        <p:txBody>
          <a:bodyPr lIns="91425" tIns="91425" rIns="91425" bIns="91425" anchor="t" anchorCtr="0">
            <a:noAutofit/>
          </a:bodyPr>
          <a:lstStyle/>
          <a:p>
            <a:pPr marL="228600" lvl="0">
              <a:spcBef>
                <a:spcPts val="0"/>
              </a:spcBef>
              <a:buNone/>
            </a:pPr>
            <a:r>
              <a:rPr lang="en-US" dirty="0" err="1" smtClean="0"/>
              <a:t>Nilai-nilai</a:t>
            </a:r>
            <a:r>
              <a:rPr lang="en-US" dirty="0" smtClean="0"/>
              <a:t> ANEKA </a:t>
            </a:r>
            <a:r>
              <a:rPr lang="en-US" dirty="0" err="1" smtClean="0"/>
              <a:t>akan</a:t>
            </a:r>
            <a:r>
              <a:rPr lang="en-US" dirty="0" smtClean="0"/>
              <a:t> </a:t>
            </a:r>
            <a:r>
              <a:rPr lang="en-US" dirty="0" err="1" smtClean="0"/>
              <a:t>diaktualisasikan</a:t>
            </a:r>
            <a:endParaRPr lang="id-ID"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1"/>
              <a:ext cx="188176" cy="188149"/>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384830" y="2192205"/>
            <a:ext cx="3549216" cy="163323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endParaRPr lang="en" sz="1400" dirty="0"/>
          </a:p>
        </p:txBody>
      </p:sp>
      <p:sp>
        <p:nvSpPr>
          <p:cNvPr id="11" name="Shape 151"/>
          <p:cNvSpPr txBox="1">
            <a:spLocks/>
          </p:cNvSpPr>
          <p:nvPr/>
        </p:nvSpPr>
        <p:spPr>
          <a:xfrm>
            <a:off x="1131082" y="2099333"/>
            <a:ext cx="2333999" cy="2164323"/>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buNone/>
            </a:pPr>
            <a:r>
              <a:rPr lang="en-US" sz="1400" b="1" dirty="0" err="1" smtClean="0"/>
              <a:t>Akuntabilitas</a:t>
            </a:r>
            <a:r>
              <a:rPr lang="en-US" sz="1400" b="1" dirty="0"/>
              <a:t>:</a:t>
            </a:r>
            <a:endParaRPr lang="id-ID" sz="1400" dirty="0"/>
          </a:p>
          <a:p>
            <a:pPr marL="285750" indent="-285750">
              <a:spcBef>
                <a:spcPts val="0"/>
              </a:spcBef>
            </a:pPr>
            <a:r>
              <a:rPr lang="en-US" sz="1400" dirty="0" err="1">
                <a:sym typeface="Arial"/>
              </a:rPr>
              <a:t>Kejelasan</a:t>
            </a:r>
            <a:endParaRPr lang="id-ID" sz="1400" dirty="0">
              <a:sym typeface="Arial"/>
            </a:endParaRPr>
          </a:p>
          <a:p>
            <a:pPr marL="285750" indent="-285750">
              <a:spcBef>
                <a:spcPts val="0"/>
              </a:spcBef>
            </a:pPr>
            <a:r>
              <a:rPr lang="en-US" sz="1400" dirty="0" err="1">
                <a:sym typeface="Arial"/>
              </a:rPr>
              <a:t>Penggunaan</a:t>
            </a:r>
            <a:r>
              <a:rPr lang="en-US" sz="1400" dirty="0">
                <a:sym typeface="Arial"/>
              </a:rPr>
              <a:t> </a:t>
            </a:r>
            <a:r>
              <a:rPr lang="en-US" sz="1400" dirty="0" err="1">
                <a:sym typeface="Arial"/>
              </a:rPr>
              <a:t>sumber</a:t>
            </a:r>
            <a:r>
              <a:rPr lang="en-US" sz="1400" dirty="0">
                <a:sym typeface="Arial"/>
              </a:rPr>
              <a:t> </a:t>
            </a:r>
            <a:r>
              <a:rPr lang="en-US" sz="1400" dirty="0" err="1">
                <a:sym typeface="Arial"/>
              </a:rPr>
              <a:t>daya</a:t>
            </a:r>
            <a:r>
              <a:rPr lang="en-US" sz="1400" dirty="0">
                <a:sym typeface="Arial"/>
              </a:rPr>
              <a:t> yang </a:t>
            </a:r>
            <a:r>
              <a:rPr lang="en-US" sz="1400" dirty="0" err="1">
                <a:sym typeface="Arial"/>
              </a:rPr>
              <a:t>efektif</a:t>
            </a:r>
            <a:endParaRPr lang="id-ID" sz="1400" dirty="0">
              <a:sym typeface="Arial"/>
            </a:endParaRPr>
          </a:p>
          <a:p>
            <a:pPr marL="285750" indent="-285750">
              <a:spcBef>
                <a:spcPts val="0"/>
              </a:spcBef>
            </a:pPr>
            <a:r>
              <a:rPr lang="en-US" sz="1400" dirty="0" err="1">
                <a:sym typeface="Arial"/>
              </a:rPr>
              <a:t>laporan</a:t>
            </a:r>
            <a:endParaRPr lang="id-ID" sz="1400" dirty="0">
              <a:sym typeface="Arial"/>
            </a:endParaRPr>
          </a:p>
        </p:txBody>
      </p:sp>
      <p:sp>
        <p:nvSpPr>
          <p:cNvPr id="12" name="Shape 152"/>
          <p:cNvSpPr txBox="1">
            <a:spLocks/>
          </p:cNvSpPr>
          <p:nvPr/>
        </p:nvSpPr>
        <p:spPr>
          <a:xfrm>
            <a:off x="3584743" y="2099333"/>
            <a:ext cx="2333999" cy="2164323"/>
          </a:xfrm>
          <a:prstGeom prst="rect">
            <a:avLst/>
          </a:prstGeom>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r>
              <a:rPr lang="en-US" b="1" dirty="0" err="1" smtClean="0"/>
              <a:t>Nasionalisme</a:t>
            </a:r>
            <a:r>
              <a:rPr lang="en-US" b="1" dirty="0"/>
              <a:t>:</a:t>
            </a:r>
            <a:endParaRPr lang="id-ID" dirty="0"/>
          </a:p>
          <a:p>
            <a:pPr marL="285750" indent="-285750">
              <a:buClr>
                <a:srgbClr val="FFCD00"/>
              </a:buClr>
              <a:buSzPct val="100000"/>
              <a:buFont typeface="Quattrocento Sans"/>
              <a:buChar char="◉"/>
            </a:pPr>
            <a:r>
              <a:rPr lang="en-US" dirty="0" err="1" smtClean="0">
                <a:latin typeface="Quattrocento Sans"/>
                <a:ea typeface="Quattrocento Sans"/>
                <a:cs typeface="Quattrocento Sans"/>
              </a:rPr>
              <a:t>Takwa</a:t>
            </a:r>
            <a:endParaRPr lang="en-US" dirty="0" smtClean="0">
              <a:latin typeface="Quattrocento Sans"/>
              <a:ea typeface="Quattrocento Sans"/>
              <a:cs typeface="Quattrocento Sans"/>
            </a:endParaRPr>
          </a:p>
          <a:p>
            <a:pPr marL="285750" indent="-285750">
              <a:buClr>
                <a:srgbClr val="FFCD00"/>
              </a:buClr>
              <a:buSzPct val="100000"/>
              <a:buFont typeface="Quattrocento Sans"/>
              <a:buChar char="◉"/>
            </a:pPr>
            <a:r>
              <a:rPr lang="en-US" dirty="0" err="1" smtClean="0"/>
              <a:t>Ikhlas</a:t>
            </a:r>
            <a:endParaRPr lang="en-US" dirty="0" smtClean="0"/>
          </a:p>
          <a:p>
            <a:pPr marL="285750" indent="-285750">
              <a:buClr>
                <a:srgbClr val="FFCD00"/>
              </a:buClr>
              <a:buSzPct val="100000"/>
              <a:buFont typeface="Quattrocento Sans"/>
              <a:buChar char="◉"/>
            </a:pPr>
            <a:r>
              <a:rPr lang="en-US" dirty="0" err="1" smtClean="0"/>
              <a:t>Rela</a:t>
            </a:r>
            <a:r>
              <a:rPr lang="en-US" dirty="0" smtClean="0"/>
              <a:t> </a:t>
            </a:r>
            <a:r>
              <a:rPr lang="en-US" dirty="0" err="1"/>
              <a:t>berkoban</a:t>
            </a:r>
            <a:endParaRPr lang="id-ID" dirty="0"/>
          </a:p>
          <a:p>
            <a:pPr lvl="0"/>
            <a:endParaRPr lang="id-ID" dirty="0"/>
          </a:p>
          <a:p>
            <a:r>
              <a:rPr lang="en-US" b="1" dirty="0" err="1"/>
              <a:t>Etika</a:t>
            </a:r>
            <a:r>
              <a:rPr lang="en-US" b="1" dirty="0"/>
              <a:t> </a:t>
            </a:r>
            <a:r>
              <a:rPr lang="en-US" b="1" dirty="0" err="1"/>
              <a:t>Publik</a:t>
            </a:r>
            <a:r>
              <a:rPr lang="en-US" b="1" dirty="0"/>
              <a:t>:</a:t>
            </a:r>
            <a:endParaRPr lang="id-ID" dirty="0"/>
          </a:p>
          <a:p>
            <a:pPr marL="285750" lvl="0" indent="-285750">
              <a:buClr>
                <a:srgbClr val="FFCD00"/>
              </a:buClr>
              <a:buSzPct val="100000"/>
              <a:buFont typeface="Quattrocento Sans"/>
              <a:buChar char="◉"/>
            </a:pPr>
            <a:r>
              <a:rPr lang="en-US" dirty="0" err="1" smtClean="0"/>
              <a:t>Keahlian</a:t>
            </a:r>
            <a:r>
              <a:rPr lang="en-US" dirty="0" smtClean="0"/>
              <a:t> professional</a:t>
            </a:r>
          </a:p>
          <a:p>
            <a:pPr marL="285750" lvl="0" indent="-285750">
              <a:buClr>
                <a:srgbClr val="FFCD00"/>
              </a:buClr>
              <a:buSzPct val="100000"/>
              <a:buFont typeface="Quattrocento Sans"/>
              <a:buChar char="◉"/>
            </a:pPr>
            <a:r>
              <a:rPr lang="en-US" dirty="0" err="1" smtClean="0"/>
              <a:t>Menyelesaikan</a:t>
            </a:r>
            <a:r>
              <a:rPr lang="en-US" dirty="0" smtClean="0"/>
              <a:t> </a:t>
            </a:r>
            <a:r>
              <a:rPr lang="en-US" dirty="0" err="1"/>
              <a:t>tugas</a:t>
            </a:r>
            <a:r>
              <a:rPr lang="en-US" dirty="0"/>
              <a:t> </a:t>
            </a:r>
            <a:r>
              <a:rPr lang="en-US" dirty="0" err="1"/>
              <a:t>dengan</a:t>
            </a:r>
            <a:r>
              <a:rPr lang="en-US" dirty="0"/>
              <a:t> </a:t>
            </a:r>
            <a:r>
              <a:rPr lang="en-US" dirty="0" err="1"/>
              <a:t>baik</a:t>
            </a:r>
            <a:endParaRPr lang="id-ID" dirty="0"/>
          </a:p>
          <a:p>
            <a:pPr marL="285750" lvl="0" indent="-285750">
              <a:buClr>
                <a:srgbClr val="FFCD00"/>
              </a:buClr>
              <a:buSzPct val="100000"/>
              <a:buFont typeface="Quattrocento Sans"/>
              <a:buChar char="◉"/>
            </a:pPr>
            <a:endParaRPr lang="en" dirty="0">
              <a:latin typeface="Quattrocento Sans"/>
              <a:ea typeface="Quattrocento Sans"/>
              <a:cs typeface="Quattrocento Sans"/>
              <a:sym typeface="Quattrocento Sans"/>
            </a:endParaRPr>
          </a:p>
        </p:txBody>
      </p:sp>
      <p:sp>
        <p:nvSpPr>
          <p:cNvPr id="13" name="Shape 153"/>
          <p:cNvSpPr txBox="1">
            <a:spLocks/>
          </p:cNvSpPr>
          <p:nvPr/>
        </p:nvSpPr>
        <p:spPr>
          <a:xfrm>
            <a:off x="6038405" y="2099333"/>
            <a:ext cx="2659028" cy="1983569"/>
          </a:xfrm>
          <a:prstGeom prst="rect">
            <a:avLst/>
          </a:prstGeom>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r>
              <a:rPr lang="en-US" b="1" dirty="0" err="1"/>
              <a:t>Komitmen</a:t>
            </a:r>
            <a:r>
              <a:rPr lang="en-US" b="1" dirty="0"/>
              <a:t> </a:t>
            </a:r>
            <a:r>
              <a:rPr lang="en-US" b="1" dirty="0" err="1"/>
              <a:t>Mutu</a:t>
            </a:r>
            <a:r>
              <a:rPr lang="en-US" b="1" dirty="0"/>
              <a:t>:</a:t>
            </a:r>
            <a:endParaRPr lang="id-ID" dirty="0"/>
          </a:p>
          <a:p>
            <a:pPr marL="285750" indent="-285750">
              <a:buClr>
                <a:srgbClr val="FFCD00"/>
              </a:buClr>
              <a:buSzPct val="100000"/>
              <a:buFont typeface="Quattrocento Sans"/>
              <a:buChar char="◉"/>
            </a:pPr>
            <a:r>
              <a:rPr lang="en-US" dirty="0" err="1" smtClean="0">
                <a:latin typeface="Quattrocento Sans"/>
                <a:ea typeface="Quattrocento Sans"/>
                <a:cs typeface="Quattrocento Sans"/>
              </a:rPr>
              <a:t>Efisien</a:t>
            </a:r>
            <a:endParaRPr lang="en-US" dirty="0" smtClean="0">
              <a:latin typeface="Quattrocento Sans"/>
              <a:ea typeface="Quattrocento Sans"/>
              <a:cs typeface="Quattrocento Sans"/>
            </a:endParaRPr>
          </a:p>
          <a:p>
            <a:pPr marL="285750" indent="-285750">
              <a:buClr>
                <a:srgbClr val="FFCD00"/>
              </a:buClr>
              <a:buSzPct val="100000"/>
              <a:buFont typeface="Quattrocento Sans"/>
              <a:buChar char="◉"/>
            </a:pPr>
            <a:r>
              <a:rPr lang="en-US" dirty="0" err="1" smtClean="0"/>
              <a:t>Efektif</a:t>
            </a:r>
            <a:endParaRPr lang="en-US" dirty="0" smtClean="0"/>
          </a:p>
          <a:p>
            <a:pPr marL="285750" indent="-285750">
              <a:buClr>
                <a:srgbClr val="FFCD00"/>
              </a:buClr>
              <a:buSzPct val="100000"/>
              <a:buFont typeface="Quattrocento Sans"/>
              <a:buChar char="◉"/>
            </a:pPr>
            <a:endParaRPr lang="id-ID" dirty="0" smtClean="0">
              <a:latin typeface="Quattrocento Sans"/>
              <a:ea typeface="Quattrocento Sans"/>
              <a:cs typeface="Quattrocento Sans"/>
            </a:endParaRPr>
          </a:p>
          <a:p>
            <a:r>
              <a:rPr lang="en-US" b="1" dirty="0" smtClean="0"/>
              <a:t>Anti </a:t>
            </a:r>
            <a:r>
              <a:rPr lang="en-US" b="1" dirty="0" err="1"/>
              <a:t>Korupsi</a:t>
            </a:r>
            <a:r>
              <a:rPr lang="en-US" b="1" dirty="0"/>
              <a:t>:</a:t>
            </a:r>
            <a:endParaRPr lang="id-ID" dirty="0"/>
          </a:p>
          <a:p>
            <a:pPr marL="285750" indent="-285750">
              <a:buClr>
                <a:srgbClr val="FFCD00"/>
              </a:buClr>
              <a:buSzPct val="100000"/>
              <a:buFont typeface="Quattrocento Sans"/>
              <a:buChar char="◉"/>
            </a:pPr>
            <a:r>
              <a:rPr lang="en-US" dirty="0" err="1" smtClean="0">
                <a:latin typeface="Quattrocento Sans"/>
                <a:ea typeface="Quattrocento Sans"/>
                <a:cs typeface="Quattrocento Sans"/>
              </a:rPr>
              <a:t>Berani</a:t>
            </a:r>
            <a:endParaRPr lang="en-US" dirty="0">
              <a:latin typeface="Quattrocento Sans"/>
              <a:ea typeface="Quattrocento Sans"/>
              <a:cs typeface="Quattrocento Sans"/>
            </a:endParaRPr>
          </a:p>
        </p:txBody>
      </p:sp>
    </p:spTree>
    <p:extLst>
      <p:ext uri="{BB962C8B-B14F-4D97-AF65-F5344CB8AC3E}">
        <p14:creationId xmlns:p14="http://schemas.microsoft.com/office/powerpoint/2010/main" val="4139973282"/>
      </p:ext>
    </p:extLst>
  </p:cSld>
  <p:clrMapOvr>
    <a:masterClrMapping/>
  </p:clrMapOvr>
  <p:transition spd="slow">
    <p:cu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1" name="Rectangle 10"/>
          <p:cNvSpPr/>
          <p:nvPr/>
        </p:nvSpPr>
        <p:spPr>
          <a:xfrm>
            <a:off x="5103628" y="924720"/>
            <a:ext cx="1052623" cy="4355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7" name="Shape 107"/>
          <p:cNvSpPr txBox="1">
            <a:spLocks noGrp="1"/>
          </p:cNvSpPr>
          <p:nvPr>
            <p:ph type="title"/>
          </p:nvPr>
        </p:nvSpPr>
        <p:spPr>
          <a:xfrm>
            <a:off x="1381250" y="924720"/>
            <a:ext cx="4594248" cy="435599"/>
          </a:xfrm>
          <a:prstGeom prst="rect">
            <a:avLst/>
          </a:prstGeom>
        </p:spPr>
        <p:txBody>
          <a:bodyPr lIns="91425" tIns="91425" rIns="91425" bIns="91425" anchor="ctr" anchorCtr="0">
            <a:noAutofit/>
          </a:bodyPr>
          <a:lstStyle/>
          <a:p>
            <a:r>
              <a:rPr lang="en-US" dirty="0" err="1"/>
              <a:t>Mengunggah</a:t>
            </a:r>
            <a:r>
              <a:rPr lang="en-US" dirty="0"/>
              <a:t> </a:t>
            </a:r>
            <a:r>
              <a:rPr lang="en-US" dirty="0" err="1"/>
              <a:t>tabel</a:t>
            </a:r>
            <a:r>
              <a:rPr lang="en-US" dirty="0"/>
              <a:t> </a:t>
            </a:r>
            <a:r>
              <a:rPr lang="en-US" dirty="0" err="1"/>
              <a:t>statis</a:t>
            </a:r>
            <a:r>
              <a:rPr lang="en-US" dirty="0"/>
              <a:t> </a:t>
            </a:r>
            <a:r>
              <a:rPr lang="en-US" dirty="0" err="1"/>
              <a:t>ke</a:t>
            </a:r>
            <a:r>
              <a:rPr lang="en-US" dirty="0"/>
              <a:t> Website</a:t>
            </a:r>
            <a:endParaRPr lang="en" dirty="0"/>
          </a:p>
        </p:txBody>
      </p:sp>
      <p:sp>
        <p:nvSpPr>
          <p:cNvPr id="108" name="Shape 108"/>
          <p:cNvSpPr txBox="1">
            <a:spLocks noGrp="1"/>
          </p:cNvSpPr>
          <p:nvPr>
            <p:ph type="body" idx="1"/>
          </p:nvPr>
        </p:nvSpPr>
        <p:spPr>
          <a:xfrm>
            <a:off x="0" y="1450099"/>
            <a:ext cx="5883684" cy="559454"/>
          </a:xfrm>
          <a:prstGeom prst="rect">
            <a:avLst/>
          </a:prstGeom>
        </p:spPr>
        <p:txBody>
          <a:bodyPr lIns="91425" tIns="91425" rIns="91425" bIns="91425" anchor="t" anchorCtr="0">
            <a:noAutofit/>
          </a:bodyPr>
          <a:lstStyle/>
          <a:p>
            <a:pPr marL="228600" lvl="0">
              <a:spcBef>
                <a:spcPts val="0"/>
              </a:spcBef>
              <a:buNone/>
            </a:pPr>
            <a:r>
              <a:rPr lang="en-US" dirty="0" err="1" smtClean="0"/>
              <a:t>Contoh</a:t>
            </a:r>
            <a:r>
              <a:rPr lang="en-US" dirty="0" smtClean="0"/>
              <a:t> </a:t>
            </a:r>
            <a:r>
              <a:rPr lang="en-US" dirty="0" err="1" smtClean="0"/>
              <a:t>penerapannya</a:t>
            </a:r>
            <a:endParaRPr lang="id-ID"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916458" y="2353979"/>
            <a:ext cx="7153202" cy="1994737"/>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spcBef>
                <a:spcPts val="0"/>
              </a:spcBef>
              <a:buClr>
                <a:srgbClr val="000000"/>
              </a:buClr>
              <a:buNone/>
            </a:pPr>
            <a:r>
              <a:rPr lang="en-US" sz="1400" dirty="0" err="1"/>
              <a:t>saya</a:t>
            </a:r>
            <a:r>
              <a:rPr lang="en-US" sz="1400" dirty="0"/>
              <a:t> </a:t>
            </a:r>
            <a:r>
              <a:rPr lang="en-US" sz="1400" dirty="0" err="1"/>
              <a:t>akan</a:t>
            </a:r>
            <a:r>
              <a:rPr lang="en-US" sz="1400" dirty="0"/>
              <a:t> </a:t>
            </a:r>
            <a:r>
              <a:rPr lang="en-US" sz="1400" dirty="0" err="1" smtClean="0"/>
              <a:t>mencari</a:t>
            </a:r>
            <a:r>
              <a:rPr lang="en-US" sz="1400" dirty="0" smtClean="0"/>
              <a:t> </a:t>
            </a:r>
            <a:r>
              <a:rPr lang="en-US" sz="1400" i="1" dirty="0" err="1"/>
              <a:t>softfile</a:t>
            </a:r>
            <a:r>
              <a:rPr lang="en-US" sz="1400" dirty="0"/>
              <a:t> </a:t>
            </a:r>
            <a:r>
              <a:rPr lang="en-US" sz="1400" dirty="0" err="1" smtClean="0"/>
              <a:t>tabel</a:t>
            </a:r>
            <a:r>
              <a:rPr lang="en-US" sz="1400" dirty="0" smtClean="0"/>
              <a:t> </a:t>
            </a:r>
            <a:r>
              <a:rPr lang="en-US" sz="1400" dirty="0" err="1" smtClean="0"/>
              <a:t>kepada</a:t>
            </a:r>
            <a:r>
              <a:rPr lang="en-US" sz="1400" dirty="0" smtClean="0"/>
              <a:t> </a:t>
            </a:r>
            <a:r>
              <a:rPr lang="en-US" sz="1400" dirty="0"/>
              <a:t>staff IPDS yang </a:t>
            </a:r>
            <a:r>
              <a:rPr lang="en-US" sz="1400" dirty="0" err="1"/>
              <a:t>menyimpan</a:t>
            </a:r>
            <a:r>
              <a:rPr lang="en-US" sz="1400" dirty="0"/>
              <a:t> master </a:t>
            </a:r>
            <a:r>
              <a:rPr lang="en-US" sz="1400" i="1" dirty="0"/>
              <a:t>file</a:t>
            </a:r>
            <a:r>
              <a:rPr lang="en-US" sz="1400" dirty="0"/>
              <a:t> </a:t>
            </a:r>
            <a:r>
              <a:rPr lang="en-US" sz="1400" dirty="0" err="1"/>
              <a:t>Bontang</a:t>
            </a:r>
            <a:r>
              <a:rPr lang="en-US" sz="1400" dirty="0"/>
              <a:t> </a:t>
            </a:r>
            <a:r>
              <a:rPr lang="en-US" sz="1400" dirty="0" err="1"/>
              <a:t>dalam</a:t>
            </a:r>
            <a:r>
              <a:rPr lang="en-US" sz="1400" dirty="0"/>
              <a:t> </a:t>
            </a:r>
            <a:r>
              <a:rPr lang="en-US" sz="1400" dirty="0" err="1"/>
              <a:t>Angka</a:t>
            </a:r>
            <a:r>
              <a:rPr lang="en-US" sz="1400" dirty="0"/>
              <a:t> agar </a:t>
            </a:r>
            <a:r>
              <a:rPr lang="en-US" sz="1400" dirty="0" err="1"/>
              <a:t>mengurangi</a:t>
            </a:r>
            <a:r>
              <a:rPr lang="en-US" sz="1400" dirty="0"/>
              <a:t> </a:t>
            </a:r>
            <a:r>
              <a:rPr lang="en-US" sz="1400" dirty="0" err="1"/>
              <a:t>kesalahan</a:t>
            </a:r>
            <a:r>
              <a:rPr lang="en-US" sz="1400" dirty="0"/>
              <a:t> </a:t>
            </a:r>
            <a:r>
              <a:rPr lang="en-US" sz="1400" dirty="0" err="1"/>
              <a:t>jika</a:t>
            </a:r>
            <a:r>
              <a:rPr lang="en-US" sz="1400" dirty="0"/>
              <a:t> data </a:t>
            </a:r>
            <a:r>
              <a:rPr lang="en-US" sz="1400" dirty="0" err="1"/>
              <a:t>diketik</a:t>
            </a:r>
            <a:r>
              <a:rPr lang="en-US" sz="1400" dirty="0"/>
              <a:t> </a:t>
            </a:r>
            <a:r>
              <a:rPr lang="en-US" sz="1400" dirty="0" err="1"/>
              <a:t>ulang</a:t>
            </a:r>
            <a:r>
              <a:rPr lang="en-US" sz="1400" dirty="0"/>
              <a:t> (</a:t>
            </a:r>
            <a:r>
              <a:rPr lang="en-US" sz="1400" b="1" dirty="0" err="1"/>
              <a:t>efisien</a:t>
            </a:r>
            <a:r>
              <a:rPr lang="en-US" sz="1400" dirty="0"/>
              <a:t>, </a:t>
            </a:r>
            <a:r>
              <a:rPr lang="en-US" sz="1400" b="1" dirty="0" err="1"/>
              <a:t>Komitmen</a:t>
            </a:r>
            <a:r>
              <a:rPr lang="en-US" sz="1400" b="1" dirty="0"/>
              <a:t> </a:t>
            </a:r>
            <a:r>
              <a:rPr lang="en-US" sz="1400" b="1" dirty="0" err="1"/>
              <a:t>Mutu</a:t>
            </a:r>
            <a:r>
              <a:rPr lang="en-US" sz="1400" dirty="0" smtClean="0"/>
              <a:t>).</a:t>
            </a:r>
          </a:p>
          <a:p>
            <a:pPr algn="ctr">
              <a:spcBef>
                <a:spcPts val="0"/>
              </a:spcBef>
              <a:buClr>
                <a:srgbClr val="000000"/>
              </a:buClr>
              <a:buNone/>
            </a:pPr>
            <a:endParaRPr lang="en-US" sz="1400" dirty="0"/>
          </a:p>
          <a:p>
            <a:pPr algn="ctr">
              <a:spcBef>
                <a:spcPts val="0"/>
              </a:spcBef>
              <a:buClr>
                <a:srgbClr val="000000"/>
              </a:buClr>
              <a:buNone/>
            </a:pPr>
            <a:r>
              <a:rPr lang="id-ID" sz="1400" dirty="0"/>
              <a:t>Saya akan </a:t>
            </a:r>
            <a:r>
              <a:rPr lang="id-ID" sz="1400" b="1" dirty="0"/>
              <a:t>rela berkorban </a:t>
            </a:r>
            <a:r>
              <a:rPr lang="id-ID" sz="1400" dirty="0"/>
              <a:t>menggunakan laptop pribadi untuk mendukung selesainya tugas ini (</a:t>
            </a:r>
            <a:r>
              <a:rPr lang="id-ID" sz="1400" b="1" dirty="0"/>
              <a:t>nasionalisme</a:t>
            </a:r>
            <a:r>
              <a:rPr lang="id-ID" sz="1400" dirty="0"/>
              <a:t>)</a:t>
            </a:r>
            <a:endParaRPr lang="en" sz="1400" dirty="0"/>
          </a:p>
        </p:txBody>
      </p:sp>
    </p:spTree>
    <p:extLst>
      <p:ext uri="{BB962C8B-B14F-4D97-AF65-F5344CB8AC3E}">
        <p14:creationId xmlns:p14="http://schemas.microsoft.com/office/powerpoint/2010/main" val="3665355116"/>
      </p:ext>
    </p:extLst>
  </p:cSld>
  <p:clrMapOvr>
    <a:masterClrMapping/>
  </p:clrMapOvr>
  <p:transition spd="slow">
    <p:cu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3" name="Rectangle 12"/>
          <p:cNvSpPr/>
          <p:nvPr/>
        </p:nvSpPr>
        <p:spPr>
          <a:xfrm>
            <a:off x="5103628" y="924720"/>
            <a:ext cx="1052623" cy="4355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7" name="Shape 107"/>
          <p:cNvSpPr txBox="1">
            <a:spLocks noGrp="1"/>
          </p:cNvSpPr>
          <p:nvPr>
            <p:ph type="title"/>
          </p:nvPr>
        </p:nvSpPr>
        <p:spPr>
          <a:xfrm>
            <a:off x="1381250" y="924720"/>
            <a:ext cx="4636778" cy="435599"/>
          </a:xfrm>
          <a:prstGeom prst="rect">
            <a:avLst/>
          </a:prstGeom>
        </p:spPr>
        <p:txBody>
          <a:bodyPr lIns="91425" tIns="91425" rIns="91425" bIns="91425" anchor="ctr" anchorCtr="0">
            <a:noAutofit/>
          </a:bodyPr>
          <a:lstStyle/>
          <a:p>
            <a:r>
              <a:rPr lang="en-US" dirty="0" err="1"/>
              <a:t>Mengunggah</a:t>
            </a:r>
            <a:r>
              <a:rPr lang="en-US" dirty="0"/>
              <a:t> </a:t>
            </a:r>
            <a:r>
              <a:rPr lang="en-US" dirty="0" err="1"/>
              <a:t>tabel</a:t>
            </a:r>
            <a:r>
              <a:rPr lang="en-US" dirty="0"/>
              <a:t> </a:t>
            </a:r>
            <a:r>
              <a:rPr lang="en-US" dirty="0" err="1"/>
              <a:t>statis</a:t>
            </a:r>
            <a:r>
              <a:rPr lang="en-US" dirty="0"/>
              <a:t> </a:t>
            </a:r>
            <a:r>
              <a:rPr lang="en-US" dirty="0" err="1"/>
              <a:t>ke</a:t>
            </a:r>
            <a:r>
              <a:rPr lang="en-US" dirty="0"/>
              <a:t> Website</a:t>
            </a:r>
            <a:endParaRPr lang="en" dirty="0"/>
          </a:p>
        </p:txBody>
      </p:sp>
      <p:sp>
        <p:nvSpPr>
          <p:cNvPr id="108" name="Shape 108"/>
          <p:cNvSpPr txBox="1">
            <a:spLocks noGrp="1"/>
          </p:cNvSpPr>
          <p:nvPr>
            <p:ph type="body" idx="1"/>
          </p:nvPr>
        </p:nvSpPr>
        <p:spPr>
          <a:xfrm>
            <a:off x="1381250" y="1567753"/>
            <a:ext cx="1867376" cy="559454"/>
          </a:xfrm>
          <a:prstGeom prst="rect">
            <a:avLst/>
          </a:prstGeom>
        </p:spPr>
        <p:txBody>
          <a:bodyPr lIns="91425" tIns="91425" rIns="91425" bIns="91425" anchor="t" anchorCtr="0">
            <a:noAutofit/>
          </a:bodyPr>
          <a:lstStyle/>
          <a:p>
            <a:pPr marL="228600" lvl="0">
              <a:spcBef>
                <a:spcPts val="0"/>
              </a:spcBef>
              <a:buNone/>
            </a:pPr>
            <a:r>
              <a:rPr lang="en-US" b="1" dirty="0" err="1" smtClean="0"/>
              <a:t>Kendala</a:t>
            </a:r>
            <a:endParaRPr lang="fi-FI"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916458" y="2353979"/>
            <a:ext cx="7026063" cy="750728"/>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85750" indent="-285750"/>
            <a:r>
              <a:rPr lang="en-US" sz="1400" dirty="0" err="1"/>
              <a:t>Gangguan</a:t>
            </a:r>
            <a:r>
              <a:rPr lang="en-US" sz="1400" dirty="0"/>
              <a:t> </a:t>
            </a:r>
            <a:r>
              <a:rPr lang="en-US" sz="1400" dirty="0" err="1"/>
              <a:t>koneksi</a:t>
            </a:r>
            <a:r>
              <a:rPr lang="en-US" sz="1400" dirty="0"/>
              <a:t> </a:t>
            </a:r>
            <a:r>
              <a:rPr lang="en-US" sz="1400" dirty="0" smtClean="0"/>
              <a:t>internet</a:t>
            </a:r>
            <a:endParaRPr lang="id-ID" sz="1400" dirty="0"/>
          </a:p>
        </p:txBody>
      </p:sp>
      <p:sp>
        <p:nvSpPr>
          <p:cNvPr id="11" name="Shape 96"/>
          <p:cNvSpPr txBox="1">
            <a:spLocks/>
          </p:cNvSpPr>
          <p:nvPr/>
        </p:nvSpPr>
        <p:spPr>
          <a:xfrm>
            <a:off x="1381250" y="3591868"/>
            <a:ext cx="7026063" cy="1012997"/>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85750" indent="-285750"/>
            <a:r>
              <a:rPr lang="en-US" sz="1400" dirty="0" err="1"/>
              <a:t>Menggunakan</a:t>
            </a:r>
            <a:r>
              <a:rPr lang="en-US" sz="1400" dirty="0"/>
              <a:t> </a:t>
            </a:r>
            <a:r>
              <a:rPr lang="en-US" sz="1400" dirty="0" err="1"/>
              <a:t>fasilitas</a:t>
            </a:r>
            <a:r>
              <a:rPr lang="en-US" sz="1400" dirty="0"/>
              <a:t> internet </a:t>
            </a:r>
            <a:r>
              <a:rPr lang="en-US" sz="1400" dirty="0" err="1"/>
              <a:t>pribadi</a:t>
            </a:r>
            <a:endParaRPr lang="en-US" sz="1400" dirty="0" smtClean="0"/>
          </a:p>
        </p:txBody>
      </p:sp>
      <p:sp>
        <p:nvSpPr>
          <p:cNvPr id="12" name="Shape 108"/>
          <p:cNvSpPr txBox="1">
            <a:spLocks/>
          </p:cNvSpPr>
          <p:nvPr/>
        </p:nvSpPr>
        <p:spPr>
          <a:xfrm>
            <a:off x="3689498" y="3032414"/>
            <a:ext cx="3880884" cy="559454"/>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28600">
              <a:spcBef>
                <a:spcPts val="0"/>
              </a:spcBef>
              <a:buFont typeface="Quattrocento Sans"/>
              <a:buNone/>
            </a:pPr>
            <a:r>
              <a:rPr lang="en-US" b="1" dirty="0" err="1" smtClean="0"/>
              <a:t>Rencana</a:t>
            </a:r>
            <a:r>
              <a:rPr lang="en-US" b="1" dirty="0" smtClean="0"/>
              <a:t> </a:t>
            </a:r>
            <a:r>
              <a:rPr lang="en-US" b="1" dirty="0" err="1" smtClean="0"/>
              <a:t>Antisipasi</a:t>
            </a:r>
            <a:endParaRPr lang="fi-FI" dirty="0"/>
          </a:p>
        </p:txBody>
      </p:sp>
      <p:sp>
        <p:nvSpPr>
          <p:cNvPr id="3" name="U-Turn Arrow 2"/>
          <p:cNvSpPr/>
          <p:nvPr/>
        </p:nvSpPr>
        <p:spPr>
          <a:xfrm rot="5400000">
            <a:off x="4901607" y="-120126"/>
            <a:ext cx="1743739" cy="5507663"/>
          </a:xfrm>
          <a:prstGeom prst="uturnArrow">
            <a:avLst>
              <a:gd name="adj1" fmla="val 11284"/>
              <a:gd name="adj2" fmla="val 11449"/>
              <a:gd name="adj3" fmla="val 0"/>
              <a:gd name="adj4" fmla="val 47097"/>
              <a:gd name="adj5" fmla="val 26051"/>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id-ID">
              <a:solidFill>
                <a:schemeClr val="tx1"/>
              </a:solidFill>
            </a:endParaRPr>
          </a:p>
        </p:txBody>
      </p:sp>
    </p:spTree>
    <p:extLst>
      <p:ext uri="{BB962C8B-B14F-4D97-AF65-F5344CB8AC3E}">
        <p14:creationId xmlns:p14="http://schemas.microsoft.com/office/powerpoint/2010/main" val="3710832842"/>
      </p:ext>
    </p:extLst>
  </p:cSld>
  <p:clrMapOvr>
    <a:masterClrMapping/>
  </p:clrMapOvr>
  <p:transition spd="slow">
    <p:cu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Rectangle 1"/>
          <p:cNvSpPr/>
          <p:nvPr/>
        </p:nvSpPr>
        <p:spPr>
          <a:xfrm>
            <a:off x="5411972" y="2291149"/>
            <a:ext cx="3419104" cy="562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n>
                <a:solidFill>
                  <a:schemeClr val="bg1"/>
                </a:solidFill>
              </a:ln>
              <a:solidFill>
                <a:schemeClr val="bg1"/>
              </a:solidFill>
            </a:endParaRPr>
          </a:p>
        </p:txBody>
      </p:sp>
      <p:sp>
        <p:nvSpPr>
          <p:cNvPr id="95" name="Shape 95"/>
          <p:cNvSpPr txBox="1">
            <a:spLocks noGrp="1"/>
          </p:cNvSpPr>
          <p:nvPr>
            <p:ph type="ctrTitle"/>
          </p:nvPr>
        </p:nvSpPr>
        <p:spPr>
          <a:xfrm>
            <a:off x="1993196" y="1711250"/>
            <a:ext cx="7044478" cy="1159799"/>
          </a:xfrm>
          <a:prstGeom prst="rect">
            <a:avLst/>
          </a:prstGeom>
        </p:spPr>
        <p:txBody>
          <a:bodyPr lIns="91425" tIns="91425" rIns="91425" bIns="91425" anchor="b" anchorCtr="0">
            <a:noAutofit/>
          </a:bodyPr>
          <a:lstStyle/>
          <a:p>
            <a:pPr lvl="0"/>
            <a:r>
              <a:rPr lang="en-US" sz="2800" dirty="0" err="1"/>
              <a:t>Mengunggah</a:t>
            </a:r>
            <a:r>
              <a:rPr lang="en-US" sz="2800" dirty="0"/>
              <a:t> </a:t>
            </a:r>
            <a:r>
              <a:rPr lang="en-US" sz="2800" dirty="0" err="1"/>
              <a:t>tabel</a:t>
            </a:r>
            <a:r>
              <a:rPr lang="en-US" sz="2800" dirty="0"/>
              <a:t> </a:t>
            </a:r>
            <a:r>
              <a:rPr lang="en-US" sz="2800" dirty="0" err="1" smtClean="0"/>
              <a:t>dinamis</a:t>
            </a:r>
            <a:r>
              <a:rPr lang="en-US" sz="2800" dirty="0" smtClean="0"/>
              <a:t> </a:t>
            </a:r>
            <a:r>
              <a:rPr lang="en-US" sz="2800" dirty="0" err="1" smtClean="0"/>
              <a:t>ke</a:t>
            </a:r>
            <a:r>
              <a:rPr lang="en-US" sz="2800" dirty="0" smtClean="0"/>
              <a:t> Website</a:t>
            </a:r>
            <a:endParaRPr lang="en" sz="2800" dirty="0"/>
          </a:p>
        </p:txBody>
      </p:sp>
      <p:sp>
        <p:nvSpPr>
          <p:cNvPr id="96" name="Shape 96"/>
          <p:cNvSpPr txBox="1">
            <a:spLocks noGrp="1"/>
          </p:cNvSpPr>
          <p:nvPr>
            <p:ph type="subTitle" idx="1"/>
          </p:nvPr>
        </p:nvSpPr>
        <p:spPr>
          <a:xfrm>
            <a:off x="1677874" y="2871049"/>
            <a:ext cx="7153202" cy="1084263"/>
          </a:xfrm>
          <a:prstGeom prst="rect">
            <a:avLst/>
          </a:prstGeom>
        </p:spPr>
        <p:txBody>
          <a:bodyPr lIns="91425" tIns="91425" rIns="91425" bIns="91425" anchor="t" anchorCtr="0">
            <a:noAutofit/>
          </a:bodyPr>
          <a:lstStyle/>
          <a:p>
            <a:pPr lvl="0" algn="ctr"/>
            <a:r>
              <a:rPr lang="en-US" dirty="0" err="1"/>
              <a:t>Perbedaan</a:t>
            </a:r>
            <a:r>
              <a:rPr lang="en-US" dirty="0"/>
              <a:t> </a:t>
            </a:r>
            <a:r>
              <a:rPr lang="en-US" dirty="0" err="1"/>
              <a:t>tabel</a:t>
            </a:r>
            <a:r>
              <a:rPr lang="en-US" dirty="0"/>
              <a:t> </a:t>
            </a:r>
            <a:r>
              <a:rPr lang="en-US" dirty="0" err="1"/>
              <a:t>statis</a:t>
            </a:r>
            <a:r>
              <a:rPr lang="en-US" dirty="0"/>
              <a:t> </a:t>
            </a:r>
            <a:r>
              <a:rPr lang="en-US" dirty="0" err="1"/>
              <a:t>dan</a:t>
            </a:r>
            <a:r>
              <a:rPr lang="en-US" dirty="0"/>
              <a:t> </a:t>
            </a:r>
            <a:r>
              <a:rPr lang="en-US" dirty="0" err="1"/>
              <a:t>tabel</a:t>
            </a:r>
            <a:r>
              <a:rPr lang="en-US" dirty="0"/>
              <a:t> </a:t>
            </a:r>
            <a:r>
              <a:rPr lang="en-US" dirty="0" err="1"/>
              <a:t>dinamis</a:t>
            </a:r>
            <a:r>
              <a:rPr lang="en-US" dirty="0"/>
              <a:t> </a:t>
            </a:r>
            <a:r>
              <a:rPr lang="en-US" dirty="0" err="1"/>
              <a:t>terletak</a:t>
            </a:r>
            <a:r>
              <a:rPr lang="en-US" dirty="0"/>
              <a:t> </a:t>
            </a:r>
            <a:r>
              <a:rPr lang="en-US" dirty="0" err="1"/>
              <a:t>pada</a:t>
            </a:r>
            <a:r>
              <a:rPr lang="en-US" dirty="0"/>
              <a:t> </a:t>
            </a:r>
            <a:r>
              <a:rPr lang="en-US" dirty="0" err="1"/>
              <a:t>cara</a:t>
            </a:r>
            <a:r>
              <a:rPr lang="en-US" dirty="0"/>
              <a:t> </a:t>
            </a:r>
            <a:r>
              <a:rPr lang="en-US" dirty="0" err="1"/>
              <a:t>penyimpanan</a:t>
            </a:r>
            <a:r>
              <a:rPr lang="en-US" dirty="0"/>
              <a:t> </a:t>
            </a:r>
            <a:r>
              <a:rPr lang="en-US" dirty="0" err="1"/>
              <a:t>datanya</a:t>
            </a:r>
            <a:r>
              <a:rPr lang="en-US" dirty="0"/>
              <a:t>. Data yang </a:t>
            </a:r>
            <a:r>
              <a:rPr lang="en-US" dirty="0" err="1"/>
              <a:t>disimpan</a:t>
            </a:r>
            <a:r>
              <a:rPr lang="en-US" dirty="0"/>
              <a:t> </a:t>
            </a:r>
            <a:r>
              <a:rPr lang="en-US" dirty="0" err="1"/>
              <a:t>pada</a:t>
            </a:r>
            <a:r>
              <a:rPr lang="en-US" dirty="0"/>
              <a:t> </a:t>
            </a:r>
            <a:r>
              <a:rPr lang="en-US" dirty="0" err="1"/>
              <a:t>tabel</a:t>
            </a:r>
            <a:r>
              <a:rPr lang="en-US" dirty="0"/>
              <a:t> </a:t>
            </a:r>
            <a:r>
              <a:rPr lang="en-US" dirty="0" err="1"/>
              <a:t>statis</a:t>
            </a:r>
            <a:r>
              <a:rPr lang="en-US" dirty="0"/>
              <a:t> </a:t>
            </a:r>
            <a:r>
              <a:rPr lang="en-US" dirty="0" err="1"/>
              <a:t>adalah</a:t>
            </a:r>
            <a:r>
              <a:rPr lang="en-US" dirty="0"/>
              <a:t> </a:t>
            </a:r>
            <a:r>
              <a:rPr lang="en-US" dirty="0" err="1"/>
              <a:t>kode</a:t>
            </a:r>
            <a:r>
              <a:rPr lang="en-US" dirty="0"/>
              <a:t> </a:t>
            </a:r>
            <a:r>
              <a:rPr lang="en-US" i="1" dirty="0"/>
              <a:t>HTML</a:t>
            </a:r>
            <a:r>
              <a:rPr lang="en-US" dirty="0"/>
              <a:t>-</a:t>
            </a:r>
            <a:r>
              <a:rPr lang="en-US" dirty="0" err="1"/>
              <a:t>nya</a:t>
            </a:r>
            <a:r>
              <a:rPr lang="en-US" dirty="0"/>
              <a:t> </a:t>
            </a:r>
            <a:r>
              <a:rPr lang="en-US" dirty="0" err="1"/>
              <a:t>sedangkan</a:t>
            </a:r>
            <a:r>
              <a:rPr lang="en-US" dirty="0"/>
              <a:t> </a:t>
            </a:r>
            <a:r>
              <a:rPr lang="en-US" dirty="0" err="1"/>
              <a:t>tabel</a:t>
            </a:r>
            <a:r>
              <a:rPr lang="en-US" dirty="0"/>
              <a:t> </a:t>
            </a:r>
            <a:r>
              <a:rPr lang="en-US" dirty="0" err="1"/>
              <a:t>dinamis</a:t>
            </a:r>
            <a:r>
              <a:rPr lang="en-US" dirty="0"/>
              <a:t>, data yang </a:t>
            </a:r>
            <a:r>
              <a:rPr lang="en-US" dirty="0" err="1"/>
              <a:t>disimpan</a:t>
            </a:r>
            <a:r>
              <a:rPr lang="en-US" dirty="0"/>
              <a:t> </a:t>
            </a:r>
            <a:r>
              <a:rPr lang="en-US" dirty="0" err="1"/>
              <a:t>adalah</a:t>
            </a:r>
            <a:r>
              <a:rPr lang="en-US" dirty="0"/>
              <a:t> </a:t>
            </a:r>
            <a:r>
              <a:rPr lang="en-US" dirty="0" err="1"/>
              <a:t>nilai</a:t>
            </a:r>
            <a:r>
              <a:rPr lang="en-US" dirty="0"/>
              <a:t> </a:t>
            </a:r>
            <a:r>
              <a:rPr lang="en-US" dirty="0" err="1"/>
              <a:t>dari</a:t>
            </a:r>
            <a:r>
              <a:rPr lang="en-US" dirty="0"/>
              <a:t> </a:t>
            </a:r>
            <a:r>
              <a:rPr lang="en-US" dirty="0" err="1"/>
              <a:t>tiap</a:t>
            </a:r>
            <a:r>
              <a:rPr lang="en-US" dirty="0"/>
              <a:t> </a:t>
            </a:r>
            <a:r>
              <a:rPr lang="en-US" dirty="0" err="1"/>
              <a:t>kolom</a:t>
            </a:r>
            <a:r>
              <a:rPr lang="en-US" dirty="0"/>
              <a:t> </a:t>
            </a:r>
            <a:r>
              <a:rPr lang="en-US" dirty="0" err="1"/>
              <a:t>dan</a:t>
            </a:r>
            <a:r>
              <a:rPr lang="en-US" dirty="0"/>
              <a:t> </a:t>
            </a:r>
            <a:r>
              <a:rPr lang="en-US" dirty="0" err="1"/>
              <a:t>baris</a:t>
            </a:r>
            <a:r>
              <a:rPr lang="en-US" dirty="0"/>
              <a:t> </a:t>
            </a:r>
            <a:r>
              <a:rPr lang="en-US" dirty="0" err="1"/>
              <a:t>tabelnya</a:t>
            </a:r>
            <a:r>
              <a:rPr lang="en-US" dirty="0" smtClean="0"/>
              <a:t>.</a:t>
            </a:r>
          </a:p>
          <a:p>
            <a:pPr lvl="0" algn="ctr"/>
            <a:endParaRPr lang="en-US" dirty="0"/>
          </a:p>
          <a:p>
            <a:pPr algn="ctr"/>
            <a:r>
              <a:rPr lang="en-US" dirty="0" smtClean="0"/>
              <a:t>10 </a:t>
            </a:r>
            <a:r>
              <a:rPr lang="en-US" dirty="0" err="1"/>
              <a:t>tabel</a:t>
            </a:r>
            <a:r>
              <a:rPr lang="en-US" dirty="0"/>
              <a:t> </a:t>
            </a:r>
            <a:r>
              <a:rPr lang="en-US" dirty="0" err="1" smtClean="0"/>
              <a:t>dinamis</a:t>
            </a:r>
            <a:r>
              <a:rPr lang="en-US" dirty="0" smtClean="0"/>
              <a:t> </a:t>
            </a:r>
            <a:r>
              <a:rPr lang="en-US" dirty="0"/>
              <a:t>yang </a:t>
            </a:r>
            <a:r>
              <a:rPr lang="en-US" dirty="0" err="1"/>
              <a:t>telah</a:t>
            </a:r>
            <a:r>
              <a:rPr lang="en-US" dirty="0"/>
              <a:t> </a:t>
            </a:r>
            <a:r>
              <a:rPr lang="en-US" dirty="0" err="1"/>
              <a:t>diunggah</a:t>
            </a:r>
            <a:r>
              <a:rPr lang="en-US" dirty="0"/>
              <a:t> </a:t>
            </a:r>
            <a:r>
              <a:rPr lang="en-US" dirty="0" err="1"/>
              <a:t>ke</a:t>
            </a:r>
            <a:r>
              <a:rPr lang="en-US" dirty="0"/>
              <a:t> </a:t>
            </a:r>
            <a:r>
              <a:rPr lang="en-US" i="1" dirty="0"/>
              <a:t>website </a:t>
            </a:r>
            <a:r>
              <a:rPr lang="en-US" dirty="0"/>
              <a:t>BPS Kota </a:t>
            </a:r>
            <a:r>
              <a:rPr lang="en-US" dirty="0" err="1"/>
              <a:t>Bontang</a:t>
            </a:r>
            <a:endParaRPr lang="en" dirty="0"/>
          </a:p>
          <a:p>
            <a:pPr lvl="0" algn="ctr"/>
            <a:endParaRPr lang="en" dirty="0"/>
          </a:p>
        </p:txBody>
      </p:sp>
      <p:sp>
        <p:nvSpPr>
          <p:cNvPr id="97" name="Shape 97"/>
          <p:cNvSpPr txBox="1"/>
          <p:nvPr/>
        </p:nvSpPr>
        <p:spPr>
          <a:xfrm>
            <a:off x="1133975" y="2291150"/>
            <a:ext cx="543899" cy="562199"/>
          </a:xfrm>
          <a:prstGeom prst="rect">
            <a:avLst/>
          </a:prstGeom>
          <a:noFill/>
          <a:ln>
            <a:noFill/>
          </a:ln>
        </p:spPr>
        <p:txBody>
          <a:bodyPr lIns="91425" tIns="91425" rIns="91425" bIns="91425" anchor="ctr" anchorCtr="0">
            <a:noAutofit/>
          </a:bodyPr>
          <a:lstStyle/>
          <a:p>
            <a:pPr algn="ctr">
              <a:spcBef>
                <a:spcPts val="0"/>
              </a:spcBef>
              <a:buNone/>
            </a:pPr>
            <a:r>
              <a:rPr lang="en" sz="2400" dirty="0" smtClean="0">
                <a:solidFill>
                  <a:schemeClr val="dk1"/>
                </a:solidFill>
                <a:latin typeface="Lora"/>
                <a:ea typeface="Lora"/>
                <a:cs typeface="Lora"/>
                <a:sym typeface="Lora"/>
              </a:rPr>
              <a:t>3</a:t>
            </a:r>
            <a:endParaRPr lang="en" sz="2400" dirty="0">
              <a:solidFill>
                <a:schemeClr val="dk1"/>
              </a:solidFill>
              <a:latin typeface="Lora"/>
              <a:ea typeface="Lora"/>
              <a:cs typeface="Lora"/>
              <a:sym typeface="Lora"/>
            </a:endParaRPr>
          </a:p>
        </p:txBody>
      </p:sp>
    </p:spTree>
    <p:extLst>
      <p:ext uri="{BB962C8B-B14F-4D97-AF65-F5344CB8AC3E}">
        <p14:creationId xmlns:p14="http://schemas.microsoft.com/office/powerpoint/2010/main" val="857114169"/>
      </p:ext>
    </p:extLst>
  </p:cSld>
  <p:clrMapOvr>
    <a:masterClrMapping/>
  </p:clrMapOvr>
  <p:transition spd="slow">
    <p:cu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2" name="Rectangle 1"/>
          <p:cNvSpPr/>
          <p:nvPr/>
        </p:nvSpPr>
        <p:spPr>
          <a:xfrm>
            <a:off x="5103628" y="924720"/>
            <a:ext cx="1212112" cy="4355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7" name="Shape 107"/>
          <p:cNvSpPr txBox="1">
            <a:spLocks noGrp="1"/>
          </p:cNvSpPr>
          <p:nvPr>
            <p:ph type="title"/>
          </p:nvPr>
        </p:nvSpPr>
        <p:spPr>
          <a:xfrm>
            <a:off x="1381250" y="924720"/>
            <a:ext cx="4934490" cy="435599"/>
          </a:xfrm>
          <a:prstGeom prst="rect">
            <a:avLst/>
          </a:prstGeom>
        </p:spPr>
        <p:txBody>
          <a:bodyPr lIns="91425" tIns="91425" rIns="91425" bIns="91425" anchor="ctr" anchorCtr="0">
            <a:noAutofit/>
          </a:bodyPr>
          <a:lstStyle/>
          <a:p>
            <a:r>
              <a:rPr lang="en-US" dirty="0" err="1"/>
              <a:t>Mengunggah</a:t>
            </a:r>
            <a:r>
              <a:rPr lang="en-US" dirty="0"/>
              <a:t> </a:t>
            </a:r>
            <a:r>
              <a:rPr lang="en-US" dirty="0" err="1"/>
              <a:t>tabel</a:t>
            </a:r>
            <a:r>
              <a:rPr lang="en-US" dirty="0"/>
              <a:t> </a:t>
            </a:r>
            <a:r>
              <a:rPr lang="en-US" dirty="0" err="1" smtClean="0"/>
              <a:t>dinamis</a:t>
            </a:r>
            <a:r>
              <a:rPr lang="en-US" dirty="0" smtClean="0"/>
              <a:t> </a:t>
            </a:r>
            <a:r>
              <a:rPr lang="en-US" dirty="0" err="1"/>
              <a:t>ke</a:t>
            </a:r>
            <a:r>
              <a:rPr lang="en-US" dirty="0"/>
              <a:t> Website</a:t>
            </a:r>
            <a:endParaRPr lang="en"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222"/>
          <p:cNvSpPr txBox="1">
            <a:spLocks/>
          </p:cNvSpPr>
          <p:nvPr/>
        </p:nvSpPr>
        <p:spPr>
          <a:xfrm>
            <a:off x="707065" y="2370151"/>
            <a:ext cx="7772400" cy="1159799"/>
          </a:xfrm>
          <a:prstGeom prst="rect">
            <a:avLst/>
          </a:prstGeom>
          <a:noFill/>
          <a:ln>
            <a:noFill/>
          </a:ln>
        </p:spPr>
        <p:txBody>
          <a:bodyPr lIns="91425" tIns="91425" rIns="91425" bIns="91425" anchor="ctr"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SzPct val="100000"/>
              <a:buFont typeface="Lora"/>
              <a:buNone/>
              <a:defRPr sz="2000" b="1" i="0" u="none" strike="noStrike" cap="none" baseline="0">
                <a:solidFill>
                  <a:srgbClr val="000000"/>
                </a:solidFill>
                <a:latin typeface="Lora"/>
                <a:ea typeface="Lora"/>
                <a:cs typeface="Lora"/>
                <a:sym typeface="Lora"/>
                <a:rtl val="0"/>
              </a:defRPr>
            </a:lvl1pPr>
            <a:lvl2pPr rtl="0">
              <a:spcBef>
                <a:spcPts val="0"/>
              </a:spcBef>
              <a:buSzPct val="100000"/>
              <a:buFont typeface="Lora"/>
              <a:buNone/>
              <a:defRPr sz="2000" b="1">
                <a:latin typeface="Lora"/>
                <a:ea typeface="Lora"/>
                <a:cs typeface="Lora"/>
                <a:sym typeface="Lora"/>
              </a:defRPr>
            </a:lvl2pPr>
            <a:lvl3pPr rtl="0">
              <a:spcBef>
                <a:spcPts val="0"/>
              </a:spcBef>
              <a:buSzPct val="100000"/>
              <a:buFont typeface="Lora"/>
              <a:buNone/>
              <a:defRPr sz="2000" b="1">
                <a:latin typeface="Lora"/>
                <a:ea typeface="Lora"/>
                <a:cs typeface="Lora"/>
                <a:sym typeface="Lora"/>
              </a:defRPr>
            </a:lvl3pPr>
            <a:lvl4pPr rtl="0">
              <a:spcBef>
                <a:spcPts val="0"/>
              </a:spcBef>
              <a:buSzPct val="100000"/>
              <a:buFont typeface="Lora"/>
              <a:buNone/>
              <a:defRPr sz="2000" b="1">
                <a:latin typeface="Lora"/>
                <a:ea typeface="Lora"/>
                <a:cs typeface="Lora"/>
                <a:sym typeface="Lora"/>
              </a:defRPr>
            </a:lvl4pPr>
            <a:lvl5pPr rtl="0">
              <a:spcBef>
                <a:spcPts val="0"/>
              </a:spcBef>
              <a:buSzPct val="100000"/>
              <a:buFont typeface="Lora"/>
              <a:buNone/>
              <a:defRPr sz="2000" b="1">
                <a:latin typeface="Lora"/>
                <a:ea typeface="Lora"/>
                <a:cs typeface="Lora"/>
                <a:sym typeface="Lora"/>
              </a:defRPr>
            </a:lvl5pPr>
            <a:lvl6pPr rtl="0">
              <a:spcBef>
                <a:spcPts val="0"/>
              </a:spcBef>
              <a:buSzPct val="100000"/>
              <a:buFont typeface="Lora"/>
              <a:buNone/>
              <a:defRPr sz="2000" b="1">
                <a:latin typeface="Lora"/>
                <a:ea typeface="Lora"/>
                <a:cs typeface="Lora"/>
                <a:sym typeface="Lora"/>
              </a:defRPr>
            </a:lvl6pPr>
            <a:lvl7pPr rtl="0">
              <a:spcBef>
                <a:spcPts val="0"/>
              </a:spcBef>
              <a:buSzPct val="100000"/>
              <a:buFont typeface="Lora"/>
              <a:buNone/>
              <a:defRPr sz="2000" b="1">
                <a:latin typeface="Lora"/>
                <a:ea typeface="Lora"/>
                <a:cs typeface="Lora"/>
                <a:sym typeface="Lora"/>
              </a:defRPr>
            </a:lvl7pPr>
            <a:lvl8pPr rtl="0">
              <a:spcBef>
                <a:spcPts val="0"/>
              </a:spcBef>
              <a:buSzPct val="100000"/>
              <a:buFont typeface="Lora"/>
              <a:buNone/>
              <a:defRPr sz="2000" b="1">
                <a:latin typeface="Lora"/>
                <a:ea typeface="Lora"/>
                <a:cs typeface="Lora"/>
                <a:sym typeface="Lora"/>
              </a:defRPr>
            </a:lvl8pPr>
            <a:lvl9pPr rtl="0">
              <a:spcBef>
                <a:spcPts val="0"/>
              </a:spcBef>
              <a:buSzPct val="100000"/>
              <a:buFont typeface="Lora"/>
              <a:buNone/>
              <a:defRPr sz="2000" b="1">
                <a:latin typeface="Lora"/>
                <a:ea typeface="Lora"/>
                <a:cs typeface="Lora"/>
                <a:sym typeface="Lora"/>
              </a:defRPr>
            </a:lvl9pPr>
          </a:lstStyle>
          <a:p>
            <a:pPr algn="ctr"/>
            <a:r>
              <a:rPr lang="en" sz="6600" b="0" dirty="0" smtClean="0">
                <a:latin typeface="Arial" panose="020B0604020202020204" pitchFamily="34" charset="0"/>
                <a:cs typeface="Arial" panose="020B0604020202020204" pitchFamily="34" charset="0"/>
              </a:rPr>
              <a:t>9-10 Agustus 2016</a:t>
            </a:r>
            <a:endParaRPr lang="en" sz="6600" b="0" dirty="0">
              <a:latin typeface="Arial" panose="020B0604020202020204" pitchFamily="34" charset="0"/>
              <a:cs typeface="Arial" panose="020B0604020202020204" pitchFamily="34" charset="0"/>
            </a:endParaRPr>
          </a:p>
        </p:txBody>
      </p:sp>
      <p:sp>
        <p:nvSpPr>
          <p:cNvPr id="3" name="TextBox 2"/>
          <p:cNvSpPr txBox="1"/>
          <p:nvPr/>
        </p:nvSpPr>
        <p:spPr>
          <a:xfrm>
            <a:off x="1045171" y="2183622"/>
            <a:ext cx="3463035" cy="369332"/>
          </a:xfrm>
          <a:prstGeom prst="rect">
            <a:avLst/>
          </a:prstGeom>
          <a:noFill/>
        </p:spPr>
        <p:txBody>
          <a:bodyPr wrap="square" rtlCol="0">
            <a:spAutoFit/>
          </a:bodyPr>
          <a:lstStyle/>
          <a:p>
            <a:r>
              <a:rPr lang="en-US" sz="1800" dirty="0" err="1" smtClean="0">
                <a:latin typeface="Lora"/>
              </a:rPr>
              <a:t>Tanggal</a:t>
            </a:r>
            <a:r>
              <a:rPr lang="en-US" sz="1800" dirty="0" smtClean="0">
                <a:latin typeface="Lora"/>
              </a:rPr>
              <a:t> </a:t>
            </a:r>
            <a:r>
              <a:rPr lang="en-US" sz="1800" dirty="0" err="1" smtClean="0">
                <a:latin typeface="Lora"/>
              </a:rPr>
              <a:t>Rencana</a:t>
            </a:r>
            <a:r>
              <a:rPr lang="en-US" sz="1800" dirty="0" smtClean="0">
                <a:latin typeface="Lora"/>
              </a:rPr>
              <a:t> </a:t>
            </a:r>
            <a:r>
              <a:rPr lang="en-US" sz="1800" dirty="0" err="1" smtClean="0">
                <a:latin typeface="Lora"/>
              </a:rPr>
              <a:t>Pelaksanaan</a:t>
            </a:r>
            <a:r>
              <a:rPr lang="en-US" sz="1800" dirty="0" smtClean="0">
                <a:latin typeface="Lora"/>
              </a:rPr>
              <a:t>:</a:t>
            </a:r>
            <a:endParaRPr lang="id-ID" sz="1800" dirty="0">
              <a:latin typeface="Lora"/>
            </a:endParaRPr>
          </a:p>
        </p:txBody>
      </p:sp>
    </p:spTree>
    <p:extLst>
      <p:ext uri="{BB962C8B-B14F-4D97-AF65-F5344CB8AC3E}">
        <p14:creationId xmlns:p14="http://schemas.microsoft.com/office/powerpoint/2010/main" val="2565811659"/>
      </p:ext>
    </p:extLst>
  </p:cSld>
  <p:clrMapOvr>
    <a:masterClrMapping/>
  </p:clrMapOvr>
  <p:transition spd="slow">
    <p:cu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4" name="Rectangle 13"/>
          <p:cNvSpPr/>
          <p:nvPr/>
        </p:nvSpPr>
        <p:spPr>
          <a:xfrm>
            <a:off x="5103628" y="924720"/>
            <a:ext cx="1286539" cy="4355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7" name="Shape 107"/>
          <p:cNvSpPr txBox="1">
            <a:spLocks noGrp="1"/>
          </p:cNvSpPr>
          <p:nvPr>
            <p:ph type="title"/>
          </p:nvPr>
        </p:nvSpPr>
        <p:spPr>
          <a:xfrm>
            <a:off x="1381251" y="924720"/>
            <a:ext cx="5008916" cy="435599"/>
          </a:xfrm>
          <a:prstGeom prst="rect">
            <a:avLst/>
          </a:prstGeom>
        </p:spPr>
        <p:txBody>
          <a:bodyPr lIns="91425" tIns="91425" rIns="91425" bIns="91425" anchor="ctr" anchorCtr="0">
            <a:noAutofit/>
          </a:bodyPr>
          <a:lstStyle/>
          <a:p>
            <a:r>
              <a:rPr lang="en-US" dirty="0" err="1"/>
              <a:t>Mengunggah</a:t>
            </a:r>
            <a:r>
              <a:rPr lang="en-US" dirty="0"/>
              <a:t> </a:t>
            </a:r>
            <a:r>
              <a:rPr lang="en-US" dirty="0" err="1"/>
              <a:t>tabel</a:t>
            </a:r>
            <a:r>
              <a:rPr lang="en-US" dirty="0"/>
              <a:t> </a:t>
            </a:r>
            <a:r>
              <a:rPr lang="en-US" dirty="0" err="1" smtClean="0"/>
              <a:t>dinamis</a:t>
            </a:r>
            <a:r>
              <a:rPr lang="en-US" dirty="0" smtClean="0"/>
              <a:t> </a:t>
            </a:r>
            <a:r>
              <a:rPr lang="en-US" dirty="0" err="1"/>
              <a:t>ke</a:t>
            </a:r>
            <a:r>
              <a:rPr lang="en-US" dirty="0"/>
              <a:t> Website</a:t>
            </a:r>
            <a:endParaRPr lang="en" dirty="0"/>
          </a:p>
        </p:txBody>
      </p:sp>
      <p:sp>
        <p:nvSpPr>
          <p:cNvPr id="108" name="Shape 108"/>
          <p:cNvSpPr txBox="1">
            <a:spLocks noGrp="1"/>
          </p:cNvSpPr>
          <p:nvPr>
            <p:ph type="body" idx="1"/>
          </p:nvPr>
        </p:nvSpPr>
        <p:spPr>
          <a:xfrm>
            <a:off x="-1" y="1450099"/>
            <a:ext cx="6528391" cy="559454"/>
          </a:xfrm>
          <a:prstGeom prst="rect">
            <a:avLst/>
          </a:prstGeom>
        </p:spPr>
        <p:txBody>
          <a:bodyPr lIns="91425" tIns="91425" rIns="91425" bIns="91425" anchor="t" anchorCtr="0">
            <a:noAutofit/>
          </a:bodyPr>
          <a:lstStyle/>
          <a:p>
            <a:pPr marL="228600" lvl="0">
              <a:spcBef>
                <a:spcPts val="0"/>
              </a:spcBef>
              <a:buNone/>
            </a:pPr>
            <a:r>
              <a:rPr lang="en-US" dirty="0" err="1" smtClean="0"/>
              <a:t>Nilai-nilai</a:t>
            </a:r>
            <a:r>
              <a:rPr lang="en-US" dirty="0" smtClean="0"/>
              <a:t> ANEKA </a:t>
            </a:r>
            <a:r>
              <a:rPr lang="en-US" dirty="0" err="1" smtClean="0"/>
              <a:t>akan</a:t>
            </a:r>
            <a:r>
              <a:rPr lang="en-US" dirty="0" smtClean="0"/>
              <a:t> </a:t>
            </a:r>
            <a:r>
              <a:rPr lang="en-US" dirty="0" err="1" smtClean="0"/>
              <a:t>diaktualisasikan</a:t>
            </a:r>
            <a:endParaRPr lang="id-ID"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1"/>
              <a:ext cx="188176" cy="188149"/>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384830" y="2192205"/>
            <a:ext cx="3549216" cy="163323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endParaRPr lang="en" sz="1400" dirty="0"/>
          </a:p>
        </p:txBody>
      </p:sp>
      <p:sp>
        <p:nvSpPr>
          <p:cNvPr id="11" name="Shape 151"/>
          <p:cNvSpPr txBox="1">
            <a:spLocks/>
          </p:cNvSpPr>
          <p:nvPr/>
        </p:nvSpPr>
        <p:spPr>
          <a:xfrm>
            <a:off x="1131082" y="2099333"/>
            <a:ext cx="2333999" cy="2164323"/>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buNone/>
            </a:pPr>
            <a:r>
              <a:rPr lang="en-US" sz="1400" b="1" dirty="0" err="1" smtClean="0"/>
              <a:t>Akuntabilitas</a:t>
            </a:r>
            <a:r>
              <a:rPr lang="en-US" sz="1400" b="1" dirty="0"/>
              <a:t>:</a:t>
            </a:r>
            <a:endParaRPr lang="id-ID" sz="1400" dirty="0"/>
          </a:p>
          <a:p>
            <a:pPr marL="285750" indent="-285750">
              <a:spcBef>
                <a:spcPts val="0"/>
              </a:spcBef>
            </a:pPr>
            <a:r>
              <a:rPr lang="en-US" sz="1400" dirty="0" err="1">
                <a:sym typeface="Arial"/>
              </a:rPr>
              <a:t>Kejelasan</a:t>
            </a:r>
            <a:endParaRPr lang="id-ID" sz="1400" dirty="0">
              <a:sym typeface="Arial"/>
            </a:endParaRPr>
          </a:p>
          <a:p>
            <a:pPr marL="285750" indent="-285750">
              <a:spcBef>
                <a:spcPts val="0"/>
              </a:spcBef>
            </a:pPr>
            <a:r>
              <a:rPr lang="en-US" sz="1400" dirty="0" err="1">
                <a:sym typeface="Arial"/>
              </a:rPr>
              <a:t>Penggunaan</a:t>
            </a:r>
            <a:r>
              <a:rPr lang="en-US" sz="1400" dirty="0">
                <a:sym typeface="Arial"/>
              </a:rPr>
              <a:t> </a:t>
            </a:r>
            <a:r>
              <a:rPr lang="en-US" sz="1400" dirty="0" err="1">
                <a:sym typeface="Arial"/>
              </a:rPr>
              <a:t>sumber</a:t>
            </a:r>
            <a:r>
              <a:rPr lang="en-US" sz="1400" dirty="0">
                <a:sym typeface="Arial"/>
              </a:rPr>
              <a:t> </a:t>
            </a:r>
            <a:r>
              <a:rPr lang="en-US" sz="1400" dirty="0" err="1">
                <a:sym typeface="Arial"/>
              </a:rPr>
              <a:t>daya</a:t>
            </a:r>
            <a:r>
              <a:rPr lang="en-US" sz="1400" dirty="0">
                <a:sym typeface="Arial"/>
              </a:rPr>
              <a:t> yang </a:t>
            </a:r>
            <a:r>
              <a:rPr lang="en-US" sz="1400" dirty="0" err="1">
                <a:sym typeface="Arial"/>
              </a:rPr>
              <a:t>efektif</a:t>
            </a:r>
            <a:endParaRPr lang="id-ID" sz="1400" dirty="0">
              <a:sym typeface="Arial"/>
            </a:endParaRPr>
          </a:p>
          <a:p>
            <a:pPr marL="285750" indent="-285750">
              <a:spcBef>
                <a:spcPts val="0"/>
              </a:spcBef>
            </a:pPr>
            <a:r>
              <a:rPr lang="en-US" sz="1400" dirty="0" err="1">
                <a:sym typeface="Arial"/>
              </a:rPr>
              <a:t>laporan</a:t>
            </a:r>
            <a:endParaRPr lang="id-ID" sz="1400" dirty="0">
              <a:sym typeface="Arial"/>
            </a:endParaRPr>
          </a:p>
        </p:txBody>
      </p:sp>
      <p:sp>
        <p:nvSpPr>
          <p:cNvPr id="12" name="Shape 152"/>
          <p:cNvSpPr txBox="1">
            <a:spLocks/>
          </p:cNvSpPr>
          <p:nvPr/>
        </p:nvSpPr>
        <p:spPr>
          <a:xfrm>
            <a:off x="3584743" y="2099333"/>
            <a:ext cx="2333999" cy="2164323"/>
          </a:xfrm>
          <a:prstGeom prst="rect">
            <a:avLst/>
          </a:prstGeom>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r>
              <a:rPr lang="en-US" b="1" dirty="0" err="1" smtClean="0"/>
              <a:t>Nasionalisme</a:t>
            </a:r>
            <a:r>
              <a:rPr lang="en-US" b="1" dirty="0"/>
              <a:t>:</a:t>
            </a:r>
            <a:endParaRPr lang="id-ID" dirty="0"/>
          </a:p>
          <a:p>
            <a:pPr marL="285750" indent="-285750">
              <a:buClr>
                <a:srgbClr val="FFCD00"/>
              </a:buClr>
              <a:buSzPct val="100000"/>
              <a:buFont typeface="Quattrocento Sans"/>
              <a:buChar char="◉"/>
            </a:pPr>
            <a:r>
              <a:rPr lang="en-US" dirty="0" err="1" smtClean="0">
                <a:latin typeface="Quattrocento Sans"/>
                <a:ea typeface="Quattrocento Sans"/>
                <a:cs typeface="Quattrocento Sans"/>
              </a:rPr>
              <a:t>Takwa</a:t>
            </a:r>
            <a:endParaRPr lang="en-US" dirty="0" smtClean="0">
              <a:latin typeface="Quattrocento Sans"/>
              <a:ea typeface="Quattrocento Sans"/>
              <a:cs typeface="Quattrocento Sans"/>
            </a:endParaRPr>
          </a:p>
          <a:p>
            <a:pPr marL="285750" indent="-285750">
              <a:buClr>
                <a:srgbClr val="FFCD00"/>
              </a:buClr>
              <a:buSzPct val="100000"/>
              <a:buFont typeface="Quattrocento Sans"/>
              <a:buChar char="◉"/>
            </a:pPr>
            <a:r>
              <a:rPr lang="en-US" dirty="0" err="1" smtClean="0"/>
              <a:t>Ikhlas</a:t>
            </a:r>
            <a:endParaRPr lang="en-US" dirty="0" smtClean="0"/>
          </a:p>
          <a:p>
            <a:pPr marL="285750" indent="-285750">
              <a:buClr>
                <a:srgbClr val="FFCD00"/>
              </a:buClr>
              <a:buSzPct val="100000"/>
              <a:buFont typeface="Quattrocento Sans"/>
              <a:buChar char="◉"/>
            </a:pPr>
            <a:r>
              <a:rPr lang="en-US" dirty="0" err="1" smtClean="0"/>
              <a:t>Rela</a:t>
            </a:r>
            <a:r>
              <a:rPr lang="en-US" dirty="0" smtClean="0"/>
              <a:t> </a:t>
            </a:r>
            <a:r>
              <a:rPr lang="en-US" dirty="0" err="1"/>
              <a:t>berkoban</a:t>
            </a:r>
            <a:endParaRPr lang="id-ID" dirty="0"/>
          </a:p>
          <a:p>
            <a:pPr lvl="0"/>
            <a:endParaRPr lang="id-ID" dirty="0"/>
          </a:p>
          <a:p>
            <a:r>
              <a:rPr lang="en-US" b="1" dirty="0" err="1"/>
              <a:t>Etika</a:t>
            </a:r>
            <a:r>
              <a:rPr lang="en-US" b="1" dirty="0"/>
              <a:t> </a:t>
            </a:r>
            <a:r>
              <a:rPr lang="en-US" b="1" dirty="0" err="1"/>
              <a:t>Publik</a:t>
            </a:r>
            <a:r>
              <a:rPr lang="en-US" b="1" dirty="0"/>
              <a:t>:</a:t>
            </a:r>
            <a:endParaRPr lang="id-ID" dirty="0"/>
          </a:p>
          <a:p>
            <a:pPr marL="285750" lvl="0" indent="-285750">
              <a:buClr>
                <a:srgbClr val="FFCD00"/>
              </a:buClr>
              <a:buSzPct val="100000"/>
              <a:buFont typeface="Quattrocento Sans"/>
              <a:buChar char="◉"/>
            </a:pPr>
            <a:r>
              <a:rPr lang="en-US" dirty="0" err="1" smtClean="0"/>
              <a:t>Keahlian</a:t>
            </a:r>
            <a:r>
              <a:rPr lang="en-US" dirty="0" smtClean="0"/>
              <a:t> professional</a:t>
            </a:r>
          </a:p>
          <a:p>
            <a:pPr marL="285750" lvl="0" indent="-285750">
              <a:buClr>
                <a:srgbClr val="FFCD00"/>
              </a:buClr>
              <a:buSzPct val="100000"/>
              <a:buFont typeface="Quattrocento Sans"/>
              <a:buChar char="◉"/>
            </a:pPr>
            <a:r>
              <a:rPr lang="en-US" dirty="0" err="1" smtClean="0"/>
              <a:t>Menyelesaikan</a:t>
            </a:r>
            <a:r>
              <a:rPr lang="en-US" dirty="0" smtClean="0"/>
              <a:t> </a:t>
            </a:r>
            <a:r>
              <a:rPr lang="en-US" dirty="0" err="1"/>
              <a:t>tugas</a:t>
            </a:r>
            <a:r>
              <a:rPr lang="en-US" dirty="0"/>
              <a:t> </a:t>
            </a:r>
            <a:r>
              <a:rPr lang="en-US" dirty="0" err="1"/>
              <a:t>dengan</a:t>
            </a:r>
            <a:r>
              <a:rPr lang="en-US" dirty="0"/>
              <a:t> </a:t>
            </a:r>
            <a:r>
              <a:rPr lang="en-US" dirty="0" err="1"/>
              <a:t>baik</a:t>
            </a:r>
            <a:endParaRPr lang="id-ID" dirty="0"/>
          </a:p>
          <a:p>
            <a:pPr marL="285750" lvl="0" indent="-285750">
              <a:buClr>
                <a:srgbClr val="FFCD00"/>
              </a:buClr>
              <a:buSzPct val="100000"/>
              <a:buFont typeface="Quattrocento Sans"/>
              <a:buChar char="◉"/>
            </a:pPr>
            <a:endParaRPr lang="en" dirty="0">
              <a:latin typeface="Quattrocento Sans"/>
              <a:ea typeface="Quattrocento Sans"/>
              <a:cs typeface="Quattrocento Sans"/>
              <a:sym typeface="Quattrocento Sans"/>
            </a:endParaRPr>
          </a:p>
        </p:txBody>
      </p:sp>
      <p:sp>
        <p:nvSpPr>
          <p:cNvPr id="13" name="Shape 153"/>
          <p:cNvSpPr txBox="1">
            <a:spLocks/>
          </p:cNvSpPr>
          <p:nvPr/>
        </p:nvSpPr>
        <p:spPr>
          <a:xfrm>
            <a:off x="6038405" y="2099333"/>
            <a:ext cx="2659028" cy="1983569"/>
          </a:xfrm>
          <a:prstGeom prst="rect">
            <a:avLst/>
          </a:prstGeom>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r>
              <a:rPr lang="en-US" b="1" dirty="0" err="1"/>
              <a:t>Komitmen</a:t>
            </a:r>
            <a:r>
              <a:rPr lang="en-US" b="1" dirty="0"/>
              <a:t> </a:t>
            </a:r>
            <a:r>
              <a:rPr lang="en-US" b="1" dirty="0" err="1"/>
              <a:t>Mutu</a:t>
            </a:r>
            <a:r>
              <a:rPr lang="en-US" b="1" dirty="0"/>
              <a:t>:</a:t>
            </a:r>
            <a:endParaRPr lang="id-ID" dirty="0"/>
          </a:p>
          <a:p>
            <a:pPr marL="285750" indent="-285750">
              <a:buClr>
                <a:srgbClr val="FFCD00"/>
              </a:buClr>
              <a:buSzPct val="100000"/>
              <a:buFont typeface="Quattrocento Sans"/>
              <a:buChar char="◉"/>
            </a:pPr>
            <a:r>
              <a:rPr lang="en-US" dirty="0" err="1" smtClean="0">
                <a:latin typeface="Quattrocento Sans"/>
                <a:ea typeface="Quattrocento Sans"/>
                <a:cs typeface="Quattrocento Sans"/>
              </a:rPr>
              <a:t>Efisien</a:t>
            </a:r>
            <a:endParaRPr lang="en-US" dirty="0" smtClean="0">
              <a:latin typeface="Quattrocento Sans"/>
              <a:ea typeface="Quattrocento Sans"/>
              <a:cs typeface="Quattrocento Sans"/>
            </a:endParaRPr>
          </a:p>
          <a:p>
            <a:pPr marL="285750" indent="-285750">
              <a:buClr>
                <a:srgbClr val="FFCD00"/>
              </a:buClr>
              <a:buSzPct val="100000"/>
              <a:buFont typeface="Quattrocento Sans"/>
              <a:buChar char="◉"/>
            </a:pPr>
            <a:r>
              <a:rPr lang="en-US" dirty="0" err="1" smtClean="0"/>
              <a:t>Efektif</a:t>
            </a:r>
            <a:endParaRPr lang="en-US" dirty="0" smtClean="0"/>
          </a:p>
          <a:p>
            <a:pPr marL="285750" indent="-285750">
              <a:buClr>
                <a:srgbClr val="FFCD00"/>
              </a:buClr>
              <a:buSzPct val="100000"/>
              <a:buFont typeface="Quattrocento Sans"/>
              <a:buChar char="◉"/>
            </a:pPr>
            <a:endParaRPr lang="id-ID" dirty="0" smtClean="0">
              <a:latin typeface="Quattrocento Sans"/>
              <a:ea typeface="Quattrocento Sans"/>
              <a:cs typeface="Quattrocento Sans"/>
            </a:endParaRPr>
          </a:p>
          <a:p>
            <a:r>
              <a:rPr lang="en-US" b="1" dirty="0" smtClean="0"/>
              <a:t>Anti </a:t>
            </a:r>
            <a:r>
              <a:rPr lang="en-US" b="1" dirty="0" err="1"/>
              <a:t>Korupsi</a:t>
            </a:r>
            <a:r>
              <a:rPr lang="en-US" b="1" dirty="0"/>
              <a:t>:</a:t>
            </a:r>
            <a:endParaRPr lang="id-ID" dirty="0"/>
          </a:p>
          <a:p>
            <a:pPr marL="285750" indent="-285750">
              <a:buClr>
                <a:srgbClr val="FFCD00"/>
              </a:buClr>
              <a:buSzPct val="100000"/>
              <a:buFont typeface="Quattrocento Sans"/>
              <a:buChar char="◉"/>
            </a:pPr>
            <a:r>
              <a:rPr lang="en-US" dirty="0" err="1" smtClean="0">
                <a:latin typeface="Quattrocento Sans"/>
                <a:ea typeface="Quattrocento Sans"/>
                <a:cs typeface="Quattrocento Sans"/>
              </a:rPr>
              <a:t>Berani</a:t>
            </a:r>
            <a:endParaRPr lang="en-US" dirty="0">
              <a:latin typeface="Quattrocento Sans"/>
              <a:ea typeface="Quattrocento Sans"/>
              <a:cs typeface="Quattrocento Sans"/>
            </a:endParaRPr>
          </a:p>
        </p:txBody>
      </p:sp>
    </p:spTree>
    <p:extLst>
      <p:ext uri="{BB962C8B-B14F-4D97-AF65-F5344CB8AC3E}">
        <p14:creationId xmlns:p14="http://schemas.microsoft.com/office/powerpoint/2010/main" val="4197875902"/>
      </p:ext>
    </p:extLst>
  </p:cSld>
  <p:clrMapOvr>
    <a:masterClrMapping/>
  </p:clrMapOvr>
  <p:transition spd="slow">
    <p:cu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1" name="Rectangle 10"/>
          <p:cNvSpPr/>
          <p:nvPr/>
        </p:nvSpPr>
        <p:spPr>
          <a:xfrm>
            <a:off x="5103628" y="924720"/>
            <a:ext cx="1180214" cy="4355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7" name="Shape 107"/>
          <p:cNvSpPr txBox="1">
            <a:spLocks noGrp="1"/>
          </p:cNvSpPr>
          <p:nvPr>
            <p:ph type="title"/>
          </p:nvPr>
        </p:nvSpPr>
        <p:spPr>
          <a:xfrm>
            <a:off x="1381250" y="924720"/>
            <a:ext cx="4902592" cy="435599"/>
          </a:xfrm>
          <a:prstGeom prst="rect">
            <a:avLst/>
          </a:prstGeom>
        </p:spPr>
        <p:txBody>
          <a:bodyPr lIns="91425" tIns="91425" rIns="91425" bIns="91425" anchor="ctr" anchorCtr="0">
            <a:noAutofit/>
          </a:bodyPr>
          <a:lstStyle/>
          <a:p>
            <a:r>
              <a:rPr lang="en-US" dirty="0" err="1"/>
              <a:t>Mengunggah</a:t>
            </a:r>
            <a:r>
              <a:rPr lang="en-US" dirty="0"/>
              <a:t> </a:t>
            </a:r>
            <a:r>
              <a:rPr lang="en-US" dirty="0" err="1"/>
              <a:t>tabel</a:t>
            </a:r>
            <a:r>
              <a:rPr lang="en-US" dirty="0"/>
              <a:t> </a:t>
            </a:r>
            <a:r>
              <a:rPr lang="en-US" dirty="0" err="1" smtClean="0"/>
              <a:t>dinamis</a:t>
            </a:r>
            <a:r>
              <a:rPr lang="en-US" dirty="0" smtClean="0"/>
              <a:t> </a:t>
            </a:r>
            <a:r>
              <a:rPr lang="en-US" dirty="0" err="1"/>
              <a:t>ke</a:t>
            </a:r>
            <a:r>
              <a:rPr lang="en-US" dirty="0"/>
              <a:t> Website</a:t>
            </a:r>
            <a:endParaRPr lang="en" dirty="0"/>
          </a:p>
        </p:txBody>
      </p:sp>
      <p:sp>
        <p:nvSpPr>
          <p:cNvPr id="108" name="Shape 108"/>
          <p:cNvSpPr txBox="1">
            <a:spLocks noGrp="1"/>
          </p:cNvSpPr>
          <p:nvPr>
            <p:ph type="body" idx="1"/>
          </p:nvPr>
        </p:nvSpPr>
        <p:spPr>
          <a:xfrm>
            <a:off x="0" y="1450099"/>
            <a:ext cx="5883684" cy="559454"/>
          </a:xfrm>
          <a:prstGeom prst="rect">
            <a:avLst/>
          </a:prstGeom>
        </p:spPr>
        <p:txBody>
          <a:bodyPr lIns="91425" tIns="91425" rIns="91425" bIns="91425" anchor="t" anchorCtr="0">
            <a:noAutofit/>
          </a:bodyPr>
          <a:lstStyle/>
          <a:p>
            <a:pPr marL="228600" lvl="0">
              <a:spcBef>
                <a:spcPts val="0"/>
              </a:spcBef>
              <a:buNone/>
            </a:pPr>
            <a:r>
              <a:rPr lang="en-US" dirty="0" err="1" smtClean="0"/>
              <a:t>Contoh</a:t>
            </a:r>
            <a:r>
              <a:rPr lang="en-US" dirty="0" smtClean="0"/>
              <a:t> </a:t>
            </a:r>
            <a:r>
              <a:rPr lang="en-US" dirty="0" err="1" smtClean="0"/>
              <a:t>penerapannya</a:t>
            </a:r>
            <a:endParaRPr lang="id-ID"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916458" y="2353979"/>
            <a:ext cx="7153202" cy="1994737"/>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spcBef>
                <a:spcPts val="0"/>
              </a:spcBef>
              <a:buClr>
                <a:srgbClr val="000000"/>
              </a:buClr>
              <a:buNone/>
            </a:pPr>
            <a:r>
              <a:rPr lang="en-US" sz="1400" dirty="0" err="1" smtClean="0"/>
              <a:t>saya</a:t>
            </a:r>
            <a:r>
              <a:rPr lang="en-US" sz="1400" dirty="0" smtClean="0"/>
              <a:t> </a:t>
            </a:r>
            <a:r>
              <a:rPr lang="en-US" sz="1400" dirty="0" err="1"/>
              <a:t>akan</a:t>
            </a:r>
            <a:r>
              <a:rPr lang="en-US" sz="1400" dirty="0"/>
              <a:t> </a:t>
            </a:r>
            <a:r>
              <a:rPr lang="en-US" sz="1400" dirty="0" err="1"/>
              <a:t>menerima</a:t>
            </a:r>
            <a:r>
              <a:rPr lang="en-US" sz="1400" dirty="0"/>
              <a:t> </a:t>
            </a:r>
            <a:r>
              <a:rPr lang="en-US" sz="1400" dirty="0" err="1"/>
              <a:t>tugas</a:t>
            </a:r>
            <a:r>
              <a:rPr lang="en-US" sz="1400" dirty="0"/>
              <a:t> </a:t>
            </a:r>
            <a:r>
              <a:rPr lang="en-US" sz="1400" dirty="0" err="1"/>
              <a:t>dari</a:t>
            </a:r>
            <a:r>
              <a:rPr lang="en-US" sz="1400" dirty="0"/>
              <a:t> </a:t>
            </a:r>
            <a:r>
              <a:rPr lang="en-US" sz="1400" dirty="0" err="1"/>
              <a:t>atasan</a:t>
            </a:r>
            <a:r>
              <a:rPr lang="en-US" sz="1400" dirty="0"/>
              <a:t> </a:t>
            </a:r>
            <a:r>
              <a:rPr lang="en-US" sz="1400" dirty="0" err="1"/>
              <a:t>dengan</a:t>
            </a:r>
            <a:r>
              <a:rPr lang="en-US" sz="1400" dirty="0"/>
              <a:t> </a:t>
            </a:r>
            <a:r>
              <a:rPr lang="en-US" sz="1400" b="1" dirty="0" err="1"/>
              <a:t>ikhlas</a:t>
            </a:r>
            <a:r>
              <a:rPr lang="en-US" sz="1400" b="1" dirty="0"/>
              <a:t> </a:t>
            </a:r>
            <a:r>
              <a:rPr lang="en-US" sz="1400" dirty="0" err="1"/>
              <a:t>dan</a:t>
            </a:r>
            <a:r>
              <a:rPr lang="en-US" sz="1400" b="1" dirty="0"/>
              <a:t> </a:t>
            </a:r>
            <a:r>
              <a:rPr lang="en-US" sz="1400" b="1" dirty="0" err="1"/>
              <a:t>santun</a:t>
            </a:r>
            <a:r>
              <a:rPr lang="en-US" sz="1400" b="1" dirty="0"/>
              <a:t> </a:t>
            </a:r>
            <a:endParaRPr lang="en-US" sz="1400" b="1" dirty="0" smtClean="0"/>
          </a:p>
          <a:p>
            <a:pPr algn="ctr">
              <a:spcBef>
                <a:spcPts val="0"/>
              </a:spcBef>
              <a:buClr>
                <a:srgbClr val="000000"/>
              </a:buClr>
              <a:buNone/>
            </a:pPr>
            <a:r>
              <a:rPr lang="en-US" sz="1400" b="1" dirty="0" smtClean="0"/>
              <a:t>(</a:t>
            </a:r>
            <a:r>
              <a:rPr lang="en-US" sz="1400" b="1" dirty="0" err="1"/>
              <a:t>nasionalisme</a:t>
            </a:r>
            <a:r>
              <a:rPr lang="en-US" sz="1400" b="1" dirty="0"/>
              <a:t> &amp; </a:t>
            </a:r>
            <a:r>
              <a:rPr lang="en-US" sz="1400" b="1" dirty="0" err="1"/>
              <a:t>etika</a:t>
            </a:r>
            <a:r>
              <a:rPr lang="en-US" sz="1400" b="1" dirty="0"/>
              <a:t> </a:t>
            </a:r>
            <a:r>
              <a:rPr lang="en-US" sz="1400" b="1" dirty="0" err="1"/>
              <a:t>publik</a:t>
            </a:r>
            <a:r>
              <a:rPr lang="en-US" sz="1400" b="1" dirty="0"/>
              <a:t>)</a:t>
            </a:r>
            <a:r>
              <a:rPr lang="en-US" sz="1400" dirty="0"/>
              <a:t>. </a:t>
            </a:r>
            <a:endParaRPr lang="en-US" sz="1400" dirty="0" smtClean="0"/>
          </a:p>
          <a:p>
            <a:pPr algn="ctr">
              <a:spcBef>
                <a:spcPts val="0"/>
              </a:spcBef>
              <a:buClr>
                <a:srgbClr val="000000"/>
              </a:buClr>
              <a:buNone/>
            </a:pPr>
            <a:endParaRPr lang="en-US" sz="1400" dirty="0" smtClean="0"/>
          </a:p>
          <a:p>
            <a:pPr algn="ctr">
              <a:spcBef>
                <a:spcPts val="0"/>
              </a:spcBef>
              <a:buClr>
                <a:srgbClr val="000000"/>
              </a:buClr>
              <a:buNone/>
            </a:pPr>
            <a:r>
              <a:rPr lang="en-US" sz="1400" b="1" dirty="0" err="1" smtClean="0"/>
              <a:t>Ikhlas</a:t>
            </a:r>
            <a:r>
              <a:rPr lang="en-US" sz="1400" dirty="0" smtClean="0"/>
              <a:t> </a:t>
            </a:r>
            <a:r>
              <a:rPr lang="en-US" sz="1400" dirty="0" err="1" smtClean="0"/>
              <a:t>dengan</a:t>
            </a:r>
            <a:r>
              <a:rPr lang="en-US" sz="1400" dirty="0" smtClean="0"/>
              <a:t> </a:t>
            </a:r>
            <a:r>
              <a:rPr lang="en-US" sz="1400" dirty="0" err="1" smtClean="0"/>
              <a:t>cara</a:t>
            </a:r>
            <a:r>
              <a:rPr lang="en-US" sz="1400" dirty="0" smtClean="0"/>
              <a:t> </a:t>
            </a:r>
            <a:r>
              <a:rPr lang="en-US" sz="1400" dirty="0" err="1" smtClean="0"/>
              <a:t>tidak</a:t>
            </a:r>
            <a:r>
              <a:rPr lang="en-US" sz="1400" dirty="0" smtClean="0"/>
              <a:t> </a:t>
            </a:r>
            <a:r>
              <a:rPr lang="en-US" sz="1400" dirty="0" err="1" smtClean="0"/>
              <a:t>mengharap</a:t>
            </a:r>
            <a:r>
              <a:rPr lang="en-US" sz="1400" dirty="0" smtClean="0"/>
              <a:t> </a:t>
            </a:r>
            <a:r>
              <a:rPr lang="en-US" sz="1400" dirty="0" err="1" smtClean="0"/>
              <a:t>imbalan</a:t>
            </a:r>
            <a:r>
              <a:rPr lang="en-US" sz="1400" dirty="0" smtClean="0"/>
              <a:t> </a:t>
            </a:r>
            <a:r>
              <a:rPr lang="en-US" sz="1400" dirty="0" err="1" smtClean="0"/>
              <a:t>dalam</a:t>
            </a:r>
            <a:r>
              <a:rPr lang="en-US" sz="1400" dirty="0" smtClean="0"/>
              <a:t> </a:t>
            </a:r>
            <a:r>
              <a:rPr lang="en-US" sz="1400" dirty="0" err="1" smtClean="0"/>
              <a:t>apapun</a:t>
            </a:r>
            <a:r>
              <a:rPr lang="en-US" sz="1400" dirty="0" smtClean="0"/>
              <a:t>, </a:t>
            </a:r>
            <a:r>
              <a:rPr lang="en-US" sz="1400" dirty="0" err="1" smtClean="0"/>
              <a:t>baik</a:t>
            </a:r>
            <a:r>
              <a:rPr lang="en-US" sz="1400" dirty="0" smtClean="0"/>
              <a:t> </a:t>
            </a:r>
            <a:r>
              <a:rPr lang="en-US" sz="1400" dirty="0" err="1" smtClean="0"/>
              <a:t>materi</a:t>
            </a:r>
            <a:r>
              <a:rPr lang="en-US" sz="1400" dirty="0" smtClean="0"/>
              <a:t> </a:t>
            </a:r>
            <a:r>
              <a:rPr lang="en-US" sz="1400" dirty="0" err="1" smtClean="0"/>
              <a:t>ataupun</a:t>
            </a:r>
            <a:r>
              <a:rPr lang="en-US" sz="1400" dirty="0" smtClean="0"/>
              <a:t> </a:t>
            </a:r>
            <a:r>
              <a:rPr lang="en-US" sz="1400" dirty="0" err="1" smtClean="0"/>
              <a:t>pujian</a:t>
            </a:r>
            <a:r>
              <a:rPr lang="en-US" sz="1400" dirty="0" smtClean="0"/>
              <a:t>.</a:t>
            </a:r>
            <a:endParaRPr lang="en-US" sz="1400" dirty="0"/>
          </a:p>
        </p:txBody>
      </p:sp>
    </p:spTree>
    <p:extLst>
      <p:ext uri="{BB962C8B-B14F-4D97-AF65-F5344CB8AC3E}">
        <p14:creationId xmlns:p14="http://schemas.microsoft.com/office/powerpoint/2010/main" val="2822279171"/>
      </p:ext>
    </p:extLst>
  </p:cSld>
  <p:clrMapOvr>
    <a:masterClrMapping/>
  </p:clrMapOvr>
  <p:transition spd="slow">
    <p:cu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3" name="Rectangle 12"/>
          <p:cNvSpPr/>
          <p:nvPr/>
        </p:nvSpPr>
        <p:spPr>
          <a:xfrm>
            <a:off x="5103628" y="924720"/>
            <a:ext cx="1197558" cy="4355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7" name="Shape 107"/>
          <p:cNvSpPr txBox="1">
            <a:spLocks noGrp="1"/>
          </p:cNvSpPr>
          <p:nvPr>
            <p:ph type="title"/>
          </p:nvPr>
        </p:nvSpPr>
        <p:spPr>
          <a:xfrm>
            <a:off x="1381249" y="924720"/>
            <a:ext cx="5030183" cy="435599"/>
          </a:xfrm>
          <a:prstGeom prst="rect">
            <a:avLst/>
          </a:prstGeom>
        </p:spPr>
        <p:txBody>
          <a:bodyPr lIns="91425" tIns="91425" rIns="91425" bIns="91425" anchor="ctr" anchorCtr="0">
            <a:noAutofit/>
          </a:bodyPr>
          <a:lstStyle/>
          <a:p>
            <a:r>
              <a:rPr lang="en-US" dirty="0" err="1"/>
              <a:t>Mengunggah</a:t>
            </a:r>
            <a:r>
              <a:rPr lang="en-US" dirty="0"/>
              <a:t> </a:t>
            </a:r>
            <a:r>
              <a:rPr lang="en-US" dirty="0" err="1"/>
              <a:t>tabel</a:t>
            </a:r>
            <a:r>
              <a:rPr lang="en-US" dirty="0"/>
              <a:t> </a:t>
            </a:r>
            <a:r>
              <a:rPr lang="en-US" dirty="0" err="1" smtClean="0"/>
              <a:t>dinamis</a:t>
            </a:r>
            <a:r>
              <a:rPr lang="en-US" dirty="0" smtClean="0"/>
              <a:t> </a:t>
            </a:r>
            <a:r>
              <a:rPr lang="en-US" dirty="0" err="1"/>
              <a:t>ke</a:t>
            </a:r>
            <a:r>
              <a:rPr lang="en-US" dirty="0"/>
              <a:t> Website</a:t>
            </a:r>
            <a:endParaRPr lang="en" dirty="0"/>
          </a:p>
        </p:txBody>
      </p:sp>
      <p:sp>
        <p:nvSpPr>
          <p:cNvPr id="108" name="Shape 108"/>
          <p:cNvSpPr txBox="1">
            <a:spLocks noGrp="1"/>
          </p:cNvSpPr>
          <p:nvPr>
            <p:ph type="body" idx="1"/>
          </p:nvPr>
        </p:nvSpPr>
        <p:spPr>
          <a:xfrm>
            <a:off x="1381250" y="1567753"/>
            <a:ext cx="1867376" cy="559454"/>
          </a:xfrm>
          <a:prstGeom prst="rect">
            <a:avLst/>
          </a:prstGeom>
        </p:spPr>
        <p:txBody>
          <a:bodyPr lIns="91425" tIns="91425" rIns="91425" bIns="91425" anchor="t" anchorCtr="0">
            <a:noAutofit/>
          </a:bodyPr>
          <a:lstStyle/>
          <a:p>
            <a:pPr marL="228600" lvl="0">
              <a:spcBef>
                <a:spcPts val="0"/>
              </a:spcBef>
              <a:buNone/>
            </a:pPr>
            <a:r>
              <a:rPr lang="en-US" b="1" dirty="0" err="1" smtClean="0"/>
              <a:t>Kendala</a:t>
            </a:r>
            <a:endParaRPr lang="fi-FI"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916458" y="2353979"/>
            <a:ext cx="7026063" cy="750728"/>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85750" indent="-285750"/>
            <a:r>
              <a:rPr lang="en-US" sz="1400" dirty="0" err="1"/>
              <a:t>Gangguan</a:t>
            </a:r>
            <a:r>
              <a:rPr lang="en-US" sz="1400" dirty="0"/>
              <a:t> </a:t>
            </a:r>
            <a:r>
              <a:rPr lang="en-US" sz="1400" dirty="0" err="1"/>
              <a:t>koneksi</a:t>
            </a:r>
            <a:r>
              <a:rPr lang="en-US" sz="1400" dirty="0"/>
              <a:t> </a:t>
            </a:r>
            <a:r>
              <a:rPr lang="en-US" sz="1400" dirty="0" smtClean="0"/>
              <a:t>internet</a:t>
            </a:r>
            <a:endParaRPr lang="id-ID" sz="1400" dirty="0"/>
          </a:p>
        </p:txBody>
      </p:sp>
      <p:sp>
        <p:nvSpPr>
          <p:cNvPr id="11" name="Shape 96"/>
          <p:cNvSpPr txBox="1">
            <a:spLocks/>
          </p:cNvSpPr>
          <p:nvPr/>
        </p:nvSpPr>
        <p:spPr>
          <a:xfrm>
            <a:off x="1381250" y="3591868"/>
            <a:ext cx="7026063" cy="1012997"/>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85750" indent="-285750"/>
            <a:r>
              <a:rPr lang="en-US" sz="1400" dirty="0" err="1"/>
              <a:t>Menggunakan</a:t>
            </a:r>
            <a:r>
              <a:rPr lang="en-US" sz="1400" dirty="0"/>
              <a:t> </a:t>
            </a:r>
            <a:r>
              <a:rPr lang="en-US" sz="1400" dirty="0" err="1"/>
              <a:t>fasilitas</a:t>
            </a:r>
            <a:r>
              <a:rPr lang="en-US" sz="1400" dirty="0"/>
              <a:t> internet </a:t>
            </a:r>
            <a:r>
              <a:rPr lang="en-US" sz="1400" dirty="0" err="1"/>
              <a:t>pribadi</a:t>
            </a:r>
            <a:endParaRPr lang="en-US" sz="1400" dirty="0" smtClean="0"/>
          </a:p>
        </p:txBody>
      </p:sp>
      <p:sp>
        <p:nvSpPr>
          <p:cNvPr id="12" name="Shape 108"/>
          <p:cNvSpPr txBox="1">
            <a:spLocks/>
          </p:cNvSpPr>
          <p:nvPr/>
        </p:nvSpPr>
        <p:spPr>
          <a:xfrm>
            <a:off x="3689498" y="3032414"/>
            <a:ext cx="3880884" cy="559454"/>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28600">
              <a:spcBef>
                <a:spcPts val="0"/>
              </a:spcBef>
              <a:buFont typeface="Quattrocento Sans"/>
              <a:buNone/>
            </a:pPr>
            <a:r>
              <a:rPr lang="en-US" b="1" dirty="0" err="1" smtClean="0"/>
              <a:t>Rencana</a:t>
            </a:r>
            <a:r>
              <a:rPr lang="en-US" b="1" dirty="0" smtClean="0"/>
              <a:t> </a:t>
            </a:r>
            <a:r>
              <a:rPr lang="en-US" b="1" dirty="0" err="1" smtClean="0"/>
              <a:t>Antisipasi</a:t>
            </a:r>
            <a:endParaRPr lang="fi-FI" dirty="0"/>
          </a:p>
        </p:txBody>
      </p:sp>
      <p:sp>
        <p:nvSpPr>
          <p:cNvPr id="3" name="U-Turn Arrow 2"/>
          <p:cNvSpPr/>
          <p:nvPr/>
        </p:nvSpPr>
        <p:spPr>
          <a:xfrm rot="5400000">
            <a:off x="4901607" y="-120126"/>
            <a:ext cx="1743739" cy="5507663"/>
          </a:xfrm>
          <a:prstGeom prst="uturnArrow">
            <a:avLst>
              <a:gd name="adj1" fmla="val 11284"/>
              <a:gd name="adj2" fmla="val 11449"/>
              <a:gd name="adj3" fmla="val 0"/>
              <a:gd name="adj4" fmla="val 47097"/>
              <a:gd name="adj5" fmla="val 26051"/>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id-ID">
              <a:solidFill>
                <a:schemeClr val="tx1"/>
              </a:solidFill>
            </a:endParaRPr>
          </a:p>
        </p:txBody>
      </p:sp>
    </p:spTree>
    <p:extLst>
      <p:ext uri="{BB962C8B-B14F-4D97-AF65-F5344CB8AC3E}">
        <p14:creationId xmlns:p14="http://schemas.microsoft.com/office/powerpoint/2010/main" val="393365703"/>
      </p:ext>
    </p:extLst>
  </p:cSld>
  <p:clrMapOvr>
    <a:masterClrMapping/>
  </p:clrMapOvr>
  <p:transition spd="slow">
    <p:cu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Rectangle 1"/>
          <p:cNvSpPr/>
          <p:nvPr/>
        </p:nvSpPr>
        <p:spPr>
          <a:xfrm>
            <a:off x="5411972" y="2291149"/>
            <a:ext cx="3419104" cy="562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n>
                <a:solidFill>
                  <a:schemeClr val="bg1"/>
                </a:solidFill>
              </a:ln>
              <a:solidFill>
                <a:schemeClr val="bg1"/>
              </a:solidFill>
            </a:endParaRPr>
          </a:p>
        </p:txBody>
      </p:sp>
      <p:sp>
        <p:nvSpPr>
          <p:cNvPr id="95" name="Shape 95"/>
          <p:cNvSpPr txBox="1">
            <a:spLocks noGrp="1"/>
          </p:cNvSpPr>
          <p:nvPr>
            <p:ph type="ctrTitle"/>
          </p:nvPr>
        </p:nvSpPr>
        <p:spPr>
          <a:xfrm>
            <a:off x="1993196" y="1711250"/>
            <a:ext cx="7044478" cy="1159799"/>
          </a:xfrm>
          <a:prstGeom prst="rect">
            <a:avLst/>
          </a:prstGeom>
        </p:spPr>
        <p:txBody>
          <a:bodyPr lIns="91425" tIns="91425" rIns="91425" bIns="91425" anchor="b" anchorCtr="0">
            <a:noAutofit/>
          </a:bodyPr>
          <a:lstStyle/>
          <a:p>
            <a:pPr lvl="0"/>
            <a:r>
              <a:rPr lang="en-US" sz="2800" dirty="0" err="1" smtClean="0"/>
              <a:t>Merapikan</a:t>
            </a:r>
            <a:r>
              <a:rPr lang="en-US" sz="2800" dirty="0" smtClean="0"/>
              <a:t> </a:t>
            </a:r>
            <a:r>
              <a:rPr lang="en-US" sz="2800" dirty="0" err="1"/>
              <a:t>buku-buku</a:t>
            </a:r>
            <a:r>
              <a:rPr lang="en-US" sz="2800" dirty="0"/>
              <a:t> </a:t>
            </a:r>
            <a:r>
              <a:rPr lang="en-US" sz="2800" dirty="0" err="1"/>
              <a:t>perpustakaan</a:t>
            </a:r>
            <a:endParaRPr lang="en" sz="2800" dirty="0"/>
          </a:p>
        </p:txBody>
      </p:sp>
      <p:sp>
        <p:nvSpPr>
          <p:cNvPr id="96" name="Shape 96"/>
          <p:cNvSpPr txBox="1">
            <a:spLocks noGrp="1"/>
          </p:cNvSpPr>
          <p:nvPr>
            <p:ph type="subTitle" idx="1"/>
          </p:nvPr>
        </p:nvSpPr>
        <p:spPr>
          <a:xfrm>
            <a:off x="1677874" y="2871049"/>
            <a:ext cx="7153202" cy="1700951"/>
          </a:xfrm>
          <a:prstGeom prst="rect">
            <a:avLst/>
          </a:prstGeom>
        </p:spPr>
        <p:txBody>
          <a:bodyPr lIns="91425" tIns="91425" rIns="91425" bIns="91425" anchor="t" anchorCtr="0">
            <a:noAutofit/>
          </a:bodyPr>
          <a:lstStyle/>
          <a:p>
            <a:pPr algn="ctr"/>
            <a:r>
              <a:rPr lang="en-US" dirty="0" err="1" smtClean="0"/>
              <a:t>Buku-buku</a:t>
            </a:r>
            <a:r>
              <a:rPr lang="en-US" dirty="0" smtClean="0"/>
              <a:t> </a:t>
            </a:r>
            <a:r>
              <a:rPr lang="en-US" dirty="0"/>
              <a:t>yang </a:t>
            </a:r>
            <a:r>
              <a:rPr lang="en-US" dirty="0" err="1"/>
              <a:t>ada</a:t>
            </a:r>
            <a:r>
              <a:rPr lang="en-US" dirty="0"/>
              <a:t> di </a:t>
            </a:r>
            <a:r>
              <a:rPr lang="en-US" dirty="0" err="1"/>
              <a:t>dalam</a:t>
            </a:r>
            <a:r>
              <a:rPr lang="en-US" dirty="0"/>
              <a:t> </a:t>
            </a:r>
            <a:r>
              <a:rPr lang="en-US" dirty="0" err="1"/>
              <a:t>perpustakaan</a:t>
            </a:r>
            <a:r>
              <a:rPr lang="en-US" dirty="0"/>
              <a:t> </a:t>
            </a:r>
            <a:r>
              <a:rPr lang="en-US" dirty="0" err="1"/>
              <a:t>merupakan</a:t>
            </a:r>
            <a:r>
              <a:rPr lang="en-US" dirty="0"/>
              <a:t> </a:t>
            </a:r>
            <a:r>
              <a:rPr lang="en-US" dirty="0" err="1"/>
              <a:t>barang</a:t>
            </a:r>
            <a:r>
              <a:rPr lang="en-US" dirty="0"/>
              <a:t> </a:t>
            </a:r>
            <a:r>
              <a:rPr lang="en-US" dirty="0" err="1"/>
              <a:t>milik</a:t>
            </a:r>
            <a:r>
              <a:rPr lang="en-US" dirty="0"/>
              <a:t> Negara yang </a:t>
            </a:r>
            <a:r>
              <a:rPr lang="en-US" dirty="0" err="1"/>
              <a:t>harus</a:t>
            </a:r>
            <a:r>
              <a:rPr lang="en-US" dirty="0"/>
              <a:t> </a:t>
            </a:r>
            <a:r>
              <a:rPr lang="en-US" dirty="0" err="1"/>
              <a:t>dikelola</a:t>
            </a:r>
            <a:r>
              <a:rPr lang="en-US" dirty="0"/>
              <a:t> </a:t>
            </a:r>
            <a:r>
              <a:rPr lang="en-US" dirty="0" err="1"/>
              <a:t>dengan</a:t>
            </a:r>
            <a:r>
              <a:rPr lang="en-US" dirty="0"/>
              <a:t> </a:t>
            </a:r>
            <a:r>
              <a:rPr lang="en-US" dirty="0" err="1"/>
              <a:t>baik</a:t>
            </a:r>
            <a:r>
              <a:rPr lang="en-US" dirty="0"/>
              <a:t>. </a:t>
            </a:r>
            <a:r>
              <a:rPr lang="en-US" dirty="0" err="1"/>
              <a:t>Kegiatan</a:t>
            </a:r>
            <a:r>
              <a:rPr lang="en-US" dirty="0"/>
              <a:t> </a:t>
            </a:r>
            <a:r>
              <a:rPr lang="en-US" dirty="0" err="1"/>
              <a:t>menyusun</a:t>
            </a:r>
            <a:r>
              <a:rPr lang="en-US" dirty="0"/>
              <a:t> </a:t>
            </a:r>
            <a:r>
              <a:rPr lang="en-US" dirty="0" err="1"/>
              <a:t>dan</a:t>
            </a:r>
            <a:r>
              <a:rPr lang="en-US" dirty="0"/>
              <a:t> </a:t>
            </a:r>
            <a:r>
              <a:rPr lang="en-US" dirty="0" err="1"/>
              <a:t>merapikan</a:t>
            </a:r>
            <a:r>
              <a:rPr lang="en-US" dirty="0"/>
              <a:t> </a:t>
            </a:r>
            <a:r>
              <a:rPr lang="en-US" dirty="0" err="1"/>
              <a:t>buku-buku</a:t>
            </a:r>
            <a:r>
              <a:rPr lang="en-US" dirty="0"/>
              <a:t> </a:t>
            </a:r>
            <a:r>
              <a:rPr lang="en-US" dirty="0" err="1"/>
              <a:t>perpustakaan</a:t>
            </a:r>
            <a:r>
              <a:rPr lang="en-US" dirty="0"/>
              <a:t> </a:t>
            </a:r>
            <a:r>
              <a:rPr lang="en-US" dirty="0" err="1"/>
              <a:t>adalah</a:t>
            </a:r>
            <a:r>
              <a:rPr lang="en-US" dirty="0"/>
              <a:t> </a:t>
            </a:r>
            <a:r>
              <a:rPr lang="en-US" dirty="0" err="1"/>
              <a:t>bentuk</a:t>
            </a:r>
            <a:r>
              <a:rPr lang="en-US" dirty="0"/>
              <a:t> </a:t>
            </a:r>
            <a:r>
              <a:rPr lang="en-US" dirty="0" err="1"/>
              <a:t>dari</a:t>
            </a:r>
            <a:r>
              <a:rPr lang="en-US" dirty="0"/>
              <a:t> </a:t>
            </a:r>
            <a:r>
              <a:rPr lang="en-US" dirty="0" err="1"/>
              <a:t>tindakan</a:t>
            </a:r>
            <a:r>
              <a:rPr lang="en-US" dirty="0"/>
              <a:t> </a:t>
            </a:r>
            <a:r>
              <a:rPr lang="en-US" dirty="0" err="1"/>
              <a:t>pengelolaan</a:t>
            </a:r>
            <a:r>
              <a:rPr lang="en-US" dirty="0"/>
              <a:t> </a:t>
            </a:r>
            <a:r>
              <a:rPr lang="en-US" dirty="0" err="1"/>
              <a:t>barang</a:t>
            </a:r>
            <a:r>
              <a:rPr lang="en-US" dirty="0"/>
              <a:t> </a:t>
            </a:r>
            <a:r>
              <a:rPr lang="en-US" dirty="0" err="1"/>
              <a:t>milik</a:t>
            </a:r>
            <a:r>
              <a:rPr lang="en-US" dirty="0"/>
              <a:t> Negara</a:t>
            </a:r>
            <a:r>
              <a:rPr lang="en-US" dirty="0" smtClean="0"/>
              <a:t>.</a:t>
            </a:r>
          </a:p>
          <a:p>
            <a:pPr algn="ctr"/>
            <a:endParaRPr lang="en-US" dirty="0"/>
          </a:p>
          <a:p>
            <a:pPr algn="ctr"/>
            <a:r>
              <a:rPr lang="en-US" b="1" dirty="0" smtClean="0"/>
              <a:t>Output:</a:t>
            </a:r>
          </a:p>
          <a:p>
            <a:pPr algn="ctr"/>
            <a:r>
              <a:rPr lang="en" dirty="0" smtClean="0"/>
              <a:t>Data Rekapan Buku-Buku Perpustakaan</a:t>
            </a:r>
            <a:endParaRPr lang="id-ID" dirty="0"/>
          </a:p>
        </p:txBody>
      </p:sp>
      <p:sp>
        <p:nvSpPr>
          <p:cNvPr id="97" name="Shape 97"/>
          <p:cNvSpPr txBox="1"/>
          <p:nvPr/>
        </p:nvSpPr>
        <p:spPr>
          <a:xfrm>
            <a:off x="1133975" y="2291150"/>
            <a:ext cx="543899" cy="562199"/>
          </a:xfrm>
          <a:prstGeom prst="rect">
            <a:avLst/>
          </a:prstGeom>
          <a:noFill/>
          <a:ln>
            <a:noFill/>
          </a:ln>
        </p:spPr>
        <p:txBody>
          <a:bodyPr lIns="91425" tIns="91425" rIns="91425" bIns="91425" anchor="ctr" anchorCtr="0">
            <a:noAutofit/>
          </a:bodyPr>
          <a:lstStyle/>
          <a:p>
            <a:pPr algn="ctr">
              <a:spcBef>
                <a:spcPts val="0"/>
              </a:spcBef>
              <a:buNone/>
            </a:pPr>
            <a:r>
              <a:rPr lang="en" sz="2400" dirty="0" smtClean="0">
                <a:solidFill>
                  <a:schemeClr val="dk1"/>
                </a:solidFill>
                <a:latin typeface="Lora"/>
                <a:ea typeface="Lora"/>
                <a:cs typeface="Lora"/>
                <a:sym typeface="Lora"/>
              </a:rPr>
              <a:t>4</a:t>
            </a:r>
            <a:endParaRPr lang="en" sz="2400" dirty="0">
              <a:solidFill>
                <a:schemeClr val="dk1"/>
              </a:solidFill>
              <a:latin typeface="Lora"/>
              <a:ea typeface="Lora"/>
              <a:cs typeface="Lora"/>
              <a:sym typeface="Lora"/>
            </a:endParaRPr>
          </a:p>
        </p:txBody>
      </p:sp>
    </p:spTree>
    <p:extLst>
      <p:ext uri="{BB962C8B-B14F-4D97-AF65-F5344CB8AC3E}">
        <p14:creationId xmlns:p14="http://schemas.microsoft.com/office/powerpoint/2010/main" val="1356028426"/>
      </p:ext>
    </p:extLst>
  </p:cSld>
  <p:clrMapOvr>
    <a:masterClrMapping/>
  </p:clrMapOvr>
  <p:transition spd="slow">
    <p:cu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2" name="Rectangle 1"/>
          <p:cNvSpPr/>
          <p:nvPr/>
        </p:nvSpPr>
        <p:spPr>
          <a:xfrm>
            <a:off x="5103628" y="924720"/>
            <a:ext cx="1212112" cy="4355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7" name="Shape 107"/>
          <p:cNvSpPr txBox="1">
            <a:spLocks noGrp="1"/>
          </p:cNvSpPr>
          <p:nvPr>
            <p:ph type="title"/>
          </p:nvPr>
        </p:nvSpPr>
        <p:spPr>
          <a:xfrm>
            <a:off x="1381250" y="924720"/>
            <a:ext cx="4934490" cy="435599"/>
          </a:xfrm>
          <a:prstGeom prst="rect">
            <a:avLst/>
          </a:prstGeom>
        </p:spPr>
        <p:txBody>
          <a:bodyPr lIns="91425" tIns="91425" rIns="91425" bIns="91425" anchor="ctr" anchorCtr="0">
            <a:noAutofit/>
          </a:bodyPr>
          <a:lstStyle/>
          <a:p>
            <a:r>
              <a:rPr lang="en-US" dirty="0" err="1"/>
              <a:t>Merapikan</a:t>
            </a:r>
            <a:r>
              <a:rPr lang="en-US" dirty="0"/>
              <a:t> </a:t>
            </a:r>
            <a:r>
              <a:rPr lang="en-US" dirty="0" err="1"/>
              <a:t>buku-buku</a:t>
            </a:r>
            <a:r>
              <a:rPr lang="en-US" dirty="0"/>
              <a:t> </a:t>
            </a:r>
            <a:r>
              <a:rPr lang="en-US" dirty="0" err="1"/>
              <a:t>perpustakaan</a:t>
            </a:r>
            <a:endParaRPr lang="en"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222"/>
          <p:cNvSpPr txBox="1">
            <a:spLocks/>
          </p:cNvSpPr>
          <p:nvPr/>
        </p:nvSpPr>
        <p:spPr>
          <a:xfrm>
            <a:off x="707065" y="2370151"/>
            <a:ext cx="7772400" cy="1159799"/>
          </a:xfrm>
          <a:prstGeom prst="rect">
            <a:avLst/>
          </a:prstGeom>
          <a:noFill/>
          <a:ln>
            <a:noFill/>
          </a:ln>
        </p:spPr>
        <p:txBody>
          <a:bodyPr lIns="91425" tIns="91425" rIns="91425" bIns="91425" anchor="ctr"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SzPct val="100000"/>
              <a:buFont typeface="Lora"/>
              <a:buNone/>
              <a:defRPr sz="2000" b="1" i="0" u="none" strike="noStrike" cap="none" baseline="0">
                <a:solidFill>
                  <a:srgbClr val="000000"/>
                </a:solidFill>
                <a:latin typeface="Lora"/>
                <a:ea typeface="Lora"/>
                <a:cs typeface="Lora"/>
                <a:sym typeface="Lora"/>
                <a:rtl val="0"/>
              </a:defRPr>
            </a:lvl1pPr>
            <a:lvl2pPr rtl="0">
              <a:spcBef>
                <a:spcPts val="0"/>
              </a:spcBef>
              <a:buSzPct val="100000"/>
              <a:buFont typeface="Lora"/>
              <a:buNone/>
              <a:defRPr sz="2000" b="1">
                <a:latin typeface="Lora"/>
                <a:ea typeface="Lora"/>
                <a:cs typeface="Lora"/>
                <a:sym typeface="Lora"/>
              </a:defRPr>
            </a:lvl2pPr>
            <a:lvl3pPr rtl="0">
              <a:spcBef>
                <a:spcPts val="0"/>
              </a:spcBef>
              <a:buSzPct val="100000"/>
              <a:buFont typeface="Lora"/>
              <a:buNone/>
              <a:defRPr sz="2000" b="1">
                <a:latin typeface="Lora"/>
                <a:ea typeface="Lora"/>
                <a:cs typeface="Lora"/>
                <a:sym typeface="Lora"/>
              </a:defRPr>
            </a:lvl3pPr>
            <a:lvl4pPr rtl="0">
              <a:spcBef>
                <a:spcPts val="0"/>
              </a:spcBef>
              <a:buSzPct val="100000"/>
              <a:buFont typeface="Lora"/>
              <a:buNone/>
              <a:defRPr sz="2000" b="1">
                <a:latin typeface="Lora"/>
                <a:ea typeface="Lora"/>
                <a:cs typeface="Lora"/>
                <a:sym typeface="Lora"/>
              </a:defRPr>
            </a:lvl4pPr>
            <a:lvl5pPr rtl="0">
              <a:spcBef>
                <a:spcPts val="0"/>
              </a:spcBef>
              <a:buSzPct val="100000"/>
              <a:buFont typeface="Lora"/>
              <a:buNone/>
              <a:defRPr sz="2000" b="1">
                <a:latin typeface="Lora"/>
                <a:ea typeface="Lora"/>
                <a:cs typeface="Lora"/>
                <a:sym typeface="Lora"/>
              </a:defRPr>
            </a:lvl5pPr>
            <a:lvl6pPr rtl="0">
              <a:spcBef>
                <a:spcPts val="0"/>
              </a:spcBef>
              <a:buSzPct val="100000"/>
              <a:buFont typeface="Lora"/>
              <a:buNone/>
              <a:defRPr sz="2000" b="1">
                <a:latin typeface="Lora"/>
                <a:ea typeface="Lora"/>
                <a:cs typeface="Lora"/>
                <a:sym typeface="Lora"/>
              </a:defRPr>
            </a:lvl6pPr>
            <a:lvl7pPr rtl="0">
              <a:spcBef>
                <a:spcPts val="0"/>
              </a:spcBef>
              <a:buSzPct val="100000"/>
              <a:buFont typeface="Lora"/>
              <a:buNone/>
              <a:defRPr sz="2000" b="1">
                <a:latin typeface="Lora"/>
                <a:ea typeface="Lora"/>
                <a:cs typeface="Lora"/>
                <a:sym typeface="Lora"/>
              </a:defRPr>
            </a:lvl7pPr>
            <a:lvl8pPr rtl="0">
              <a:spcBef>
                <a:spcPts val="0"/>
              </a:spcBef>
              <a:buSzPct val="100000"/>
              <a:buFont typeface="Lora"/>
              <a:buNone/>
              <a:defRPr sz="2000" b="1">
                <a:latin typeface="Lora"/>
                <a:ea typeface="Lora"/>
                <a:cs typeface="Lora"/>
                <a:sym typeface="Lora"/>
              </a:defRPr>
            </a:lvl8pPr>
            <a:lvl9pPr rtl="0">
              <a:spcBef>
                <a:spcPts val="0"/>
              </a:spcBef>
              <a:buSzPct val="100000"/>
              <a:buFont typeface="Lora"/>
              <a:buNone/>
              <a:defRPr sz="2000" b="1">
                <a:latin typeface="Lora"/>
                <a:ea typeface="Lora"/>
                <a:cs typeface="Lora"/>
                <a:sym typeface="Lora"/>
              </a:defRPr>
            </a:lvl9pPr>
          </a:lstStyle>
          <a:p>
            <a:pPr algn="ctr"/>
            <a:r>
              <a:rPr lang="en" sz="6600" b="0" dirty="0" smtClean="0">
                <a:latin typeface="Arial" panose="020B0604020202020204" pitchFamily="34" charset="0"/>
                <a:cs typeface="Arial" panose="020B0604020202020204" pitchFamily="34" charset="0"/>
              </a:rPr>
              <a:t>11-12 Agustus 2016</a:t>
            </a:r>
            <a:endParaRPr lang="en" sz="6600" b="0" dirty="0">
              <a:latin typeface="Arial" panose="020B0604020202020204" pitchFamily="34" charset="0"/>
              <a:cs typeface="Arial" panose="020B0604020202020204" pitchFamily="34" charset="0"/>
            </a:endParaRPr>
          </a:p>
        </p:txBody>
      </p:sp>
      <p:sp>
        <p:nvSpPr>
          <p:cNvPr id="3" name="TextBox 2"/>
          <p:cNvSpPr txBox="1"/>
          <p:nvPr/>
        </p:nvSpPr>
        <p:spPr>
          <a:xfrm>
            <a:off x="1045171" y="2183622"/>
            <a:ext cx="3463035" cy="369332"/>
          </a:xfrm>
          <a:prstGeom prst="rect">
            <a:avLst/>
          </a:prstGeom>
          <a:noFill/>
        </p:spPr>
        <p:txBody>
          <a:bodyPr wrap="square" rtlCol="0">
            <a:spAutoFit/>
          </a:bodyPr>
          <a:lstStyle/>
          <a:p>
            <a:r>
              <a:rPr lang="en-US" sz="1800" dirty="0" err="1" smtClean="0">
                <a:latin typeface="Lora"/>
              </a:rPr>
              <a:t>Tanggal</a:t>
            </a:r>
            <a:r>
              <a:rPr lang="en-US" sz="1800" dirty="0" smtClean="0">
                <a:latin typeface="Lora"/>
              </a:rPr>
              <a:t> </a:t>
            </a:r>
            <a:r>
              <a:rPr lang="en-US" sz="1800" dirty="0" err="1" smtClean="0">
                <a:latin typeface="Lora"/>
              </a:rPr>
              <a:t>Rencana</a:t>
            </a:r>
            <a:r>
              <a:rPr lang="en-US" sz="1800" dirty="0" smtClean="0">
                <a:latin typeface="Lora"/>
              </a:rPr>
              <a:t> </a:t>
            </a:r>
            <a:r>
              <a:rPr lang="en-US" sz="1800" dirty="0" err="1" smtClean="0">
                <a:latin typeface="Lora"/>
              </a:rPr>
              <a:t>Pelaksanaan</a:t>
            </a:r>
            <a:r>
              <a:rPr lang="en-US" sz="1800" dirty="0" smtClean="0">
                <a:latin typeface="Lora"/>
              </a:rPr>
              <a:t>:</a:t>
            </a:r>
            <a:endParaRPr lang="id-ID" sz="1800" dirty="0">
              <a:latin typeface="Lora"/>
            </a:endParaRPr>
          </a:p>
        </p:txBody>
      </p:sp>
    </p:spTree>
    <p:extLst>
      <p:ext uri="{BB962C8B-B14F-4D97-AF65-F5344CB8AC3E}">
        <p14:creationId xmlns:p14="http://schemas.microsoft.com/office/powerpoint/2010/main" val="3084339176"/>
      </p:ext>
    </p:extLst>
  </p:cSld>
  <p:clrMapOvr>
    <a:masterClrMapping/>
  </p:clrMapOvr>
  <p:transition spd="slow">
    <p:cut/>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4" name="Rectangle 13"/>
          <p:cNvSpPr/>
          <p:nvPr/>
        </p:nvSpPr>
        <p:spPr>
          <a:xfrm>
            <a:off x="5103628" y="924720"/>
            <a:ext cx="1286539" cy="4355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7" name="Shape 107"/>
          <p:cNvSpPr txBox="1">
            <a:spLocks noGrp="1"/>
          </p:cNvSpPr>
          <p:nvPr>
            <p:ph type="title"/>
          </p:nvPr>
        </p:nvSpPr>
        <p:spPr>
          <a:xfrm>
            <a:off x="1381251" y="924720"/>
            <a:ext cx="5008916" cy="435599"/>
          </a:xfrm>
          <a:prstGeom prst="rect">
            <a:avLst/>
          </a:prstGeom>
        </p:spPr>
        <p:txBody>
          <a:bodyPr lIns="91425" tIns="91425" rIns="91425" bIns="91425" anchor="ctr" anchorCtr="0">
            <a:noAutofit/>
          </a:bodyPr>
          <a:lstStyle/>
          <a:p>
            <a:r>
              <a:rPr lang="en-US" dirty="0" err="1"/>
              <a:t>Merapikan</a:t>
            </a:r>
            <a:r>
              <a:rPr lang="en-US" dirty="0"/>
              <a:t> </a:t>
            </a:r>
            <a:r>
              <a:rPr lang="en-US" dirty="0" err="1"/>
              <a:t>buku-buku</a:t>
            </a:r>
            <a:r>
              <a:rPr lang="en-US" dirty="0"/>
              <a:t> </a:t>
            </a:r>
            <a:r>
              <a:rPr lang="en-US" dirty="0" err="1"/>
              <a:t>perpustakaan</a:t>
            </a:r>
            <a:endParaRPr lang="en" dirty="0"/>
          </a:p>
        </p:txBody>
      </p:sp>
      <p:sp>
        <p:nvSpPr>
          <p:cNvPr id="108" name="Shape 108"/>
          <p:cNvSpPr txBox="1">
            <a:spLocks noGrp="1"/>
          </p:cNvSpPr>
          <p:nvPr>
            <p:ph type="body" idx="1"/>
          </p:nvPr>
        </p:nvSpPr>
        <p:spPr>
          <a:xfrm>
            <a:off x="-1" y="1450099"/>
            <a:ext cx="6528391" cy="559454"/>
          </a:xfrm>
          <a:prstGeom prst="rect">
            <a:avLst/>
          </a:prstGeom>
        </p:spPr>
        <p:txBody>
          <a:bodyPr lIns="91425" tIns="91425" rIns="91425" bIns="91425" anchor="t" anchorCtr="0">
            <a:noAutofit/>
          </a:bodyPr>
          <a:lstStyle/>
          <a:p>
            <a:pPr marL="228600" lvl="0">
              <a:spcBef>
                <a:spcPts val="0"/>
              </a:spcBef>
              <a:buNone/>
            </a:pPr>
            <a:r>
              <a:rPr lang="en-US" dirty="0" err="1" smtClean="0"/>
              <a:t>Nilai-nilai</a:t>
            </a:r>
            <a:r>
              <a:rPr lang="en-US" dirty="0" smtClean="0"/>
              <a:t> ANEKA </a:t>
            </a:r>
            <a:r>
              <a:rPr lang="en-US" dirty="0" err="1" smtClean="0"/>
              <a:t>akan</a:t>
            </a:r>
            <a:r>
              <a:rPr lang="en-US" dirty="0" smtClean="0"/>
              <a:t> </a:t>
            </a:r>
            <a:r>
              <a:rPr lang="en-US" dirty="0" err="1" smtClean="0"/>
              <a:t>diaktualisasikan</a:t>
            </a:r>
            <a:endParaRPr lang="id-ID"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1"/>
              <a:ext cx="188176" cy="188149"/>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384830" y="2192205"/>
            <a:ext cx="3549216" cy="163323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endParaRPr lang="en" sz="1400" dirty="0"/>
          </a:p>
        </p:txBody>
      </p:sp>
      <p:sp>
        <p:nvSpPr>
          <p:cNvPr id="11" name="Shape 151"/>
          <p:cNvSpPr txBox="1">
            <a:spLocks/>
          </p:cNvSpPr>
          <p:nvPr/>
        </p:nvSpPr>
        <p:spPr>
          <a:xfrm>
            <a:off x="1131082" y="2099333"/>
            <a:ext cx="2333999" cy="2164323"/>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buNone/>
            </a:pPr>
            <a:r>
              <a:rPr lang="en-US" sz="1400" b="1" dirty="0" err="1" smtClean="0"/>
              <a:t>Akuntabilitas</a:t>
            </a:r>
            <a:r>
              <a:rPr lang="en-US" sz="1400" b="1" dirty="0"/>
              <a:t>:</a:t>
            </a:r>
            <a:endParaRPr lang="id-ID" sz="1400" dirty="0"/>
          </a:p>
          <a:p>
            <a:pPr marL="285750" indent="-285750">
              <a:spcBef>
                <a:spcPts val="0"/>
              </a:spcBef>
            </a:pPr>
            <a:r>
              <a:rPr lang="en-US" sz="1400" dirty="0" err="1">
                <a:sym typeface="Arial"/>
              </a:rPr>
              <a:t>Kejelasan</a:t>
            </a:r>
            <a:endParaRPr lang="id-ID" sz="1400" dirty="0">
              <a:sym typeface="Arial"/>
            </a:endParaRPr>
          </a:p>
          <a:p>
            <a:pPr marL="285750" indent="-285750">
              <a:spcBef>
                <a:spcPts val="0"/>
              </a:spcBef>
            </a:pPr>
            <a:r>
              <a:rPr lang="en-US" sz="1400" dirty="0" err="1">
                <a:sym typeface="Arial"/>
              </a:rPr>
              <a:t>Penggunaan</a:t>
            </a:r>
            <a:r>
              <a:rPr lang="en-US" sz="1400" dirty="0">
                <a:sym typeface="Arial"/>
              </a:rPr>
              <a:t> </a:t>
            </a:r>
            <a:r>
              <a:rPr lang="en-US" sz="1400" dirty="0" err="1">
                <a:sym typeface="Arial"/>
              </a:rPr>
              <a:t>sumber</a:t>
            </a:r>
            <a:r>
              <a:rPr lang="en-US" sz="1400" dirty="0">
                <a:sym typeface="Arial"/>
              </a:rPr>
              <a:t> </a:t>
            </a:r>
            <a:r>
              <a:rPr lang="en-US" sz="1400" dirty="0" err="1">
                <a:sym typeface="Arial"/>
              </a:rPr>
              <a:t>daya</a:t>
            </a:r>
            <a:r>
              <a:rPr lang="en-US" sz="1400" dirty="0">
                <a:sym typeface="Arial"/>
              </a:rPr>
              <a:t> yang </a:t>
            </a:r>
            <a:r>
              <a:rPr lang="en-US" sz="1400" dirty="0" err="1">
                <a:sym typeface="Arial"/>
              </a:rPr>
              <a:t>efektif</a:t>
            </a:r>
            <a:endParaRPr lang="id-ID" sz="1400" dirty="0">
              <a:sym typeface="Arial"/>
            </a:endParaRPr>
          </a:p>
          <a:p>
            <a:pPr marL="285750" indent="-285750">
              <a:spcBef>
                <a:spcPts val="0"/>
              </a:spcBef>
            </a:pPr>
            <a:r>
              <a:rPr lang="en-US" sz="1400" dirty="0" err="1">
                <a:sym typeface="Arial"/>
              </a:rPr>
              <a:t>laporan</a:t>
            </a:r>
            <a:endParaRPr lang="id-ID" sz="1400" dirty="0">
              <a:sym typeface="Arial"/>
            </a:endParaRPr>
          </a:p>
        </p:txBody>
      </p:sp>
      <p:sp>
        <p:nvSpPr>
          <p:cNvPr id="12" name="Shape 152"/>
          <p:cNvSpPr txBox="1">
            <a:spLocks/>
          </p:cNvSpPr>
          <p:nvPr/>
        </p:nvSpPr>
        <p:spPr>
          <a:xfrm>
            <a:off x="3584743" y="2099333"/>
            <a:ext cx="2333999" cy="2164323"/>
          </a:xfrm>
          <a:prstGeom prst="rect">
            <a:avLst/>
          </a:prstGeom>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r>
              <a:rPr lang="en-US" b="1" dirty="0" err="1" smtClean="0"/>
              <a:t>Nasionalisme</a:t>
            </a:r>
            <a:r>
              <a:rPr lang="en-US" b="1" dirty="0"/>
              <a:t>:</a:t>
            </a:r>
            <a:endParaRPr lang="id-ID" dirty="0"/>
          </a:p>
          <a:p>
            <a:pPr marL="285750" indent="-285750">
              <a:buClr>
                <a:srgbClr val="FFCD00"/>
              </a:buClr>
              <a:buSzPct val="100000"/>
              <a:buFont typeface="Quattrocento Sans"/>
              <a:buChar char="◉"/>
            </a:pPr>
            <a:r>
              <a:rPr lang="en-US" dirty="0" err="1" smtClean="0">
                <a:latin typeface="Quattrocento Sans"/>
                <a:ea typeface="Quattrocento Sans"/>
                <a:cs typeface="Quattrocento Sans"/>
              </a:rPr>
              <a:t>Takwa</a:t>
            </a:r>
            <a:endParaRPr lang="en-US" dirty="0" smtClean="0">
              <a:latin typeface="Quattrocento Sans"/>
              <a:ea typeface="Quattrocento Sans"/>
              <a:cs typeface="Quattrocento Sans"/>
            </a:endParaRPr>
          </a:p>
          <a:p>
            <a:pPr marL="285750" indent="-285750">
              <a:buClr>
                <a:srgbClr val="FFCD00"/>
              </a:buClr>
              <a:buSzPct val="100000"/>
              <a:buFont typeface="Quattrocento Sans"/>
              <a:buChar char="◉"/>
            </a:pPr>
            <a:r>
              <a:rPr lang="en-US" dirty="0" err="1" smtClean="0"/>
              <a:t>Ikhlas</a:t>
            </a:r>
            <a:endParaRPr lang="en-US" dirty="0" smtClean="0"/>
          </a:p>
          <a:p>
            <a:pPr marL="285750" indent="-285750">
              <a:buClr>
                <a:srgbClr val="FFCD00"/>
              </a:buClr>
              <a:buSzPct val="100000"/>
              <a:buFont typeface="Quattrocento Sans"/>
              <a:buChar char="◉"/>
            </a:pPr>
            <a:endParaRPr lang="id-ID" dirty="0"/>
          </a:p>
          <a:p>
            <a:r>
              <a:rPr lang="en-US" b="1" dirty="0" err="1"/>
              <a:t>Etika</a:t>
            </a:r>
            <a:r>
              <a:rPr lang="en-US" b="1" dirty="0"/>
              <a:t> </a:t>
            </a:r>
            <a:r>
              <a:rPr lang="en-US" b="1" dirty="0" err="1"/>
              <a:t>Publik</a:t>
            </a:r>
            <a:r>
              <a:rPr lang="en-US" b="1" dirty="0"/>
              <a:t>:</a:t>
            </a:r>
            <a:endParaRPr lang="id-ID" dirty="0"/>
          </a:p>
          <a:p>
            <a:pPr marL="285750" lvl="0" indent="-285750">
              <a:buClr>
                <a:srgbClr val="FFCD00"/>
              </a:buClr>
              <a:buSzPct val="100000"/>
              <a:buFont typeface="Quattrocento Sans"/>
              <a:buChar char="◉"/>
            </a:pPr>
            <a:r>
              <a:rPr lang="en-US" dirty="0" err="1" smtClean="0"/>
              <a:t>Keahlian</a:t>
            </a:r>
            <a:r>
              <a:rPr lang="en-US" dirty="0" smtClean="0"/>
              <a:t> professional</a:t>
            </a:r>
          </a:p>
          <a:p>
            <a:pPr marL="285750" lvl="0" indent="-285750">
              <a:buClr>
                <a:srgbClr val="FFCD00"/>
              </a:buClr>
              <a:buSzPct val="100000"/>
              <a:buFont typeface="Quattrocento Sans"/>
              <a:buChar char="◉"/>
            </a:pPr>
            <a:r>
              <a:rPr lang="en-US" dirty="0" err="1" smtClean="0"/>
              <a:t>Menyelesaikan</a:t>
            </a:r>
            <a:r>
              <a:rPr lang="en-US" dirty="0" smtClean="0"/>
              <a:t> </a:t>
            </a:r>
            <a:r>
              <a:rPr lang="en-US" dirty="0" err="1"/>
              <a:t>tugas</a:t>
            </a:r>
            <a:r>
              <a:rPr lang="en-US" dirty="0"/>
              <a:t> </a:t>
            </a:r>
            <a:r>
              <a:rPr lang="en-US" dirty="0" err="1"/>
              <a:t>dengan</a:t>
            </a:r>
            <a:r>
              <a:rPr lang="en-US" dirty="0"/>
              <a:t> </a:t>
            </a:r>
            <a:r>
              <a:rPr lang="en-US" dirty="0" err="1"/>
              <a:t>baik</a:t>
            </a:r>
            <a:endParaRPr lang="id-ID" dirty="0"/>
          </a:p>
          <a:p>
            <a:pPr marL="285750" lvl="0" indent="-285750">
              <a:buClr>
                <a:srgbClr val="FFCD00"/>
              </a:buClr>
              <a:buSzPct val="100000"/>
              <a:buFont typeface="Quattrocento Sans"/>
              <a:buChar char="◉"/>
            </a:pPr>
            <a:endParaRPr lang="en" dirty="0">
              <a:latin typeface="Quattrocento Sans"/>
              <a:ea typeface="Quattrocento Sans"/>
              <a:cs typeface="Quattrocento Sans"/>
              <a:sym typeface="Quattrocento Sans"/>
            </a:endParaRPr>
          </a:p>
        </p:txBody>
      </p:sp>
      <p:sp>
        <p:nvSpPr>
          <p:cNvPr id="13" name="Shape 153"/>
          <p:cNvSpPr txBox="1">
            <a:spLocks/>
          </p:cNvSpPr>
          <p:nvPr/>
        </p:nvSpPr>
        <p:spPr>
          <a:xfrm>
            <a:off x="6038405" y="2099333"/>
            <a:ext cx="2659028" cy="1983569"/>
          </a:xfrm>
          <a:prstGeom prst="rect">
            <a:avLst/>
          </a:prstGeom>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r>
              <a:rPr lang="en-US" b="1" dirty="0" err="1"/>
              <a:t>Komitmen</a:t>
            </a:r>
            <a:r>
              <a:rPr lang="en-US" b="1" dirty="0"/>
              <a:t> </a:t>
            </a:r>
            <a:r>
              <a:rPr lang="en-US" b="1" dirty="0" err="1"/>
              <a:t>Mutu</a:t>
            </a:r>
            <a:r>
              <a:rPr lang="en-US" b="1" dirty="0"/>
              <a:t>:</a:t>
            </a:r>
            <a:endParaRPr lang="id-ID" dirty="0"/>
          </a:p>
          <a:p>
            <a:pPr marL="285750" indent="-285750">
              <a:buClr>
                <a:srgbClr val="FFCD00"/>
              </a:buClr>
              <a:buSzPct val="100000"/>
              <a:buFont typeface="Quattrocento Sans"/>
              <a:buChar char="◉"/>
            </a:pPr>
            <a:r>
              <a:rPr lang="en-US" dirty="0" err="1" smtClean="0">
                <a:latin typeface="Quattrocento Sans"/>
                <a:ea typeface="Quattrocento Sans"/>
                <a:cs typeface="Quattrocento Sans"/>
              </a:rPr>
              <a:t>Efisien</a:t>
            </a:r>
            <a:endParaRPr lang="en-US" dirty="0" smtClean="0">
              <a:latin typeface="Quattrocento Sans"/>
              <a:ea typeface="Quattrocento Sans"/>
              <a:cs typeface="Quattrocento Sans"/>
            </a:endParaRPr>
          </a:p>
          <a:p>
            <a:pPr marL="285750" indent="-285750">
              <a:buClr>
                <a:srgbClr val="FFCD00"/>
              </a:buClr>
              <a:buSzPct val="100000"/>
              <a:buFont typeface="Quattrocento Sans"/>
              <a:buChar char="◉"/>
            </a:pPr>
            <a:r>
              <a:rPr lang="en-US" dirty="0" err="1" smtClean="0"/>
              <a:t>Efektif</a:t>
            </a:r>
            <a:endParaRPr lang="en-US" dirty="0" smtClean="0"/>
          </a:p>
          <a:p>
            <a:pPr marL="285750" indent="-285750">
              <a:buClr>
                <a:srgbClr val="FFCD00"/>
              </a:buClr>
              <a:buSzPct val="100000"/>
              <a:buFont typeface="Quattrocento Sans"/>
              <a:buChar char="◉"/>
            </a:pPr>
            <a:endParaRPr lang="id-ID" dirty="0" smtClean="0">
              <a:latin typeface="Quattrocento Sans"/>
              <a:ea typeface="Quattrocento Sans"/>
              <a:cs typeface="Quattrocento Sans"/>
            </a:endParaRPr>
          </a:p>
          <a:p>
            <a:r>
              <a:rPr lang="en-US" b="1" dirty="0" smtClean="0"/>
              <a:t>Anti </a:t>
            </a:r>
            <a:r>
              <a:rPr lang="en-US" b="1" dirty="0" err="1"/>
              <a:t>Korupsi</a:t>
            </a:r>
            <a:r>
              <a:rPr lang="en-US" b="1" dirty="0"/>
              <a:t>:</a:t>
            </a:r>
            <a:endParaRPr lang="id-ID" dirty="0"/>
          </a:p>
          <a:p>
            <a:pPr marL="285750" indent="-285750">
              <a:buClr>
                <a:srgbClr val="FFCD00"/>
              </a:buClr>
              <a:buSzPct val="100000"/>
              <a:buFont typeface="Quattrocento Sans"/>
              <a:buChar char="◉"/>
            </a:pPr>
            <a:r>
              <a:rPr lang="id-ID" dirty="0"/>
              <a:t>Mandiri</a:t>
            </a:r>
            <a:endParaRPr lang="en-US" dirty="0">
              <a:latin typeface="Quattrocento Sans"/>
              <a:ea typeface="Quattrocento Sans"/>
              <a:cs typeface="Quattrocento Sans"/>
            </a:endParaRPr>
          </a:p>
        </p:txBody>
      </p:sp>
    </p:spTree>
    <p:extLst>
      <p:ext uri="{BB962C8B-B14F-4D97-AF65-F5344CB8AC3E}">
        <p14:creationId xmlns:p14="http://schemas.microsoft.com/office/powerpoint/2010/main" val="1677409717"/>
      </p:ext>
    </p:extLst>
  </p:cSld>
  <p:clrMapOvr>
    <a:masterClrMapping/>
  </p:clrMapOvr>
  <p:transition spd="slow">
    <p:cu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1" name="Rectangle 10"/>
          <p:cNvSpPr/>
          <p:nvPr/>
        </p:nvSpPr>
        <p:spPr>
          <a:xfrm>
            <a:off x="5103628" y="924720"/>
            <a:ext cx="1180214" cy="4355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7" name="Shape 107"/>
          <p:cNvSpPr txBox="1">
            <a:spLocks noGrp="1"/>
          </p:cNvSpPr>
          <p:nvPr>
            <p:ph type="title"/>
          </p:nvPr>
        </p:nvSpPr>
        <p:spPr>
          <a:xfrm>
            <a:off x="1381250" y="924720"/>
            <a:ext cx="4902592" cy="435599"/>
          </a:xfrm>
          <a:prstGeom prst="rect">
            <a:avLst/>
          </a:prstGeom>
        </p:spPr>
        <p:txBody>
          <a:bodyPr lIns="91425" tIns="91425" rIns="91425" bIns="91425" anchor="ctr" anchorCtr="0">
            <a:noAutofit/>
          </a:bodyPr>
          <a:lstStyle/>
          <a:p>
            <a:r>
              <a:rPr lang="en-US" dirty="0" err="1"/>
              <a:t>Merapikan</a:t>
            </a:r>
            <a:r>
              <a:rPr lang="en-US" dirty="0"/>
              <a:t> </a:t>
            </a:r>
            <a:r>
              <a:rPr lang="en-US" dirty="0" err="1"/>
              <a:t>buku-buku</a:t>
            </a:r>
            <a:r>
              <a:rPr lang="en-US" dirty="0"/>
              <a:t> </a:t>
            </a:r>
            <a:r>
              <a:rPr lang="en-US" dirty="0" err="1"/>
              <a:t>perpustakaan</a:t>
            </a:r>
            <a:endParaRPr lang="en" dirty="0"/>
          </a:p>
        </p:txBody>
      </p:sp>
      <p:sp>
        <p:nvSpPr>
          <p:cNvPr id="108" name="Shape 108"/>
          <p:cNvSpPr txBox="1">
            <a:spLocks noGrp="1"/>
          </p:cNvSpPr>
          <p:nvPr>
            <p:ph type="body" idx="1"/>
          </p:nvPr>
        </p:nvSpPr>
        <p:spPr>
          <a:xfrm>
            <a:off x="0" y="1450099"/>
            <a:ext cx="5883684" cy="559454"/>
          </a:xfrm>
          <a:prstGeom prst="rect">
            <a:avLst/>
          </a:prstGeom>
        </p:spPr>
        <p:txBody>
          <a:bodyPr lIns="91425" tIns="91425" rIns="91425" bIns="91425" anchor="t" anchorCtr="0">
            <a:noAutofit/>
          </a:bodyPr>
          <a:lstStyle/>
          <a:p>
            <a:pPr marL="228600" lvl="0">
              <a:spcBef>
                <a:spcPts val="0"/>
              </a:spcBef>
              <a:buNone/>
            </a:pPr>
            <a:r>
              <a:rPr lang="en-US" dirty="0" err="1" smtClean="0"/>
              <a:t>Contoh</a:t>
            </a:r>
            <a:r>
              <a:rPr lang="en-US" dirty="0" smtClean="0"/>
              <a:t> </a:t>
            </a:r>
            <a:r>
              <a:rPr lang="en-US" dirty="0" err="1" smtClean="0"/>
              <a:t>penerapannya</a:t>
            </a:r>
            <a:endParaRPr lang="id-ID"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916458" y="2353979"/>
            <a:ext cx="7153202" cy="1994737"/>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spcBef>
                <a:spcPts val="0"/>
              </a:spcBef>
              <a:buClr>
                <a:srgbClr val="000000"/>
              </a:buClr>
              <a:buNone/>
            </a:pPr>
            <a:r>
              <a:rPr lang="en-US" sz="1400" dirty="0" err="1"/>
              <a:t>Saya</a:t>
            </a:r>
            <a:r>
              <a:rPr lang="en-US" sz="1400" dirty="0"/>
              <a:t> </a:t>
            </a:r>
            <a:r>
              <a:rPr lang="en-US" sz="1400" dirty="0" err="1"/>
              <a:t>akan</a:t>
            </a:r>
            <a:r>
              <a:rPr lang="en-US" sz="1400" dirty="0"/>
              <a:t> </a:t>
            </a:r>
            <a:r>
              <a:rPr lang="en-US" sz="1400" dirty="0" err="1"/>
              <a:t>mengerjakan</a:t>
            </a:r>
            <a:r>
              <a:rPr lang="en-US" sz="1400" dirty="0"/>
              <a:t> </a:t>
            </a:r>
            <a:r>
              <a:rPr lang="en-US" sz="1400" dirty="0" err="1"/>
              <a:t>tugas</a:t>
            </a:r>
            <a:r>
              <a:rPr lang="en-US" sz="1400" dirty="0"/>
              <a:t> </a:t>
            </a:r>
            <a:r>
              <a:rPr lang="en-US" sz="1400" dirty="0" err="1"/>
              <a:t>ini</a:t>
            </a:r>
            <a:r>
              <a:rPr lang="en-US" sz="1400" dirty="0"/>
              <a:t> </a:t>
            </a:r>
            <a:r>
              <a:rPr lang="en-US" sz="1400" dirty="0" err="1"/>
              <a:t>dengan</a:t>
            </a:r>
            <a:r>
              <a:rPr lang="en-US" sz="1400" dirty="0"/>
              <a:t> </a:t>
            </a:r>
            <a:r>
              <a:rPr lang="en-US" sz="1400" b="1" dirty="0" err="1"/>
              <a:t>mandiri</a:t>
            </a:r>
            <a:r>
              <a:rPr lang="en-US" sz="1400" dirty="0"/>
              <a:t> </a:t>
            </a:r>
            <a:r>
              <a:rPr lang="en-US" sz="1400" dirty="0" err="1"/>
              <a:t>yaitu</a:t>
            </a:r>
            <a:r>
              <a:rPr lang="en-US" sz="1400" dirty="0"/>
              <a:t> </a:t>
            </a:r>
            <a:r>
              <a:rPr lang="en-US" sz="1400" dirty="0" err="1"/>
              <a:t>tidak</a:t>
            </a:r>
            <a:r>
              <a:rPr lang="en-US" sz="1400" dirty="0"/>
              <a:t> </a:t>
            </a:r>
            <a:r>
              <a:rPr lang="en-US" sz="1400" dirty="0" err="1"/>
              <a:t>bergantung</a:t>
            </a:r>
            <a:r>
              <a:rPr lang="en-US" sz="1400" dirty="0"/>
              <a:t> </a:t>
            </a:r>
            <a:r>
              <a:rPr lang="en-US" sz="1400" dirty="0" err="1"/>
              <a:t>pada</a:t>
            </a:r>
            <a:r>
              <a:rPr lang="en-US" sz="1400" dirty="0"/>
              <a:t> orang lain. </a:t>
            </a:r>
            <a:r>
              <a:rPr lang="en-US" sz="1400" dirty="0" err="1" smtClean="0"/>
              <a:t>Setelah</a:t>
            </a:r>
            <a:r>
              <a:rPr lang="en-US" sz="1400" dirty="0" smtClean="0"/>
              <a:t> </a:t>
            </a:r>
            <a:r>
              <a:rPr lang="en-US" sz="1400" dirty="0" err="1"/>
              <a:t>tugas</a:t>
            </a:r>
            <a:r>
              <a:rPr lang="en-US" sz="1400" dirty="0"/>
              <a:t> </a:t>
            </a:r>
            <a:r>
              <a:rPr lang="en-US" sz="1400" dirty="0" err="1"/>
              <a:t>ini</a:t>
            </a:r>
            <a:r>
              <a:rPr lang="en-US" sz="1400" dirty="0"/>
              <a:t> </a:t>
            </a:r>
            <a:r>
              <a:rPr lang="en-US" sz="1400" dirty="0" err="1"/>
              <a:t>selesai</a:t>
            </a:r>
            <a:r>
              <a:rPr lang="en-US" sz="1400" dirty="0"/>
              <a:t> </a:t>
            </a:r>
            <a:r>
              <a:rPr lang="en-US" sz="1400" dirty="0" err="1"/>
              <a:t>saya</a:t>
            </a:r>
            <a:r>
              <a:rPr lang="en-US" sz="1400" dirty="0"/>
              <a:t> </a:t>
            </a:r>
            <a:r>
              <a:rPr lang="en-US" sz="1400" dirty="0" err="1"/>
              <a:t>akan</a:t>
            </a:r>
            <a:r>
              <a:rPr lang="en-US" sz="1400" dirty="0"/>
              <a:t> </a:t>
            </a:r>
            <a:r>
              <a:rPr lang="en-US" sz="1400" b="1" dirty="0" err="1"/>
              <a:t>melaporkan</a:t>
            </a:r>
            <a:r>
              <a:rPr lang="en-US" sz="1400" dirty="0"/>
              <a:t> </a:t>
            </a:r>
            <a:r>
              <a:rPr lang="en-US" sz="1400" dirty="0" err="1"/>
              <a:t>ke</a:t>
            </a:r>
            <a:r>
              <a:rPr lang="en-US" sz="1400" dirty="0"/>
              <a:t> </a:t>
            </a:r>
            <a:r>
              <a:rPr lang="en-US" sz="1400" dirty="0" err="1" smtClean="0"/>
              <a:t>atasan</a:t>
            </a:r>
            <a:r>
              <a:rPr lang="en-US" sz="1400" dirty="0" smtClean="0"/>
              <a:t>.</a:t>
            </a:r>
            <a:endParaRPr lang="en-US" sz="1400" dirty="0"/>
          </a:p>
        </p:txBody>
      </p:sp>
    </p:spTree>
    <p:extLst>
      <p:ext uri="{BB962C8B-B14F-4D97-AF65-F5344CB8AC3E}">
        <p14:creationId xmlns:p14="http://schemas.microsoft.com/office/powerpoint/2010/main" val="4186064939"/>
      </p:ext>
    </p:extLst>
  </p:cSld>
  <p:clrMapOvr>
    <a:masterClrMapping/>
  </p:clrMapOvr>
  <p:transition spd="slow">
    <p:cut/>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Rectangle 1"/>
          <p:cNvSpPr/>
          <p:nvPr/>
        </p:nvSpPr>
        <p:spPr>
          <a:xfrm>
            <a:off x="5411971" y="2291149"/>
            <a:ext cx="3647945" cy="562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n>
                <a:solidFill>
                  <a:schemeClr val="bg1"/>
                </a:solidFill>
              </a:ln>
              <a:solidFill>
                <a:schemeClr val="bg1"/>
              </a:solidFill>
            </a:endParaRPr>
          </a:p>
        </p:txBody>
      </p:sp>
      <p:sp>
        <p:nvSpPr>
          <p:cNvPr id="95" name="Shape 95"/>
          <p:cNvSpPr txBox="1">
            <a:spLocks noGrp="1"/>
          </p:cNvSpPr>
          <p:nvPr>
            <p:ph type="ctrTitle"/>
          </p:nvPr>
        </p:nvSpPr>
        <p:spPr>
          <a:xfrm>
            <a:off x="1993196" y="1711250"/>
            <a:ext cx="7066720" cy="1159799"/>
          </a:xfrm>
          <a:prstGeom prst="rect">
            <a:avLst/>
          </a:prstGeom>
        </p:spPr>
        <p:txBody>
          <a:bodyPr lIns="91425" tIns="91425" rIns="91425" bIns="91425" anchor="b" anchorCtr="0">
            <a:noAutofit/>
          </a:bodyPr>
          <a:lstStyle/>
          <a:p>
            <a:pPr lvl="0"/>
            <a:r>
              <a:rPr lang="en-US" sz="2800" dirty="0" err="1"/>
              <a:t>Melakukan</a:t>
            </a:r>
            <a:r>
              <a:rPr lang="en-US" sz="2800" dirty="0"/>
              <a:t> </a:t>
            </a:r>
            <a:r>
              <a:rPr lang="en-US" sz="2800" i="1" dirty="0" smtClean="0"/>
              <a:t>Scanning</a:t>
            </a:r>
            <a:r>
              <a:rPr lang="en-US" sz="2800" dirty="0" smtClean="0"/>
              <a:t> </a:t>
            </a:r>
            <a:r>
              <a:rPr lang="en-US" sz="2800" dirty="0" err="1"/>
              <a:t>sketsa</a:t>
            </a:r>
            <a:r>
              <a:rPr lang="en-US" sz="2800" dirty="0"/>
              <a:t> </a:t>
            </a:r>
            <a:r>
              <a:rPr lang="en-US" sz="2800" dirty="0" err="1"/>
              <a:t>peta</a:t>
            </a:r>
            <a:r>
              <a:rPr lang="en-US" sz="2800" dirty="0"/>
              <a:t> WB SE </a:t>
            </a:r>
            <a:endParaRPr lang="en" sz="2800" dirty="0"/>
          </a:p>
        </p:txBody>
      </p:sp>
      <p:sp>
        <p:nvSpPr>
          <p:cNvPr id="96" name="Shape 96"/>
          <p:cNvSpPr txBox="1">
            <a:spLocks noGrp="1"/>
          </p:cNvSpPr>
          <p:nvPr>
            <p:ph type="subTitle" idx="1"/>
          </p:nvPr>
        </p:nvSpPr>
        <p:spPr>
          <a:xfrm>
            <a:off x="1677874" y="2871049"/>
            <a:ext cx="7153202" cy="1700951"/>
          </a:xfrm>
          <a:prstGeom prst="rect">
            <a:avLst/>
          </a:prstGeom>
        </p:spPr>
        <p:txBody>
          <a:bodyPr lIns="91425" tIns="91425" rIns="91425" bIns="91425" anchor="t" anchorCtr="0">
            <a:noAutofit/>
          </a:bodyPr>
          <a:lstStyle/>
          <a:p>
            <a:pPr algn="ctr"/>
            <a:r>
              <a:rPr lang="en-US" dirty="0" err="1"/>
              <a:t>Pelaksanaan</a:t>
            </a:r>
            <a:r>
              <a:rPr lang="en-US" dirty="0"/>
              <a:t> listing </a:t>
            </a:r>
            <a:r>
              <a:rPr lang="en-US" dirty="0" err="1"/>
              <a:t>Sensus</a:t>
            </a:r>
            <a:r>
              <a:rPr lang="en-US" dirty="0"/>
              <a:t> </a:t>
            </a:r>
            <a:r>
              <a:rPr lang="en-US" dirty="0" err="1"/>
              <a:t>Ekonomi</a:t>
            </a:r>
            <a:r>
              <a:rPr lang="en-US" dirty="0"/>
              <a:t> </a:t>
            </a:r>
            <a:r>
              <a:rPr lang="en-US" dirty="0" err="1"/>
              <a:t>dibarengin</a:t>
            </a:r>
            <a:r>
              <a:rPr lang="en-US" dirty="0"/>
              <a:t> </a:t>
            </a:r>
            <a:r>
              <a:rPr lang="en-US" dirty="0" err="1"/>
              <a:t>dengan</a:t>
            </a:r>
            <a:r>
              <a:rPr lang="en-US" dirty="0"/>
              <a:t> </a:t>
            </a:r>
            <a:r>
              <a:rPr lang="en-US" dirty="0" err="1"/>
              <a:t>penggambaran</a:t>
            </a:r>
            <a:r>
              <a:rPr lang="en-US" dirty="0"/>
              <a:t> </a:t>
            </a:r>
            <a:r>
              <a:rPr lang="en-US" dirty="0" err="1"/>
              <a:t>sketsa</a:t>
            </a:r>
            <a:r>
              <a:rPr lang="en-US" dirty="0"/>
              <a:t> </a:t>
            </a:r>
            <a:r>
              <a:rPr lang="en-US" dirty="0" err="1"/>
              <a:t>peta</a:t>
            </a:r>
            <a:r>
              <a:rPr lang="en-US" dirty="0"/>
              <a:t> </a:t>
            </a:r>
            <a:r>
              <a:rPr lang="en-US" dirty="0" err="1"/>
              <a:t>blok</a:t>
            </a:r>
            <a:r>
              <a:rPr lang="en-US" dirty="0"/>
              <a:t> </a:t>
            </a:r>
            <a:r>
              <a:rPr lang="en-US" dirty="0" err="1"/>
              <a:t>sensus</a:t>
            </a:r>
            <a:r>
              <a:rPr lang="en-US" dirty="0"/>
              <a:t> (WB) </a:t>
            </a:r>
            <a:r>
              <a:rPr lang="en-US" dirty="0" err="1"/>
              <a:t>keadaan</a:t>
            </a:r>
            <a:r>
              <a:rPr lang="en-US" dirty="0"/>
              <a:t> </a:t>
            </a:r>
            <a:r>
              <a:rPr lang="en-US" dirty="0" err="1" smtClean="0"/>
              <a:t>wilayah</a:t>
            </a:r>
            <a:r>
              <a:rPr lang="en-US" dirty="0" smtClean="0"/>
              <a:t> </a:t>
            </a:r>
            <a:r>
              <a:rPr lang="en-US" dirty="0" err="1" smtClean="0"/>
              <a:t>cacah</a:t>
            </a:r>
            <a:r>
              <a:rPr lang="en-US" dirty="0" smtClean="0"/>
              <a:t>. </a:t>
            </a:r>
            <a:r>
              <a:rPr lang="en-US" dirty="0" err="1"/>
              <a:t>Peta</a:t>
            </a:r>
            <a:r>
              <a:rPr lang="en-US" dirty="0"/>
              <a:t> yang </a:t>
            </a:r>
            <a:r>
              <a:rPr lang="en-US" dirty="0" err="1"/>
              <a:t>telah</a:t>
            </a:r>
            <a:r>
              <a:rPr lang="en-US" dirty="0"/>
              <a:t> di </a:t>
            </a:r>
            <a:r>
              <a:rPr lang="en-US" dirty="0" err="1"/>
              <a:t>gambarkan</a:t>
            </a:r>
            <a:r>
              <a:rPr lang="en-US" dirty="0"/>
              <a:t> </a:t>
            </a:r>
            <a:r>
              <a:rPr lang="en-US" dirty="0" err="1"/>
              <a:t>kemudian</a:t>
            </a:r>
            <a:r>
              <a:rPr lang="en-US" dirty="0"/>
              <a:t> </a:t>
            </a:r>
            <a:r>
              <a:rPr lang="en-US" dirty="0" err="1"/>
              <a:t>akan</a:t>
            </a:r>
            <a:r>
              <a:rPr lang="en-US" dirty="0"/>
              <a:t> </a:t>
            </a:r>
            <a:r>
              <a:rPr lang="en-US" dirty="0" err="1"/>
              <a:t>di</a:t>
            </a:r>
            <a:r>
              <a:rPr lang="en-US" i="1" dirty="0" err="1"/>
              <a:t>scanning</a:t>
            </a:r>
            <a:r>
              <a:rPr lang="en-US" dirty="0"/>
              <a:t> </a:t>
            </a:r>
            <a:r>
              <a:rPr lang="en-US" dirty="0" err="1"/>
              <a:t>untuk</a:t>
            </a:r>
            <a:r>
              <a:rPr lang="en-US" dirty="0"/>
              <a:t> </a:t>
            </a:r>
            <a:r>
              <a:rPr lang="en-US" dirty="0" err="1"/>
              <a:t>dijadikan</a:t>
            </a:r>
            <a:r>
              <a:rPr lang="en-US" dirty="0"/>
              <a:t> </a:t>
            </a:r>
            <a:r>
              <a:rPr lang="en-US" i="1" dirty="0"/>
              <a:t>file </a:t>
            </a:r>
            <a:r>
              <a:rPr lang="en-US" dirty="0" err="1"/>
              <a:t>peta</a:t>
            </a:r>
            <a:r>
              <a:rPr lang="en-US" dirty="0"/>
              <a:t> digital. </a:t>
            </a:r>
            <a:r>
              <a:rPr lang="en-US" dirty="0" err="1"/>
              <a:t>Peta</a:t>
            </a:r>
            <a:r>
              <a:rPr lang="en-US" dirty="0"/>
              <a:t> digital </a:t>
            </a:r>
            <a:r>
              <a:rPr lang="en-US" dirty="0" err="1"/>
              <a:t>akan</a:t>
            </a:r>
            <a:r>
              <a:rPr lang="en-US" dirty="0"/>
              <a:t> </a:t>
            </a:r>
            <a:r>
              <a:rPr lang="en-US" dirty="0" err="1"/>
              <a:t>disimpan</a:t>
            </a:r>
            <a:r>
              <a:rPr lang="en-US" dirty="0"/>
              <a:t> </a:t>
            </a:r>
            <a:r>
              <a:rPr lang="en-US" dirty="0" err="1"/>
              <a:t>dan</a:t>
            </a:r>
            <a:r>
              <a:rPr lang="en-US" dirty="0"/>
              <a:t> </a:t>
            </a:r>
            <a:r>
              <a:rPr lang="en-US" dirty="0" err="1"/>
              <a:t>kemudian</a:t>
            </a:r>
            <a:r>
              <a:rPr lang="en-US" dirty="0"/>
              <a:t> </a:t>
            </a:r>
            <a:r>
              <a:rPr lang="en-US" dirty="0" err="1"/>
              <a:t>dikirimkan</a:t>
            </a:r>
            <a:r>
              <a:rPr lang="en-US" dirty="0"/>
              <a:t> </a:t>
            </a:r>
            <a:r>
              <a:rPr lang="en-US" dirty="0" err="1"/>
              <a:t>ke</a:t>
            </a:r>
            <a:r>
              <a:rPr lang="en-US" dirty="0"/>
              <a:t> </a:t>
            </a:r>
            <a:r>
              <a:rPr lang="en-US" dirty="0" err="1"/>
              <a:t>provinsi</a:t>
            </a:r>
            <a:r>
              <a:rPr lang="en-US" dirty="0"/>
              <a:t>. </a:t>
            </a:r>
          </a:p>
          <a:p>
            <a:endParaRPr lang="en-US" dirty="0"/>
          </a:p>
          <a:p>
            <a:pPr algn="ctr"/>
            <a:r>
              <a:rPr lang="en-US" b="1" dirty="0" smtClean="0"/>
              <a:t>Output:</a:t>
            </a:r>
          </a:p>
          <a:p>
            <a:pPr algn="ctr"/>
            <a:r>
              <a:rPr lang="en-US" i="1" dirty="0" err="1"/>
              <a:t>Softfile</a:t>
            </a:r>
            <a:r>
              <a:rPr lang="en-US" dirty="0"/>
              <a:t> </a:t>
            </a:r>
            <a:r>
              <a:rPr lang="en-US" dirty="0" err="1"/>
              <a:t>Peta</a:t>
            </a:r>
            <a:r>
              <a:rPr lang="en-US" dirty="0"/>
              <a:t> WB SE 2016 yang </a:t>
            </a:r>
            <a:r>
              <a:rPr lang="en-US" dirty="0" err="1"/>
              <a:t>sudah</a:t>
            </a:r>
            <a:r>
              <a:rPr lang="en-US" dirty="0"/>
              <a:t> </a:t>
            </a:r>
            <a:r>
              <a:rPr lang="en-US" dirty="0" err="1"/>
              <a:t>dikelompokan</a:t>
            </a:r>
            <a:r>
              <a:rPr lang="en-US" dirty="0"/>
              <a:t>.</a:t>
            </a:r>
            <a:endParaRPr lang="id-ID" dirty="0"/>
          </a:p>
        </p:txBody>
      </p:sp>
      <p:sp>
        <p:nvSpPr>
          <p:cNvPr id="97" name="Shape 97"/>
          <p:cNvSpPr txBox="1"/>
          <p:nvPr/>
        </p:nvSpPr>
        <p:spPr>
          <a:xfrm>
            <a:off x="1133975" y="2291150"/>
            <a:ext cx="543899" cy="562199"/>
          </a:xfrm>
          <a:prstGeom prst="rect">
            <a:avLst/>
          </a:prstGeom>
          <a:noFill/>
          <a:ln>
            <a:noFill/>
          </a:ln>
        </p:spPr>
        <p:txBody>
          <a:bodyPr lIns="91425" tIns="91425" rIns="91425" bIns="91425" anchor="ctr" anchorCtr="0">
            <a:noAutofit/>
          </a:bodyPr>
          <a:lstStyle/>
          <a:p>
            <a:pPr algn="ctr">
              <a:spcBef>
                <a:spcPts val="0"/>
              </a:spcBef>
              <a:buNone/>
            </a:pPr>
            <a:r>
              <a:rPr lang="en" sz="2400" dirty="0" smtClean="0">
                <a:solidFill>
                  <a:schemeClr val="dk1"/>
                </a:solidFill>
                <a:latin typeface="Lora"/>
                <a:ea typeface="Lora"/>
                <a:cs typeface="Lora"/>
                <a:sym typeface="Lora"/>
              </a:rPr>
              <a:t>5</a:t>
            </a:r>
            <a:endParaRPr lang="en" sz="2400" dirty="0">
              <a:solidFill>
                <a:schemeClr val="dk1"/>
              </a:solidFill>
              <a:latin typeface="Lora"/>
              <a:ea typeface="Lora"/>
              <a:cs typeface="Lora"/>
              <a:sym typeface="Lora"/>
            </a:endParaRPr>
          </a:p>
        </p:txBody>
      </p:sp>
    </p:spTree>
    <p:extLst>
      <p:ext uri="{BB962C8B-B14F-4D97-AF65-F5344CB8AC3E}">
        <p14:creationId xmlns:p14="http://schemas.microsoft.com/office/powerpoint/2010/main" val="2997478635"/>
      </p:ext>
    </p:extLst>
  </p:cSld>
  <p:clrMapOvr>
    <a:masterClrMapping/>
  </p:clrMapOvr>
  <p:transition spd="slow">
    <p:cu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2" name="Rectangle 1"/>
          <p:cNvSpPr/>
          <p:nvPr/>
        </p:nvSpPr>
        <p:spPr>
          <a:xfrm>
            <a:off x="5103628" y="924720"/>
            <a:ext cx="1402276" cy="4355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7" name="Shape 107"/>
          <p:cNvSpPr txBox="1">
            <a:spLocks noGrp="1"/>
          </p:cNvSpPr>
          <p:nvPr>
            <p:ph type="title"/>
          </p:nvPr>
        </p:nvSpPr>
        <p:spPr>
          <a:xfrm>
            <a:off x="1381249" y="924720"/>
            <a:ext cx="5229757" cy="435599"/>
          </a:xfrm>
          <a:prstGeom prst="rect">
            <a:avLst/>
          </a:prstGeom>
        </p:spPr>
        <p:txBody>
          <a:bodyPr lIns="91425" tIns="91425" rIns="91425" bIns="91425" anchor="ctr" anchorCtr="0">
            <a:noAutofit/>
          </a:bodyPr>
          <a:lstStyle/>
          <a:p>
            <a:r>
              <a:rPr lang="en-US" dirty="0" err="1"/>
              <a:t>Melakukan</a:t>
            </a:r>
            <a:r>
              <a:rPr lang="en-US" dirty="0"/>
              <a:t> </a:t>
            </a:r>
            <a:r>
              <a:rPr lang="en-US" i="1" dirty="0"/>
              <a:t>Scanning</a:t>
            </a:r>
            <a:r>
              <a:rPr lang="en-US" dirty="0"/>
              <a:t> </a:t>
            </a:r>
            <a:r>
              <a:rPr lang="en-US" dirty="0" err="1"/>
              <a:t>sketsa</a:t>
            </a:r>
            <a:r>
              <a:rPr lang="en-US" dirty="0"/>
              <a:t> </a:t>
            </a:r>
            <a:r>
              <a:rPr lang="en-US" dirty="0" err="1"/>
              <a:t>peta</a:t>
            </a:r>
            <a:r>
              <a:rPr lang="en-US" dirty="0"/>
              <a:t> WB SE</a:t>
            </a:r>
            <a:endParaRPr lang="en"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222"/>
          <p:cNvSpPr txBox="1">
            <a:spLocks/>
          </p:cNvSpPr>
          <p:nvPr/>
        </p:nvSpPr>
        <p:spPr>
          <a:xfrm>
            <a:off x="707065" y="2370151"/>
            <a:ext cx="7772400" cy="1159799"/>
          </a:xfrm>
          <a:prstGeom prst="rect">
            <a:avLst/>
          </a:prstGeom>
          <a:noFill/>
          <a:ln>
            <a:noFill/>
          </a:ln>
        </p:spPr>
        <p:txBody>
          <a:bodyPr lIns="91425" tIns="91425" rIns="91425" bIns="91425" anchor="ctr"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SzPct val="100000"/>
              <a:buFont typeface="Lora"/>
              <a:buNone/>
              <a:defRPr sz="2000" b="1" i="0" u="none" strike="noStrike" cap="none" baseline="0">
                <a:solidFill>
                  <a:srgbClr val="000000"/>
                </a:solidFill>
                <a:latin typeface="Lora"/>
                <a:ea typeface="Lora"/>
                <a:cs typeface="Lora"/>
                <a:sym typeface="Lora"/>
                <a:rtl val="0"/>
              </a:defRPr>
            </a:lvl1pPr>
            <a:lvl2pPr rtl="0">
              <a:spcBef>
                <a:spcPts val="0"/>
              </a:spcBef>
              <a:buSzPct val="100000"/>
              <a:buFont typeface="Lora"/>
              <a:buNone/>
              <a:defRPr sz="2000" b="1">
                <a:latin typeface="Lora"/>
                <a:ea typeface="Lora"/>
                <a:cs typeface="Lora"/>
                <a:sym typeface="Lora"/>
              </a:defRPr>
            </a:lvl2pPr>
            <a:lvl3pPr rtl="0">
              <a:spcBef>
                <a:spcPts val="0"/>
              </a:spcBef>
              <a:buSzPct val="100000"/>
              <a:buFont typeface="Lora"/>
              <a:buNone/>
              <a:defRPr sz="2000" b="1">
                <a:latin typeface="Lora"/>
                <a:ea typeface="Lora"/>
                <a:cs typeface="Lora"/>
                <a:sym typeface="Lora"/>
              </a:defRPr>
            </a:lvl3pPr>
            <a:lvl4pPr rtl="0">
              <a:spcBef>
                <a:spcPts val="0"/>
              </a:spcBef>
              <a:buSzPct val="100000"/>
              <a:buFont typeface="Lora"/>
              <a:buNone/>
              <a:defRPr sz="2000" b="1">
                <a:latin typeface="Lora"/>
                <a:ea typeface="Lora"/>
                <a:cs typeface="Lora"/>
                <a:sym typeface="Lora"/>
              </a:defRPr>
            </a:lvl4pPr>
            <a:lvl5pPr rtl="0">
              <a:spcBef>
                <a:spcPts val="0"/>
              </a:spcBef>
              <a:buSzPct val="100000"/>
              <a:buFont typeface="Lora"/>
              <a:buNone/>
              <a:defRPr sz="2000" b="1">
                <a:latin typeface="Lora"/>
                <a:ea typeface="Lora"/>
                <a:cs typeface="Lora"/>
                <a:sym typeface="Lora"/>
              </a:defRPr>
            </a:lvl5pPr>
            <a:lvl6pPr rtl="0">
              <a:spcBef>
                <a:spcPts val="0"/>
              </a:spcBef>
              <a:buSzPct val="100000"/>
              <a:buFont typeface="Lora"/>
              <a:buNone/>
              <a:defRPr sz="2000" b="1">
                <a:latin typeface="Lora"/>
                <a:ea typeface="Lora"/>
                <a:cs typeface="Lora"/>
                <a:sym typeface="Lora"/>
              </a:defRPr>
            </a:lvl6pPr>
            <a:lvl7pPr rtl="0">
              <a:spcBef>
                <a:spcPts val="0"/>
              </a:spcBef>
              <a:buSzPct val="100000"/>
              <a:buFont typeface="Lora"/>
              <a:buNone/>
              <a:defRPr sz="2000" b="1">
                <a:latin typeface="Lora"/>
                <a:ea typeface="Lora"/>
                <a:cs typeface="Lora"/>
                <a:sym typeface="Lora"/>
              </a:defRPr>
            </a:lvl7pPr>
            <a:lvl8pPr rtl="0">
              <a:spcBef>
                <a:spcPts val="0"/>
              </a:spcBef>
              <a:buSzPct val="100000"/>
              <a:buFont typeface="Lora"/>
              <a:buNone/>
              <a:defRPr sz="2000" b="1">
                <a:latin typeface="Lora"/>
                <a:ea typeface="Lora"/>
                <a:cs typeface="Lora"/>
                <a:sym typeface="Lora"/>
              </a:defRPr>
            </a:lvl8pPr>
            <a:lvl9pPr rtl="0">
              <a:spcBef>
                <a:spcPts val="0"/>
              </a:spcBef>
              <a:buSzPct val="100000"/>
              <a:buFont typeface="Lora"/>
              <a:buNone/>
              <a:defRPr sz="2000" b="1">
                <a:latin typeface="Lora"/>
                <a:ea typeface="Lora"/>
                <a:cs typeface="Lora"/>
                <a:sym typeface="Lora"/>
              </a:defRPr>
            </a:lvl9pPr>
          </a:lstStyle>
          <a:p>
            <a:pPr algn="ctr"/>
            <a:r>
              <a:rPr lang="en" sz="6600" b="0" dirty="0" smtClean="0">
                <a:latin typeface="Arial" panose="020B0604020202020204" pitchFamily="34" charset="0"/>
                <a:cs typeface="Arial" panose="020B0604020202020204" pitchFamily="34" charset="0"/>
              </a:rPr>
              <a:t>15-16 Agustus 2016</a:t>
            </a:r>
            <a:endParaRPr lang="en" sz="6600" b="0" dirty="0">
              <a:latin typeface="Arial" panose="020B0604020202020204" pitchFamily="34" charset="0"/>
              <a:cs typeface="Arial" panose="020B0604020202020204" pitchFamily="34" charset="0"/>
            </a:endParaRPr>
          </a:p>
        </p:txBody>
      </p:sp>
      <p:sp>
        <p:nvSpPr>
          <p:cNvPr id="3" name="TextBox 2"/>
          <p:cNvSpPr txBox="1"/>
          <p:nvPr/>
        </p:nvSpPr>
        <p:spPr>
          <a:xfrm>
            <a:off x="1045171" y="2183622"/>
            <a:ext cx="3463035" cy="369332"/>
          </a:xfrm>
          <a:prstGeom prst="rect">
            <a:avLst/>
          </a:prstGeom>
          <a:noFill/>
        </p:spPr>
        <p:txBody>
          <a:bodyPr wrap="square" rtlCol="0">
            <a:spAutoFit/>
          </a:bodyPr>
          <a:lstStyle/>
          <a:p>
            <a:r>
              <a:rPr lang="en-US" sz="1800" dirty="0" err="1" smtClean="0">
                <a:latin typeface="Lora"/>
              </a:rPr>
              <a:t>Tanggal</a:t>
            </a:r>
            <a:r>
              <a:rPr lang="en-US" sz="1800" dirty="0" smtClean="0">
                <a:latin typeface="Lora"/>
              </a:rPr>
              <a:t> </a:t>
            </a:r>
            <a:r>
              <a:rPr lang="en-US" sz="1800" dirty="0" err="1" smtClean="0">
                <a:latin typeface="Lora"/>
              </a:rPr>
              <a:t>Rencana</a:t>
            </a:r>
            <a:r>
              <a:rPr lang="en-US" sz="1800" dirty="0" smtClean="0">
                <a:latin typeface="Lora"/>
              </a:rPr>
              <a:t> </a:t>
            </a:r>
            <a:r>
              <a:rPr lang="en-US" sz="1800" dirty="0" err="1" smtClean="0">
                <a:latin typeface="Lora"/>
              </a:rPr>
              <a:t>Pelaksanaan</a:t>
            </a:r>
            <a:r>
              <a:rPr lang="en-US" sz="1800" dirty="0" smtClean="0">
                <a:latin typeface="Lora"/>
              </a:rPr>
              <a:t>:</a:t>
            </a:r>
            <a:endParaRPr lang="id-ID" sz="1800" dirty="0">
              <a:latin typeface="Lora"/>
            </a:endParaRPr>
          </a:p>
        </p:txBody>
      </p:sp>
    </p:spTree>
    <p:extLst>
      <p:ext uri="{BB962C8B-B14F-4D97-AF65-F5344CB8AC3E}">
        <p14:creationId xmlns:p14="http://schemas.microsoft.com/office/powerpoint/2010/main" val="3973887777"/>
      </p:ext>
    </p:extLst>
  </p:cSld>
  <p:clrMapOvr>
    <a:masterClrMapping/>
  </p:clrMapOvr>
  <p:transition spd="slow">
    <p:cut/>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4" name="Rectangle 13"/>
          <p:cNvSpPr/>
          <p:nvPr/>
        </p:nvSpPr>
        <p:spPr>
          <a:xfrm>
            <a:off x="5103628" y="924720"/>
            <a:ext cx="1424762" cy="4355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7" name="Shape 107"/>
          <p:cNvSpPr txBox="1">
            <a:spLocks noGrp="1"/>
          </p:cNvSpPr>
          <p:nvPr>
            <p:ph type="title"/>
          </p:nvPr>
        </p:nvSpPr>
        <p:spPr>
          <a:xfrm>
            <a:off x="1381250" y="924720"/>
            <a:ext cx="5147139" cy="435599"/>
          </a:xfrm>
          <a:prstGeom prst="rect">
            <a:avLst/>
          </a:prstGeom>
        </p:spPr>
        <p:txBody>
          <a:bodyPr lIns="91425" tIns="91425" rIns="91425" bIns="91425" anchor="ctr" anchorCtr="0">
            <a:noAutofit/>
          </a:bodyPr>
          <a:lstStyle/>
          <a:p>
            <a:r>
              <a:rPr lang="en-US" dirty="0" err="1"/>
              <a:t>Melakukan</a:t>
            </a:r>
            <a:r>
              <a:rPr lang="en-US" dirty="0"/>
              <a:t> </a:t>
            </a:r>
            <a:r>
              <a:rPr lang="en-US" i="1" dirty="0"/>
              <a:t>Scanning</a:t>
            </a:r>
            <a:r>
              <a:rPr lang="en-US" dirty="0"/>
              <a:t> </a:t>
            </a:r>
            <a:r>
              <a:rPr lang="en-US" dirty="0" err="1"/>
              <a:t>sketsa</a:t>
            </a:r>
            <a:r>
              <a:rPr lang="en-US" dirty="0"/>
              <a:t> </a:t>
            </a:r>
            <a:r>
              <a:rPr lang="en-US" dirty="0" err="1"/>
              <a:t>peta</a:t>
            </a:r>
            <a:r>
              <a:rPr lang="en-US" dirty="0"/>
              <a:t> WB SE</a:t>
            </a:r>
            <a:endParaRPr lang="en" dirty="0"/>
          </a:p>
        </p:txBody>
      </p:sp>
      <p:sp>
        <p:nvSpPr>
          <p:cNvPr id="108" name="Shape 108"/>
          <p:cNvSpPr txBox="1">
            <a:spLocks noGrp="1"/>
          </p:cNvSpPr>
          <p:nvPr>
            <p:ph type="body" idx="1"/>
          </p:nvPr>
        </p:nvSpPr>
        <p:spPr>
          <a:xfrm>
            <a:off x="-1" y="1450099"/>
            <a:ext cx="6528391" cy="559454"/>
          </a:xfrm>
          <a:prstGeom prst="rect">
            <a:avLst/>
          </a:prstGeom>
        </p:spPr>
        <p:txBody>
          <a:bodyPr lIns="91425" tIns="91425" rIns="91425" bIns="91425" anchor="t" anchorCtr="0">
            <a:noAutofit/>
          </a:bodyPr>
          <a:lstStyle/>
          <a:p>
            <a:pPr marL="228600" lvl="0">
              <a:spcBef>
                <a:spcPts val="0"/>
              </a:spcBef>
              <a:buNone/>
            </a:pPr>
            <a:r>
              <a:rPr lang="en-US" dirty="0" err="1" smtClean="0"/>
              <a:t>Nilai-nilai</a:t>
            </a:r>
            <a:r>
              <a:rPr lang="en-US" dirty="0" smtClean="0"/>
              <a:t> ANEKA </a:t>
            </a:r>
            <a:r>
              <a:rPr lang="en-US" dirty="0" err="1" smtClean="0"/>
              <a:t>akan</a:t>
            </a:r>
            <a:r>
              <a:rPr lang="en-US" dirty="0" smtClean="0"/>
              <a:t> </a:t>
            </a:r>
            <a:r>
              <a:rPr lang="en-US" dirty="0" err="1" smtClean="0"/>
              <a:t>diaktualisasikan</a:t>
            </a:r>
            <a:endParaRPr lang="id-ID"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1"/>
              <a:ext cx="188176" cy="188149"/>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384830" y="2192205"/>
            <a:ext cx="3549216" cy="163323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endParaRPr lang="en" sz="1400" dirty="0"/>
          </a:p>
        </p:txBody>
      </p:sp>
      <p:sp>
        <p:nvSpPr>
          <p:cNvPr id="11" name="Shape 151"/>
          <p:cNvSpPr txBox="1">
            <a:spLocks/>
          </p:cNvSpPr>
          <p:nvPr/>
        </p:nvSpPr>
        <p:spPr>
          <a:xfrm>
            <a:off x="1131082" y="2099333"/>
            <a:ext cx="2333999" cy="2164323"/>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buNone/>
            </a:pPr>
            <a:r>
              <a:rPr lang="en-US" sz="1400" b="1" dirty="0" err="1" smtClean="0"/>
              <a:t>Akuntabilitas</a:t>
            </a:r>
            <a:r>
              <a:rPr lang="en-US" sz="1400" b="1" dirty="0"/>
              <a:t>:</a:t>
            </a:r>
            <a:endParaRPr lang="id-ID" sz="1400" dirty="0"/>
          </a:p>
          <a:p>
            <a:pPr marL="285750" indent="-285750">
              <a:spcBef>
                <a:spcPts val="0"/>
              </a:spcBef>
            </a:pPr>
            <a:r>
              <a:rPr lang="en-US" sz="1400" dirty="0" err="1">
                <a:sym typeface="Arial"/>
              </a:rPr>
              <a:t>Kejelasan</a:t>
            </a:r>
            <a:endParaRPr lang="id-ID" sz="1400" dirty="0">
              <a:sym typeface="Arial"/>
            </a:endParaRPr>
          </a:p>
          <a:p>
            <a:pPr marL="285750" indent="-285750">
              <a:spcBef>
                <a:spcPts val="0"/>
              </a:spcBef>
            </a:pPr>
            <a:r>
              <a:rPr lang="en-US" sz="1400" dirty="0" err="1">
                <a:sym typeface="Arial"/>
              </a:rPr>
              <a:t>Penggunaan</a:t>
            </a:r>
            <a:r>
              <a:rPr lang="en-US" sz="1400" dirty="0">
                <a:sym typeface="Arial"/>
              </a:rPr>
              <a:t> </a:t>
            </a:r>
            <a:r>
              <a:rPr lang="en-US" sz="1400" dirty="0" err="1">
                <a:sym typeface="Arial"/>
              </a:rPr>
              <a:t>sumber</a:t>
            </a:r>
            <a:r>
              <a:rPr lang="en-US" sz="1400" dirty="0">
                <a:sym typeface="Arial"/>
              </a:rPr>
              <a:t> </a:t>
            </a:r>
            <a:r>
              <a:rPr lang="en-US" sz="1400" dirty="0" err="1">
                <a:sym typeface="Arial"/>
              </a:rPr>
              <a:t>daya</a:t>
            </a:r>
            <a:r>
              <a:rPr lang="en-US" sz="1400" dirty="0">
                <a:sym typeface="Arial"/>
              </a:rPr>
              <a:t> yang </a:t>
            </a:r>
            <a:r>
              <a:rPr lang="en-US" sz="1400" dirty="0" err="1">
                <a:sym typeface="Arial"/>
              </a:rPr>
              <a:t>efektif</a:t>
            </a:r>
            <a:endParaRPr lang="id-ID" sz="1400" dirty="0">
              <a:sym typeface="Arial"/>
            </a:endParaRPr>
          </a:p>
          <a:p>
            <a:pPr marL="285750" indent="-285750">
              <a:spcBef>
                <a:spcPts val="0"/>
              </a:spcBef>
            </a:pPr>
            <a:r>
              <a:rPr lang="en-US" sz="1400" dirty="0" err="1">
                <a:sym typeface="Arial"/>
              </a:rPr>
              <a:t>laporan</a:t>
            </a:r>
            <a:endParaRPr lang="id-ID" sz="1400" dirty="0">
              <a:sym typeface="Arial"/>
            </a:endParaRPr>
          </a:p>
        </p:txBody>
      </p:sp>
      <p:sp>
        <p:nvSpPr>
          <p:cNvPr id="12" name="Shape 152"/>
          <p:cNvSpPr txBox="1">
            <a:spLocks/>
          </p:cNvSpPr>
          <p:nvPr/>
        </p:nvSpPr>
        <p:spPr>
          <a:xfrm>
            <a:off x="3584743" y="2099333"/>
            <a:ext cx="2333999" cy="2164323"/>
          </a:xfrm>
          <a:prstGeom prst="rect">
            <a:avLst/>
          </a:prstGeom>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r>
              <a:rPr lang="en-US" b="1" dirty="0" err="1" smtClean="0"/>
              <a:t>Nasionalisme</a:t>
            </a:r>
            <a:r>
              <a:rPr lang="en-US" b="1" dirty="0"/>
              <a:t>:</a:t>
            </a:r>
            <a:endParaRPr lang="id-ID" dirty="0"/>
          </a:p>
          <a:p>
            <a:pPr marL="285750" indent="-285750">
              <a:buClr>
                <a:srgbClr val="FFCD00"/>
              </a:buClr>
              <a:buSzPct val="100000"/>
              <a:buFont typeface="Quattrocento Sans"/>
              <a:buChar char="◉"/>
            </a:pPr>
            <a:r>
              <a:rPr lang="en-US" dirty="0" err="1" smtClean="0">
                <a:latin typeface="Quattrocento Sans"/>
                <a:ea typeface="Quattrocento Sans"/>
                <a:cs typeface="Quattrocento Sans"/>
              </a:rPr>
              <a:t>Takwa</a:t>
            </a:r>
            <a:endParaRPr lang="en-US" dirty="0" smtClean="0">
              <a:latin typeface="Quattrocento Sans"/>
              <a:ea typeface="Quattrocento Sans"/>
              <a:cs typeface="Quattrocento Sans"/>
            </a:endParaRPr>
          </a:p>
          <a:p>
            <a:pPr marL="285750" indent="-285750">
              <a:buClr>
                <a:srgbClr val="FFCD00"/>
              </a:buClr>
              <a:buSzPct val="100000"/>
              <a:buFont typeface="Quattrocento Sans"/>
              <a:buChar char="◉"/>
            </a:pPr>
            <a:r>
              <a:rPr lang="en-US" dirty="0" err="1" smtClean="0"/>
              <a:t>Ikhlas</a:t>
            </a:r>
            <a:endParaRPr lang="en-US" dirty="0" smtClean="0"/>
          </a:p>
          <a:p>
            <a:pPr marL="285750" indent="-285750">
              <a:buClr>
                <a:srgbClr val="FFCD00"/>
              </a:buClr>
              <a:buSzPct val="100000"/>
              <a:buFont typeface="Quattrocento Sans"/>
              <a:buChar char="◉"/>
            </a:pPr>
            <a:r>
              <a:rPr lang="en-US" dirty="0" err="1" smtClean="0"/>
              <a:t>adil</a:t>
            </a:r>
            <a:endParaRPr lang="en-US" dirty="0" smtClean="0"/>
          </a:p>
          <a:p>
            <a:pPr marL="285750" indent="-285750">
              <a:buClr>
                <a:srgbClr val="FFCD00"/>
              </a:buClr>
              <a:buSzPct val="100000"/>
              <a:buFont typeface="Quattrocento Sans"/>
              <a:buChar char="◉"/>
            </a:pPr>
            <a:endParaRPr lang="id-ID" dirty="0"/>
          </a:p>
          <a:p>
            <a:r>
              <a:rPr lang="en-US" b="1" dirty="0" err="1"/>
              <a:t>Etika</a:t>
            </a:r>
            <a:r>
              <a:rPr lang="en-US" b="1" dirty="0"/>
              <a:t> </a:t>
            </a:r>
            <a:r>
              <a:rPr lang="en-US" b="1" dirty="0" err="1"/>
              <a:t>Publik</a:t>
            </a:r>
            <a:r>
              <a:rPr lang="en-US" b="1" dirty="0"/>
              <a:t>:</a:t>
            </a:r>
            <a:endParaRPr lang="id-ID" dirty="0"/>
          </a:p>
          <a:p>
            <a:pPr marL="285750" lvl="0" indent="-285750">
              <a:buClr>
                <a:srgbClr val="FFCD00"/>
              </a:buClr>
              <a:buSzPct val="100000"/>
              <a:buFont typeface="Quattrocento Sans"/>
              <a:buChar char="◉"/>
            </a:pPr>
            <a:r>
              <a:rPr lang="en-US" dirty="0" err="1" smtClean="0"/>
              <a:t>Keahlian</a:t>
            </a:r>
            <a:r>
              <a:rPr lang="en-US" dirty="0" smtClean="0"/>
              <a:t> professional</a:t>
            </a:r>
          </a:p>
          <a:p>
            <a:pPr marL="285750" lvl="0" indent="-285750">
              <a:buClr>
                <a:srgbClr val="FFCD00"/>
              </a:buClr>
              <a:buSzPct val="100000"/>
              <a:buFont typeface="Quattrocento Sans"/>
              <a:buChar char="◉"/>
            </a:pPr>
            <a:r>
              <a:rPr lang="en-US" dirty="0" err="1" smtClean="0"/>
              <a:t>Menyelesaikan</a:t>
            </a:r>
            <a:r>
              <a:rPr lang="en-US" dirty="0" smtClean="0"/>
              <a:t> </a:t>
            </a:r>
            <a:r>
              <a:rPr lang="en-US" dirty="0" err="1"/>
              <a:t>tugas</a:t>
            </a:r>
            <a:r>
              <a:rPr lang="en-US" dirty="0"/>
              <a:t> </a:t>
            </a:r>
            <a:r>
              <a:rPr lang="en-US" dirty="0" err="1"/>
              <a:t>dengan</a:t>
            </a:r>
            <a:r>
              <a:rPr lang="en-US" dirty="0"/>
              <a:t> </a:t>
            </a:r>
            <a:r>
              <a:rPr lang="en-US" dirty="0" err="1"/>
              <a:t>baik</a:t>
            </a:r>
            <a:endParaRPr lang="id-ID" dirty="0"/>
          </a:p>
          <a:p>
            <a:pPr marL="285750" lvl="0" indent="-285750">
              <a:buClr>
                <a:srgbClr val="FFCD00"/>
              </a:buClr>
              <a:buSzPct val="100000"/>
              <a:buFont typeface="Quattrocento Sans"/>
              <a:buChar char="◉"/>
            </a:pPr>
            <a:endParaRPr lang="en" dirty="0">
              <a:latin typeface="Quattrocento Sans"/>
              <a:ea typeface="Quattrocento Sans"/>
              <a:cs typeface="Quattrocento Sans"/>
              <a:sym typeface="Quattrocento Sans"/>
            </a:endParaRPr>
          </a:p>
        </p:txBody>
      </p:sp>
      <p:sp>
        <p:nvSpPr>
          <p:cNvPr id="13" name="Shape 153"/>
          <p:cNvSpPr txBox="1">
            <a:spLocks/>
          </p:cNvSpPr>
          <p:nvPr/>
        </p:nvSpPr>
        <p:spPr>
          <a:xfrm>
            <a:off x="6038405" y="2099333"/>
            <a:ext cx="2659028" cy="1983569"/>
          </a:xfrm>
          <a:prstGeom prst="rect">
            <a:avLst/>
          </a:prstGeom>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r>
              <a:rPr lang="en-US" b="1" dirty="0" err="1"/>
              <a:t>Komitmen</a:t>
            </a:r>
            <a:r>
              <a:rPr lang="en-US" b="1" dirty="0"/>
              <a:t> </a:t>
            </a:r>
            <a:r>
              <a:rPr lang="en-US" b="1" dirty="0" err="1"/>
              <a:t>Mutu</a:t>
            </a:r>
            <a:r>
              <a:rPr lang="en-US" b="1" dirty="0"/>
              <a:t>:</a:t>
            </a:r>
            <a:endParaRPr lang="id-ID" dirty="0"/>
          </a:p>
          <a:p>
            <a:pPr marL="285750" indent="-285750">
              <a:buClr>
                <a:srgbClr val="FFCD00"/>
              </a:buClr>
              <a:buSzPct val="100000"/>
              <a:buFont typeface="Quattrocento Sans"/>
              <a:buChar char="◉"/>
            </a:pPr>
            <a:r>
              <a:rPr lang="en-US" dirty="0" err="1" smtClean="0"/>
              <a:t>Efektif</a:t>
            </a:r>
            <a:endParaRPr lang="en-US" dirty="0" smtClean="0"/>
          </a:p>
          <a:p>
            <a:pPr marL="285750" indent="-285750">
              <a:buClr>
                <a:srgbClr val="FFCD00"/>
              </a:buClr>
              <a:buSzPct val="100000"/>
              <a:buFont typeface="Quattrocento Sans"/>
              <a:buChar char="◉"/>
            </a:pPr>
            <a:endParaRPr lang="id-ID" dirty="0" smtClean="0">
              <a:latin typeface="Quattrocento Sans"/>
              <a:ea typeface="Quattrocento Sans"/>
              <a:cs typeface="Quattrocento Sans"/>
            </a:endParaRPr>
          </a:p>
          <a:p>
            <a:r>
              <a:rPr lang="en-US" b="1" dirty="0" smtClean="0"/>
              <a:t>Anti </a:t>
            </a:r>
            <a:r>
              <a:rPr lang="en-US" b="1" dirty="0" err="1"/>
              <a:t>Korupsi</a:t>
            </a:r>
            <a:r>
              <a:rPr lang="en-US" b="1" dirty="0"/>
              <a:t>:</a:t>
            </a:r>
            <a:endParaRPr lang="id-ID" dirty="0"/>
          </a:p>
          <a:p>
            <a:pPr marL="285750" indent="-285750">
              <a:buClr>
                <a:srgbClr val="FFCD00"/>
              </a:buClr>
              <a:buSzPct val="100000"/>
              <a:buFont typeface="Quattrocento Sans"/>
              <a:buChar char="◉"/>
            </a:pPr>
            <a:r>
              <a:rPr lang="id-ID" dirty="0"/>
              <a:t>Mandiri</a:t>
            </a:r>
            <a:endParaRPr lang="en-US" dirty="0">
              <a:latin typeface="Quattrocento Sans"/>
              <a:ea typeface="Quattrocento Sans"/>
              <a:cs typeface="Quattrocento Sans"/>
            </a:endParaRPr>
          </a:p>
        </p:txBody>
      </p:sp>
    </p:spTree>
    <p:extLst>
      <p:ext uri="{BB962C8B-B14F-4D97-AF65-F5344CB8AC3E}">
        <p14:creationId xmlns:p14="http://schemas.microsoft.com/office/powerpoint/2010/main" val="4116577304"/>
      </p:ext>
    </p:extLst>
  </p:cSld>
  <p:clrMapOvr>
    <a:masterClrMapping/>
  </p:clrMapOvr>
  <p:transition spd="slow">
    <p:cut/>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1" name="Rectangle 10"/>
          <p:cNvSpPr/>
          <p:nvPr/>
        </p:nvSpPr>
        <p:spPr>
          <a:xfrm>
            <a:off x="5103627" y="924720"/>
            <a:ext cx="1370745" cy="4355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7" name="Shape 107"/>
          <p:cNvSpPr txBox="1">
            <a:spLocks noGrp="1"/>
          </p:cNvSpPr>
          <p:nvPr>
            <p:ph type="title"/>
          </p:nvPr>
        </p:nvSpPr>
        <p:spPr>
          <a:xfrm>
            <a:off x="1381250" y="924720"/>
            <a:ext cx="5093122" cy="435599"/>
          </a:xfrm>
          <a:prstGeom prst="rect">
            <a:avLst/>
          </a:prstGeom>
        </p:spPr>
        <p:txBody>
          <a:bodyPr lIns="91425" tIns="91425" rIns="91425" bIns="91425" anchor="ctr" anchorCtr="0">
            <a:noAutofit/>
          </a:bodyPr>
          <a:lstStyle/>
          <a:p>
            <a:r>
              <a:rPr lang="en-US" dirty="0" err="1"/>
              <a:t>Melakukan</a:t>
            </a:r>
            <a:r>
              <a:rPr lang="en-US" dirty="0"/>
              <a:t> </a:t>
            </a:r>
            <a:r>
              <a:rPr lang="en-US" i="1" dirty="0"/>
              <a:t>Scanning</a:t>
            </a:r>
            <a:r>
              <a:rPr lang="en-US" dirty="0"/>
              <a:t> </a:t>
            </a:r>
            <a:r>
              <a:rPr lang="en-US" dirty="0" err="1"/>
              <a:t>sketsa</a:t>
            </a:r>
            <a:r>
              <a:rPr lang="en-US" dirty="0"/>
              <a:t> </a:t>
            </a:r>
            <a:r>
              <a:rPr lang="en-US" dirty="0" err="1"/>
              <a:t>peta</a:t>
            </a:r>
            <a:r>
              <a:rPr lang="en-US" dirty="0"/>
              <a:t> WB SE</a:t>
            </a:r>
            <a:endParaRPr lang="en" dirty="0"/>
          </a:p>
        </p:txBody>
      </p:sp>
      <p:sp>
        <p:nvSpPr>
          <p:cNvPr id="108" name="Shape 108"/>
          <p:cNvSpPr txBox="1">
            <a:spLocks noGrp="1"/>
          </p:cNvSpPr>
          <p:nvPr>
            <p:ph type="body" idx="1"/>
          </p:nvPr>
        </p:nvSpPr>
        <p:spPr>
          <a:xfrm>
            <a:off x="0" y="1450099"/>
            <a:ext cx="5883684" cy="559454"/>
          </a:xfrm>
          <a:prstGeom prst="rect">
            <a:avLst/>
          </a:prstGeom>
        </p:spPr>
        <p:txBody>
          <a:bodyPr lIns="91425" tIns="91425" rIns="91425" bIns="91425" anchor="t" anchorCtr="0">
            <a:noAutofit/>
          </a:bodyPr>
          <a:lstStyle/>
          <a:p>
            <a:pPr marL="228600" lvl="0">
              <a:spcBef>
                <a:spcPts val="0"/>
              </a:spcBef>
              <a:buNone/>
            </a:pPr>
            <a:r>
              <a:rPr lang="en-US" dirty="0" err="1" smtClean="0"/>
              <a:t>Contoh</a:t>
            </a:r>
            <a:r>
              <a:rPr lang="en-US" dirty="0" smtClean="0"/>
              <a:t> </a:t>
            </a:r>
            <a:r>
              <a:rPr lang="en-US" dirty="0" err="1" smtClean="0"/>
              <a:t>penerapannya</a:t>
            </a:r>
            <a:endParaRPr lang="id-ID"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916458" y="2353979"/>
            <a:ext cx="7153202" cy="1994737"/>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spcBef>
                <a:spcPts val="0"/>
              </a:spcBef>
              <a:buClr>
                <a:srgbClr val="000000"/>
              </a:buClr>
              <a:buNone/>
            </a:pPr>
            <a:r>
              <a:rPr lang="en-US" sz="1400" dirty="0" err="1"/>
              <a:t>Saya</a:t>
            </a:r>
            <a:r>
              <a:rPr lang="en-US" sz="1400" dirty="0"/>
              <a:t> </a:t>
            </a:r>
            <a:r>
              <a:rPr lang="en-US" sz="1400" dirty="0" err="1"/>
              <a:t>akan</a:t>
            </a:r>
            <a:r>
              <a:rPr lang="en-US" sz="1400" dirty="0"/>
              <a:t> </a:t>
            </a:r>
            <a:r>
              <a:rPr lang="en-US" sz="1400" dirty="0" err="1"/>
              <a:t>memulai</a:t>
            </a:r>
            <a:r>
              <a:rPr lang="en-US" sz="1400" dirty="0"/>
              <a:t> </a:t>
            </a:r>
            <a:r>
              <a:rPr lang="en-US" sz="1400" dirty="0" err="1"/>
              <a:t>tugas</a:t>
            </a:r>
            <a:r>
              <a:rPr lang="en-US" sz="1400" dirty="0"/>
              <a:t> </a:t>
            </a:r>
            <a:r>
              <a:rPr lang="en-US" sz="1400" dirty="0" err="1"/>
              <a:t>ini</a:t>
            </a:r>
            <a:r>
              <a:rPr lang="en-US" sz="1400" dirty="0"/>
              <a:t> </a:t>
            </a:r>
            <a:r>
              <a:rPr lang="en-US" sz="1400" dirty="0" err="1"/>
              <a:t>dengan</a:t>
            </a:r>
            <a:r>
              <a:rPr lang="en-US" sz="1400" dirty="0"/>
              <a:t> </a:t>
            </a:r>
            <a:r>
              <a:rPr lang="en-US" sz="1400" dirty="0" err="1"/>
              <a:t>mengumpulkan</a:t>
            </a:r>
            <a:r>
              <a:rPr lang="en-US" sz="1400" dirty="0"/>
              <a:t> </a:t>
            </a:r>
            <a:r>
              <a:rPr lang="en-US" sz="1400" dirty="0" err="1"/>
              <a:t>sketsa</a:t>
            </a:r>
            <a:r>
              <a:rPr lang="en-US" sz="1400" dirty="0"/>
              <a:t> </a:t>
            </a:r>
            <a:r>
              <a:rPr lang="en-US" sz="1400" dirty="0" err="1"/>
              <a:t>peta</a:t>
            </a:r>
            <a:r>
              <a:rPr lang="en-US" sz="1400" dirty="0"/>
              <a:t> WB SE 2016 </a:t>
            </a:r>
            <a:r>
              <a:rPr lang="en-US" sz="1400" dirty="0" err="1"/>
              <a:t>pada</a:t>
            </a:r>
            <a:r>
              <a:rPr lang="en-US" sz="1400" dirty="0"/>
              <a:t> </a:t>
            </a:r>
            <a:r>
              <a:rPr lang="en-US" sz="1400" dirty="0" err="1"/>
              <a:t>tiap-tiap</a:t>
            </a:r>
            <a:r>
              <a:rPr lang="en-US" sz="1400" dirty="0"/>
              <a:t> KSK </a:t>
            </a:r>
            <a:r>
              <a:rPr lang="en-US" sz="1400" dirty="0" err="1"/>
              <a:t>tentunya</a:t>
            </a:r>
            <a:r>
              <a:rPr lang="en-US" sz="1400" dirty="0"/>
              <a:t> </a:t>
            </a:r>
            <a:r>
              <a:rPr lang="en-US" sz="1400" dirty="0" err="1"/>
              <a:t>dengan</a:t>
            </a:r>
            <a:r>
              <a:rPr lang="en-US" sz="1400" dirty="0"/>
              <a:t> </a:t>
            </a:r>
            <a:r>
              <a:rPr lang="en-US" sz="1400" b="1" dirty="0" err="1"/>
              <a:t>sopan</a:t>
            </a:r>
            <a:r>
              <a:rPr lang="en-US" sz="1400" b="1" dirty="0"/>
              <a:t> (</a:t>
            </a:r>
            <a:r>
              <a:rPr lang="en-US" sz="1400" b="1" dirty="0" err="1"/>
              <a:t>etika</a:t>
            </a:r>
            <a:r>
              <a:rPr lang="en-US" sz="1400" b="1" dirty="0"/>
              <a:t> </a:t>
            </a:r>
            <a:r>
              <a:rPr lang="en-US" sz="1400" b="1" dirty="0" err="1"/>
              <a:t>publik</a:t>
            </a:r>
            <a:r>
              <a:rPr lang="en-US" sz="1400" b="1" dirty="0"/>
              <a:t>). </a:t>
            </a:r>
            <a:r>
              <a:rPr lang="en-US" sz="1400" dirty="0" err="1"/>
              <a:t>Saya</a:t>
            </a:r>
            <a:r>
              <a:rPr lang="en-US" sz="1400" dirty="0"/>
              <a:t> </a:t>
            </a:r>
            <a:r>
              <a:rPr lang="en-US" sz="1400" dirty="0" err="1"/>
              <a:t>akan</a:t>
            </a:r>
            <a:r>
              <a:rPr lang="en-US" sz="1400" dirty="0"/>
              <a:t> </a:t>
            </a:r>
            <a:r>
              <a:rPr lang="en-US" sz="1400" dirty="0" err="1"/>
              <a:t>bersikap</a:t>
            </a:r>
            <a:r>
              <a:rPr lang="en-US" sz="1400" dirty="0"/>
              <a:t> </a:t>
            </a:r>
            <a:r>
              <a:rPr lang="en-US" sz="1400" b="1" dirty="0" err="1"/>
              <a:t>adil</a:t>
            </a:r>
            <a:r>
              <a:rPr lang="en-US" sz="1400" b="1" dirty="0"/>
              <a:t> </a:t>
            </a:r>
            <a:r>
              <a:rPr lang="en-US" sz="1400" dirty="0" err="1"/>
              <a:t>dengan</a:t>
            </a:r>
            <a:r>
              <a:rPr lang="en-US" sz="1400" dirty="0"/>
              <a:t> </a:t>
            </a:r>
            <a:r>
              <a:rPr lang="en-US" sz="1400" dirty="0" err="1"/>
              <a:t>cara</a:t>
            </a:r>
            <a:r>
              <a:rPr lang="en-US" sz="1400" dirty="0"/>
              <a:t> </a:t>
            </a:r>
            <a:r>
              <a:rPr lang="en-US" sz="1400" dirty="0" err="1"/>
              <a:t>tidak</a:t>
            </a:r>
            <a:r>
              <a:rPr lang="en-US" sz="1400" dirty="0"/>
              <a:t> </a:t>
            </a:r>
            <a:r>
              <a:rPr lang="en-US" sz="1400" dirty="0" err="1"/>
              <a:t>membeda-bedakan</a:t>
            </a:r>
            <a:r>
              <a:rPr lang="en-US" sz="1400" dirty="0"/>
              <a:t> </a:t>
            </a:r>
            <a:r>
              <a:rPr lang="en-US" sz="1400" dirty="0" err="1"/>
              <a:t>perlakuan</a:t>
            </a:r>
            <a:r>
              <a:rPr lang="en-US" sz="1400" dirty="0"/>
              <a:t> </a:t>
            </a:r>
            <a:r>
              <a:rPr lang="en-US" sz="1400" dirty="0" err="1"/>
              <a:t>antar</a:t>
            </a:r>
            <a:r>
              <a:rPr lang="en-US" sz="1400" dirty="0"/>
              <a:t> </a:t>
            </a:r>
            <a:r>
              <a:rPr lang="en-US" sz="1400" dirty="0" err="1"/>
              <a:t>tiap</a:t>
            </a:r>
            <a:r>
              <a:rPr lang="en-US" sz="1400" dirty="0"/>
              <a:t> KSK (</a:t>
            </a:r>
            <a:r>
              <a:rPr lang="en-US" sz="1400" b="1" dirty="0" err="1"/>
              <a:t>nasionalisme</a:t>
            </a:r>
            <a:r>
              <a:rPr lang="en-US" sz="1400" dirty="0"/>
              <a:t>). </a:t>
            </a:r>
          </a:p>
        </p:txBody>
      </p:sp>
    </p:spTree>
    <p:extLst>
      <p:ext uri="{BB962C8B-B14F-4D97-AF65-F5344CB8AC3E}">
        <p14:creationId xmlns:p14="http://schemas.microsoft.com/office/powerpoint/2010/main" val="2243578957"/>
      </p:ext>
    </p:extLst>
  </p:cSld>
  <p:clrMapOvr>
    <a:masterClrMapping/>
  </p:clrMapOvr>
  <p:transition spd="slow">
    <p:cut/>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3" name="Rectangle 12"/>
          <p:cNvSpPr/>
          <p:nvPr/>
        </p:nvSpPr>
        <p:spPr>
          <a:xfrm>
            <a:off x="5103628" y="924720"/>
            <a:ext cx="1197558" cy="4355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7" name="Shape 107"/>
          <p:cNvSpPr txBox="1">
            <a:spLocks noGrp="1"/>
          </p:cNvSpPr>
          <p:nvPr>
            <p:ph type="title"/>
          </p:nvPr>
        </p:nvSpPr>
        <p:spPr>
          <a:xfrm>
            <a:off x="1381249" y="924720"/>
            <a:ext cx="5030183" cy="435599"/>
          </a:xfrm>
          <a:prstGeom prst="rect">
            <a:avLst/>
          </a:prstGeom>
        </p:spPr>
        <p:txBody>
          <a:bodyPr lIns="91425" tIns="91425" rIns="91425" bIns="91425" anchor="ctr" anchorCtr="0">
            <a:noAutofit/>
          </a:bodyPr>
          <a:lstStyle/>
          <a:p>
            <a:r>
              <a:rPr lang="en-US" dirty="0" err="1"/>
              <a:t>Mengunggah</a:t>
            </a:r>
            <a:r>
              <a:rPr lang="en-US" dirty="0"/>
              <a:t> </a:t>
            </a:r>
            <a:r>
              <a:rPr lang="en-US" dirty="0" err="1"/>
              <a:t>tabel</a:t>
            </a:r>
            <a:r>
              <a:rPr lang="en-US" dirty="0"/>
              <a:t> </a:t>
            </a:r>
            <a:r>
              <a:rPr lang="en-US" dirty="0" err="1" smtClean="0"/>
              <a:t>dinamis</a:t>
            </a:r>
            <a:r>
              <a:rPr lang="en-US" dirty="0" smtClean="0"/>
              <a:t> </a:t>
            </a:r>
            <a:r>
              <a:rPr lang="en-US" dirty="0" err="1"/>
              <a:t>ke</a:t>
            </a:r>
            <a:r>
              <a:rPr lang="en-US" dirty="0"/>
              <a:t> Website</a:t>
            </a:r>
            <a:endParaRPr lang="en" dirty="0"/>
          </a:p>
        </p:txBody>
      </p:sp>
      <p:sp>
        <p:nvSpPr>
          <p:cNvPr id="108" name="Shape 108"/>
          <p:cNvSpPr txBox="1">
            <a:spLocks noGrp="1"/>
          </p:cNvSpPr>
          <p:nvPr>
            <p:ph type="body" idx="1"/>
          </p:nvPr>
        </p:nvSpPr>
        <p:spPr>
          <a:xfrm>
            <a:off x="1381250" y="1567753"/>
            <a:ext cx="1867376" cy="559454"/>
          </a:xfrm>
          <a:prstGeom prst="rect">
            <a:avLst/>
          </a:prstGeom>
        </p:spPr>
        <p:txBody>
          <a:bodyPr lIns="91425" tIns="91425" rIns="91425" bIns="91425" anchor="t" anchorCtr="0">
            <a:noAutofit/>
          </a:bodyPr>
          <a:lstStyle/>
          <a:p>
            <a:pPr marL="228600" lvl="0">
              <a:spcBef>
                <a:spcPts val="0"/>
              </a:spcBef>
              <a:buNone/>
            </a:pPr>
            <a:r>
              <a:rPr lang="en-US" b="1" dirty="0" err="1" smtClean="0"/>
              <a:t>Kendala</a:t>
            </a:r>
            <a:endParaRPr lang="fi-FI"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916458" y="2353979"/>
            <a:ext cx="7026063" cy="750728"/>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85750" indent="-285750"/>
            <a:r>
              <a:rPr lang="en-US" sz="1400" dirty="0"/>
              <a:t>Scanner SE </a:t>
            </a:r>
            <a:r>
              <a:rPr lang="en-US" sz="1400" dirty="0" err="1"/>
              <a:t>rusak</a:t>
            </a:r>
            <a:endParaRPr lang="id-ID" sz="1400" dirty="0"/>
          </a:p>
        </p:txBody>
      </p:sp>
      <p:sp>
        <p:nvSpPr>
          <p:cNvPr id="11" name="Shape 96"/>
          <p:cNvSpPr txBox="1">
            <a:spLocks/>
          </p:cNvSpPr>
          <p:nvPr/>
        </p:nvSpPr>
        <p:spPr>
          <a:xfrm>
            <a:off x="1381250" y="3591869"/>
            <a:ext cx="7026063" cy="632444"/>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85750" indent="-285750"/>
            <a:r>
              <a:rPr lang="en-US" sz="1400" dirty="0" err="1"/>
              <a:t>Menggunakan</a:t>
            </a:r>
            <a:r>
              <a:rPr lang="en-US" sz="1400" dirty="0"/>
              <a:t> scanner yang lain</a:t>
            </a:r>
            <a:endParaRPr lang="en-US" sz="1400" dirty="0" smtClean="0"/>
          </a:p>
        </p:txBody>
      </p:sp>
      <p:sp>
        <p:nvSpPr>
          <p:cNvPr id="12" name="Shape 108"/>
          <p:cNvSpPr txBox="1">
            <a:spLocks/>
          </p:cNvSpPr>
          <p:nvPr/>
        </p:nvSpPr>
        <p:spPr>
          <a:xfrm>
            <a:off x="3689498" y="3032414"/>
            <a:ext cx="3880884" cy="559454"/>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28600">
              <a:spcBef>
                <a:spcPts val="0"/>
              </a:spcBef>
              <a:buFont typeface="Quattrocento Sans"/>
              <a:buNone/>
            </a:pPr>
            <a:r>
              <a:rPr lang="en-US" b="1" dirty="0" err="1" smtClean="0"/>
              <a:t>Rencana</a:t>
            </a:r>
            <a:r>
              <a:rPr lang="en-US" b="1" dirty="0" smtClean="0"/>
              <a:t> </a:t>
            </a:r>
            <a:r>
              <a:rPr lang="en-US" b="1" dirty="0" err="1" smtClean="0"/>
              <a:t>Antisipasi</a:t>
            </a:r>
            <a:endParaRPr lang="fi-FI" dirty="0"/>
          </a:p>
        </p:txBody>
      </p:sp>
      <p:sp>
        <p:nvSpPr>
          <p:cNvPr id="3" name="U-Turn Arrow 2"/>
          <p:cNvSpPr/>
          <p:nvPr/>
        </p:nvSpPr>
        <p:spPr>
          <a:xfrm rot="5400000">
            <a:off x="4901607" y="-120126"/>
            <a:ext cx="1743739" cy="5507663"/>
          </a:xfrm>
          <a:prstGeom prst="uturnArrow">
            <a:avLst>
              <a:gd name="adj1" fmla="val 11284"/>
              <a:gd name="adj2" fmla="val 11449"/>
              <a:gd name="adj3" fmla="val 0"/>
              <a:gd name="adj4" fmla="val 47097"/>
              <a:gd name="adj5" fmla="val 26051"/>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id-ID">
              <a:solidFill>
                <a:schemeClr val="tx1"/>
              </a:solidFill>
            </a:endParaRPr>
          </a:p>
        </p:txBody>
      </p:sp>
    </p:spTree>
    <p:extLst>
      <p:ext uri="{BB962C8B-B14F-4D97-AF65-F5344CB8AC3E}">
        <p14:creationId xmlns:p14="http://schemas.microsoft.com/office/powerpoint/2010/main" val="3288438020"/>
      </p:ext>
    </p:extLst>
  </p:cSld>
  <p:clrMapOvr>
    <a:masterClrMapping/>
  </p:clrMapOvr>
  <p:transition spd="slow">
    <p:cu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Rectangle 1"/>
          <p:cNvSpPr/>
          <p:nvPr/>
        </p:nvSpPr>
        <p:spPr>
          <a:xfrm>
            <a:off x="5411971" y="2291149"/>
            <a:ext cx="1598429" cy="562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n>
                <a:solidFill>
                  <a:schemeClr val="bg1"/>
                </a:solidFill>
              </a:ln>
              <a:solidFill>
                <a:schemeClr val="bg1"/>
              </a:solidFill>
            </a:endParaRPr>
          </a:p>
        </p:txBody>
      </p:sp>
      <p:sp>
        <p:nvSpPr>
          <p:cNvPr id="95" name="Shape 95"/>
          <p:cNvSpPr txBox="1">
            <a:spLocks noGrp="1"/>
          </p:cNvSpPr>
          <p:nvPr>
            <p:ph type="ctrTitle"/>
          </p:nvPr>
        </p:nvSpPr>
        <p:spPr>
          <a:xfrm>
            <a:off x="1993196" y="1711250"/>
            <a:ext cx="5458638" cy="1159799"/>
          </a:xfrm>
          <a:prstGeom prst="rect">
            <a:avLst/>
          </a:prstGeom>
        </p:spPr>
        <p:txBody>
          <a:bodyPr lIns="91425" tIns="91425" rIns="91425" bIns="91425" anchor="b" anchorCtr="0">
            <a:noAutofit/>
          </a:bodyPr>
          <a:lstStyle/>
          <a:p>
            <a:pPr lvl="0"/>
            <a:r>
              <a:rPr lang="en-US" sz="2800" dirty="0" err="1"/>
              <a:t>Melakukan</a:t>
            </a:r>
            <a:r>
              <a:rPr lang="en-US" sz="2800" dirty="0"/>
              <a:t> </a:t>
            </a:r>
            <a:r>
              <a:rPr lang="en-US" sz="2800" dirty="0" err="1"/>
              <a:t>entri</a:t>
            </a:r>
            <a:r>
              <a:rPr lang="en-US" sz="2800" dirty="0"/>
              <a:t> SAKERNAS</a:t>
            </a:r>
            <a:endParaRPr lang="en" sz="2800" dirty="0"/>
          </a:p>
        </p:txBody>
      </p:sp>
      <p:sp>
        <p:nvSpPr>
          <p:cNvPr id="96" name="Shape 96"/>
          <p:cNvSpPr txBox="1">
            <a:spLocks noGrp="1"/>
          </p:cNvSpPr>
          <p:nvPr>
            <p:ph type="subTitle" idx="1"/>
          </p:nvPr>
        </p:nvSpPr>
        <p:spPr>
          <a:xfrm>
            <a:off x="1677874" y="2871049"/>
            <a:ext cx="7153202" cy="1700951"/>
          </a:xfrm>
          <a:prstGeom prst="rect">
            <a:avLst/>
          </a:prstGeom>
        </p:spPr>
        <p:txBody>
          <a:bodyPr lIns="91425" tIns="91425" rIns="91425" bIns="91425" anchor="t" anchorCtr="0">
            <a:noAutofit/>
          </a:bodyPr>
          <a:lstStyle/>
          <a:p>
            <a:pPr algn="ctr"/>
            <a:r>
              <a:rPr lang="en-US" dirty="0" err="1"/>
              <a:t>Survei</a:t>
            </a:r>
            <a:r>
              <a:rPr lang="en-US" dirty="0"/>
              <a:t> </a:t>
            </a:r>
            <a:r>
              <a:rPr lang="en-US" dirty="0" err="1"/>
              <a:t>Angkatan</a:t>
            </a:r>
            <a:r>
              <a:rPr lang="en-US" dirty="0"/>
              <a:t> </a:t>
            </a:r>
            <a:r>
              <a:rPr lang="en-US" dirty="0" err="1"/>
              <a:t>Kerja</a:t>
            </a:r>
            <a:r>
              <a:rPr lang="en-US" dirty="0"/>
              <a:t> </a:t>
            </a:r>
            <a:r>
              <a:rPr lang="en-US" dirty="0" err="1"/>
              <a:t>Nasional</a:t>
            </a:r>
            <a:r>
              <a:rPr lang="en-US" dirty="0"/>
              <a:t> (SAKERNAS) </a:t>
            </a:r>
            <a:r>
              <a:rPr lang="en-US" dirty="0" err="1"/>
              <a:t>merupakan</a:t>
            </a:r>
            <a:r>
              <a:rPr lang="en-US" dirty="0"/>
              <a:t> </a:t>
            </a:r>
            <a:r>
              <a:rPr lang="en-US" dirty="0" err="1"/>
              <a:t>survei</a:t>
            </a:r>
            <a:r>
              <a:rPr lang="en-US" dirty="0"/>
              <a:t> </a:t>
            </a:r>
            <a:r>
              <a:rPr lang="en-US" dirty="0" err="1"/>
              <a:t>khusus</a:t>
            </a:r>
            <a:r>
              <a:rPr lang="en-US" dirty="0"/>
              <a:t> </a:t>
            </a:r>
            <a:r>
              <a:rPr lang="en-US" dirty="0" err="1"/>
              <a:t>untuk</a:t>
            </a:r>
            <a:r>
              <a:rPr lang="en-US" dirty="0"/>
              <a:t> </a:t>
            </a:r>
            <a:r>
              <a:rPr lang="en-US" dirty="0" err="1"/>
              <a:t>mengumpulkan</a:t>
            </a:r>
            <a:r>
              <a:rPr lang="en-US" dirty="0"/>
              <a:t> data </a:t>
            </a:r>
            <a:r>
              <a:rPr lang="en-US" dirty="0" err="1" smtClean="0"/>
              <a:t>ketenagakerjaan</a:t>
            </a:r>
            <a:r>
              <a:rPr lang="en-US" dirty="0" smtClean="0"/>
              <a:t>.	</a:t>
            </a:r>
          </a:p>
          <a:p>
            <a:pPr algn="ctr"/>
            <a:r>
              <a:rPr lang="en-US" dirty="0" err="1" smtClean="0"/>
              <a:t>Setelah</a:t>
            </a:r>
            <a:r>
              <a:rPr lang="en-US" dirty="0" smtClean="0"/>
              <a:t> </a:t>
            </a:r>
            <a:r>
              <a:rPr lang="en-US" dirty="0" err="1"/>
              <a:t>pelaksanaan</a:t>
            </a:r>
            <a:r>
              <a:rPr lang="en-US" dirty="0"/>
              <a:t> survey </a:t>
            </a:r>
            <a:r>
              <a:rPr lang="en-US" dirty="0" err="1" smtClean="0"/>
              <a:t>lapangan</a:t>
            </a:r>
            <a:r>
              <a:rPr lang="en-US" dirty="0" smtClean="0"/>
              <a:t>, </a:t>
            </a:r>
            <a:r>
              <a:rPr lang="en-US" dirty="0" err="1" smtClean="0"/>
              <a:t>maka</a:t>
            </a:r>
            <a:r>
              <a:rPr lang="en-US" dirty="0" smtClean="0"/>
              <a:t> </a:t>
            </a:r>
            <a:r>
              <a:rPr lang="en-US" dirty="0" err="1"/>
              <a:t>akan</a:t>
            </a:r>
            <a:r>
              <a:rPr lang="en-US" dirty="0"/>
              <a:t> </a:t>
            </a:r>
            <a:r>
              <a:rPr lang="en-US" dirty="0" err="1"/>
              <a:t>dilakukan</a:t>
            </a:r>
            <a:r>
              <a:rPr lang="en-US" dirty="0"/>
              <a:t> </a:t>
            </a:r>
            <a:r>
              <a:rPr lang="en-US" dirty="0" err="1"/>
              <a:t>pengentriaan</a:t>
            </a:r>
            <a:r>
              <a:rPr lang="en-US" dirty="0"/>
              <a:t> </a:t>
            </a:r>
            <a:r>
              <a:rPr lang="en-US" dirty="0" err="1" smtClean="0"/>
              <a:t>dokumen</a:t>
            </a:r>
            <a:endParaRPr lang="en-US" dirty="0" smtClean="0"/>
          </a:p>
          <a:p>
            <a:pPr algn="ctr"/>
            <a:endParaRPr lang="en-US" dirty="0"/>
          </a:p>
          <a:p>
            <a:pPr algn="ctr"/>
            <a:r>
              <a:rPr lang="en-US" b="1" dirty="0" smtClean="0"/>
              <a:t>Output:</a:t>
            </a:r>
          </a:p>
          <a:p>
            <a:pPr algn="ctr"/>
            <a:r>
              <a:rPr lang="en-US" dirty="0"/>
              <a:t>40 </a:t>
            </a:r>
            <a:r>
              <a:rPr lang="en-US" dirty="0" err="1"/>
              <a:t>dokumen</a:t>
            </a:r>
            <a:r>
              <a:rPr lang="en-US" dirty="0"/>
              <a:t> yang </a:t>
            </a:r>
            <a:r>
              <a:rPr lang="en-US" dirty="0" err="1"/>
              <a:t>telah</a:t>
            </a:r>
            <a:r>
              <a:rPr lang="en-US" dirty="0"/>
              <a:t> </a:t>
            </a:r>
            <a:r>
              <a:rPr lang="en-US" dirty="0" err="1"/>
              <a:t>dientri</a:t>
            </a:r>
            <a:r>
              <a:rPr lang="en-US" dirty="0"/>
              <a:t>.</a:t>
            </a:r>
            <a:endParaRPr lang="id-ID" dirty="0"/>
          </a:p>
        </p:txBody>
      </p:sp>
      <p:sp>
        <p:nvSpPr>
          <p:cNvPr id="97" name="Shape 97"/>
          <p:cNvSpPr txBox="1"/>
          <p:nvPr/>
        </p:nvSpPr>
        <p:spPr>
          <a:xfrm>
            <a:off x="1133975" y="2291150"/>
            <a:ext cx="543899" cy="562199"/>
          </a:xfrm>
          <a:prstGeom prst="rect">
            <a:avLst/>
          </a:prstGeom>
          <a:noFill/>
          <a:ln>
            <a:noFill/>
          </a:ln>
        </p:spPr>
        <p:txBody>
          <a:bodyPr lIns="91425" tIns="91425" rIns="91425" bIns="91425" anchor="ctr" anchorCtr="0">
            <a:noAutofit/>
          </a:bodyPr>
          <a:lstStyle/>
          <a:p>
            <a:pPr algn="ctr">
              <a:spcBef>
                <a:spcPts val="0"/>
              </a:spcBef>
              <a:buNone/>
            </a:pPr>
            <a:r>
              <a:rPr lang="en" sz="2400" dirty="0" smtClean="0">
                <a:solidFill>
                  <a:schemeClr val="dk1"/>
                </a:solidFill>
                <a:latin typeface="Lora"/>
                <a:ea typeface="Lora"/>
                <a:cs typeface="Lora"/>
                <a:sym typeface="Lora"/>
              </a:rPr>
              <a:t>6</a:t>
            </a:r>
            <a:endParaRPr lang="en" sz="2400" dirty="0">
              <a:solidFill>
                <a:schemeClr val="dk1"/>
              </a:solidFill>
              <a:latin typeface="Lora"/>
              <a:ea typeface="Lora"/>
              <a:cs typeface="Lora"/>
              <a:sym typeface="Lora"/>
            </a:endParaRPr>
          </a:p>
        </p:txBody>
      </p:sp>
    </p:spTree>
    <p:extLst>
      <p:ext uri="{BB962C8B-B14F-4D97-AF65-F5344CB8AC3E}">
        <p14:creationId xmlns:p14="http://schemas.microsoft.com/office/powerpoint/2010/main" val="729981067"/>
      </p:ext>
    </p:extLst>
  </p:cSld>
  <p:clrMapOvr>
    <a:masterClrMapping/>
  </p:clrMapOvr>
  <p:transition spd="slow">
    <p:cut/>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2" name="Rectangle 1"/>
          <p:cNvSpPr/>
          <p:nvPr/>
        </p:nvSpPr>
        <p:spPr>
          <a:xfrm>
            <a:off x="5103628" y="924720"/>
            <a:ext cx="122758" cy="4355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7" name="Shape 107"/>
          <p:cNvSpPr txBox="1">
            <a:spLocks noGrp="1"/>
          </p:cNvSpPr>
          <p:nvPr>
            <p:ph type="title"/>
          </p:nvPr>
        </p:nvSpPr>
        <p:spPr>
          <a:xfrm>
            <a:off x="1381250" y="924720"/>
            <a:ext cx="3845136" cy="435599"/>
          </a:xfrm>
          <a:prstGeom prst="rect">
            <a:avLst/>
          </a:prstGeom>
        </p:spPr>
        <p:txBody>
          <a:bodyPr lIns="91425" tIns="91425" rIns="91425" bIns="91425" anchor="ctr" anchorCtr="0">
            <a:noAutofit/>
          </a:bodyPr>
          <a:lstStyle/>
          <a:p>
            <a:r>
              <a:rPr lang="en-US" dirty="0" err="1"/>
              <a:t>Melakukan</a:t>
            </a:r>
            <a:r>
              <a:rPr lang="en-US" dirty="0"/>
              <a:t> </a:t>
            </a:r>
            <a:r>
              <a:rPr lang="en-US" dirty="0" err="1"/>
              <a:t>entri</a:t>
            </a:r>
            <a:r>
              <a:rPr lang="en-US" dirty="0"/>
              <a:t> SAKERNAS</a:t>
            </a:r>
            <a:endParaRPr lang="en"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222"/>
          <p:cNvSpPr txBox="1">
            <a:spLocks/>
          </p:cNvSpPr>
          <p:nvPr/>
        </p:nvSpPr>
        <p:spPr>
          <a:xfrm>
            <a:off x="707065" y="2370151"/>
            <a:ext cx="7772400" cy="1159799"/>
          </a:xfrm>
          <a:prstGeom prst="rect">
            <a:avLst/>
          </a:prstGeom>
          <a:noFill/>
          <a:ln>
            <a:noFill/>
          </a:ln>
        </p:spPr>
        <p:txBody>
          <a:bodyPr lIns="91425" tIns="91425" rIns="91425" bIns="91425" anchor="ctr"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SzPct val="100000"/>
              <a:buFont typeface="Lora"/>
              <a:buNone/>
              <a:defRPr sz="2000" b="1" i="0" u="none" strike="noStrike" cap="none" baseline="0">
                <a:solidFill>
                  <a:srgbClr val="000000"/>
                </a:solidFill>
                <a:latin typeface="Lora"/>
                <a:ea typeface="Lora"/>
                <a:cs typeface="Lora"/>
                <a:sym typeface="Lora"/>
                <a:rtl val="0"/>
              </a:defRPr>
            </a:lvl1pPr>
            <a:lvl2pPr rtl="0">
              <a:spcBef>
                <a:spcPts val="0"/>
              </a:spcBef>
              <a:buSzPct val="100000"/>
              <a:buFont typeface="Lora"/>
              <a:buNone/>
              <a:defRPr sz="2000" b="1">
                <a:latin typeface="Lora"/>
                <a:ea typeface="Lora"/>
                <a:cs typeface="Lora"/>
                <a:sym typeface="Lora"/>
              </a:defRPr>
            </a:lvl2pPr>
            <a:lvl3pPr rtl="0">
              <a:spcBef>
                <a:spcPts val="0"/>
              </a:spcBef>
              <a:buSzPct val="100000"/>
              <a:buFont typeface="Lora"/>
              <a:buNone/>
              <a:defRPr sz="2000" b="1">
                <a:latin typeface="Lora"/>
                <a:ea typeface="Lora"/>
                <a:cs typeface="Lora"/>
                <a:sym typeface="Lora"/>
              </a:defRPr>
            </a:lvl3pPr>
            <a:lvl4pPr rtl="0">
              <a:spcBef>
                <a:spcPts val="0"/>
              </a:spcBef>
              <a:buSzPct val="100000"/>
              <a:buFont typeface="Lora"/>
              <a:buNone/>
              <a:defRPr sz="2000" b="1">
                <a:latin typeface="Lora"/>
                <a:ea typeface="Lora"/>
                <a:cs typeface="Lora"/>
                <a:sym typeface="Lora"/>
              </a:defRPr>
            </a:lvl4pPr>
            <a:lvl5pPr rtl="0">
              <a:spcBef>
                <a:spcPts val="0"/>
              </a:spcBef>
              <a:buSzPct val="100000"/>
              <a:buFont typeface="Lora"/>
              <a:buNone/>
              <a:defRPr sz="2000" b="1">
                <a:latin typeface="Lora"/>
                <a:ea typeface="Lora"/>
                <a:cs typeface="Lora"/>
                <a:sym typeface="Lora"/>
              </a:defRPr>
            </a:lvl5pPr>
            <a:lvl6pPr rtl="0">
              <a:spcBef>
                <a:spcPts val="0"/>
              </a:spcBef>
              <a:buSzPct val="100000"/>
              <a:buFont typeface="Lora"/>
              <a:buNone/>
              <a:defRPr sz="2000" b="1">
                <a:latin typeface="Lora"/>
                <a:ea typeface="Lora"/>
                <a:cs typeface="Lora"/>
                <a:sym typeface="Lora"/>
              </a:defRPr>
            </a:lvl6pPr>
            <a:lvl7pPr rtl="0">
              <a:spcBef>
                <a:spcPts val="0"/>
              </a:spcBef>
              <a:buSzPct val="100000"/>
              <a:buFont typeface="Lora"/>
              <a:buNone/>
              <a:defRPr sz="2000" b="1">
                <a:latin typeface="Lora"/>
                <a:ea typeface="Lora"/>
                <a:cs typeface="Lora"/>
                <a:sym typeface="Lora"/>
              </a:defRPr>
            </a:lvl7pPr>
            <a:lvl8pPr rtl="0">
              <a:spcBef>
                <a:spcPts val="0"/>
              </a:spcBef>
              <a:buSzPct val="100000"/>
              <a:buFont typeface="Lora"/>
              <a:buNone/>
              <a:defRPr sz="2000" b="1">
                <a:latin typeface="Lora"/>
                <a:ea typeface="Lora"/>
                <a:cs typeface="Lora"/>
                <a:sym typeface="Lora"/>
              </a:defRPr>
            </a:lvl8pPr>
            <a:lvl9pPr rtl="0">
              <a:spcBef>
                <a:spcPts val="0"/>
              </a:spcBef>
              <a:buSzPct val="100000"/>
              <a:buFont typeface="Lora"/>
              <a:buNone/>
              <a:defRPr sz="2000" b="1">
                <a:latin typeface="Lora"/>
                <a:ea typeface="Lora"/>
                <a:cs typeface="Lora"/>
                <a:sym typeface="Lora"/>
              </a:defRPr>
            </a:lvl9pPr>
          </a:lstStyle>
          <a:p>
            <a:pPr algn="ctr"/>
            <a:r>
              <a:rPr lang="en" sz="6600" b="0" dirty="0" smtClean="0">
                <a:latin typeface="Arial" panose="020B0604020202020204" pitchFamily="34" charset="0"/>
                <a:cs typeface="Arial" panose="020B0604020202020204" pitchFamily="34" charset="0"/>
              </a:rPr>
              <a:t>18-19 Agustus 2016</a:t>
            </a:r>
            <a:endParaRPr lang="en" sz="6600" b="0" dirty="0">
              <a:latin typeface="Arial" panose="020B0604020202020204" pitchFamily="34" charset="0"/>
              <a:cs typeface="Arial" panose="020B0604020202020204" pitchFamily="34" charset="0"/>
            </a:endParaRPr>
          </a:p>
        </p:txBody>
      </p:sp>
      <p:sp>
        <p:nvSpPr>
          <p:cNvPr id="3" name="TextBox 2"/>
          <p:cNvSpPr txBox="1"/>
          <p:nvPr/>
        </p:nvSpPr>
        <p:spPr>
          <a:xfrm>
            <a:off x="1045171" y="2183622"/>
            <a:ext cx="3463035" cy="369332"/>
          </a:xfrm>
          <a:prstGeom prst="rect">
            <a:avLst/>
          </a:prstGeom>
          <a:noFill/>
        </p:spPr>
        <p:txBody>
          <a:bodyPr wrap="square" rtlCol="0">
            <a:spAutoFit/>
          </a:bodyPr>
          <a:lstStyle/>
          <a:p>
            <a:r>
              <a:rPr lang="en-US" sz="1800" dirty="0" err="1" smtClean="0">
                <a:latin typeface="Lora"/>
              </a:rPr>
              <a:t>Tanggal</a:t>
            </a:r>
            <a:r>
              <a:rPr lang="en-US" sz="1800" dirty="0" smtClean="0">
                <a:latin typeface="Lora"/>
              </a:rPr>
              <a:t> </a:t>
            </a:r>
            <a:r>
              <a:rPr lang="en-US" sz="1800" dirty="0" err="1" smtClean="0">
                <a:latin typeface="Lora"/>
              </a:rPr>
              <a:t>Rencana</a:t>
            </a:r>
            <a:r>
              <a:rPr lang="en-US" sz="1800" dirty="0" smtClean="0">
                <a:latin typeface="Lora"/>
              </a:rPr>
              <a:t> </a:t>
            </a:r>
            <a:r>
              <a:rPr lang="en-US" sz="1800" dirty="0" err="1" smtClean="0">
                <a:latin typeface="Lora"/>
              </a:rPr>
              <a:t>Pelaksanaan</a:t>
            </a:r>
            <a:r>
              <a:rPr lang="en-US" sz="1800" dirty="0" smtClean="0">
                <a:latin typeface="Lora"/>
              </a:rPr>
              <a:t>:</a:t>
            </a:r>
            <a:endParaRPr lang="id-ID" sz="1800" dirty="0">
              <a:latin typeface="Lora"/>
            </a:endParaRPr>
          </a:p>
        </p:txBody>
      </p:sp>
    </p:spTree>
    <p:extLst>
      <p:ext uri="{BB962C8B-B14F-4D97-AF65-F5344CB8AC3E}">
        <p14:creationId xmlns:p14="http://schemas.microsoft.com/office/powerpoint/2010/main" val="855297313"/>
      </p:ext>
    </p:extLst>
  </p:cSld>
  <p:clrMapOvr>
    <a:masterClrMapping/>
  </p:clrMapOvr>
  <p:transition spd="slow">
    <p:cut/>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4" name="Rectangle 13"/>
          <p:cNvSpPr/>
          <p:nvPr/>
        </p:nvSpPr>
        <p:spPr>
          <a:xfrm>
            <a:off x="5103628" y="924720"/>
            <a:ext cx="120013" cy="4355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7" name="Shape 107"/>
          <p:cNvSpPr txBox="1">
            <a:spLocks noGrp="1"/>
          </p:cNvSpPr>
          <p:nvPr>
            <p:ph type="title"/>
          </p:nvPr>
        </p:nvSpPr>
        <p:spPr>
          <a:xfrm>
            <a:off x="1381250" y="924720"/>
            <a:ext cx="5147139" cy="435599"/>
          </a:xfrm>
          <a:prstGeom prst="rect">
            <a:avLst/>
          </a:prstGeom>
        </p:spPr>
        <p:txBody>
          <a:bodyPr lIns="91425" tIns="91425" rIns="91425" bIns="91425" anchor="ctr" anchorCtr="0">
            <a:noAutofit/>
          </a:bodyPr>
          <a:lstStyle/>
          <a:p>
            <a:r>
              <a:rPr lang="en-US" dirty="0" err="1"/>
              <a:t>Melakukan</a:t>
            </a:r>
            <a:r>
              <a:rPr lang="en-US" dirty="0"/>
              <a:t> </a:t>
            </a:r>
            <a:r>
              <a:rPr lang="en-US" dirty="0" err="1"/>
              <a:t>entri</a:t>
            </a:r>
            <a:r>
              <a:rPr lang="en-US" dirty="0"/>
              <a:t> SAKERNAS</a:t>
            </a:r>
            <a:endParaRPr lang="en" dirty="0"/>
          </a:p>
        </p:txBody>
      </p:sp>
      <p:sp>
        <p:nvSpPr>
          <p:cNvPr id="108" name="Shape 108"/>
          <p:cNvSpPr txBox="1">
            <a:spLocks noGrp="1"/>
          </p:cNvSpPr>
          <p:nvPr>
            <p:ph type="body" idx="1"/>
          </p:nvPr>
        </p:nvSpPr>
        <p:spPr>
          <a:xfrm>
            <a:off x="-1" y="1450099"/>
            <a:ext cx="6528391" cy="559454"/>
          </a:xfrm>
          <a:prstGeom prst="rect">
            <a:avLst/>
          </a:prstGeom>
        </p:spPr>
        <p:txBody>
          <a:bodyPr lIns="91425" tIns="91425" rIns="91425" bIns="91425" anchor="t" anchorCtr="0">
            <a:noAutofit/>
          </a:bodyPr>
          <a:lstStyle/>
          <a:p>
            <a:pPr marL="228600" lvl="0">
              <a:spcBef>
                <a:spcPts val="0"/>
              </a:spcBef>
              <a:buNone/>
            </a:pPr>
            <a:r>
              <a:rPr lang="en-US" dirty="0" err="1" smtClean="0"/>
              <a:t>Nilai-nilai</a:t>
            </a:r>
            <a:r>
              <a:rPr lang="en-US" dirty="0" smtClean="0"/>
              <a:t> ANEKA </a:t>
            </a:r>
            <a:r>
              <a:rPr lang="en-US" dirty="0" err="1" smtClean="0"/>
              <a:t>akan</a:t>
            </a:r>
            <a:r>
              <a:rPr lang="en-US" dirty="0" smtClean="0"/>
              <a:t> </a:t>
            </a:r>
            <a:r>
              <a:rPr lang="en-US" dirty="0" err="1" smtClean="0"/>
              <a:t>diaktualisasikan</a:t>
            </a:r>
            <a:endParaRPr lang="id-ID"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1"/>
              <a:ext cx="188176" cy="188149"/>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384830" y="2192205"/>
            <a:ext cx="3549216" cy="163323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endParaRPr lang="en" sz="1400" dirty="0"/>
          </a:p>
        </p:txBody>
      </p:sp>
      <p:sp>
        <p:nvSpPr>
          <p:cNvPr id="11" name="Shape 151"/>
          <p:cNvSpPr txBox="1">
            <a:spLocks/>
          </p:cNvSpPr>
          <p:nvPr/>
        </p:nvSpPr>
        <p:spPr>
          <a:xfrm>
            <a:off x="1131082" y="2099333"/>
            <a:ext cx="2333999" cy="2164323"/>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buNone/>
            </a:pPr>
            <a:r>
              <a:rPr lang="en-US" sz="1400" b="1" dirty="0" err="1" smtClean="0"/>
              <a:t>Akuntabilitas</a:t>
            </a:r>
            <a:r>
              <a:rPr lang="en-US" sz="1400" b="1" dirty="0"/>
              <a:t>:</a:t>
            </a:r>
            <a:endParaRPr lang="id-ID" sz="1400" dirty="0"/>
          </a:p>
          <a:p>
            <a:pPr marL="285750" indent="-285750">
              <a:spcBef>
                <a:spcPts val="0"/>
              </a:spcBef>
            </a:pPr>
            <a:r>
              <a:rPr lang="en-US" sz="1400" dirty="0" err="1">
                <a:sym typeface="Arial"/>
              </a:rPr>
              <a:t>Kejelasan</a:t>
            </a:r>
            <a:endParaRPr lang="id-ID" sz="1400" dirty="0">
              <a:sym typeface="Arial"/>
            </a:endParaRPr>
          </a:p>
          <a:p>
            <a:pPr marL="285750" indent="-285750">
              <a:spcBef>
                <a:spcPts val="0"/>
              </a:spcBef>
            </a:pPr>
            <a:r>
              <a:rPr lang="en-US" sz="1400" dirty="0" err="1">
                <a:sym typeface="Arial"/>
              </a:rPr>
              <a:t>Penggunaan</a:t>
            </a:r>
            <a:r>
              <a:rPr lang="en-US" sz="1400" dirty="0">
                <a:sym typeface="Arial"/>
              </a:rPr>
              <a:t> </a:t>
            </a:r>
            <a:r>
              <a:rPr lang="en-US" sz="1400" dirty="0" err="1">
                <a:sym typeface="Arial"/>
              </a:rPr>
              <a:t>sumber</a:t>
            </a:r>
            <a:r>
              <a:rPr lang="en-US" sz="1400" dirty="0">
                <a:sym typeface="Arial"/>
              </a:rPr>
              <a:t> </a:t>
            </a:r>
            <a:r>
              <a:rPr lang="en-US" sz="1400" dirty="0" err="1">
                <a:sym typeface="Arial"/>
              </a:rPr>
              <a:t>daya</a:t>
            </a:r>
            <a:r>
              <a:rPr lang="en-US" sz="1400" dirty="0">
                <a:sym typeface="Arial"/>
              </a:rPr>
              <a:t> yang </a:t>
            </a:r>
            <a:r>
              <a:rPr lang="en-US" sz="1400" dirty="0" err="1">
                <a:sym typeface="Arial"/>
              </a:rPr>
              <a:t>efektif</a:t>
            </a:r>
            <a:endParaRPr lang="id-ID" sz="1400" dirty="0">
              <a:sym typeface="Arial"/>
            </a:endParaRPr>
          </a:p>
          <a:p>
            <a:pPr marL="285750" indent="-285750">
              <a:spcBef>
                <a:spcPts val="0"/>
              </a:spcBef>
            </a:pPr>
            <a:r>
              <a:rPr lang="en-US" sz="1400" dirty="0" err="1">
                <a:sym typeface="Arial"/>
              </a:rPr>
              <a:t>laporan</a:t>
            </a:r>
            <a:endParaRPr lang="id-ID" sz="1400" dirty="0">
              <a:sym typeface="Arial"/>
            </a:endParaRPr>
          </a:p>
        </p:txBody>
      </p:sp>
      <p:sp>
        <p:nvSpPr>
          <p:cNvPr id="12" name="Shape 152"/>
          <p:cNvSpPr txBox="1">
            <a:spLocks/>
          </p:cNvSpPr>
          <p:nvPr/>
        </p:nvSpPr>
        <p:spPr>
          <a:xfrm>
            <a:off x="3584743" y="2099333"/>
            <a:ext cx="2333999" cy="2164323"/>
          </a:xfrm>
          <a:prstGeom prst="rect">
            <a:avLst/>
          </a:prstGeom>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r>
              <a:rPr lang="en-US" b="1" dirty="0" err="1" smtClean="0"/>
              <a:t>Nasionalisme</a:t>
            </a:r>
            <a:r>
              <a:rPr lang="en-US" b="1" dirty="0"/>
              <a:t>:</a:t>
            </a:r>
            <a:endParaRPr lang="id-ID" dirty="0"/>
          </a:p>
          <a:p>
            <a:pPr marL="285750" indent="-285750">
              <a:buClr>
                <a:srgbClr val="FFCD00"/>
              </a:buClr>
              <a:buSzPct val="100000"/>
              <a:buFont typeface="Quattrocento Sans"/>
              <a:buChar char="◉"/>
            </a:pPr>
            <a:r>
              <a:rPr lang="en-US" dirty="0" err="1" smtClean="0">
                <a:latin typeface="Quattrocento Sans"/>
                <a:ea typeface="Quattrocento Sans"/>
                <a:cs typeface="Quattrocento Sans"/>
              </a:rPr>
              <a:t>Takwa</a:t>
            </a:r>
            <a:endParaRPr lang="en-US" dirty="0" smtClean="0">
              <a:latin typeface="Quattrocento Sans"/>
              <a:ea typeface="Quattrocento Sans"/>
              <a:cs typeface="Quattrocento Sans"/>
            </a:endParaRPr>
          </a:p>
          <a:p>
            <a:pPr marL="285750" indent="-285750">
              <a:buClr>
                <a:srgbClr val="FFCD00"/>
              </a:buClr>
              <a:buSzPct val="100000"/>
              <a:buFont typeface="Quattrocento Sans"/>
              <a:buChar char="◉"/>
            </a:pPr>
            <a:r>
              <a:rPr lang="en-US" dirty="0" err="1" smtClean="0"/>
              <a:t>Ikhlas</a:t>
            </a:r>
            <a:endParaRPr lang="en-US" dirty="0" smtClean="0"/>
          </a:p>
          <a:p>
            <a:pPr marL="285750" indent="-285750">
              <a:buClr>
                <a:srgbClr val="FFCD00"/>
              </a:buClr>
              <a:buSzPct val="100000"/>
              <a:buFont typeface="Quattrocento Sans"/>
              <a:buChar char="◉"/>
            </a:pPr>
            <a:endParaRPr lang="id-ID" dirty="0"/>
          </a:p>
          <a:p>
            <a:r>
              <a:rPr lang="en-US" b="1" dirty="0" err="1"/>
              <a:t>Etika</a:t>
            </a:r>
            <a:r>
              <a:rPr lang="en-US" b="1" dirty="0"/>
              <a:t> </a:t>
            </a:r>
            <a:r>
              <a:rPr lang="en-US" b="1" dirty="0" err="1"/>
              <a:t>Publik</a:t>
            </a:r>
            <a:r>
              <a:rPr lang="en-US" b="1" dirty="0"/>
              <a:t>:</a:t>
            </a:r>
            <a:endParaRPr lang="id-ID" dirty="0"/>
          </a:p>
          <a:p>
            <a:pPr marL="285750" lvl="0" indent="-285750">
              <a:buClr>
                <a:srgbClr val="FFCD00"/>
              </a:buClr>
              <a:buSzPct val="100000"/>
              <a:buFont typeface="Quattrocento Sans"/>
              <a:buChar char="◉"/>
            </a:pPr>
            <a:r>
              <a:rPr lang="en-US" dirty="0" err="1" smtClean="0"/>
              <a:t>Keahlian</a:t>
            </a:r>
            <a:r>
              <a:rPr lang="en-US" dirty="0" smtClean="0"/>
              <a:t> professional</a:t>
            </a:r>
          </a:p>
          <a:p>
            <a:pPr marL="285750" lvl="0" indent="-285750">
              <a:buClr>
                <a:srgbClr val="FFCD00"/>
              </a:buClr>
              <a:buSzPct val="100000"/>
              <a:buFont typeface="Quattrocento Sans"/>
              <a:buChar char="◉"/>
            </a:pPr>
            <a:r>
              <a:rPr lang="en-US" dirty="0" err="1" smtClean="0"/>
              <a:t>Menyelesaikan</a:t>
            </a:r>
            <a:r>
              <a:rPr lang="en-US" dirty="0" smtClean="0"/>
              <a:t> </a:t>
            </a:r>
            <a:r>
              <a:rPr lang="en-US" dirty="0" err="1"/>
              <a:t>tugas</a:t>
            </a:r>
            <a:r>
              <a:rPr lang="en-US" dirty="0"/>
              <a:t> </a:t>
            </a:r>
            <a:r>
              <a:rPr lang="en-US" dirty="0" err="1"/>
              <a:t>dengan</a:t>
            </a:r>
            <a:r>
              <a:rPr lang="en-US" dirty="0"/>
              <a:t> </a:t>
            </a:r>
            <a:r>
              <a:rPr lang="en-US" dirty="0" err="1" smtClean="0"/>
              <a:t>baik</a:t>
            </a:r>
            <a:endParaRPr lang="en-US" dirty="0" smtClean="0"/>
          </a:p>
          <a:p>
            <a:pPr marL="285750" lvl="0" indent="-285750">
              <a:buClr>
                <a:srgbClr val="FFCD00"/>
              </a:buClr>
              <a:buSzPct val="100000"/>
              <a:buFont typeface="Quattrocento Sans"/>
              <a:buChar char="◉"/>
            </a:pPr>
            <a:r>
              <a:rPr lang="en-US" dirty="0" err="1" smtClean="0"/>
              <a:t>Santun</a:t>
            </a:r>
            <a:endParaRPr lang="id-ID" dirty="0"/>
          </a:p>
          <a:p>
            <a:pPr marL="285750" lvl="0" indent="-285750">
              <a:buClr>
                <a:srgbClr val="FFCD00"/>
              </a:buClr>
              <a:buSzPct val="100000"/>
              <a:buFont typeface="Quattrocento Sans"/>
              <a:buChar char="◉"/>
            </a:pPr>
            <a:endParaRPr lang="en" dirty="0">
              <a:latin typeface="Quattrocento Sans"/>
              <a:ea typeface="Quattrocento Sans"/>
              <a:cs typeface="Quattrocento Sans"/>
              <a:sym typeface="Quattrocento Sans"/>
            </a:endParaRPr>
          </a:p>
        </p:txBody>
      </p:sp>
      <p:sp>
        <p:nvSpPr>
          <p:cNvPr id="13" name="Shape 153"/>
          <p:cNvSpPr txBox="1">
            <a:spLocks/>
          </p:cNvSpPr>
          <p:nvPr/>
        </p:nvSpPr>
        <p:spPr>
          <a:xfrm>
            <a:off x="6038405" y="2099333"/>
            <a:ext cx="2659028" cy="1983569"/>
          </a:xfrm>
          <a:prstGeom prst="rect">
            <a:avLst/>
          </a:prstGeom>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r>
              <a:rPr lang="en-US" b="1" dirty="0" err="1"/>
              <a:t>Komitmen</a:t>
            </a:r>
            <a:r>
              <a:rPr lang="en-US" b="1" dirty="0"/>
              <a:t> </a:t>
            </a:r>
            <a:r>
              <a:rPr lang="en-US" b="1" dirty="0" err="1"/>
              <a:t>Mutu</a:t>
            </a:r>
            <a:r>
              <a:rPr lang="en-US" b="1" dirty="0"/>
              <a:t>:</a:t>
            </a:r>
            <a:endParaRPr lang="id-ID" dirty="0"/>
          </a:p>
          <a:p>
            <a:pPr marL="285750" lvl="0" indent="-285750">
              <a:buClr>
                <a:srgbClr val="FFCD00"/>
              </a:buClr>
              <a:buSzPct val="100000"/>
              <a:buFont typeface="Quattrocento Sans"/>
              <a:buChar char="◉"/>
            </a:pPr>
            <a:r>
              <a:rPr lang="en-AU" dirty="0" err="1">
                <a:latin typeface="Quattrocento Sans"/>
                <a:ea typeface="Quattrocento Sans"/>
                <a:cs typeface="Quattrocento Sans"/>
              </a:rPr>
              <a:t>Menjaga</a:t>
            </a:r>
            <a:r>
              <a:rPr lang="en-AU" dirty="0">
                <a:latin typeface="Quattrocento Sans"/>
                <a:ea typeface="Quattrocento Sans"/>
                <a:cs typeface="Quattrocento Sans"/>
              </a:rPr>
              <a:t> </a:t>
            </a:r>
            <a:r>
              <a:rPr lang="en-AU" dirty="0" err="1">
                <a:latin typeface="Quattrocento Sans"/>
                <a:ea typeface="Quattrocento Sans"/>
                <a:cs typeface="Quattrocento Sans"/>
              </a:rPr>
              <a:t>mutu</a:t>
            </a:r>
            <a:endParaRPr lang="id-ID" dirty="0">
              <a:latin typeface="Quattrocento Sans"/>
              <a:ea typeface="Quattrocento Sans"/>
              <a:cs typeface="Quattrocento Sans"/>
            </a:endParaRPr>
          </a:p>
          <a:p>
            <a:pPr marL="285750" indent="-285750">
              <a:buClr>
                <a:srgbClr val="FFCD00"/>
              </a:buClr>
              <a:buSzPct val="100000"/>
              <a:buFont typeface="Quattrocento Sans"/>
              <a:buChar char="◉"/>
            </a:pPr>
            <a:endParaRPr lang="id-ID" dirty="0" smtClean="0">
              <a:latin typeface="Quattrocento Sans"/>
              <a:ea typeface="Quattrocento Sans"/>
              <a:cs typeface="Quattrocento Sans"/>
            </a:endParaRPr>
          </a:p>
          <a:p>
            <a:r>
              <a:rPr lang="en-US" b="1" dirty="0" smtClean="0"/>
              <a:t>Anti </a:t>
            </a:r>
            <a:r>
              <a:rPr lang="en-US" b="1" dirty="0" err="1"/>
              <a:t>Korupsi</a:t>
            </a:r>
            <a:r>
              <a:rPr lang="en-US" b="1" dirty="0" smtClean="0"/>
              <a:t>:</a:t>
            </a:r>
          </a:p>
          <a:p>
            <a:pPr marL="285750" indent="-285750">
              <a:buClr>
                <a:srgbClr val="FFCD00"/>
              </a:buClr>
              <a:buSzPct val="100000"/>
              <a:buFont typeface="Quattrocento Sans"/>
              <a:buChar char="◉"/>
            </a:pPr>
            <a:r>
              <a:rPr lang="en-US" dirty="0" err="1" smtClean="0">
                <a:latin typeface="Quattrocento Sans"/>
                <a:ea typeface="Quattrocento Sans"/>
                <a:cs typeface="Quattrocento Sans"/>
              </a:rPr>
              <a:t>Jujur</a:t>
            </a:r>
            <a:endParaRPr lang="en-US" dirty="0" smtClean="0">
              <a:latin typeface="Quattrocento Sans"/>
              <a:ea typeface="Quattrocento Sans"/>
              <a:cs typeface="Quattrocento Sans"/>
            </a:endParaRPr>
          </a:p>
          <a:p>
            <a:pPr marL="285750" indent="-285750">
              <a:buClr>
                <a:srgbClr val="FFCD00"/>
              </a:buClr>
              <a:buSzPct val="100000"/>
              <a:buFont typeface="Quattrocento Sans"/>
              <a:buChar char="◉"/>
            </a:pPr>
            <a:r>
              <a:rPr lang="en-US" dirty="0" err="1" smtClean="0">
                <a:latin typeface="Quattrocento Sans"/>
                <a:ea typeface="Quattrocento Sans"/>
                <a:cs typeface="Quattrocento Sans"/>
              </a:rPr>
              <a:t>Disiplin</a:t>
            </a:r>
            <a:endParaRPr lang="en-US" dirty="0">
              <a:latin typeface="Quattrocento Sans"/>
              <a:ea typeface="Quattrocento Sans"/>
              <a:cs typeface="Quattrocento Sans"/>
            </a:endParaRPr>
          </a:p>
        </p:txBody>
      </p:sp>
    </p:spTree>
    <p:extLst>
      <p:ext uri="{BB962C8B-B14F-4D97-AF65-F5344CB8AC3E}">
        <p14:creationId xmlns:p14="http://schemas.microsoft.com/office/powerpoint/2010/main" val="228957932"/>
      </p:ext>
    </p:extLst>
  </p:cSld>
  <p:clrMapOvr>
    <a:masterClrMapping/>
  </p:clrMapOvr>
  <p:transition spd="slow">
    <p:cut/>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1" name="Rectangle 10"/>
          <p:cNvSpPr/>
          <p:nvPr/>
        </p:nvSpPr>
        <p:spPr>
          <a:xfrm>
            <a:off x="5103627" y="924720"/>
            <a:ext cx="151545" cy="4355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7" name="Shape 107"/>
          <p:cNvSpPr txBox="1">
            <a:spLocks noGrp="1"/>
          </p:cNvSpPr>
          <p:nvPr>
            <p:ph type="title"/>
          </p:nvPr>
        </p:nvSpPr>
        <p:spPr>
          <a:xfrm>
            <a:off x="1381250" y="924720"/>
            <a:ext cx="3968516" cy="435599"/>
          </a:xfrm>
          <a:prstGeom prst="rect">
            <a:avLst/>
          </a:prstGeom>
        </p:spPr>
        <p:txBody>
          <a:bodyPr lIns="91425" tIns="91425" rIns="91425" bIns="91425" anchor="ctr" anchorCtr="0">
            <a:noAutofit/>
          </a:bodyPr>
          <a:lstStyle/>
          <a:p>
            <a:r>
              <a:rPr lang="en-US" dirty="0" err="1"/>
              <a:t>Melakukan</a:t>
            </a:r>
            <a:r>
              <a:rPr lang="en-US" dirty="0"/>
              <a:t> </a:t>
            </a:r>
            <a:r>
              <a:rPr lang="en-US" dirty="0" err="1"/>
              <a:t>entri</a:t>
            </a:r>
            <a:r>
              <a:rPr lang="en-US" dirty="0"/>
              <a:t> SAKERNAS</a:t>
            </a:r>
            <a:endParaRPr lang="en" dirty="0"/>
          </a:p>
        </p:txBody>
      </p:sp>
      <p:sp>
        <p:nvSpPr>
          <p:cNvPr id="108" name="Shape 108"/>
          <p:cNvSpPr txBox="1">
            <a:spLocks noGrp="1"/>
          </p:cNvSpPr>
          <p:nvPr>
            <p:ph type="body" idx="1"/>
          </p:nvPr>
        </p:nvSpPr>
        <p:spPr>
          <a:xfrm>
            <a:off x="0" y="1450099"/>
            <a:ext cx="5883684" cy="559454"/>
          </a:xfrm>
          <a:prstGeom prst="rect">
            <a:avLst/>
          </a:prstGeom>
        </p:spPr>
        <p:txBody>
          <a:bodyPr lIns="91425" tIns="91425" rIns="91425" bIns="91425" anchor="t" anchorCtr="0">
            <a:noAutofit/>
          </a:bodyPr>
          <a:lstStyle/>
          <a:p>
            <a:pPr marL="228600" lvl="0">
              <a:spcBef>
                <a:spcPts val="0"/>
              </a:spcBef>
              <a:buNone/>
            </a:pPr>
            <a:r>
              <a:rPr lang="en-US" dirty="0" err="1" smtClean="0"/>
              <a:t>Contoh</a:t>
            </a:r>
            <a:r>
              <a:rPr lang="en-US" dirty="0" smtClean="0"/>
              <a:t> </a:t>
            </a:r>
            <a:r>
              <a:rPr lang="en-US" dirty="0" err="1" smtClean="0"/>
              <a:t>penerapannya</a:t>
            </a:r>
            <a:endParaRPr lang="id-ID"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1131082" y="2353979"/>
            <a:ext cx="6997832" cy="1994737"/>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spcBef>
                <a:spcPts val="0"/>
              </a:spcBef>
              <a:buClr>
                <a:srgbClr val="000000"/>
              </a:buClr>
              <a:buNone/>
            </a:pPr>
            <a:r>
              <a:rPr lang="en-US" sz="1400" dirty="0" err="1"/>
              <a:t>Saya</a:t>
            </a:r>
            <a:r>
              <a:rPr lang="en-US" sz="1400" dirty="0"/>
              <a:t> </a:t>
            </a:r>
            <a:r>
              <a:rPr lang="en-US" sz="1400" dirty="0" err="1"/>
              <a:t>akan</a:t>
            </a:r>
            <a:r>
              <a:rPr lang="en-US" sz="1400" dirty="0"/>
              <a:t> </a:t>
            </a:r>
            <a:r>
              <a:rPr lang="en-US" sz="1400" dirty="0" err="1"/>
              <a:t>mengawali</a:t>
            </a:r>
            <a:r>
              <a:rPr lang="en-US" sz="1400" dirty="0"/>
              <a:t> </a:t>
            </a:r>
            <a:r>
              <a:rPr lang="en-US" sz="1400" dirty="0" err="1"/>
              <a:t>kegiatan</a:t>
            </a:r>
            <a:r>
              <a:rPr lang="en-US" sz="1400" dirty="0"/>
              <a:t> </a:t>
            </a:r>
            <a:r>
              <a:rPr lang="en-US" sz="1400" dirty="0" err="1"/>
              <a:t>dikantor</a:t>
            </a:r>
            <a:r>
              <a:rPr lang="en-US" sz="1400" dirty="0"/>
              <a:t> </a:t>
            </a:r>
            <a:r>
              <a:rPr lang="en-US" sz="1400" dirty="0" err="1"/>
              <a:t>dengan</a:t>
            </a:r>
            <a:r>
              <a:rPr lang="en-US" sz="1400" dirty="0"/>
              <a:t> </a:t>
            </a:r>
            <a:r>
              <a:rPr lang="en-US" sz="1400" b="1" dirty="0" err="1"/>
              <a:t>disiplin</a:t>
            </a:r>
            <a:r>
              <a:rPr lang="en-US" sz="1400" dirty="0"/>
              <a:t> </a:t>
            </a:r>
            <a:r>
              <a:rPr lang="en-US" sz="1400" dirty="0" err="1"/>
              <a:t>yaitu</a:t>
            </a:r>
            <a:r>
              <a:rPr lang="en-US" sz="1400" dirty="0"/>
              <a:t> </a:t>
            </a:r>
            <a:r>
              <a:rPr lang="en-US" sz="1400" dirty="0" err="1"/>
              <a:t>datang</a:t>
            </a:r>
            <a:r>
              <a:rPr lang="en-US" sz="1400" dirty="0"/>
              <a:t> </a:t>
            </a:r>
            <a:r>
              <a:rPr lang="en-US" sz="1400" dirty="0" err="1"/>
              <a:t>tepat</a:t>
            </a:r>
            <a:r>
              <a:rPr lang="en-US" sz="1400" dirty="0"/>
              <a:t> </a:t>
            </a:r>
            <a:r>
              <a:rPr lang="en-US" sz="1400" dirty="0" err="1"/>
              <a:t>waktu</a:t>
            </a:r>
            <a:r>
              <a:rPr lang="en-US" sz="1400" dirty="0"/>
              <a:t> (</a:t>
            </a:r>
            <a:r>
              <a:rPr lang="en-US" sz="1400" b="1" dirty="0"/>
              <a:t>anti </a:t>
            </a:r>
            <a:r>
              <a:rPr lang="en-US" sz="1400" b="1" dirty="0" err="1"/>
              <a:t>korupsi</a:t>
            </a:r>
            <a:r>
              <a:rPr lang="en-US" sz="1400" dirty="0" smtClean="0"/>
              <a:t>).</a:t>
            </a:r>
          </a:p>
          <a:p>
            <a:pPr algn="ctr">
              <a:spcBef>
                <a:spcPts val="0"/>
              </a:spcBef>
              <a:buClr>
                <a:srgbClr val="000000"/>
              </a:buClr>
              <a:buNone/>
            </a:pPr>
            <a:endParaRPr lang="en-US" sz="1400" dirty="0"/>
          </a:p>
          <a:p>
            <a:pPr algn="ctr">
              <a:spcBef>
                <a:spcPts val="0"/>
              </a:spcBef>
              <a:buClr>
                <a:srgbClr val="000000"/>
              </a:buClr>
              <a:buNone/>
            </a:pPr>
            <a:r>
              <a:rPr lang="en-US" sz="1400" dirty="0" err="1"/>
              <a:t>dokumen</a:t>
            </a:r>
            <a:r>
              <a:rPr lang="en-US" sz="1400" dirty="0"/>
              <a:t> yang </a:t>
            </a:r>
            <a:r>
              <a:rPr lang="en-US" sz="1400" dirty="0" err="1"/>
              <a:t>diterima</a:t>
            </a:r>
            <a:r>
              <a:rPr lang="en-US" sz="1400" dirty="0"/>
              <a:t> </a:t>
            </a:r>
            <a:r>
              <a:rPr lang="en-US" sz="1400" dirty="0" err="1"/>
              <a:t>akan</a:t>
            </a:r>
            <a:r>
              <a:rPr lang="en-US" sz="1400" dirty="0"/>
              <a:t> </a:t>
            </a:r>
            <a:r>
              <a:rPr lang="en-US" sz="1400" dirty="0" err="1"/>
              <a:t>saya</a:t>
            </a:r>
            <a:r>
              <a:rPr lang="en-US" sz="1400" dirty="0"/>
              <a:t> </a:t>
            </a:r>
            <a:r>
              <a:rPr lang="en-US" sz="1400" dirty="0" err="1"/>
              <a:t>periksa</a:t>
            </a:r>
            <a:r>
              <a:rPr lang="en-US" sz="1400" dirty="0"/>
              <a:t> </a:t>
            </a:r>
            <a:r>
              <a:rPr lang="en-US" sz="1400" dirty="0" err="1"/>
              <a:t>kelengkapannya</a:t>
            </a:r>
            <a:r>
              <a:rPr lang="en-US" sz="1400" dirty="0"/>
              <a:t> </a:t>
            </a:r>
            <a:r>
              <a:rPr lang="en-US" sz="1400" dirty="0" err="1"/>
              <a:t>dengan</a:t>
            </a:r>
            <a:r>
              <a:rPr lang="en-US" sz="1400" dirty="0"/>
              <a:t> </a:t>
            </a:r>
            <a:r>
              <a:rPr lang="en-US" sz="1400" b="1" dirty="0" err="1"/>
              <a:t>teliti</a:t>
            </a:r>
            <a:r>
              <a:rPr lang="en-US" sz="1400" b="1" dirty="0"/>
              <a:t> </a:t>
            </a:r>
            <a:endParaRPr lang="en-US" sz="1400" b="1" dirty="0" smtClean="0"/>
          </a:p>
          <a:p>
            <a:pPr algn="ctr">
              <a:spcBef>
                <a:spcPts val="0"/>
              </a:spcBef>
              <a:buClr>
                <a:srgbClr val="000000"/>
              </a:buClr>
              <a:buNone/>
            </a:pPr>
            <a:r>
              <a:rPr lang="en-US" sz="1400" b="1" dirty="0" smtClean="0"/>
              <a:t>(</a:t>
            </a:r>
            <a:r>
              <a:rPr lang="en-US" sz="1400" b="1" dirty="0" err="1"/>
              <a:t>komitmen</a:t>
            </a:r>
            <a:r>
              <a:rPr lang="en-US" sz="1400" dirty="0"/>
              <a:t> </a:t>
            </a:r>
            <a:r>
              <a:rPr lang="en-US" sz="1400" b="1" dirty="0" err="1"/>
              <a:t>mutu</a:t>
            </a:r>
            <a:r>
              <a:rPr lang="en-US" sz="1400" b="1" dirty="0"/>
              <a:t>).</a:t>
            </a:r>
            <a:r>
              <a:rPr lang="en-US" sz="1400" dirty="0"/>
              <a:t> </a:t>
            </a:r>
          </a:p>
        </p:txBody>
      </p:sp>
    </p:spTree>
    <p:extLst>
      <p:ext uri="{BB962C8B-B14F-4D97-AF65-F5344CB8AC3E}">
        <p14:creationId xmlns:p14="http://schemas.microsoft.com/office/powerpoint/2010/main" val="1480853549"/>
      </p:ext>
    </p:extLst>
  </p:cSld>
  <p:clrMapOvr>
    <a:masterClrMapping/>
  </p:clrMapOvr>
  <p:transition spd="slow">
    <p:cut/>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3" name="Rectangle 12"/>
          <p:cNvSpPr/>
          <p:nvPr/>
        </p:nvSpPr>
        <p:spPr>
          <a:xfrm flipH="1">
            <a:off x="5057909" y="924720"/>
            <a:ext cx="45719" cy="4355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7" name="Shape 107"/>
          <p:cNvSpPr txBox="1">
            <a:spLocks noGrp="1"/>
          </p:cNvSpPr>
          <p:nvPr>
            <p:ph type="title"/>
          </p:nvPr>
        </p:nvSpPr>
        <p:spPr>
          <a:xfrm>
            <a:off x="1381249" y="924720"/>
            <a:ext cx="5030183" cy="435599"/>
          </a:xfrm>
          <a:prstGeom prst="rect">
            <a:avLst/>
          </a:prstGeom>
        </p:spPr>
        <p:txBody>
          <a:bodyPr lIns="91425" tIns="91425" rIns="91425" bIns="91425" anchor="ctr" anchorCtr="0">
            <a:noAutofit/>
          </a:bodyPr>
          <a:lstStyle/>
          <a:p>
            <a:r>
              <a:rPr lang="en-US" dirty="0" err="1"/>
              <a:t>Melakukan</a:t>
            </a:r>
            <a:r>
              <a:rPr lang="en-US" dirty="0"/>
              <a:t> </a:t>
            </a:r>
            <a:r>
              <a:rPr lang="en-US" dirty="0" err="1"/>
              <a:t>entri</a:t>
            </a:r>
            <a:r>
              <a:rPr lang="en-US" dirty="0"/>
              <a:t> SAKERNAS</a:t>
            </a:r>
            <a:endParaRPr lang="en" dirty="0"/>
          </a:p>
        </p:txBody>
      </p:sp>
      <p:sp>
        <p:nvSpPr>
          <p:cNvPr id="108" name="Shape 108"/>
          <p:cNvSpPr txBox="1">
            <a:spLocks noGrp="1"/>
          </p:cNvSpPr>
          <p:nvPr>
            <p:ph type="body" idx="1"/>
          </p:nvPr>
        </p:nvSpPr>
        <p:spPr>
          <a:xfrm>
            <a:off x="1381250" y="1567753"/>
            <a:ext cx="1867376" cy="559454"/>
          </a:xfrm>
          <a:prstGeom prst="rect">
            <a:avLst/>
          </a:prstGeom>
        </p:spPr>
        <p:txBody>
          <a:bodyPr lIns="91425" tIns="91425" rIns="91425" bIns="91425" anchor="t" anchorCtr="0">
            <a:noAutofit/>
          </a:bodyPr>
          <a:lstStyle/>
          <a:p>
            <a:pPr marL="228600" lvl="0">
              <a:spcBef>
                <a:spcPts val="0"/>
              </a:spcBef>
              <a:buNone/>
            </a:pPr>
            <a:r>
              <a:rPr lang="en-US" b="1" dirty="0" err="1" smtClean="0"/>
              <a:t>Kendala</a:t>
            </a:r>
            <a:endParaRPr lang="fi-FI"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916458" y="2353979"/>
            <a:ext cx="7026063" cy="750728"/>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85750" indent="-285750"/>
            <a:r>
              <a:rPr lang="en-US" sz="1400" dirty="0" err="1"/>
              <a:t>Terjadi</a:t>
            </a:r>
            <a:r>
              <a:rPr lang="en-US" sz="1400" dirty="0"/>
              <a:t> </a:t>
            </a:r>
            <a:r>
              <a:rPr lang="en-US" sz="1400" i="1" dirty="0" err="1"/>
              <a:t>erorr</a:t>
            </a:r>
            <a:r>
              <a:rPr lang="en-US" sz="1400" dirty="0"/>
              <a:t> </a:t>
            </a:r>
            <a:r>
              <a:rPr lang="en-US" sz="1400" dirty="0" err="1"/>
              <a:t>saat</a:t>
            </a:r>
            <a:r>
              <a:rPr lang="en-US" sz="1400" dirty="0"/>
              <a:t> proses </a:t>
            </a:r>
            <a:r>
              <a:rPr lang="en-US" sz="1400" dirty="0" err="1"/>
              <a:t>pengentrian</a:t>
            </a:r>
            <a:endParaRPr lang="id-ID" sz="1400" dirty="0"/>
          </a:p>
        </p:txBody>
      </p:sp>
      <p:sp>
        <p:nvSpPr>
          <p:cNvPr id="11" name="Shape 96"/>
          <p:cNvSpPr txBox="1">
            <a:spLocks/>
          </p:cNvSpPr>
          <p:nvPr/>
        </p:nvSpPr>
        <p:spPr>
          <a:xfrm>
            <a:off x="1381250" y="3591869"/>
            <a:ext cx="7026063" cy="632444"/>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85750" indent="-285750"/>
            <a:r>
              <a:rPr lang="en-US" sz="1400" dirty="0" err="1"/>
              <a:t>Mengkomunikasikan</a:t>
            </a:r>
            <a:r>
              <a:rPr lang="en-US" sz="1400" dirty="0"/>
              <a:t> </a:t>
            </a:r>
            <a:r>
              <a:rPr lang="en-US" sz="1400" dirty="0" err="1"/>
              <a:t>dengan</a:t>
            </a:r>
            <a:r>
              <a:rPr lang="en-US" sz="1400" dirty="0"/>
              <a:t> </a:t>
            </a:r>
            <a:r>
              <a:rPr lang="en-US" sz="1400" dirty="0" err="1"/>
              <a:t>penanggung</a:t>
            </a:r>
            <a:r>
              <a:rPr lang="en-US" sz="1400" dirty="0"/>
              <a:t> </a:t>
            </a:r>
            <a:r>
              <a:rPr lang="en-US" sz="1400" dirty="0" err="1"/>
              <a:t>jawab</a:t>
            </a:r>
            <a:r>
              <a:rPr lang="en-US" sz="1400" dirty="0"/>
              <a:t> program di </a:t>
            </a:r>
            <a:r>
              <a:rPr lang="en-US" sz="1400" dirty="0" err="1"/>
              <a:t>provinsi</a:t>
            </a:r>
            <a:endParaRPr lang="en-US" sz="1400" dirty="0" smtClean="0"/>
          </a:p>
        </p:txBody>
      </p:sp>
      <p:sp>
        <p:nvSpPr>
          <p:cNvPr id="12" name="Shape 108"/>
          <p:cNvSpPr txBox="1">
            <a:spLocks/>
          </p:cNvSpPr>
          <p:nvPr/>
        </p:nvSpPr>
        <p:spPr>
          <a:xfrm>
            <a:off x="3689498" y="3032414"/>
            <a:ext cx="3880884" cy="559454"/>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28600">
              <a:spcBef>
                <a:spcPts val="0"/>
              </a:spcBef>
              <a:buFont typeface="Quattrocento Sans"/>
              <a:buNone/>
            </a:pPr>
            <a:r>
              <a:rPr lang="en-US" b="1" dirty="0" err="1" smtClean="0"/>
              <a:t>Rencana</a:t>
            </a:r>
            <a:r>
              <a:rPr lang="en-US" b="1" dirty="0" smtClean="0"/>
              <a:t> </a:t>
            </a:r>
            <a:r>
              <a:rPr lang="en-US" b="1" dirty="0" err="1" smtClean="0"/>
              <a:t>Antisipasi</a:t>
            </a:r>
            <a:endParaRPr lang="fi-FI" dirty="0"/>
          </a:p>
        </p:txBody>
      </p:sp>
      <p:sp>
        <p:nvSpPr>
          <p:cNvPr id="3" name="U-Turn Arrow 2"/>
          <p:cNvSpPr/>
          <p:nvPr/>
        </p:nvSpPr>
        <p:spPr>
          <a:xfrm rot="5400000">
            <a:off x="4901607" y="-120126"/>
            <a:ext cx="1743739" cy="5507663"/>
          </a:xfrm>
          <a:prstGeom prst="uturnArrow">
            <a:avLst>
              <a:gd name="adj1" fmla="val 11284"/>
              <a:gd name="adj2" fmla="val 11449"/>
              <a:gd name="adj3" fmla="val 0"/>
              <a:gd name="adj4" fmla="val 47097"/>
              <a:gd name="adj5" fmla="val 26051"/>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id-ID">
              <a:solidFill>
                <a:schemeClr val="tx1"/>
              </a:solidFill>
            </a:endParaRPr>
          </a:p>
        </p:txBody>
      </p:sp>
    </p:spTree>
    <p:extLst>
      <p:ext uri="{BB962C8B-B14F-4D97-AF65-F5344CB8AC3E}">
        <p14:creationId xmlns:p14="http://schemas.microsoft.com/office/powerpoint/2010/main" val="3988634921"/>
      </p:ext>
    </p:extLst>
  </p:cSld>
  <p:clrMapOvr>
    <a:masterClrMapping/>
  </p:clrMapOvr>
  <p:transition spd="slow">
    <p:cut/>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2" name="Rectangle 1"/>
          <p:cNvSpPr/>
          <p:nvPr/>
        </p:nvSpPr>
        <p:spPr>
          <a:xfrm>
            <a:off x="5564799" y="2291149"/>
            <a:ext cx="305657" cy="562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n>
                <a:solidFill>
                  <a:schemeClr val="bg1"/>
                </a:solidFill>
              </a:ln>
              <a:solidFill>
                <a:schemeClr val="bg1"/>
              </a:solidFill>
            </a:endParaRPr>
          </a:p>
        </p:txBody>
      </p:sp>
      <p:sp>
        <p:nvSpPr>
          <p:cNvPr id="95" name="Shape 95"/>
          <p:cNvSpPr txBox="1">
            <a:spLocks noGrp="1"/>
          </p:cNvSpPr>
          <p:nvPr>
            <p:ph type="ctrTitle"/>
          </p:nvPr>
        </p:nvSpPr>
        <p:spPr>
          <a:xfrm>
            <a:off x="1993196" y="1711250"/>
            <a:ext cx="3724432" cy="1159799"/>
          </a:xfrm>
          <a:prstGeom prst="rect">
            <a:avLst/>
          </a:prstGeom>
        </p:spPr>
        <p:txBody>
          <a:bodyPr lIns="91425" tIns="91425" rIns="91425" bIns="91425" anchor="b" anchorCtr="0">
            <a:noAutofit/>
          </a:bodyPr>
          <a:lstStyle/>
          <a:p>
            <a:pPr lvl="0"/>
            <a:r>
              <a:rPr lang="en-US" sz="2800" dirty="0" err="1"/>
              <a:t>Membuat</a:t>
            </a:r>
            <a:r>
              <a:rPr lang="en-US" sz="2800" dirty="0"/>
              <a:t> </a:t>
            </a:r>
            <a:r>
              <a:rPr lang="en-US" sz="2800" dirty="0" err="1" smtClean="0"/>
              <a:t>infografis</a:t>
            </a:r>
            <a:r>
              <a:rPr lang="en-US" sz="2800" dirty="0" smtClean="0"/>
              <a:t> </a:t>
            </a:r>
            <a:endParaRPr lang="en" sz="2800" dirty="0"/>
          </a:p>
        </p:txBody>
      </p:sp>
      <p:sp>
        <p:nvSpPr>
          <p:cNvPr id="96" name="Shape 96"/>
          <p:cNvSpPr txBox="1">
            <a:spLocks noGrp="1"/>
          </p:cNvSpPr>
          <p:nvPr>
            <p:ph type="subTitle" idx="1"/>
          </p:nvPr>
        </p:nvSpPr>
        <p:spPr>
          <a:xfrm>
            <a:off x="1677874" y="2871049"/>
            <a:ext cx="7153202" cy="1700951"/>
          </a:xfrm>
          <a:prstGeom prst="rect">
            <a:avLst/>
          </a:prstGeom>
        </p:spPr>
        <p:txBody>
          <a:bodyPr lIns="91425" tIns="91425" rIns="91425" bIns="91425" anchor="t" anchorCtr="0">
            <a:noAutofit/>
          </a:bodyPr>
          <a:lstStyle/>
          <a:p>
            <a:pPr algn="ctr"/>
            <a:r>
              <a:rPr lang="en-US" dirty="0"/>
              <a:t>Data yang </a:t>
            </a:r>
            <a:r>
              <a:rPr lang="en-US" dirty="0" err="1"/>
              <a:t>disajikan</a:t>
            </a:r>
            <a:r>
              <a:rPr lang="en-US" dirty="0"/>
              <a:t> di </a:t>
            </a:r>
            <a:r>
              <a:rPr lang="en-US" dirty="0" err="1"/>
              <a:t>dalam</a:t>
            </a:r>
            <a:r>
              <a:rPr lang="en-US" dirty="0"/>
              <a:t> </a:t>
            </a:r>
            <a:r>
              <a:rPr lang="en-US" dirty="0" err="1"/>
              <a:t>publikasi</a:t>
            </a:r>
            <a:r>
              <a:rPr lang="en-US" dirty="0"/>
              <a:t> </a:t>
            </a:r>
            <a:r>
              <a:rPr lang="en-US" dirty="0" err="1" smtClean="0"/>
              <a:t>Bontang</a:t>
            </a:r>
            <a:r>
              <a:rPr lang="en-US" dirty="0" smtClean="0"/>
              <a:t> </a:t>
            </a:r>
            <a:r>
              <a:rPr lang="en-US" dirty="0" err="1" smtClean="0"/>
              <a:t>Dalam</a:t>
            </a:r>
            <a:r>
              <a:rPr lang="en-US" dirty="0" smtClean="0"/>
              <a:t> </a:t>
            </a:r>
            <a:r>
              <a:rPr lang="en-US" dirty="0" err="1" smtClean="0"/>
              <a:t>Angka</a:t>
            </a:r>
            <a:r>
              <a:rPr lang="en-US" dirty="0" smtClean="0"/>
              <a:t> </a:t>
            </a:r>
            <a:r>
              <a:rPr lang="en-US" dirty="0" err="1"/>
              <a:t>biasanya</a:t>
            </a:r>
            <a:r>
              <a:rPr lang="en-US" dirty="0"/>
              <a:t> </a:t>
            </a:r>
            <a:r>
              <a:rPr lang="en-US" dirty="0" err="1"/>
              <a:t>berbentuk</a:t>
            </a:r>
            <a:r>
              <a:rPr lang="en-US" dirty="0"/>
              <a:t> </a:t>
            </a:r>
            <a:r>
              <a:rPr lang="en-US" dirty="0" err="1"/>
              <a:t>tabel</a:t>
            </a:r>
            <a:r>
              <a:rPr lang="en-US" dirty="0"/>
              <a:t> </a:t>
            </a:r>
            <a:r>
              <a:rPr lang="en-US" dirty="0" err="1"/>
              <a:t>dan</a:t>
            </a:r>
            <a:r>
              <a:rPr lang="en-US" dirty="0"/>
              <a:t> </a:t>
            </a:r>
            <a:r>
              <a:rPr lang="en-US" dirty="0" err="1"/>
              <a:t>grafik</a:t>
            </a:r>
            <a:r>
              <a:rPr lang="en-US" dirty="0"/>
              <a:t> yang </a:t>
            </a:r>
            <a:r>
              <a:rPr lang="en-US" dirty="0" err="1"/>
              <a:t>disertai</a:t>
            </a:r>
            <a:r>
              <a:rPr lang="en-US" dirty="0"/>
              <a:t> </a:t>
            </a:r>
            <a:r>
              <a:rPr lang="en-US" dirty="0" err="1"/>
              <a:t>dengan</a:t>
            </a:r>
            <a:r>
              <a:rPr lang="en-US" dirty="0"/>
              <a:t> </a:t>
            </a:r>
            <a:r>
              <a:rPr lang="en-US" dirty="0" err="1"/>
              <a:t>uraian</a:t>
            </a:r>
            <a:r>
              <a:rPr lang="en-US" dirty="0"/>
              <a:t> </a:t>
            </a:r>
            <a:r>
              <a:rPr lang="en-US" dirty="0" err="1"/>
              <a:t>penjelasannya</a:t>
            </a:r>
            <a:r>
              <a:rPr lang="en-US" dirty="0"/>
              <a:t>.</a:t>
            </a:r>
            <a:endParaRPr lang="id-ID" dirty="0"/>
          </a:p>
          <a:p>
            <a:pPr algn="ctr"/>
            <a:r>
              <a:rPr lang="en-US" dirty="0" err="1"/>
              <a:t>Sebagai</a:t>
            </a:r>
            <a:r>
              <a:rPr lang="en-US" dirty="0"/>
              <a:t> </a:t>
            </a:r>
            <a:r>
              <a:rPr lang="en-US" dirty="0" err="1"/>
              <a:t>sebuah</a:t>
            </a:r>
            <a:r>
              <a:rPr lang="en-US" dirty="0"/>
              <a:t> </a:t>
            </a:r>
            <a:r>
              <a:rPr lang="en-US" dirty="0" err="1"/>
              <a:t>kreatifitas</a:t>
            </a:r>
            <a:r>
              <a:rPr lang="en-US" dirty="0"/>
              <a:t>, </a:t>
            </a:r>
            <a:r>
              <a:rPr lang="en-US" dirty="0" err="1"/>
              <a:t>kegiatan</a:t>
            </a:r>
            <a:r>
              <a:rPr lang="en-US" dirty="0"/>
              <a:t> </a:t>
            </a:r>
            <a:r>
              <a:rPr lang="en-US" dirty="0" err="1"/>
              <a:t>ini</a:t>
            </a:r>
            <a:r>
              <a:rPr lang="en-US" dirty="0"/>
              <a:t> </a:t>
            </a:r>
            <a:r>
              <a:rPr lang="en-US" dirty="0" err="1"/>
              <a:t>bertujuan</a:t>
            </a:r>
            <a:r>
              <a:rPr lang="en-US" dirty="0"/>
              <a:t> </a:t>
            </a:r>
            <a:r>
              <a:rPr lang="en-US" dirty="0" err="1"/>
              <a:t>untuk</a:t>
            </a:r>
            <a:r>
              <a:rPr lang="en-US" dirty="0"/>
              <a:t> </a:t>
            </a:r>
            <a:r>
              <a:rPr lang="en-US" dirty="0" err="1"/>
              <a:t>membuat</a:t>
            </a:r>
            <a:r>
              <a:rPr lang="en-US" dirty="0"/>
              <a:t> </a:t>
            </a:r>
            <a:r>
              <a:rPr lang="en-US" dirty="0" err="1"/>
              <a:t>infografis</a:t>
            </a:r>
            <a:r>
              <a:rPr lang="en-US" dirty="0"/>
              <a:t> yang </a:t>
            </a:r>
            <a:r>
              <a:rPr lang="en-US" dirty="0" err="1"/>
              <a:t>outputnya</a:t>
            </a:r>
            <a:r>
              <a:rPr lang="en-US" dirty="0"/>
              <a:t> </a:t>
            </a:r>
            <a:r>
              <a:rPr lang="en-US" dirty="0" err="1"/>
              <a:t>mudah</a:t>
            </a:r>
            <a:r>
              <a:rPr lang="en-US" dirty="0"/>
              <a:t> </a:t>
            </a:r>
            <a:r>
              <a:rPr lang="en-US" dirty="0" err="1"/>
              <a:t>dipahami</a:t>
            </a:r>
            <a:r>
              <a:rPr lang="en-US" dirty="0"/>
              <a:t> </a:t>
            </a:r>
            <a:r>
              <a:rPr lang="en-US" dirty="0" err="1"/>
              <a:t>konsumen</a:t>
            </a:r>
            <a:r>
              <a:rPr lang="en-US" dirty="0"/>
              <a:t> data.</a:t>
            </a:r>
            <a:endParaRPr lang="id-ID" dirty="0"/>
          </a:p>
          <a:p>
            <a:pPr algn="ctr"/>
            <a:endParaRPr lang="en-US" dirty="0"/>
          </a:p>
          <a:p>
            <a:pPr algn="ctr"/>
            <a:r>
              <a:rPr lang="en-US" b="1" dirty="0" smtClean="0"/>
              <a:t>Output:</a:t>
            </a:r>
          </a:p>
          <a:p>
            <a:pPr algn="ctr"/>
            <a:r>
              <a:rPr lang="en-US" dirty="0" err="1"/>
              <a:t>infografis</a:t>
            </a:r>
            <a:r>
              <a:rPr lang="en-US" dirty="0"/>
              <a:t> yang </a:t>
            </a:r>
            <a:r>
              <a:rPr lang="en-US" dirty="0" err="1"/>
              <a:t>mudah</a:t>
            </a:r>
            <a:r>
              <a:rPr lang="en-US" dirty="0"/>
              <a:t> </a:t>
            </a:r>
            <a:r>
              <a:rPr lang="en-US" dirty="0" err="1"/>
              <a:t>dipahami</a:t>
            </a:r>
            <a:endParaRPr lang="id-ID" dirty="0"/>
          </a:p>
        </p:txBody>
      </p:sp>
      <p:sp>
        <p:nvSpPr>
          <p:cNvPr id="97" name="Shape 97"/>
          <p:cNvSpPr txBox="1"/>
          <p:nvPr/>
        </p:nvSpPr>
        <p:spPr>
          <a:xfrm>
            <a:off x="1133975" y="2291150"/>
            <a:ext cx="543899" cy="562199"/>
          </a:xfrm>
          <a:prstGeom prst="rect">
            <a:avLst/>
          </a:prstGeom>
          <a:noFill/>
          <a:ln>
            <a:noFill/>
          </a:ln>
        </p:spPr>
        <p:txBody>
          <a:bodyPr lIns="91425" tIns="91425" rIns="91425" bIns="91425" anchor="ctr" anchorCtr="0">
            <a:noAutofit/>
          </a:bodyPr>
          <a:lstStyle/>
          <a:p>
            <a:pPr algn="ctr">
              <a:spcBef>
                <a:spcPts val="0"/>
              </a:spcBef>
              <a:buNone/>
            </a:pPr>
            <a:r>
              <a:rPr lang="en" sz="2400" dirty="0" smtClean="0">
                <a:solidFill>
                  <a:schemeClr val="dk1"/>
                </a:solidFill>
                <a:latin typeface="Lora"/>
                <a:ea typeface="Lora"/>
                <a:cs typeface="Lora"/>
                <a:sym typeface="Lora"/>
              </a:rPr>
              <a:t>7</a:t>
            </a:r>
            <a:endParaRPr lang="en" sz="2400" dirty="0">
              <a:solidFill>
                <a:schemeClr val="dk1"/>
              </a:solidFill>
              <a:latin typeface="Lora"/>
              <a:ea typeface="Lora"/>
              <a:cs typeface="Lora"/>
              <a:sym typeface="Lora"/>
            </a:endParaRPr>
          </a:p>
        </p:txBody>
      </p:sp>
    </p:spTree>
    <p:extLst>
      <p:ext uri="{BB962C8B-B14F-4D97-AF65-F5344CB8AC3E}">
        <p14:creationId xmlns:p14="http://schemas.microsoft.com/office/powerpoint/2010/main" val="794132015"/>
      </p:ext>
    </p:extLst>
  </p:cSld>
  <p:clrMapOvr>
    <a:masterClrMapping/>
  </p:clrMapOvr>
  <p:transition spd="slow">
    <p:cut/>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2" name="Rectangle 1"/>
          <p:cNvSpPr/>
          <p:nvPr/>
        </p:nvSpPr>
        <p:spPr>
          <a:xfrm>
            <a:off x="5103628" y="924720"/>
            <a:ext cx="122758" cy="4355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7" name="Shape 107"/>
          <p:cNvSpPr txBox="1">
            <a:spLocks noGrp="1"/>
          </p:cNvSpPr>
          <p:nvPr>
            <p:ph type="title"/>
          </p:nvPr>
        </p:nvSpPr>
        <p:spPr>
          <a:xfrm>
            <a:off x="1381250" y="924720"/>
            <a:ext cx="3845136" cy="435599"/>
          </a:xfrm>
          <a:prstGeom prst="rect">
            <a:avLst/>
          </a:prstGeom>
        </p:spPr>
        <p:txBody>
          <a:bodyPr lIns="91425" tIns="91425" rIns="91425" bIns="91425" anchor="ctr" anchorCtr="0">
            <a:noAutofit/>
          </a:bodyPr>
          <a:lstStyle/>
          <a:p>
            <a:r>
              <a:rPr lang="en-US" dirty="0" err="1"/>
              <a:t>Melakukan</a:t>
            </a:r>
            <a:r>
              <a:rPr lang="en-US" dirty="0"/>
              <a:t> </a:t>
            </a:r>
            <a:r>
              <a:rPr lang="en-US" dirty="0" err="1"/>
              <a:t>entri</a:t>
            </a:r>
            <a:r>
              <a:rPr lang="en-US" dirty="0"/>
              <a:t> SAKERNAS</a:t>
            </a:r>
            <a:endParaRPr lang="en"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222"/>
          <p:cNvSpPr txBox="1">
            <a:spLocks/>
          </p:cNvSpPr>
          <p:nvPr/>
        </p:nvSpPr>
        <p:spPr>
          <a:xfrm>
            <a:off x="707065" y="2370151"/>
            <a:ext cx="7772400" cy="1159799"/>
          </a:xfrm>
          <a:prstGeom prst="rect">
            <a:avLst/>
          </a:prstGeom>
          <a:noFill/>
          <a:ln>
            <a:noFill/>
          </a:ln>
        </p:spPr>
        <p:txBody>
          <a:bodyPr lIns="91425" tIns="91425" rIns="91425" bIns="91425" anchor="ctr"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SzPct val="100000"/>
              <a:buFont typeface="Lora"/>
              <a:buNone/>
              <a:defRPr sz="2000" b="1" i="0" u="none" strike="noStrike" cap="none" baseline="0">
                <a:solidFill>
                  <a:srgbClr val="000000"/>
                </a:solidFill>
                <a:latin typeface="Lora"/>
                <a:ea typeface="Lora"/>
                <a:cs typeface="Lora"/>
                <a:sym typeface="Lora"/>
                <a:rtl val="0"/>
              </a:defRPr>
            </a:lvl1pPr>
            <a:lvl2pPr rtl="0">
              <a:spcBef>
                <a:spcPts val="0"/>
              </a:spcBef>
              <a:buSzPct val="100000"/>
              <a:buFont typeface="Lora"/>
              <a:buNone/>
              <a:defRPr sz="2000" b="1">
                <a:latin typeface="Lora"/>
                <a:ea typeface="Lora"/>
                <a:cs typeface="Lora"/>
                <a:sym typeface="Lora"/>
              </a:defRPr>
            </a:lvl2pPr>
            <a:lvl3pPr rtl="0">
              <a:spcBef>
                <a:spcPts val="0"/>
              </a:spcBef>
              <a:buSzPct val="100000"/>
              <a:buFont typeface="Lora"/>
              <a:buNone/>
              <a:defRPr sz="2000" b="1">
                <a:latin typeface="Lora"/>
                <a:ea typeface="Lora"/>
                <a:cs typeface="Lora"/>
                <a:sym typeface="Lora"/>
              </a:defRPr>
            </a:lvl3pPr>
            <a:lvl4pPr rtl="0">
              <a:spcBef>
                <a:spcPts val="0"/>
              </a:spcBef>
              <a:buSzPct val="100000"/>
              <a:buFont typeface="Lora"/>
              <a:buNone/>
              <a:defRPr sz="2000" b="1">
                <a:latin typeface="Lora"/>
                <a:ea typeface="Lora"/>
                <a:cs typeface="Lora"/>
                <a:sym typeface="Lora"/>
              </a:defRPr>
            </a:lvl4pPr>
            <a:lvl5pPr rtl="0">
              <a:spcBef>
                <a:spcPts val="0"/>
              </a:spcBef>
              <a:buSzPct val="100000"/>
              <a:buFont typeface="Lora"/>
              <a:buNone/>
              <a:defRPr sz="2000" b="1">
                <a:latin typeface="Lora"/>
                <a:ea typeface="Lora"/>
                <a:cs typeface="Lora"/>
                <a:sym typeface="Lora"/>
              </a:defRPr>
            </a:lvl5pPr>
            <a:lvl6pPr rtl="0">
              <a:spcBef>
                <a:spcPts val="0"/>
              </a:spcBef>
              <a:buSzPct val="100000"/>
              <a:buFont typeface="Lora"/>
              <a:buNone/>
              <a:defRPr sz="2000" b="1">
                <a:latin typeface="Lora"/>
                <a:ea typeface="Lora"/>
                <a:cs typeface="Lora"/>
                <a:sym typeface="Lora"/>
              </a:defRPr>
            </a:lvl6pPr>
            <a:lvl7pPr rtl="0">
              <a:spcBef>
                <a:spcPts val="0"/>
              </a:spcBef>
              <a:buSzPct val="100000"/>
              <a:buFont typeface="Lora"/>
              <a:buNone/>
              <a:defRPr sz="2000" b="1">
                <a:latin typeface="Lora"/>
                <a:ea typeface="Lora"/>
                <a:cs typeface="Lora"/>
                <a:sym typeface="Lora"/>
              </a:defRPr>
            </a:lvl7pPr>
            <a:lvl8pPr rtl="0">
              <a:spcBef>
                <a:spcPts val="0"/>
              </a:spcBef>
              <a:buSzPct val="100000"/>
              <a:buFont typeface="Lora"/>
              <a:buNone/>
              <a:defRPr sz="2000" b="1">
                <a:latin typeface="Lora"/>
                <a:ea typeface="Lora"/>
                <a:cs typeface="Lora"/>
                <a:sym typeface="Lora"/>
              </a:defRPr>
            </a:lvl8pPr>
            <a:lvl9pPr rtl="0">
              <a:spcBef>
                <a:spcPts val="0"/>
              </a:spcBef>
              <a:buSzPct val="100000"/>
              <a:buFont typeface="Lora"/>
              <a:buNone/>
              <a:defRPr sz="2000" b="1">
                <a:latin typeface="Lora"/>
                <a:ea typeface="Lora"/>
                <a:cs typeface="Lora"/>
                <a:sym typeface="Lora"/>
              </a:defRPr>
            </a:lvl9pPr>
          </a:lstStyle>
          <a:p>
            <a:pPr algn="ctr"/>
            <a:r>
              <a:rPr lang="en" sz="6600" b="0" dirty="0" smtClean="0">
                <a:latin typeface="Arial" panose="020B0604020202020204" pitchFamily="34" charset="0"/>
                <a:cs typeface="Arial" panose="020B0604020202020204" pitchFamily="34" charset="0"/>
              </a:rPr>
              <a:t>22-23 Agustus 2016</a:t>
            </a:r>
            <a:endParaRPr lang="en" sz="6600" b="0" dirty="0">
              <a:latin typeface="Arial" panose="020B0604020202020204" pitchFamily="34" charset="0"/>
              <a:cs typeface="Arial" panose="020B0604020202020204" pitchFamily="34" charset="0"/>
            </a:endParaRPr>
          </a:p>
        </p:txBody>
      </p:sp>
      <p:sp>
        <p:nvSpPr>
          <p:cNvPr id="3" name="TextBox 2"/>
          <p:cNvSpPr txBox="1"/>
          <p:nvPr/>
        </p:nvSpPr>
        <p:spPr>
          <a:xfrm>
            <a:off x="1045171" y="2183622"/>
            <a:ext cx="3463035" cy="369332"/>
          </a:xfrm>
          <a:prstGeom prst="rect">
            <a:avLst/>
          </a:prstGeom>
          <a:noFill/>
        </p:spPr>
        <p:txBody>
          <a:bodyPr wrap="square" rtlCol="0">
            <a:spAutoFit/>
          </a:bodyPr>
          <a:lstStyle/>
          <a:p>
            <a:r>
              <a:rPr lang="en-US" sz="1800" dirty="0" err="1" smtClean="0">
                <a:latin typeface="Lora"/>
              </a:rPr>
              <a:t>Tanggal</a:t>
            </a:r>
            <a:r>
              <a:rPr lang="en-US" sz="1800" dirty="0" smtClean="0">
                <a:latin typeface="Lora"/>
              </a:rPr>
              <a:t> </a:t>
            </a:r>
            <a:r>
              <a:rPr lang="en-US" sz="1800" dirty="0" err="1" smtClean="0">
                <a:latin typeface="Lora"/>
              </a:rPr>
              <a:t>Rencana</a:t>
            </a:r>
            <a:r>
              <a:rPr lang="en-US" sz="1800" dirty="0" smtClean="0">
                <a:latin typeface="Lora"/>
              </a:rPr>
              <a:t> </a:t>
            </a:r>
            <a:r>
              <a:rPr lang="en-US" sz="1800" dirty="0" err="1" smtClean="0">
                <a:latin typeface="Lora"/>
              </a:rPr>
              <a:t>Pelaksanaan</a:t>
            </a:r>
            <a:r>
              <a:rPr lang="en-US" sz="1800" dirty="0" smtClean="0">
                <a:latin typeface="Lora"/>
              </a:rPr>
              <a:t>:</a:t>
            </a:r>
            <a:endParaRPr lang="id-ID" sz="1800" dirty="0">
              <a:latin typeface="Lora"/>
            </a:endParaRPr>
          </a:p>
        </p:txBody>
      </p:sp>
    </p:spTree>
    <p:extLst>
      <p:ext uri="{BB962C8B-B14F-4D97-AF65-F5344CB8AC3E}">
        <p14:creationId xmlns:p14="http://schemas.microsoft.com/office/powerpoint/2010/main" val="522763771"/>
      </p:ext>
    </p:extLst>
  </p:cSld>
  <p:clrMapOvr>
    <a:masterClrMapping/>
  </p:clrMapOvr>
  <p:transition spd="slow">
    <p:cut/>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4" name="Rectangle 13"/>
          <p:cNvSpPr/>
          <p:nvPr/>
        </p:nvSpPr>
        <p:spPr>
          <a:xfrm>
            <a:off x="5103628" y="924720"/>
            <a:ext cx="120013" cy="4355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7" name="Shape 107"/>
          <p:cNvSpPr txBox="1">
            <a:spLocks noGrp="1"/>
          </p:cNvSpPr>
          <p:nvPr>
            <p:ph type="title"/>
          </p:nvPr>
        </p:nvSpPr>
        <p:spPr>
          <a:xfrm>
            <a:off x="1381250" y="924720"/>
            <a:ext cx="5147139" cy="435599"/>
          </a:xfrm>
          <a:prstGeom prst="rect">
            <a:avLst/>
          </a:prstGeom>
        </p:spPr>
        <p:txBody>
          <a:bodyPr lIns="91425" tIns="91425" rIns="91425" bIns="91425" anchor="ctr" anchorCtr="0">
            <a:noAutofit/>
          </a:bodyPr>
          <a:lstStyle/>
          <a:p>
            <a:r>
              <a:rPr lang="en-US" dirty="0" err="1"/>
              <a:t>Melakukan</a:t>
            </a:r>
            <a:r>
              <a:rPr lang="en-US" dirty="0"/>
              <a:t> </a:t>
            </a:r>
            <a:r>
              <a:rPr lang="en-US" dirty="0" err="1"/>
              <a:t>entri</a:t>
            </a:r>
            <a:r>
              <a:rPr lang="en-US" dirty="0"/>
              <a:t> SAKERNAS</a:t>
            </a:r>
            <a:endParaRPr lang="en" dirty="0"/>
          </a:p>
        </p:txBody>
      </p:sp>
      <p:sp>
        <p:nvSpPr>
          <p:cNvPr id="108" name="Shape 108"/>
          <p:cNvSpPr txBox="1">
            <a:spLocks noGrp="1"/>
          </p:cNvSpPr>
          <p:nvPr>
            <p:ph type="body" idx="1"/>
          </p:nvPr>
        </p:nvSpPr>
        <p:spPr>
          <a:xfrm>
            <a:off x="-1" y="1450099"/>
            <a:ext cx="6528391" cy="559454"/>
          </a:xfrm>
          <a:prstGeom prst="rect">
            <a:avLst/>
          </a:prstGeom>
        </p:spPr>
        <p:txBody>
          <a:bodyPr lIns="91425" tIns="91425" rIns="91425" bIns="91425" anchor="t" anchorCtr="0">
            <a:noAutofit/>
          </a:bodyPr>
          <a:lstStyle/>
          <a:p>
            <a:pPr marL="228600" lvl="0">
              <a:spcBef>
                <a:spcPts val="0"/>
              </a:spcBef>
              <a:buNone/>
            </a:pPr>
            <a:r>
              <a:rPr lang="en-US" dirty="0" err="1" smtClean="0"/>
              <a:t>Nilai-nilai</a:t>
            </a:r>
            <a:r>
              <a:rPr lang="en-US" dirty="0" smtClean="0"/>
              <a:t> ANEKA </a:t>
            </a:r>
            <a:r>
              <a:rPr lang="en-US" dirty="0" err="1" smtClean="0"/>
              <a:t>akan</a:t>
            </a:r>
            <a:r>
              <a:rPr lang="en-US" dirty="0" smtClean="0"/>
              <a:t> </a:t>
            </a:r>
            <a:r>
              <a:rPr lang="en-US" dirty="0" err="1" smtClean="0"/>
              <a:t>diaktualisasikan</a:t>
            </a:r>
            <a:endParaRPr lang="id-ID"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1"/>
              <a:ext cx="188176" cy="188149"/>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384830" y="2192205"/>
            <a:ext cx="3549216" cy="1633230"/>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endParaRPr lang="en" sz="1400" dirty="0"/>
          </a:p>
        </p:txBody>
      </p:sp>
      <p:sp>
        <p:nvSpPr>
          <p:cNvPr id="11" name="Shape 151"/>
          <p:cNvSpPr txBox="1">
            <a:spLocks/>
          </p:cNvSpPr>
          <p:nvPr/>
        </p:nvSpPr>
        <p:spPr>
          <a:xfrm>
            <a:off x="1131082" y="2099333"/>
            <a:ext cx="2333999" cy="2164323"/>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buNone/>
            </a:pPr>
            <a:r>
              <a:rPr lang="en-US" sz="1400" b="1" dirty="0" err="1" smtClean="0"/>
              <a:t>Akuntabilitas</a:t>
            </a:r>
            <a:r>
              <a:rPr lang="en-US" sz="1400" b="1" dirty="0"/>
              <a:t>:</a:t>
            </a:r>
            <a:endParaRPr lang="id-ID" sz="1400" dirty="0"/>
          </a:p>
          <a:p>
            <a:pPr marL="285750" indent="-285750">
              <a:spcBef>
                <a:spcPts val="0"/>
              </a:spcBef>
            </a:pPr>
            <a:r>
              <a:rPr lang="en-US" sz="1400" dirty="0" err="1">
                <a:sym typeface="Arial"/>
              </a:rPr>
              <a:t>Kejelasan</a:t>
            </a:r>
            <a:endParaRPr lang="id-ID" sz="1400" dirty="0">
              <a:sym typeface="Arial"/>
            </a:endParaRPr>
          </a:p>
          <a:p>
            <a:pPr marL="285750" indent="-285750">
              <a:spcBef>
                <a:spcPts val="0"/>
              </a:spcBef>
            </a:pPr>
            <a:r>
              <a:rPr lang="en-US" sz="1400" dirty="0" err="1" smtClean="0">
                <a:sym typeface="Arial"/>
              </a:rPr>
              <a:t>Laporan</a:t>
            </a:r>
            <a:endParaRPr lang="en-US" sz="1400" dirty="0" smtClean="0">
              <a:sym typeface="Arial"/>
            </a:endParaRPr>
          </a:p>
          <a:p>
            <a:pPr marL="285750" lvl="0" indent="-285750">
              <a:spcBef>
                <a:spcPts val="0"/>
              </a:spcBef>
            </a:pPr>
            <a:r>
              <a:rPr lang="en-US" sz="1400" dirty="0" err="1"/>
              <a:t>Penggunaan</a:t>
            </a:r>
            <a:r>
              <a:rPr lang="en-US" sz="1400" dirty="0"/>
              <a:t> </a:t>
            </a:r>
            <a:r>
              <a:rPr lang="en-US" sz="1400" dirty="0" err="1"/>
              <a:t>sumber</a:t>
            </a:r>
            <a:r>
              <a:rPr lang="en-US" sz="1400" dirty="0"/>
              <a:t> </a:t>
            </a:r>
            <a:r>
              <a:rPr lang="en-US" sz="1400" dirty="0" err="1"/>
              <a:t>daya</a:t>
            </a:r>
            <a:r>
              <a:rPr lang="en-US" sz="1400" dirty="0"/>
              <a:t> yang </a:t>
            </a:r>
            <a:r>
              <a:rPr lang="en-US" sz="1400" dirty="0" err="1"/>
              <a:t>efektif</a:t>
            </a:r>
            <a:endParaRPr lang="id-ID" sz="1400" dirty="0"/>
          </a:p>
          <a:p>
            <a:pPr>
              <a:spcBef>
                <a:spcPts val="0"/>
              </a:spcBef>
              <a:buNone/>
            </a:pPr>
            <a:endParaRPr lang="id-ID" sz="1400" dirty="0">
              <a:sym typeface="Arial"/>
            </a:endParaRPr>
          </a:p>
        </p:txBody>
      </p:sp>
      <p:sp>
        <p:nvSpPr>
          <p:cNvPr id="12" name="Shape 152"/>
          <p:cNvSpPr txBox="1">
            <a:spLocks/>
          </p:cNvSpPr>
          <p:nvPr/>
        </p:nvSpPr>
        <p:spPr>
          <a:xfrm>
            <a:off x="3584743" y="2099333"/>
            <a:ext cx="2333999" cy="2164323"/>
          </a:xfrm>
          <a:prstGeom prst="rect">
            <a:avLst/>
          </a:prstGeom>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r>
              <a:rPr lang="en-US" b="1" dirty="0" err="1" smtClean="0"/>
              <a:t>Nasionalisme</a:t>
            </a:r>
            <a:r>
              <a:rPr lang="en-US" b="1" dirty="0"/>
              <a:t>:</a:t>
            </a:r>
            <a:endParaRPr lang="id-ID" dirty="0"/>
          </a:p>
          <a:p>
            <a:pPr marL="285750" indent="-285750">
              <a:buClr>
                <a:srgbClr val="FFCD00"/>
              </a:buClr>
              <a:buSzPct val="100000"/>
              <a:buFont typeface="Quattrocento Sans"/>
              <a:buChar char="◉"/>
            </a:pPr>
            <a:r>
              <a:rPr lang="en-US" dirty="0" err="1" smtClean="0">
                <a:latin typeface="Quattrocento Sans"/>
                <a:ea typeface="Quattrocento Sans"/>
                <a:cs typeface="Quattrocento Sans"/>
              </a:rPr>
              <a:t>Takwa</a:t>
            </a:r>
            <a:endParaRPr lang="en-US" dirty="0" smtClean="0">
              <a:latin typeface="Quattrocento Sans"/>
              <a:ea typeface="Quattrocento Sans"/>
              <a:cs typeface="Quattrocento Sans"/>
            </a:endParaRPr>
          </a:p>
          <a:p>
            <a:pPr marL="285750" indent="-285750">
              <a:buClr>
                <a:srgbClr val="FFCD00"/>
              </a:buClr>
              <a:buSzPct val="100000"/>
              <a:buFont typeface="Quattrocento Sans"/>
              <a:buChar char="◉"/>
            </a:pPr>
            <a:endParaRPr lang="id-ID" dirty="0"/>
          </a:p>
          <a:p>
            <a:r>
              <a:rPr lang="en-US" b="1" dirty="0" err="1"/>
              <a:t>Etika</a:t>
            </a:r>
            <a:r>
              <a:rPr lang="en-US" b="1" dirty="0"/>
              <a:t> </a:t>
            </a:r>
            <a:r>
              <a:rPr lang="en-US" b="1" dirty="0" err="1"/>
              <a:t>Publik</a:t>
            </a:r>
            <a:r>
              <a:rPr lang="en-US" b="1" dirty="0"/>
              <a:t>:</a:t>
            </a:r>
            <a:endParaRPr lang="id-ID" dirty="0"/>
          </a:p>
          <a:p>
            <a:pPr marL="285750" lvl="0" indent="-285750">
              <a:buClr>
                <a:srgbClr val="FFCD00"/>
              </a:buClr>
              <a:buSzPct val="100000"/>
              <a:buFont typeface="Quattrocento Sans"/>
              <a:buChar char="◉"/>
            </a:pPr>
            <a:r>
              <a:rPr lang="en-US" dirty="0" err="1" smtClean="0"/>
              <a:t>Menyelesaikan</a:t>
            </a:r>
            <a:r>
              <a:rPr lang="en-US" dirty="0" smtClean="0"/>
              <a:t> </a:t>
            </a:r>
            <a:r>
              <a:rPr lang="en-US" dirty="0" err="1"/>
              <a:t>tugas</a:t>
            </a:r>
            <a:r>
              <a:rPr lang="en-US" dirty="0"/>
              <a:t> </a:t>
            </a:r>
            <a:r>
              <a:rPr lang="en-US" dirty="0" err="1"/>
              <a:t>dengan</a:t>
            </a:r>
            <a:r>
              <a:rPr lang="en-US" dirty="0"/>
              <a:t> </a:t>
            </a:r>
            <a:r>
              <a:rPr lang="en-US" dirty="0" err="1" smtClean="0"/>
              <a:t>baik</a:t>
            </a:r>
            <a:endParaRPr lang="en-US" dirty="0" smtClean="0"/>
          </a:p>
          <a:p>
            <a:pPr marL="285750" lvl="0" indent="-285750">
              <a:buClr>
                <a:srgbClr val="FFCD00"/>
              </a:buClr>
              <a:buSzPct val="100000"/>
              <a:buFont typeface="Quattrocento Sans"/>
              <a:buChar char="◉"/>
            </a:pPr>
            <a:r>
              <a:rPr lang="en-US" dirty="0" err="1" smtClean="0"/>
              <a:t>Santun</a:t>
            </a:r>
            <a:endParaRPr lang="id-ID" dirty="0"/>
          </a:p>
          <a:p>
            <a:pPr marL="285750" lvl="0" indent="-285750">
              <a:buClr>
                <a:srgbClr val="FFCD00"/>
              </a:buClr>
              <a:buSzPct val="100000"/>
              <a:buFont typeface="Quattrocento Sans"/>
              <a:buChar char="◉"/>
            </a:pPr>
            <a:endParaRPr lang="en" dirty="0">
              <a:latin typeface="Quattrocento Sans"/>
              <a:ea typeface="Quattrocento Sans"/>
              <a:cs typeface="Quattrocento Sans"/>
              <a:sym typeface="Quattrocento Sans"/>
            </a:endParaRPr>
          </a:p>
        </p:txBody>
      </p:sp>
      <p:sp>
        <p:nvSpPr>
          <p:cNvPr id="13" name="Shape 153"/>
          <p:cNvSpPr txBox="1">
            <a:spLocks/>
          </p:cNvSpPr>
          <p:nvPr/>
        </p:nvSpPr>
        <p:spPr>
          <a:xfrm>
            <a:off x="6038405" y="2099333"/>
            <a:ext cx="2659028" cy="1983569"/>
          </a:xfrm>
          <a:prstGeom prst="rect">
            <a:avLst/>
          </a:prstGeom>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r>
              <a:rPr lang="en-US" b="1" dirty="0" err="1"/>
              <a:t>Komitmen</a:t>
            </a:r>
            <a:r>
              <a:rPr lang="en-US" b="1" dirty="0"/>
              <a:t> </a:t>
            </a:r>
            <a:r>
              <a:rPr lang="en-US" b="1" dirty="0" err="1"/>
              <a:t>Mutu</a:t>
            </a:r>
            <a:r>
              <a:rPr lang="en-US" b="1" dirty="0"/>
              <a:t>:</a:t>
            </a:r>
            <a:endParaRPr lang="id-ID" dirty="0"/>
          </a:p>
          <a:p>
            <a:pPr marL="285750" lvl="0" indent="-285750">
              <a:buClr>
                <a:srgbClr val="FFCD00"/>
              </a:buClr>
              <a:buSzPct val="100000"/>
              <a:buFont typeface="Quattrocento Sans"/>
              <a:buChar char="◉"/>
            </a:pPr>
            <a:r>
              <a:rPr lang="en-AU" dirty="0" err="1">
                <a:latin typeface="Quattrocento Sans"/>
                <a:ea typeface="Quattrocento Sans"/>
                <a:cs typeface="Quattrocento Sans"/>
              </a:rPr>
              <a:t>Menjaga</a:t>
            </a:r>
            <a:r>
              <a:rPr lang="en-AU" dirty="0">
                <a:latin typeface="Quattrocento Sans"/>
                <a:ea typeface="Quattrocento Sans"/>
                <a:cs typeface="Quattrocento Sans"/>
              </a:rPr>
              <a:t> </a:t>
            </a:r>
            <a:r>
              <a:rPr lang="en-AU" dirty="0" err="1" smtClean="0">
                <a:latin typeface="Quattrocento Sans"/>
                <a:ea typeface="Quattrocento Sans"/>
                <a:cs typeface="Quattrocento Sans"/>
              </a:rPr>
              <a:t>mutu</a:t>
            </a:r>
            <a:endParaRPr lang="en-AU" dirty="0">
              <a:latin typeface="Quattrocento Sans"/>
              <a:ea typeface="Quattrocento Sans"/>
              <a:cs typeface="Quattrocento Sans"/>
            </a:endParaRPr>
          </a:p>
          <a:p>
            <a:pPr marL="285750" lvl="0" indent="-285750">
              <a:buClr>
                <a:srgbClr val="FFCD00"/>
              </a:buClr>
              <a:buSzPct val="100000"/>
              <a:buFont typeface="Quattrocento Sans"/>
              <a:buChar char="◉"/>
            </a:pPr>
            <a:r>
              <a:rPr lang="en-US" dirty="0" err="1" smtClean="0"/>
              <a:t>Inovasi</a:t>
            </a:r>
            <a:endParaRPr lang="en-US" dirty="0" smtClean="0"/>
          </a:p>
          <a:p>
            <a:pPr marL="285750" lvl="0" indent="-285750">
              <a:buClr>
                <a:srgbClr val="FFCD00"/>
              </a:buClr>
              <a:buSzPct val="100000"/>
              <a:buFont typeface="Quattrocento Sans"/>
              <a:buChar char="◉"/>
            </a:pPr>
            <a:r>
              <a:rPr lang="en-US" dirty="0" err="1" smtClean="0"/>
              <a:t>Kreatif</a:t>
            </a:r>
            <a:endParaRPr lang="id-ID" dirty="0"/>
          </a:p>
          <a:p>
            <a:pPr lvl="0">
              <a:buClr>
                <a:srgbClr val="FFCD00"/>
              </a:buClr>
              <a:buSzPct val="100000"/>
            </a:pPr>
            <a:endParaRPr lang="id-ID" dirty="0">
              <a:latin typeface="Quattrocento Sans"/>
              <a:ea typeface="Quattrocento Sans"/>
              <a:cs typeface="Quattrocento Sans"/>
            </a:endParaRPr>
          </a:p>
          <a:p>
            <a:pPr marL="285750" indent="-285750">
              <a:buClr>
                <a:srgbClr val="FFCD00"/>
              </a:buClr>
              <a:buSzPct val="100000"/>
              <a:buFont typeface="Quattrocento Sans"/>
              <a:buChar char="◉"/>
            </a:pPr>
            <a:endParaRPr lang="id-ID" dirty="0" smtClean="0">
              <a:latin typeface="Quattrocento Sans"/>
              <a:ea typeface="Quattrocento Sans"/>
              <a:cs typeface="Quattrocento Sans"/>
            </a:endParaRPr>
          </a:p>
          <a:p>
            <a:r>
              <a:rPr lang="en-US" b="1" dirty="0" smtClean="0"/>
              <a:t>Anti </a:t>
            </a:r>
            <a:r>
              <a:rPr lang="en-US" b="1" dirty="0" err="1"/>
              <a:t>Korupsi</a:t>
            </a:r>
            <a:r>
              <a:rPr lang="en-US" b="1" dirty="0" smtClean="0"/>
              <a:t>:</a:t>
            </a:r>
          </a:p>
          <a:p>
            <a:pPr marL="285750" indent="-285750">
              <a:buClr>
                <a:srgbClr val="FFCD00"/>
              </a:buClr>
              <a:buSzPct val="100000"/>
              <a:buFont typeface="Quattrocento Sans"/>
              <a:buChar char="◉"/>
            </a:pPr>
            <a:r>
              <a:rPr lang="en-US" dirty="0" err="1" smtClean="0">
                <a:latin typeface="Quattrocento Sans"/>
                <a:ea typeface="Quattrocento Sans"/>
                <a:cs typeface="Quattrocento Sans"/>
              </a:rPr>
              <a:t>Disiplin</a:t>
            </a:r>
            <a:endParaRPr lang="en-US" dirty="0" smtClean="0">
              <a:latin typeface="Quattrocento Sans"/>
              <a:ea typeface="Quattrocento Sans"/>
              <a:cs typeface="Quattrocento Sans"/>
            </a:endParaRPr>
          </a:p>
          <a:p>
            <a:pPr marL="285750" indent="-285750">
              <a:buClr>
                <a:srgbClr val="FFCD00"/>
              </a:buClr>
              <a:buSzPct val="100000"/>
              <a:buFont typeface="Quattrocento Sans"/>
              <a:buChar char="◉"/>
            </a:pPr>
            <a:r>
              <a:rPr lang="en-US" dirty="0" err="1"/>
              <a:t>Tanggung</a:t>
            </a:r>
            <a:r>
              <a:rPr lang="en-US" dirty="0"/>
              <a:t> </a:t>
            </a:r>
            <a:r>
              <a:rPr lang="en-US" dirty="0" err="1"/>
              <a:t>Jawab</a:t>
            </a:r>
            <a:endParaRPr lang="id-ID" dirty="0"/>
          </a:p>
          <a:p>
            <a:pPr marL="285750" indent="-285750">
              <a:buClr>
                <a:srgbClr val="FFCD00"/>
              </a:buClr>
              <a:buSzPct val="100000"/>
              <a:buFont typeface="Quattrocento Sans"/>
              <a:buChar char="◉"/>
            </a:pPr>
            <a:endParaRPr lang="en-US" dirty="0" smtClean="0">
              <a:latin typeface="Quattrocento Sans"/>
              <a:ea typeface="Quattrocento Sans"/>
              <a:cs typeface="Quattrocento Sans"/>
            </a:endParaRPr>
          </a:p>
        </p:txBody>
      </p:sp>
    </p:spTree>
    <p:extLst>
      <p:ext uri="{BB962C8B-B14F-4D97-AF65-F5344CB8AC3E}">
        <p14:creationId xmlns:p14="http://schemas.microsoft.com/office/powerpoint/2010/main" val="2991126509"/>
      </p:ext>
    </p:extLst>
  </p:cSld>
  <p:clrMapOvr>
    <a:masterClrMapping/>
  </p:clrMapOvr>
  <p:transition spd="slow">
    <p:cut/>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1" name="Rectangle 10"/>
          <p:cNvSpPr/>
          <p:nvPr/>
        </p:nvSpPr>
        <p:spPr>
          <a:xfrm>
            <a:off x="5103627" y="924720"/>
            <a:ext cx="151545" cy="4355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7" name="Shape 107"/>
          <p:cNvSpPr txBox="1">
            <a:spLocks noGrp="1"/>
          </p:cNvSpPr>
          <p:nvPr>
            <p:ph type="title"/>
          </p:nvPr>
        </p:nvSpPr>
        <p:spPr>
          <a:xfrm>
            <a:off x="1381250" y="924720"/>
            <a:ext cx="3968516" cy="435599"/>
          </a:xfrm>
          <a:prstGeom prst="rect">
            <a:avLst/>
          </a:prstGeom>
        </p:spPr>
        <p:txBody>
          <a:bodyPr lIns="91425" tIns="91425" rIns="91425" bIns="91425" anchor="ctr" anchorCtr="0">
            <a:noAutofit/>
          </a:bodyPr>
          <a:lstStyle/>
          <a:p>
            <a:r>
              <a:rPr lang="en-US" dirty="0" err="1"/>
              <a:t>Melakukan</a:t>
            </a:r>
            <a:r>
              <a:rPr lang="en-US" dirty="0"/>
              <a:t> </a:t>
            </a:r>
            <a:r>
              <a:rPr lang="en-US" dirty="0" err="1"/>
              <a:t>entri</a:t>
            </a:r>
            <a:r>
              <a:rPr lang="en-US" dirty="0"/>
              <a:t> SAKERNAS</a:t>
            </a:r>
            <a:endParaRPr lang="en" dirty="0"/>
          </a:p>
        </p:txBody>
      </p:sp>
      <p:sp>
        <p:nvSpPr>
          <p:cNvPr id="108" name="Shape 108"/>
          <p:cNvSpPr txBox="1">
            <a:spLocks noGrp="1"/>
          </p:cNvSpPr>
          <p:nvPr>
            <p:ph type="body" idx="1"/>
          </p:nvPr>
        </p:nvSpPr>
        <p:spPr>
          <a:xfrm>
            <a:off x="0" y="1450099"/>
            <a:ext cx="5883684" cy="559454"/>
          </a:xfrm>
          <a:prstGeom prst="rect">
            <a:avLst/>
          </a:prstGeom>
        </p:spPr>
        <p:txBody>
          <a:bodyPr lIns="91425" tIns="91425" rIns="91425" bIns="91425" anchor="t" anchorCtr="0">
            <a:noAutofit/>
          </a:bodyPr>
          <a:lstStyle/>
          <a:p>
            <a:pPr marL="228600" lvl="0">
              <a:spcBef>
                <a:spcPts val="0"/>
              </a:spcBef>
              <a:buNone/>
            </a:pPr>
            <a:r>
              <a:rPr lang="en-US" dirty="0" err="1" smtClean="0"/>
              <a:t>Contoh</a:t>
            </a:r>
            <a:r>
              <a:rPr lang="en-US" dirty="0" smtClean="0"/>
              <a:t> </a:t>
            </a:r>
            <a:r>
              <a:rPr lang="en-US" dirty="0" err="1" smtClean="0"/>
              <a:t>penerapannya</a:t>
            </a:r>
            <a:endParaRPr lang="id-ID"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1131082" y="2353979"/>
            <a:ext cx="6997832" cy="1994737"/>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algn="ctr">
              <a:buNone/>
            </a:pPr>
            <a:r>
              <a:rPr lang="en-US" sz="1400" dirty="0" err="1" smtClean="0"/>
              <a:t>Setelah</a:t>
            </a:r>
            <a:r>
              <a:rPr lang="en-US" sz="1400" dirty="0" smtClean="0"/>
              <a:t> </a:t>
            </a:r>
            <a:r>
              <a:rPr lang="en-US" sz="1400" dirty="0" err="1"/>
              <a:t>infografis</a:t>
            </a:r>
            <a:r>
              <a:rPr lang="en-US" sz="1400" dirty="0"/>
              <a:t> </a:t>
            </a:r>
            <a:r>
              <a:rPr lang="en-US" sz="1400" dirty="0" err="1"/>
              <a:t>selesai</a:t>
            </a:r>
            <a:r>
              <a:rPr lang="en-US" sz="1400" dirty="0"/>
              <a:t> </a:t>
            </a:r>
            <a:r>
              <a:rPr lang="en-US" sz="1400" dirty="0" err="1"/>
              <a:t>dibuat</a:t>
            </a:r>
            <a:r>
              <a:rPr lang="en-US" sz="1400" dirty="0"/>
              <a:t>, </a:t>
            </a:r>
            <a:r>
              <a:rPr lang="en-US" sz="1400" dirty="0" err="1"/>
              <a:t>saya</a:t>
            </a:r>
            <a:r>
              <a:rPr lang="en-US" sz="1400" dirty="0"/>
              <a:t> </a:t>
            </a:r>
            <a:r>
              <a:rPr lang="en-US" sz="1400" dirty="0" err="1"/>
              <a:t>akan</a:t>
            </a:r>
            <a:r>
              <a:rPr lang="en-US" sz="1400" dirty="0"/>
              <a:t> </a:t>
            </a:r>
            <a:r>
              <a:rPr lang="en-US" sz="1400" dirty="0" err="1"/>
              <a:t>mengecek</a:t>
            </a:r>
            <a:r>
              <a:rPr lang="en-US" sz="1400" dirty="0"/>
              <a:t> </a:t>
            </a:r>
            <a:r>
              <a:rPr lang="en-US" sz="1400" dirty="0" err="1"/>
              <a:t>apakah</a:t>
            </a:r>
            <a:r>
              <a:rPr lang="en-US" sz="1400" dirty="0"/>
              <a:t> data </a:t>
            </a:r>
            <a:r>
              <a:rPr lang="en-US" sz="1400" dirty="0" err="1"/>
              <a:t>sudah</a:t>
            </a:r>
            <a:r>
              <a:rPr lang="en-US" sz="1400" dirty="0"/>
              <a:t> valid </a:t>
            </a:r>
            <a:r>
              <a:rPr lang="en-US" sz="1400" dirty="0" err="1"/>
              <a:t>atau</a:t>
            </a:r>
            <a:r>
              <a:rPr lang="en-US" sz="1400" dirty="0"/>
              <a:t> </a:t>
            </a:r>
            <a:r>
              <a:rPr lang="en-US" sz="1400" dirty="0" err="1"/>
              <a:t>belum</a:t>
            </a:r>
            <a:r>
              <a:rPr lang="en-US" sz="1400" dirty="0"/>
              <a:t>, </a:t>
            </a:r>
            <a:r>
              <a:rPr lang="en-US" sz="1400" dirty="0" err="1"/>
              <a:t>sehingga</a:t>
            </a:r>
            <a:r>
              <a:rPr lang="en-US" sz="1400" dirty="0"/>
              <a:t> </a:t>
            </a:r>
            <a:r>
              <a:rPr lang="en-US" sz="1400" dirty="0" err="1"/>
              <a:t>informasi</a:t>
            </a:r>
            <a:r>
              <a:rPr lang="en-US" sz="1400" dirty="0"/>
              <a:t> yang </a:t>
            </a:r>
            <a:r>
              <a:rPr lang="en-US" sz="1400" dirty="0" err="1"/>
              <a:t>disajikan</a:t>
            </a:r>
            <a:r>
              <a:rPr lang="en-US" sz="1400" dirty="0"/>
              <a:t> </a:t>
            </a:r>
            <a:r>
              <a:rPr lang="en-US" sz="1400" dirty="0" err="1"/>
              <a:t>dapat</a:t>
            </a:r>
            <a:r>
              <a:rPr lang="en-US" sz="1400" dirty="0"/>
              <a:t> </a:t>
            </a:r>
            <a:r>
              <a:rPr lang="en-US" sz="1400" dirty="0" err="1"/>
              <a:t>diper</a:t>
            </a:r>
            <a:r>
              <a:rPr lang="en-US" sz="1400" b="1" dirty="0" err="1"/>
              <a:t>tanggungjawab</a:t>
            </a:r>
            <a:r>
              <a:rPr lang="en-US" sz="1400" dirty="0" err="1"/>
              <a:t>kan</a:t>
            </a:r>
            <a:r>
              <a:rPr lang="en-US" sz="1400" dirty="0"/>
              <a:t> </a:t>
            </a:r>
            <a:r>
              <a:rPr lang="en-US" sz="1400" dirty="0" err="1"/>
              <a:t>kebenarannya</a:t>
            </a:r>
            <a:r>
              <a:rPr lang="en-US" sz="1400" dirty="0"/>
              <a:t> (</a:t>
            </a:r>
            <a:r>
              <a:rPr lang="en-US" sz="1400" b="1" dirty="0"/>
              <a:t>anti </a:t>
            </a:r>
            <a:r>
              <a:rPr lang="en-US" sz="1400" b="1" dirty="0" err="1"/>
              <a:t>korupsi</a:t>
            </a:r>
            <a:r>
              <a:rPr lang="en-US" sz="1400" b="1" dirty="0"/>
              <a:t>).</a:t>
            </a:r>
            <a:r>
              <a:rPr lang="en-US" sz="1400" dirty="0"/>
              <a:t> </a:t>
            </a:r>
            <a:r>
              <a:rPr lang="en-US" sz="1400" dirty="0" err="1"/>
              <a:t>Saya</a:t>
            </a:r>
            <a:r>
              <a:rPr lang="en-US" sz="1400" dirty="0"/>
              <a:t> </a:t>
            </a:r>
            <a:r>
              <a:rPr lang="en-US" sz="1400" dirty="0" err="1"/>
              <a:t>kemudian</a:t>
            </a:r>
            <a:r>
              <a:rPr lang="en-US" sz="1400" dirty="0"/>
              <a:t> </a:t>
            </a:r>
            <a:r>
              <a:rPr lang="en-US" sz="1400" dirty="0" err="1"/>
              <a:t>akan</a:t>
            </a:r>
            <a:r>
              <a:rPr lang="en-US" sz="1400" dirty="0"/>
              <a:t> </a:t>
            </a:r>
            <a:r>
              <a:rPr lang="en-US" sz="1400" b="1" dirty="0" err="1"/>
              <a:t>melaporkan</a:t>
            </a:r>
            <a:r>
              <a:rPr lang="en-US" sz="1400" dirty="0"/>
              <a:t> </a:t>
            </a:r>
            <a:r>
              <a:rPr lang="en-US" sz="1400" dirty="0" err="1"/>
              <a:t>kepada</a:t>
            </a:r>
            <a:r>
              <a:rPr lang="en-US" sz="1400" dirty="0"/>
              <a:t> </a:t>
            </a:r>
            <a:r>
              <a:rPr lang="en-US" sz="1400" dirty="0" err="1"/>
              <a:t>atasan</a:t>
            </a:r>
            <a:r>
              <a:rPr lang="en-US" sz="1400" dirty="0"/>
              <a:t> </a:t>
            </a:r>
            <a:r>
              <a:rPr lang="en-US" sz="1400" dirty="0" err="1"/>
              <a:t>bahwa</a:t>
            </a:r>
            <a:r>
              <a:rPr lang="en-US" sz="1400" dirty="0"/>
              <a:t> </a:t>
            </a:r>
            <a:r>
              <a:rPr lang="en-US" sz="1400" dirty="0" err="1"/>
              <a:t>tugas</a:t>
            </a:r>
            <a:r>
              <a:rPr lang="en-US" sz="1400" dirty="0"/>
              <a:t> </a:t>
            </a:r>
            <a:r>
              <a:rPr lang="en-US" sz="1400" dirty="0" err="1"/>
              <a:t>telah</a:t>
            </a:r>
            <a:r>
              <a:rPr lang="en-US" sz="1400" dirty="0"/>
              <a:t> </a:t>
            </a:r>
            <a:r>
              <a:rPr lang="en-US" sz="1400" b="1" dirty="0" err="1"/>
              <a:t>selesai</a:t>
            </a:r>
            <a:r>
              <a:rPr lang="en-US" sz="1400" b="1" dirty="0"/>
              <a:t> </a:t>
            </a:r>
            <a:r>
              <a:rPr lang="en-US" sz="1400" b="1" dirty="0" err="1"/>
              <a:t>dilakukan</a:t>
            </a:r>
            <a:r>
              <a:rPr lang="en-US" sz="1400" b="1" dirty="0"/>
              <a:t> </a:t>
            </a:r>
            <a:r>
              <a:rPr lang="en-US" sz="1400" b="1" dirty="0" err="1"/>
              <a:t>dengan</a:t>
            </a:r>
            <a:r>
              <a:rPr lang="en-US" sz="1400" b="1" dirty="0"/>
              <a:t> </a:t>
            </a:r>
            <a:r>
              <a:rPr lang="en-US" sz="1400" b="1" dirty="0" err="1"/>
              <a:t>baik</a:t>
            </a:r>
            <a:r>
              <a:rPr lang="en-US" sz="1400" dirty="0"/>
              <a:t>.</a:t>
            </a:r>
            <a:endParaRPr lang="id-ID" sz="1400" dirty="0"/>
          </a:p>
        </p:txBody>
      </p:sp>
    </p:spTree>
    <p:extLst>
      <p:ext uri="{BB962C8B-B14F-4D97-AF65-F5344CB8AC3E}">
        <p14:creationId xmlns:p14="http://schemas.microsoft.com/office/powerpoint/2010/main" val="3596357859"/>
      </p:ext>
    </p:extLst>
  </p:cSld>
  <p:clrMapOvr>
    <a:masterClrMapping/>
  </p:clrMapOvr>
  <p:transition spd="slow">
    <p:cut/>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3" name="Rectangle 12"/>
          <p:cNvSpPr/>
          <p:nvPr/>
        </p:nvSpPr>
        <p:spPr>
          <a:xfrm flipH="1">
            <a:off x="5057909" y="924720"/>
            <a:ext cx="45719" cy="4355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7" name="Shape 107"/>
          <p:cNvSpPr txBox="1">
            <a:spLocks noGrp="1"/>
          </p:cNvSpPr>
          <p:nvPr>
            <p:ph type="title"/>
          </p:nvPr>
        </p:nvSpPr>
        <p:spPr>
          <a:xfrm>
            <a:off x="1381249" y="924720"/>
            <a:ext cx="5030183" cy="435599"/>
          </a:xfrm>
          <a:prstGeom prst="rect">
            <a:avLst/>
          </a:prstGeom>
        </p:spPr>
        <p:txBody>
          <a:bodyPr lIns="91425" tIns="91425" rIns="91425" bIns="91425" anchor="ctr" anchorCtr="0">
            <a:noAutofit/>
          </a:bodyPr>
          <a:lstStyle/>
          <a:p>
            <a:r>
              <a:rPr lang="en-US" dirty="0" err="1"/>
              <a:t>Melakukan</a:t>
            </a:r>
            <a:r>
              <a:rPr lang="en-US" dirty="0"/>
              <a:t> </a:t>
            </a:r>
            <a:r>
              <a:rPr lang="en-US" dirty="0" err="1"/>
              <a:t>entri</a:t>
            </a:r>
            <a:r>
              <a:rPr lang="en-US" dirty="0"/>
              <a:t> SAKERNAS</a:t>
            </a:r>
            <a:endParaRPr lang="en" dirty="0"/>
          </a:p>
        </p:txBody>
      </p:sp>
      <p:sp>
        <p:nvSpPr>
          <p:cNvPr id="108" name="Shape 108"/>
          <p:cNvSpPr txBox="1">
            <a:spLocks noGrp="1"/>
          </p:cNvSpPr>
          <p:nvPr>
            <p:ph type="body" idx="1"/>
          </p:nvPr>
        </p:nvSpPr>
        <p:spPr>
          <a:xfrm>
            <a:off x="1381250" y="1567753"/>
            <a:ext cx="1867376" cy="559454"/>
          </a:xfrm>
          <a:prstGeom prst="rect">
            <a:avLst/>
          </a:prstGeom>
        </p:spPr>
        <p:txBody>
          <a:bodyPr lIns="91425" tIns="91425" rIns="91425" bIns="91425" anchor="t" anchorCtr="0">
            <a:noAutofit/>
          </a:bodyPr>
          <a:lstStyle/>
          <a:p>
            <a:pPr marL="228600" lvl="0">
              <a:spcBef>
                <a:spcPts val="0"/>
              </a:spcBef>
              <a:buNone/>
            </a:pPr>
            <a:r>
              <a:rPr lang="en-US" b="1" dirty="0" err="1" smtClean="0"/>
              <a:t>Kendala</a:t>
            </a:r>
            <a:endParaRPr lang="fi-FI" dirty="0"/>
          </a:p>
        </p:txBody>
      </p:sp>
      <p:grpSp>
        <p:nvGrpSpPr>
          <p:cNvPr id="109" name="Shape 109"/>
          <p:cNvGrpSpPr/>
          <p:nvPr/>
        </p:nvGrpSpPr>
        <p:grpSpPr>
          <a:xfrm>
            <a:off x="916458" y="1019750"/>
            <a:ext cx="214624" cy="214624"/>
            <a:chOff x="2594050" y="1631825"/>
            <a:chExt cx="439625" cy="439625"/>
          </a:xfrm>
        </p:grpSpPr>
        <p:sp>
          <p:nvSpPr>
            <p:cNvPr id="110" name="Shape 110"/>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1" name="Shape 111"/>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2" name="Shape 112"/>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113" name="Shape 113"/>
            <p:cNvSpPr/>
            <p:nvPr/>
          </p:nvSpPr>
          <p:spPr>
            <a:xfrm>
              <a:off x="2814911" y="1754061"/>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10" name="Shape 96"/>
          <p:cNvSpPr txBox="1">
            <a:spLocks/>
          </p:cNvSpPr>
          <p:nvPr/>
        </p:nvSpPr>
        <p:spPr>
          <a:xfrm>
            <a:off x="916458" y="2353979"/>
            <a:ext cx="7026063" cy="750728"/>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85750" indent="-285750"/>
            <a:r>
              <a:rPr lang="en-US" sz="1400" dirty="0" err="1" smtClean="0"/>
              <a:t>Komputer</a:t>
            </a:r>
            <a:r>
              <a:rPr lang="en-US" sz="1400" dirty="0" smtClean="0"/>
              <a:t> </a:t>
            </a:r>
            <a:r>
              <a:rPr lang="en-US" sz="1400" dirty="0" err="1"/>
              <a:t>ngehang</a:t>
            </a:r>
            <a:r>
              <a:rPr lang="en-US" sz="1400" dirty="0"/>
              <a:t>, </a:t>
            </a:r>
            <a:r>
              <a:rPr lang="en-US" sz="1400" dirty="0" err="1"/>
              <a:t>rusak</a:t>
            </a:r>
            <a:r>
              <a:rPr lang="en-US" sz="1400" dirty="0"/>
              <a:t>, </a:t>
            </a:r>
            <a:r>
              <a:rPr lang="en-US" sz="1400" dirty="0" err="1"/>
              <a:t>atau</a:t>
            </a:r>
            <a:r>
              <a:rPr lang="en-US" sz="1400" dirty="0"/>
              <a:t> </a:t>
            </a:r>
            <a:r>
              <a:rPr lang="en-US" sz="1400" dirty="0" err="1"/>
              <a:t>kena</a:t>
            </a:r>
            <a:r>
              <a:rPr lang="en-US" sz="1400" dirty="0"/>
              <a:t> virus</a:t>
            </a:r>
            <a:endParaRPr lang="id-ID" sz="1400" dirty="0"/>
          </a:p>
        </p:txBody>
      </p:sp>
      <p:sp>
        <p:nvSpPr>
          <p:cNvPr id="11" name="Shape 96"/>
          <p:cNvSpPr txBox="1">
            <a:spLocks/>
          </p:cNvSpPr>
          <p:nvPr/>
        </p:nvSpPr>
        <p:spPr>
          <a:xfrm>
            <a:off x="1381250" y="3591869"/>
            <a:ext cx="7026063" cy="632444"/>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85750" indent="-285750"/>
            <a:r>
              <a:rPr lang="en-US" sz="1400" dirty="0" err="1"/>
              <a:t>Melakukan</a:t>
            </a:r>
            <a:r>
              <a:rPr lang="en-US" sz="1400" dirty="0"/>
              <a:t> backup </a:t>
            </a:r>
            <a:r>
              <a:rPr lang="en-US" sz="1400" dirty="0" err="1"/>
              <a:t>berkala</a:t>
            </a:r>
            <a:endParaRPr lang="en-US" sz="1400" dirty="0" smtClean="0"/>
          </a:p>
        </p:txBody>
      </p:sp>
      <p:sp>
        <p:nvSpPr>
          <p:cNvPr id="12" name="Shape 108"/>
          <p:cNvSpPr txBox="1">
            <a:spLocks/>
          </p:cNvSpPr>
          <p:nvPr/>
        </p:nvSpPr>
        <p:spPr>
          <a:xfrm>
            <a:off x="3689498" y="3032414"/>
            <a:ext cx="3880884" cy="559454"/>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R="0" algn="l" rtl="0">
              <a:lnSpc>
                <a:spcPct val="100000"/>
              </a:lnSpc>
              <a:spcBef>
                <a:spcPts val="600"/>
              </a:spcBef>
              <a:spcAft>
                <a:spcPts val="0"/>
              </a:spcAft>
              <a:buClr>
                <a:srgbClr val="FFCD00"/>
              </a:buClr>
              <a:buSzPct val="100000"/>
              <a:buFont typeface="Quattrocento Sans"/>
              <a:buChar char="◉"/>
              <a:defRPr sz="2400" b="0" i="0" u="none" strike="noStrike" cap="none" baseline="0">
                <a:solidFill>
                  <a:srgbClr val="000000"/>
                </a:solidFill>
                <a:latin typeface="Quattrocento Sans"/>
                <a:ea typeface="Quattrocento Sans"/>
                <a:cs typeface="Quattrocento Sans"/>
                <a:sym typeface="Quattrocento Sans"/>
                <a:rtl val="0"/>
              </a:defRPr>
            </a:lvl1pPr>
            <a:lvl2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2pPr>
            <a:lvl3pPr marR="0" algn="l" rtl="0">
              <a:lnSpc>
                <a:spcPct val="100000"/>
              </a:lnSpc>
              <a:spcBef>
                <a:spcPts val="480"/>
              </a:spcBef>
              <a:spcAft>
                <a:spcPts val="0"/>
              </a:spcAft>
              <a:buClr>
                <a:srgbClr val="FFCD00"/>
              </a:buClr>
              <a:buSzPct val="100000"/>
              <a:buFont typeface="Quattrocento Sans"/>
              <a:buNone/>
              <a:defRPr sz="2000" b="0" i="0" u="none" strike="noStrike" cap="none" baseline="0">
                <a:solidFill>
                  <a:srgbClr val="000000"/>
                </a:solidFill>
                <a:latin typeface="Quattrocento Sans"/>
                <a:ea typeface="Quattrocento Sans"/>
                <a:cs typeface="Quattrocento Sans"/>
                <a:sym typeface="Quattrocento Sans"/>
                <a:rtl val="0"/>
              </a:defRPr>
            </a:lvl3pPr>
            <a:lvl4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4pPr>
            <a:lvl5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5pPr>
            <a:lvl6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6pPr>
            <a:lvl7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7pPr>
            <a:lvl8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8pPr>
            <a:lvl9pPr marR="0" algn="l" rtl="0">
              <a:lnSpc>
                <a:spcPct val="100000"/>
              </a:lnSpc>
              <a:spcBef>
                <a:spcPts val="360"/>
              </a:spcBef>
              <a:spcAft>
                <a:spcPts val="0"/>
              </a:spcAft>
              <a:buClr>
                <a:srgbClr val="FFCD00"/>
              </a:buClr>
              <a:buSzPct val="100000"/>
              <a:buFont typeface="Quattrocento Sans"/>
              <a:buNone/>
              <a:defRPr sz="1800" b="0" i="0" u="none" strike="noStrike" cap="none" baseline="0">
                <a:solidFill>
                  <a:srgbClr val="000000"/>
                </a:solidFill>
                <a:latin typeface="Quattrocento Sans"/>
                <a:ea typeface="Quattrocento Sans"/>
                <a:cs typeface="Quattrocento Sans"/>
                <a:sym typeface="Quattrocento Sans"/>
                <a:rtl val="0"/>
              </a:defRPr>
            </a:lvl9pPr>
          </a:lstStyle>
          <a:p>
            <a:pPr marL="228600">
              <a:spcBef>
                <a:spcPts val="0"/>
              </a:spcBef>
              <a:buFont typeface="Quattrocento Sans"/>
              <a:buNone/>
            </a:pPr>
            <a:r>
              <a:rPr lang="en-US" b="1" dirty="0" err="1" smtClean="0"/>
              <a:t>Rencana</a:t>
            </a:r>
            <a:r>
              <a:rPr lang="en-US" b="1" dirty="0" smtClean="0"/>
              <a:t> </a:t>
            </a:r>
            <a:r>
              <a:rPr lang="en-US" b="1" dirty="0" err="1" smtClean="0"/>
              <a:t>Antisipasi</a:t>
            </a:r>
            <a:endParaRPr lang="fi-FI" dirty="0"/>
          </a:p>
        </p:txBody>
      </p:sp>
      <p:sp>
        <p:nvSpPr>
          <p:cNvPr id="3" name="U-Turn Arrow 2"/>
          <p:cNvSpPr/>
          <p:nvPr/>
        </p:nvSpPr>
        <p:spPr>
          <a:xfrm rot="5400000">
            <a:off x="4901607" y="-120126"/>
            <a:ext cx="1743739" cy="5507663"/>
          </a:xfrm>
          <a:prstGeom prst="uturnArrow">
            <a:avLst>
              <a:gd name="adj1" fmla="val 11284"/>
              <a:gd name="adj2" fmla="val 11449"/>
              <a:gd name="adj3" fmla="val 0"/>
              <a:gd name="adj4" fmla="val 47097"/>
              <a:gd name="adj5" fmla="val 26051"/>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id-ID">
              <a:solidFill>
                <a:schemeClr val="tx1"/>
              </a:solidFill>
            </a:endParaRPr>
          </a:p>
        </p:txBody>
      </p:sp>
    </p:spTree>
    <p:extLst>
      <p:ext uri="{BB962C8B-B14F-4D97-AF65-F5344CB8AC3E}">
        <p14:creationId xmlns:p14="http://schemas.microsoft.com/office/powerpoint/2010/main" val="1617685714"/>
      </p:ext>
    </p:extLst>
  </p:cSld>
  <p:clrMapOvr>
    <a:masterClrMapping/>
  </p:clrMapOvr>
  <p:transition spd="slow">
    <p:cut/>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Shape 331"/>
          <p:cNvSpPr txBox="1">
            <a:spLocks noGrp="1"/>
          </p:cNvSpPr>
          <p:nvPr>
            <p:ph type="subTitle" idx="1"/>
          </p:nvPr>
        </p:nvSpPr>
        <p:spPr>
          <a:xfrm>
            <a:off x="2403749" y="2859165"/>
            <a:ext cx="5021399" cy="784799"/>
          </a:xfrm>
          <a:prstGeom prst="rect">
            <a:avLst/>
          </a:prstGeom>
          <a:noFill/>
          <a:ln>
            <a:noFill/>
          </a:ln>
        </p:spPr>
        <p:txBody>
          <a:bodyPr lIns="91425" tIns="91425" rIns="91425" bIns="91425" anchor="t" anchorCtr="0">
            <a:noAutofit/>
          </a:bodyPr>
          <a:lstStyle/>
          <a:p>
            <a:pPr lvl="0" rtl="0">
              <a:spcBef>
                <a:spcPts val="0"/>
              </a:spcBef>
              <a:buNone/>
            </a:pPr>
            <a:r>
              <a:rPr lang="en" sz="3600" b="1" i="1" dirty="0">
                <a:latin typeface="Lora"/>
                <a:ea typeface="Lora"/>
                <a:cs typeface="Lora"/>
                <a:sym typeface="Lora"/>
              </a:rPr>
              <a:t>Any questions ?</a:t>
            </a:r>
          </a:p>
          <a:p>
            <a:pPr lvl="0" rtl="0">
              <a:spcBef>
                <a:spcPts val="0"/>
              </a:spcBef>
              <a:buNone/>
            </a:pPr>
            <a:endParaRPr sz="1800" dirty="0">
              <a:solidFill>
                <a:schemeClr val="dk1"/>
              </a:solidFill>
            </a:endParaRPr>
          </a:p>
        </p:txBody>
      </p:sp>
      <p:cxnSp>
        <p:nvCxnSpPr>
          <p:cNvPr id="332" name="Shape 332"/>
          <p:cNvCxnSpPr/>
          <p:nvPr/>
        </p:nvCxnSpPr>
        <p:spPr>
          <a:xfrm>
            <a:off x="6450" y="1428750"/>
            <a:ext cx="2397299" cy="0"/>
          </a:xfrm>
          <a:prstGeom prst="straightConnector1">
            <a:avLst/>
          </a:prstGeom>
          <a:noFill/>
          <a:ln w="9525" cap="flat" cmpd="sng">
            <a:solidFill>
              <a:srgbClr val="CCCCCC"/>
            </a:solidFill>
            <a:prstDash val="solid"/>
            <a:round/>
            <a:headEnd type="none" w="lg" len="lg"/>
            <a:tailEnd type="none" w="lg" len="lg"/>
          </a:ln>
        </p:spPr>
      </p:cxnSp>
      <p:sp>
        <p:nvSpPr>
          <p:cNvPr id="333" name="Shape 333"/>
          <p:cNvSpPr txBox="1">
            <a:spLocks noGrp="1"/>
          </p:cNvSpPr>
          <p:nvPr>
            <p:ph type="ctrTitle"/>
          </p:nvPr>
        </p:nvSpPr>
        <p:spPr>
          <a:xfrm>
            <a:off x="2371625" y="816550"/>
            <a:ext cx="4908000" cy="1159799"/>
          </a:xfrm>
          <a:prstGeom prst="rect">
            <a:avLst/>
          </a:prstGeom>
          <a:noFill/>
          <a:ln>
            <a:noFill/>
          </a:ln>
        </p:spPr>
        <p:txBody>
          <a:bodyPr lIns="91425" tIns="91425" rIns="91425" bIns="91425" anchor="ctr" anchorCtr="0">
            <a:noAutofit/>
          </a:bodyPr>
          <a:lstStyle/>
          <a:p>
            <a:pPr lvl="0" rtl="0">
              <a:spcBef>
                <a:spcPts val="0"/>
              </a:spcBef>
              <a:buNone/>
            </a:pPr>
            <a:r>
              <a:rPr lang="en" sz="6000" dirty="0"/>
              <a:t>Thanks!</a:t>
            </a:r>
          </a:p>
        </p:txBody>
      </p:sp>
      <p:cxnSp>
        <p:nvCxnSpPr>
          <p:cNvPr id="334" name="Shape 334"/>
          <p:cNvCxnSpPr/>
          <p:nvPr/>
        </p:nvCxnSpPr>
        <p:spPr>
          <a:xfrm>
            <a:off x="5589800" y="1428750"/>
            <a:ext cx="3554100" cy="0"/>
          </a:xfrm>
          <a:prstGeom prst="straightConnector1">
            <a:avLst/>
          </a:prstGeom>
          <a:noFill/>
          <a:ln w="9525" cap="flat" cmpd="sng">
            <a:solidFill>
              <a:srgbClr val="CCCCCC"/>
            </a:solidFill>
            <a:prstDash val="solid"/>
            <a:round/>
            <a:headEnd type="none" w="lg" len="lg"/>
            <a:tailEnd type="none" w="lg" len="lg"/>
          </a:ln>
        </p:spPr>
      </p:cxnSp>
      <p:sp>
        <p:nvSpPr>
          <p:cNvPr id="335" name="Shape 335"/>
          <p:cNvSpPr/>
          <p:nvPr/>
        </p:nvSpPr>
        <p:spPr>
          <a:xfrm>
            <a:off x="831925" y="859175"/>
            <a:ext cx="1139100" cy="1139100"/>
          </a:xfrm>
          <a:prstGeom prst="ellipse">
            <a:avLst/>
          </a:prstGeom>
          <a:solidFill>
            <a:srgbClr val="FFCD00"/>
          </a:solidFill>
          <a:ln>
            <a:noFill/>
          </a:ln>
        </p:spPr>
        <p:txBody>
          <a:bodyPr lIns="91425" tIns="91425" rIns="91425" bIns="91425" anchor="ctr" anchorCtr="0">
            <a:noAutofit/>
          </a:bodyPr>
          <a:lstStyle/>
          <a:p>
            <a:pPr>
              <a:spcBef>
                <a:spcPts val="0"/>
              </a:spcBef>
              <a:buNone/>
            </a:pPr>
            <a:endParaRPr/>
          </a:p>
        </p:txBody>
      </p:sp>
      <p:grpSp>
        <p:nvGrpSpPr>
          <p:cNvPr id="336" name="Shape 336"/>
          <p:cNvGrpSpPr/>
          <p:nvPr/>
        </p:nvGrpSpPr>
        <p:grpSpPr>
          <a:xfrm>
            <a:off x="1148888" y="1190759"/>
            <a:ext cx="505722" cy="475767"/>
            <a:chOff x="5972700" y="2330200"/>
            <a:chExt cx="411625" cy="387275"/>
          </a:xfrm>
        </p:grpSpPr>
        <p:sp>
          <p:nvSpPr>
            <p:cNvPr id="337" name="Shape 337"/>
            <p:cNvSpPr/>
            <p:nvPr/>
          </p:nvSpPr>
          <p:spPr>
            <a:xfrm>
              <a:off x="5972700" y="2476950"/>
              <a:ext cx="98050" cy="219825"/>
            </a:xfrm>
            <a:custGeom>
              <a:avLst/>
              <a:gdLst/>
              <a:ahLst/>
              <a:cxnLst/>
              <a:rect l="0" t="0" r="0" b="0"/>
              <a:pathLst>
                <a:path w="3922" h="8793" fill="none" extrusionOk="0">
                  <a:moveTo>
                    <a:pt x="0" y="0"/>
                  </a:moveTo>
                  <a:lnTo>
                    <a:pt x="0" y="8792"/>
                  </a:lnTo>
                  <a:lnTo>
                    <a:pt x="3921" y="8792"/>
                  </a:lnTo>
                  <a:lnTo>
                    <a:pt x="3921" y="0"/>
                  </a:lnTo>
                  <a:lnTo>
                    <a:pt x="0" y="0"/>
                  </a:lnTo>
                  <a:close/>
                  <a:moveTo>
                    <a:pt x="2411" y="2411"/>
                  </a:moveTo>
                  <a:lnTo>
                    <a:pt x="2411" y="2411"/>
                  </a:lnTo>
                  <a:lnTo>
                    <a:pt x="2265" y="2387"/>
                  </a:lnTo>
                  <a:lnTo>
                    <a:pt x="2143" y="2363"/>
                  </a:lnTo>
                  <a:lnTo>
                    <a:pt x="2022" y="2290"/>
                  </a:lnTo>
                  <a:lnTo>
                    <a:pt x="1924" y="2216"/>
                  </a:lnTo>
                  <a:lnTo>
                    <a:pt x="1827" y="2095"/>
                  </a:lnTo>
                  <a:lnTo>
                    <a:pt x="1754" y="1973"/>
                  </a:lnTo>
                  <a:lnTo>
                    <a:pt x="1729" y="1851"/>
                  </a:lnTo>
                  <a:lnTo>
                    <a:pt x="1705" y="1705"/>
                  </a:lnTo>
                  <a:lnTo>
                    <a:pt x="1705" y="1705"/>
                  </a:lnTo>
                  <a:lnTo>
                    <a:pt x="1729" y="1559"/>
                  </a:lnTo>
                  <a:lnTo>
                    <a:pt x="1754" y="1437"/>
                  </a:lnTo>
                  <a:lnTo>
                    <a:pt x="1827" y="1315"/>
                  </a:lnTo>
                  <a:lnTo>
                    <a:pt x="1924" y="1218"/>
                  </a:lnTo>
                  <a:lnTo>
                    <a:pt x="2022" y="1120"/>
                  </a:lnTo>
                  <a:lnTo>
                    <a:pt x="2143" y="1072"/>
                  </a:lnTo>
                  <a:lnTo>
                    <a:pt x="2265" y="1023"/>
                  </a:lnTo>
                  <a:lnTo>
                    <a:pt x="2411" y="999"/>
                  </a:lnTo>
                  <a:lnTo>
                    <a:pt x="2411" y="999"/>
                  </a:lnTo>
                  <a:lnTo>
                    <a:pt x="2557" y="1023"/>
                  </a:lnTo>
                  <a:lnTo>
                    <a:pt x="2679" y="1072"/>
                  </a:lnTo>
                  <a:lnTo>
                    <a:pt x="2801" y="1120"/>
                  </a:lnTo>
                  <a:lnTo>
                    <a:pt x="2898" y="1218"/>
                  </a:lnTo>
                  <a:lnTo>
                    <a:pt x="2996" y="1315"/>
                  </a:lnTo>
                  <a:lnTo>
                    <a:pt x="3069" y="1437"/>
                  </a:lnTo>
                  <a:lnTo>
                    <a:pt x="3093" y="1559"/>
                  </a:lnTo>
                  <a:lnTo>
                    <a:pt x="3118" y="1705"/>
                  </a:lnTo>
                  <a:lnTo>
                    <a:pt x="3118" y="1705"/>
                  </a:lnTo>
                  <a:lnTo>
                    <a:pt x="3093" y="1851"/>
                  </a:lnTo>
                  <a:lnTo>
                    <a:pt x="3069" y="1973"/>
                  </a:lnTo>
                  <a:lnTo>
                    <a:pt x="2996" y="2095"/>
                  </a:lnTo>
                  <a:lnTo>
                    <a:pt x="2898" y="2216"/>
                  </a:lnTo>
                  <a:lnTo>
                    <a:pt x="2801" y="2290"/>
                  </a:lnTo>
                  <a:lnTo>
                    <a:pt x="2679" y="2363"/>
                  </a:lnTo>
                  <a:lnTo>
                    <a:pt x="2557" y="2387"/>
                  </a:lnTo>
                  <a:lnTo>
                    <a:pt x="2411" y="2411"/>
                  </a:lnTo>
                  <a:lnTo>
                    <a:pt x="2411" y="2411"/>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338" name="Shape 338"/>
            <p:cNvSpPr/>
            <p:nvPr/>
          </p:nvSpPr>
          <p:spPr>
            <a:xfrm>
              <a:off x="6078025" y="2330200"/>
              <a:ext cx="306300" cy="387275"/>
            </a:xfrm>
            <a:custGeom>
              <a:avLst/>
              <a:gdLst/>
              <a:ahLst/>
              <a:cxnLst/>
              <a:rect l="0" t="0" r="0" b="0"/>
              <a:pathLst>
                <a:path w="12252" h="15491" fill="none" extrusionOk="0">
                  <a:moveTo>
                    <a:pt x="1" y="13396"/>
                  </a:moveTo>
                  <a:lnTo>
                    <a:pt x="1511" y="13396"/>
                  </a:lnTo>
                  <a:lnTo>
                    <a:pt x="1511" y="13396"/>
                  </a:lnTo>
                  <a:lnTo>
                    <a:pt x="1998" y="13639"/>
                  </a:lnTo>
                  <a:lnTo>
                    <a:pt x="2680" y="13932"/>
                  </a:lnTo>
                  <a:lnTo>
                    <a:pt x="3556" y="14273"/>
                  </a:lnTo>
                  <a:lnTo>
                    <a:pt x="4531" y="14638"/>
                  </a:lnTo>
                  <a:lnTo>
                    <a:pt x="5578" y="14955"/>
                  </a:lnTo>
                  <a:lnTo>
                    <a:pt x="6114" y="15101"/>
                  </a:lnTo>
                  <a:lnTo>
                    <a:pt x="6650" y="15222"/>
                  </a:lnTo>
                  <a:lnTo>
                    <a:pt x="7161" y="15344"/>
                  </a:lnTo>
                  <a:lnTo>
                    <a:pt x="7672" y="15417"/>
                  </a:lnTo>
                  <a:lnTo>
                    <a:pt x="8135" y="15466"/>
                  </a:lnTo>
                  <a:lnTo>
                    <a:pt x="8598" y="15490"/>
                  </a:lnTo>
                  <a:lnTo>
                    <a:pt x="8598" y="15490"/>
                  </a:lnTo>
                  <a:lnTo>
                    <a:pt x="9377" y="15490"/>
                  </a:lnTo>
                  <a:lnTo>
                    <a:pt x="9791" y="15466"/>
                  </a:lnTo>
                  <a:lnTo>
                    <a:pt x="10181" y="15417"/>
                  </a:lnTo>
                  <a:lnTo>
                    <a:pt x="10522" y="15320"/>
                  </a:lnTo>
                  <a:lnTo>
                    <a:pt x="10692" y="15271"/>
                  </a:lnTo>
                  <a:lnTo>
                    <a:pt x="10814" y="15222"/>
                  </a:lnTo>
                  <a:lnTo>
                    <a:pt x="10936" y="15149"/>
                  </a:lnTo>
                  <a:lnTo>
                    <a:pt x="11033" y="15052"/>
                  </a:lnTo>
                  <a:lnTo>
                    <a:pt x="11082" y="14955"/>
                  </a:lnTo>
                  <a:lnTo>
                    <a:pt x="11131" y="14833"/>
                  </a:lnTo>
                  <a:lnTo>
                    <a:pt x="11204" y="14126"/>
                  </a:lnTo>
                  <a:lnTo>
                    <a:pt x="11204" y="14126"/>
                  </a:lnTo>
                  <a:lnTo>
                    <a:pt x="11180" y="13956"/>
                  </a:lnTo>
                  <a:lnTo>
                    <a:pt x="11131" y="13810"/>
                  </a:lnTo>
                  <a:lnTo>
                    <a:pt x="11033" y="13664"/>
                  </a:lnTo>
                  <a:lnTo>
                    <a:pt x="10887" y="13542"/>
                  </a:lnTo>
                  <a:lnTo>
                    <a:pt x="10887" y="13542"/>
                  </a:lnTo>
                  <a:lnTo>
                    <a:pt x="11009" y="13518"/>
                  </a:lnTo>
                  <a:lnTo>
                    <a:pt x="11131" y="13469"/>
                  </a:lnTo>
                  <a:lnTo>
                    <a:pt x="11253" y="13420"/>
                  </a:lnTo>
                  <a:lnTo>
                    <a:pt x="11350" y="13323"/>
                  </a:lnTo>
                  <a:lnTo>
                    <a:pt x="11423" y="13225"/>
                  </a:lnTo>
                  <a:lnTo>
                    <a:pt x="11496" y="13104"/>
                  </a:lnTo>
                  <a:lnTo>
                    <a:pt x="11545" y="12957"/>
                  </a:lnTo>
                  <a:lnTo>
                    <a:pt x="11569" y="12836"/>
                  </a:lnTo>
                  <a:lnTo>
                    <a:pt x="11642" y="11959"/>
                  </a:lnTo>
                  <a:lnTo>
                    <a:pt x="11642" y="11959"/>
                  </a:lnTo>
                  <a:lnTo>
                    <a:pt x="11642" y="11837"/>
                  </a:lnTo>
                  <a:lnTo>
                    <a:pt x="11642" y="11740"/>
                  </a:lnTo>
                  <a:lnTo>
                    <a:pt x="11618" y="11618"/>
                  </a:lnTo>
                  <a:lnTo>
                    <a:pt x="11569" y="11521"/>
                  </a:lnTo>
                  <a:lnTo>
                    <a:pt x="11447" y="11350"/>
                  </a:lnTo>
                  <a:lnTo>
                    <a:pt x="11374" y="11277"/>
                  </a:lnTo>
                  <a:lnTo>
                    <a:pt x="11301" y="11204"/>
                  </a:lnTo>
                  <a:lnTo>
                    <a:pt x="11301" y="11204"/>
                  </a:lnTo>
                  <a:lnTo>
                    <a:pt x="11423" y="11180"/>
                  </a:lnTo>
                  <a:lnTo>
                    <a:pt x="11521" y="11131"/>
                  </a:lnTo>
                  <a:lnTo>
                    <a:pt x="11618" y="11058"/>
                  </a:lnTo>
                  <a:lnTo>
                    <a:pt x="11715" y="10960"/>
                  </a:lnTo>
                  <a:lnTo>
                    <a:pt x="11788" y="10863"/>
                  </a:lnTo>
                  <a:lnTo>
                    <a:pt x="11837" y="10766"/>
                  </a:lnTo>
                  <a:lnTo>
                    <a:pt x="11886" y="10644"/>
                  </a:lnTo>
                  <a:lnTo>
                    <a:pt x="11910" y="10498"/>
                  </a:lnTo>
                  <a:lnTo>
                    <a:pt x="11983" y="9645"/>
                  </a:lnTo>
                  <a:lnTo>
                    <a:pt x="11983" y="9645"/>
                  </a:lnTo>
                  <a:lnTo>
                    <a:pt x="11983" y="9523"/>
                  </a:lnTo>
                  <a:lnTo>
                    <a:pt x="11983" y="9402"/>
                  </a:lnTo>
                  <a:lnTo>
                    <a:pt x="11959" y="9280"/>
                  </a:lnTo>
                  <a:lnTo>
                    <a:pt x="11910" y="9182"/>
                  </a:lnTo>
                  <a:lnTo>
                    <a:pt x="11861" y="9085"/>
                  </a:lnTo>
                  <a:lnTo>
                    <a:pt x="11788" y="9012"/>
                  </a:lnTo>
                  <a:lnTo>
                    <a:pt x="11715" y="8939"/>
                  </a:lnTo>
                  <a:lnTo>
                    <a:pt x="11618" y="8866"/>
                  </a:lnTo>
                  <a:lnTo>
                    <a:pt x="11618" y="8866"/>
                  </a:lnTo>
                  <a:lnTo>
                    <a:pt x="11715" y="8841"/>
                  </a:lnTo>
                  <a:lnTo>
                    <a:pt x="11813" y="8768"/>
                  </a:lnTo>
                  <a:lnTo>
                    <a:pt x="11910" y="8695"/>
                  </a:lnTo>
                  <a:lnTo>
                    <a:pt x="11983" y="8622"/>
                  </a:lnTo>
                  <a:lnTo>
                    <a:pt x="12056" y="8525"/>
                  </a:lnTo>
                  <a:lnTo>
                    <a:pt x="12105" y="8427"/>
                  </a:lnTo>
                  <a:lnTo>
                    <a:pt x="12129" y="8306"/>
                  </a:lnTo>
                  <a:lnTo>
                    <a:pt x="12154" y="8184"/>
                  </a:lnTo>
                  <a:lnTo>
                    <a:pt x="12251" y="7307"/>
                  </a:lnTo>
                  <a:lnTo>
                    <a:pt x="12251" y="7307"/>
                  </a:lnTo>
                  <a:lnTo>
                    <a:pt x="12227" y="7185"/>
                  </a:lnTo>
                  <a:lnTo>
                    <a:pt x="12202" y="7064"/>
                  </a:lnTo>
                  <a:lnTo>
                    <a:pt x="12154" y="6966"/>
                  </a:lnTo>
                  <a:lnTo>
                    <a:pt x="12105" y="6869"/>
                  </a:lnTo>
                  <a:lnTo>
                    <a:pt x="12032" y="6771"/>
                  </a:lnTo>
                  <a:lnTo>
                    <a:pt x="11935" y="6698"/>
                  </a:lnTo>
                  <a:lnTo>
                    <a:pt x="11715" y="6552"/>
                  </a:lnTo>
                  <a:lnTo>
                    <a:pt x="11472" y="6430"/>
                  </a:lnTo>
                  <a:lnTo>
                    <a:pt x="11180" y="6333"/>
                  </a:lnTo>
                  <a:lnTo>
                    <a:pt x="10863" y="6260"/>
                  </a:lnTo>
                  <a:lnTo>
                    <a:pt x="10546" y="6211"/>
                  </a:lnTo>
                  <a:lnTo>
                    <a:pt x="10546" y="6211"/>
                  </a:lnTo>
                  <a:lnTo>
                    <a:pt x="9864" y="6114"/>
                  </a:lnTo>
                  <a:lnTo>
                    <a:pt x="8817" y="6016"/>
                  </a:lnTo>
                  <a:lnTo>
                    <a:pt x="7575" y="5943"/>
                  </a:lnTo>
                  <a:lnTo>
                    <a:pt x="6309" y="5870"/>
                  </a:lnTo>
                  <a:lnTo>
                    <a:pt x="6309" y="5870"/>
                  </a:lnTo>
                  <a:lnTo>
                    <a:pt x="6479" y="5578"/>
                  </a:lnTo>
                  <a:lnTo>
                    <a:pt x="6625" y="5237"/>
                  </a:lnTo>
                  <a:lnTo>
                    <a:pt x="6771" y="4872"/>
                  </a:lnTo>
                  <a:lnTo>
                    <a:pt x="6869" y="4482"/>
                  </a:lnTo>
                  <a:lnTo>
                    <a:pt x="6966" y="4092"/>
                  </a:lnTo>
                  <a:lnTo>
                    <a:pt x="7064" y="3678"/>
                  </a:lnTo>
                  <a:lnTo>
                    <a:pt x="7161" y="2875"/>
                  </a:lnTo>
                  <a:lnTo>
                    <a:pt x="7234" y="2144"/>
                  </a:lnTo>
                  <a:lnTo>
                    <a:pt x="7283" y="1535"/>
                  </a:lnTo>
                  <a:lnTo>
                    <a:pt x="7283" y="975"/>
                  </a:lnTo>
                  <a:lnTo>
                    <a:pt x="7283" y="975"/>
                  </a:lnTo>
                  <a:lnTo>
                    <a:pt x="7283" y="804"/>
                  </a:lnTo>
                  <a:lnTo>
                    <a:pt x="7210" y="609"/>
                  </a:lnTo>
                  <a:lnTo>
                    <a:pt x="7137" y="463"/>
                  </a:lnTo>
                  <a:lnTo>
                    <a:pt x="7015" y="317"/>
                  </a:lnTo>
                  <a:lnTo>
                    <a:pt x="6869" y="171"/>
                  </a:lnTo>
                  <a:lnTo>
                    <a:pt x="6698" y="98"/>
                  </a:lnTo>
                  <a:lnTo>
                    <a:pt x="6503" y="25"/>
                  </a:lnTo>
                  <a:lnTo>
                    <a:pt x="6309" y="1"/>
                  </a:lnTo>
                  <a:lnTo>
                    <a:pt x="6309" y="1"/>
                  </a:lnTo>
                  <a:lnTo>
                    <a:pt x="5943" y="25"/>
                  </a:lnTo>
                  <a:lnTo>
                    <a:pt x="5700" y="74"/>
                  </a:lnTo>
                  <a:lnTo>
                    <a:pt x="5505" y="147"/>
                  </a:lnTo>
                  <a:lnTo>
                    <a:pt x="5359" y="220"/>
                  </a:lnTo>
                  <a:lnTo>
                    <a:pt x="5359" y="220"/>
                  </a:lnTo>
                  <a:lnTo>
                    <a:pt x="4969" y="1462"/>
                  </a:lnTo>
                  <a:lnTo>
                    <a:pt x="4774" y="2022"/>
                  </a:lnTo>
                  <a:lnTo>
                    <a:pt x="4579" y="2534"/>
                  </a:lnTo>
                  <a:lnTo>
                    <a:pt x="4385" y="2996"/>
                  </a:lnTo>
                  <a:lnTo>
                    <a:pt x="4190" y="3386"/>
                  </a:lnTo>
                  <a:lnTo>
                    <a:pt x="4019" y="3678"/>
                  </a:lnTo>
                  <a:lnTo>
                    <a:pt x="3873" y="3922"/>
                  </a:lnTo>
                  <a:lnTo>
                    <a:pt x="3873" y="3922"/>
                  </a:lnTo>
                  <a:lnTo>
                    <a:pt x="3654" y="4141"/>
                  </a:lnTo>
                  <a:lnTo>
                    <a:pt x="3313" y="4482"/>
                  </a:lnTo>
                  <a:lnTo>
                    <a:pt x="2509" y="5237"/>
                  </a:lnTo>
                  <a:lnTo>
                    <a:pt x="1438" y="6211"/>
                  </a:lnTo>
                  <a:lnTo>
                    <a:pt x="1" y="6211"/>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3" name="Rectangle 2"/>
          <p:cNvSpPr/>
          <p:nvPr/>
        </p:nvSpPr>
        <p:spPr>
          <a:xfrm>
            <a:off x="1343910" y="4017448"/>
            <a:ext cx="6963430" cy="584775"/>
          </a:xfrm>
          <a:prstGeom prst="rect">
            <a:avLst/>
          </a:prstGeom>
        </p:spPr>
        <p:txBody>
          <a:bodyPr wrap="square">
            <a:spAutoFit/>
          </a:bodyPr>
          <a:lstStyle/>
          <a:p>
            <a:pPr algn="ctr"/>
            <a:r>
              <a:rPr lang="id-ID" sz="1600" i="1" dirty="0"/>
              <a:t>"Mudahkanlah setiap urusan dan janganlah kalian mempersulitnya, buatlah mereka senang dan jangan membuat mereka lari."(H.R Imam Bukhari)</a:t>
            </a:r>
          </a:p>
        </p:txBody>
      </p:sp>
      <p:sp>
        <p:nvSpPr>
          <p:cNvPr id="15" name="Rectangle 14"/>
          <p:cNvSpPr/>
          <p:nvPr/>
        </p:nvSpPr>
        <p:spPr>
          <a:xfrm>
            <a:off x="2668953" y="2380014"/>
            <a:ext cx="1968809" cy="338554"/>
          </a:xfrm>
          <a:prstGeom prst="rect">
            <a:avLst/>
          </a:prstGeom>
        </p:spPr>
        <p:txBody>
          <a:bodyPr wrap="none">
            <a:spAutoFit/>
          </a:bodyPr>
          <a:lstStyle/>
          <a:p>
            <a:pPr lvl="0"/>
            <a:r>
              <a:rPr lang="en-US" sz="1600" b="1" dirty="0" smtClean="0">
                <a:solidFill>
                  <a:schemeClr val="dk1"/>
                </a:solidFill>
              </a:rPr>
              <a:t>We </a:t>
            </a:r>
            <a:r>
              <a:rPr lang="en-US" sz="1600" b="1" dirty="0">
                <a:solidFill>
                  <a:schemeClr val="dk1"/>
                </a:solidFill>
              </a:rPr>
              <a:t>s</a:t>
            </a:r>
            <a:r>
              <a:rPr lang="en-US" sz="1600" b="1" dirty="0" smtClean="0">
                <a:solidFill>
                  <a:schemeClr val="dk1"/>
                </a:solidFill>
              </a:rPr>
              <a:t>till have time</a:t>
            </a:r>
            <a:endParaRPr lang="en" sz="1600" b="1" dirty="0">
              <a:solidFill>
                <a:schemeClr val="dk1"/>
              </a:solidFill>
            </a:endParaRPr>
          </a:p>
        </p:txBody>
      </p:sp>
    </p:spTree>
  </p:cSld>
  <p:clrMapOvr>
    <a:masterClrMapping/>
  </p:clrMapOvr>
  <p:transition spd="slow">
    <p:cut/>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6" name="Shape 236"/>
          <p:cNvSpPr txBox="1">
            <a:spLocks noGrp="1"/>
          </p:cNvSpPr>
          <p:nvPr>
            <p:ph type="ctrTitle" idx="2"/>
          </p:nvPr>
        </p:nvSpPr>
        <p:spPr>
          <a:xfrm>
            <a:off x="685800" y="2972099"/>
            <a:ext cx="7772400" cy="894899"/>
          </a:xfrm>
          <a:prstGeom prst="rect">
            <a:avLst/>
          </a:prstGeom>
          <a:noFill/>
          <a:ln>
            <a:noFill/>
          </a:ln>
        </p:spPr>
        <p:txBody>
          <a:bodyPr lIns="91425" tIns="91425" rIns="91425" bIns="91425" anchor="b" anchorCtr="0">
            <a:noAutofit/>
          </a:bodyPr>
          <a:lstStyle/>
          <a:p>
            <a:pPr lvl="0" algn="ctr" rtl="0">
              <a:spcBef>
                <a:spcPts val="0"/>
              </a:spcBef>
              <a:buNone/>
            </a:pPr>
            <a:r>
              <a:rPr lang="en" sz="4800" dirty="0"/>
              <a:t>100%</a:t>
            </a:r>
          </a:p>
        </p:txBody>
      </p:sp>
      <p:sp>
        <p:nvSpPr>
          <p:cNvPr id="237" name="Shape 237"/>
          <p:cNvSpPr txBox="1">
            <a:spLocks noGrp="1"/>
          </p:cNvSpPr>
          <p:nvPr>
            <p:ph type="subTitle" idx="3"/>
          </p:nvPr>
        </p:nvSpPr>
        <p:spPr>
          <a:xfrm>
            <a:off x="685800" y="3583008"/>
            <a:ext cx="7772400" cy="463200"/>
          </a:xfrm>
          <a:prstGeom prst="rect">
            <a:avLst/>
          </a:prstGeom>
          <a:noFill/>
          <a:ln>
            <a:noFill/>
          </a:ln>
        </p:spPr>
        <p:txBody>
          <a:bodyPr lIns="91425" tIns="91425" rIns="91425" bIns="91425" anchor="t" anchorCtr="0">
            <a:noAutofit/>
          </a:bodyPr>
          <a:lstStyle/>
          <a:p>
            <a:pPr lvl="0" algn="ctr" rtl="0">
              <a:spcBef>
                <a:spcPts val="0"/>
              </a:spcBef>
              <a:buNone/>
            </a:pPr>
            <a:r>
              <a:rPr lang="id-ID" sz="1800" dirty="0" smtClean="0"/>
              <a:t>S</a:t>
            </a:r>
            <a:r>
              <a:rPr lang="en" sz="1800" dirty="0" smtClean="0"/>
              <a:t>uccess Insya Allah !</a:t>
            </a:r>
            <a:endParaRPr lang="en" sz="1800" dirty="0"/>
          </a:p>
        </p:txBody>
      </p:sp>
      <p:grpSp>
        <p:nvGrpSpPr>
          <p:cNvPr id="240" name="Shape 240"/>
          <p:cNvGrpSpPr/>
          <p:nvPr/>
        </p:nvGrpSpPr>
        <p:grpSpPr>
          <a:xfrm>
            <a:off x="4433047" y="4413424"/>
            <a:ext cx="277858" cy="201655"/>
            <a:chOff x="3932350" y="3714775"/>
            <a:chExt cx="439650" cy="319075"/>
          </a:xfrm>
        </p:grpSpPr>
        <p:sp>
          <p:nvSpPr>
            <p:cNvPr id="241" name="Shape 241"/>
            <p:cNvSpPr/>
            <p:nvPr/>
          </p:nvSpPr>
          <p:spPr>
            <a:xfrm>
              <a:off x="3932350" y="3714775"/>
              <a:ext cx="439650" cy="319075"/>
            </a:xfrm>
            <a:custGeom>
              <a:avLst/>
              <a:gdLst/>
              <a:ahLst/>
              <a:cxnLst/>
              <a:rect l="0" t="0" r="0" b="0"/>
              <a:pathLst>
                <a:path w="17586" h="12763" fill="none" extrusionOk="0">
                  <a:moveTo>
                    <a:pt x="1" y="1"/>
                  </a:moveTo>
                  <a:lnTo>
                    <a:pt x="1" y="12276"/>
                  </a:lnTo>
                  <a:lnTo>
                    <a:pt x="1" y="12276"/>
                  </a:lnTo>
                  <a:lnTo>
                    <a:pt x="1" y="12373"/>
                  </a:lnTo>
                  <a:lnTo>
                    <a:pt x="25" y="12471"/>
                  </a:lnTo>
                  <a:lnTo>
                    <a:pt x="74" y="12544"/>
                  </a:lnTo>
                  <a:lnTo>
                    <a:pt x="123" y="12617"/>
                  </a:lnTo>
                  <a:lnTo>
                    <a:pt x="196" y="12690"/>
                  </a:lnTo>
                  <a:lnTo>
                    <a:pt x="293" y="12714"/>
                  </a:lnTo>
                  <a:lnTo>
                    <a:pt x="366" y="12763"/>
                  </a:lnTo>
                  <a:lnTo>
                    <a:pt x="488" y="12763"/>
                  </a:lnTo>
                  <a:lnTo>
                    <a:pt x="17585" y="12763"/>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242" name="Shape 242"/>
            <p:cNvSpPr/>
            <p:nvPr/>
          </p:nvSpPr>
          <p:spPr>
            <a:xfrm>
              <a:off x="3970100" y="3862750"/>
              <a:ext cx="77350" cy="132750"/>
            </a:xfrm>
            <a:custGeom>
              <a:avLst/>
              <a:gdLst/>
              <a:ahLst/>
              <a:cxnLst/>
              <a:rect l="0" t="0" r="0" b="0"/>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243" name="Shape 243"/>
            <p:cNvSpPr/>
            <p:nvPr/>
          </p:nvSpPr>
          <p:spPr>
            <a:xfrm>
              <a:off x="4278800" y="3862750"/>
              <a:ext cx="77350" cy="132750"/>
            </a:xfrm>
            <a:custGeom>
              <a:avLst/>
              <a:gdLst/>
              <a:ahLst/>
              <a:cxnLst/>
              <a:rect l="0" t="0" r="0" b="0"/>
              <a:pathLst>
                <a:path w="3094" h="5310" fill="none" extrusionOk="0">
                  <a:moveTo>
                    <a:pt x="3094" y="530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0" y="24"/>
                  </a:lnTo>
                  <a:lnTo>
                    <a:pt x="293" y="49"/>
                  </a:lnTo>
                  <a:lnTo>
                    <a:pt x="220" y="97"/>
                  </a:lnTo>
                  <a:lnTo>
                    <a:pt x="147" y="146"/>
                  </a:lnTo>
                  <a:lnTo>
                    <a:pt x="74" y="219"/>
                  </a:lnTo>
                  <a:lnTo>
                    <a:pt x="50" y="292"/>
                  </a:lnTo>
                  <a:lnTo>
                    <a:pt x="1" y="390"/>
                  </a:lnTo>
                  <a:lnTo>
                    <a:pt x="1" y="487"/>
                  </a:lnTo>
                  <a:lnTo>
                    <a:pt x="1" y="5309"/>
                  </a:lnTo>
                  <a:lnTo>
                    <a:pt x="3094" y="5309"/>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244" name="Shape 244"/>
            <p:cNvSpPr/>
            <p:nvPr/>
          </p:nvSpPr>
          <p:spPr>
            <a:xfrm>
              <a:off x="4073000" y="3716600"/>
              <a:ext cx="77350" cy="278900"/>
            </a:xfrm>
            <a:custGeom>
              <a:avLst/>
              <a:gdLst/>
              <a:ahLst/>
              <a:cxnLst/>
              <a:rect l="0" t="0" r="0" b="0"/>
              <a:pathLst>
                <a:path w="3094" h="11156" fill="none" extrusionOk="0">
                  <a:moveTo>
                    <a:pt x="3094" y="11155"/>
                  </a:moveTo>
                  <a:lnTo>
                    <a:pt x="3094" y="488"/>
                  </a:lnTo>
                  <a:lnTo>
                    <a:pt x="3094" y="488"/>
                  </a:lnTo>
                  <a:lnTo>
                    <a:pt x="3094" y="391"/>
                  </a:lnTo>
                  <a:lnTo>
                    <a:pt x="3070" y="293"/>
                  </a:lnTo>
                  <a:lnTo>
                    <a:pt x="3021" y="220"/>
                  </a:lnTo>
                  <a:lnTo>
                    <a:pt x="2948" y="147"/>
                  </a:lnTo>
                  <a:lnTo>
                    <a:pt x="2899" y="98"/>
                  </a:lnTo>
                  <a:lnTo>
                    <a:pt x="2802" y="50"/>
                  </a:lnTo>
                  <a:lnTo>
                    <a:pt x="2704" y="25"/>
                  </a:lnTo>
                  <a:lnTo>
                    <a:pt x="2607" y="1"/>
                  </a:lnTo>
                  <a:lnTo>
                    <a:pt x="488" y="1"/>
                  </a:lnTo>
                  <a:lnTo>
                    <a:pt x="488" y="1"/>
                  </a:lnTo>
                  <a:lnTo>
                    <a:pt x="391" y="25"/>
                  </a:lnTo>
                  <a:lnTo>
                    <a:pt x="293" y="50"/>
                  </a:lnTo>
                  <a:lnTo>
                    <a:pt x="220" y="98"/>
                  </a:lnTo>
                  <a:lnTo>
                    <a:pt x="147" y="147"/>
                  </a:lnTo>
                  <a:lnTo>
                    <a:pt x="74" y="220"/>
                  </a:lnTo>
                  <a:lnTo>
                    <a:pt x="50" y="293"/>
                  </a:lnTo>
                  <a:lnTo>
                    <a:pt x="1" y="391"/>
                  </a:lnTo>
                  <a:lnTo>
                    <a:pt x="1" y="488"/>
                  </a:lnTo>
                  <a:lnTo>
                    <a:pt x="1" y="11155"/>
                  </a:lnTo>
                  <a:lnTo>
                    <a:pt x="3094" y="11155"/>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245" name="Shape 245"/>
            <p:cNvSpPr/>
            <p:nvPr/>
          </p:nvSpPr>
          <p:spPr>
            <a:xfrm>
              <a:off x="4175900" y="3787250"/>
              <a:ext cx="77350" cy="208250"/>
            </a:xfrm>
            <a:custGeom>
              <a:avLst/>
              <a:gdLst/>
              <a:ahLst/>
              <a:cxnLst/>
              <a:rect l="0" t="0" r="0" b="0"/>
              <a:pathLst>
                <a:path w="3094" h="8330" fill="none" extrusionOk="0">
                  <a:moveTo>
                    <a:pt x="3094" y="8329"/>
                  </a:moveTo>
                  <a:lnTo>
                    <a:pt x="3094" y="487"/>
                  </a:lnTo>
                  <a:lnTo>
                    <a:pt x="3094" y="487"/>
                  </a:lnTo>
                  <a:lnTo>
                    <a:pt x="3094" y="390"/>
                  </a:lnTo>
                  <a:lnTo>
                    <a:pt x="3070" y="292"/>
                  </a:lnTo>
                  <a:lnTo>
                    <a:pt x="3021" y="219"/>
                  </a:lnTo>
                  <a:lnTo>
                    <a:pt x="2948" y="146"/>
                  </a:lnTo>
                  <a:lnTo>
                    <a:pt x="2899" y="97"/>
                  </a:lnTo>
                  <a:lnTo>
                    <a:pt x="2802" y="49"/>
                  </a:lnTo>
                  <a:lnTo>
                    <a:pt x="2704" y="24"/>
                  </a:lnTo>
                  <a:lnTo>
                    <a:pt x="2607" y="0"/>
                  </a:lnTo>
                  <a:lnTo>
                    <a:pt x="488" y="0"/>
                  </a:lnTo>
                  <a:lnTo>
                    <a:pt x="488" y="0"/>
                  </a:lnTo>
                  <a:lnTo>
                    <a:pt x="391" y="24"/>
                  </a:lnTo>
                  <a:lnTo>
                    <a:pt x="293" y="49"/>
                  </a:lnTo>
                  <a:lnTo>
                    <a:pt x="220" y="97"/>
                  </a:lnTo>
                  <a:lnTo>
                    <a:pt x="147" y="146"/>
                  </a:lnTo>
                  <a:lnTo>
                    <a:pt x="74" y="219"/>
                  </a:lnTo>
                  <a:lnTo>
                    <a:pt x="50" y="292"/>
                  </a:lnTo>
                  <a:lnTo>
                    <a:pt x="1" y="390"/>
                  </a:lnTo>
                  <a:lnTo>
                    <a:pt x="1" y="487"/>
                  </a:lnTo>
                  <a:lnTo>
                    <a:pt x="1" y="8329"/>
                  </a:lnTo>
                  <a:lnTo>
                    <a:pt x="3094" y="8329"/>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graphicFrame>
        <p:nvGraphicFramePr>
          <p:cNvPr id="2" name="Table 1"/>
          <p:cNvGraphicFramePr>
            <a:graphicFrameLocks noGrp="1"/>
          </p:cNvGraphicFramePr>
          <p:nvPr>
            <p:extLst>
              <p:ext uri="{D42A27DB-BD31-4B8C-83A1-F6EECF244321}">
                <p14:modId xmlns:p14="http://schemas.microsoft.com/office/powerpoint/2010/main" val="859794367"/>
              </p:ext>
            </p:extLst>
          </p:nvPr>
        </p:nvGraphicFramePr>
        <p:xfrm>
          <a:off x="382356" y="1349731"/>
          <a:ext cx="8376934" cy="1255152"/>
        </p:xfrm>
        <a:graphic>
          <a:graphicData uri="http://schemas.openxmlformats.org/drawingml/2006/table">
            <a:tbl>
              <a:tblPr firstRow="1" firstCol="1" bandRow="1">
                <a:tableStyleId>{AE76403A-0E00-4F40-B57C-24428DF4E4F1}</a:tableStyleId>
              </a:tblPr>
              <a:tblGrid>
                <a:gridCol w="385812"/>
                <a:gridCol w="1409749"/>
                <a:gridCol w="254593"/>
                <a:gridCol w="255854"/>
                <a:gridCol w="323899"/>
                <a:gridCol w="323899"/>
                <a:gridCol w="323899"/>
                <a:gridCol w="323899"/>
                <a:gridCol w="323899"/>
                <a:gridCol w="323899"/>
                <a:gridCol w="323899"/>
                <a:gridCol w="323899"/>
                <a:gridCol w="323899"/>
                <a:gridCol w="323899"/>
                <a:gridCol w="323899"/>
                <a:gridCol w="323899"/>
                <a:gridCol w="323899"/>
                <a:gridCol w="323899"/>
                <a:gridCol w="323899"/>
                <a:gridCol w="323899"/>
                <a:gridCol w="323899"/>
                <a:gridCol w="564643"/>
              </a:tblGrid>
              <a:tr h="250386">
                <a:tc rowSpan="2">
                  <a:txBody>
                    <a:bodyPr/>
                    <a:lstStyle/>
                    <a:p>
                      <a:pPr marL="0" marR="0" algn="ctr">
                        <a:lnSpc>
                          <a:spcPct val="150000"/>
                        </a:lnSpc>
                        <a:spcBef>
                          <a:spcPts val="300"/>
                        </a:spcBef>
                        <a:spcAft>
                          <a:spcPts val="200"/>
                        </a:spcAft>
                      </a:pPr>
                      <a:r>
                        <a:rPr lang="en-US" sz="1100" dirty="0">
                          <a:effectLst/>
                        </a:rPr>
                        <a:t>No.</a:t>
                      </a:r>
                      <a:endParaRPr lang="id-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rowSpan="2">
                  <a:txBody>
                    <a:bodyPr/>
                    <a:lstStyle/>
                    <a:p>
                      <a:pPr marL="0" marR="0" algn="ctr">
                        <a:lnSpc>
                          <a:spcPct val="150000"/>
                        </a:lnSpc>
                        <a:spcBef>
                          <a:spcPts val="300"/>
                        </a:spcBef>
                        <a:spcAft>
                          <a:spcPts val="200"/>
                        </a:spcAft>
                      </a:pPr>
                      <a:r>
                        <a:rPr lang="en-US" sz="1100">
                          <a:effectLst/>
                        </a:rPr>
                        <a:t>Nama Nara Sumber</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gridSpan="19">
                  <a:txBody>
                    <a:bodyPr/>
                    <a:lstStyle/>
                    <a:p>
                      <a:pPr marL="0" marR="0" algn="ctr">
                        <a:lnSpc>
                          <a:spcPct val="150000"/>
                        </a:lnSpc>
                        <a:spcBef>
                          <a:spcPts val="300"/>
                        </a:spcBef>
                        <a:spcAft>
                          <a:spcPts val="200"/>
                        </a:spcAft>
                      </a:pPr>
                      <a:r>
                        <a:rPr lang="en-US" sz="1100">
                          <a:effectLst/>
                        </a:rPr>
                        <a:t>Agustus 2016</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rowSpan="2">
                  <a:txBody>
                    <a:bodyPr/>
                    <a:lstStyle/>
                    <a:p>
                      <a:pPr marL="0" marR="0" algn="ctr">
                        <a:lnSpc>
                          <a:spcPct val="150000"/>
                        </a:lnSpc>
                        <a:spcBef>
                          <a:spcPts val="300"/>
                        </a:spcBef>
                        <a:spcAft>
                          <a:spcPts val="200"/>
                        </a:spcAft>
                      </a:pPr>
                      <a:r>
                        <a:rPr lang="en-US" sz="1100" dirty="0" err="1">
                          <a:effectLst/>
                        </a:rPr>
                        <a:t>Ket</a:t>
                      </a:r>
                      <a:r>
                        <a:rPr lang="en-US" sz="1100" dirty="0">
                          <a:effectLst/>
                        </a:rPr>
                        <a:t>.*)</a:t>
                      </a:r>
                      <a:endParaRPr lang="id-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r>
              <a:tr h="500772">
                <a:tc vMerge="1">
                  <a:txBody>
                    <a:bodyPr/>
                    <a:lstStyle/>
                    <a:p>
                      <a:endParaRPr lang="id-ID"/>
                    </a:p>
                  </a:txBody>
                  <a:tcPr/>
                </a:tc>
                <a:tc vMerge="1">
                  <a:txBody>
                    <a:bodyPr/>
                    <a:lstStyle/>
                    <a:p>
                      <a:endParaRPr lang="id-ID"/>
                    </a:p>
                  </a:txBody>
                  <a:tcPr/>
                </a:tc>
                <a:tc>
                  <a:txBody>
                    <a:bodyPr/>
                    <a:lstStyle/>
                    <a:p>
                      <a:pPr marL="0" marR="0" algn="ctr">
                        <a:lnSpc>
                          <a:spcPct val="150000"/>
                        </a:lnSpc>
                        <a:spcBef>
                          <a:spcPts val="300"/>
                        </a:spcBef>
                        <a:spcAft>
                          <a:spcPts val="200"/>
                        </a:spcAft>
                      </a:pPr>
                      <a:r>
                        <a:rPr lang="en-US" sz="1100" dirty="0">
                          <a:effectLst/>
                        </a:rPr>
                        <a:t>8</a:t>
                      </a:r>
                      <a:endParaRPr lang="id-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dirty="0">
                          <a:effectLst/>
                        </a:rPr>
                        <a:t>9</a:t>
                      </a:r>
                      <a:endParaRPr lang="id-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dirty="0">
                          <a:effectLst/>
                        </a:rPr>
                        <a:t>10</a:t>
                      </a:r>
                      <a:endParaRPr lang="id-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dirty="0">
                          <a:effectLst/>
                        </a:rPr>
                        <a:t>11</a:t>
                      </a:r>
                      <a:endParaRPr lang="id-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dirty="0">
                          <a:effectLst/>
                        </a:rPr>
                        <a:t>12</a:t>
                      </a:r>
                      <a:endParaRPr lang="id-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dirty="0">
                          <a:effectLst/>
                        </a:rPr>
                        <a:t>13</a:t>
                      </a:r>
                      <a:endParaRPr lang="id-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dirty="0">
                          <a:effectLst/>
                        </a:rPr>
                        <a:t>14</a:t>
                      </a:r>
                      <a:endParaRPr lang="id-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dirty="0">
                          <a:effectLst/>
                        </a:rPr>
                        <a:t>15</a:t>
                      </a:r>
                      <a:endParaRPr lang="id-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dirty="0">
                          <a:effectLst/>
                        </a:rPr>
                        <a:t>16</a:t>
                      </a:r>
                      <a:endParaRPr lang="id-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dirty="0">
                          <a:effectLst/>
                        </a:rPr>
                        <a:t>17</a:t>
                      </a:r>
                      <a:endParaRPr lang="id-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dirty="0">
                          <a:effectLst/>
                        </a:rPr>
                        <a:t>16</a:t>
                      </a:r>
                      <a:endParaRPr lang="id-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dirty="0">
                          <a:effectLst/>
                        </a:rPr>
                        <a:t>19</a:t>
                      </a:r>
                      <a:endParaRPr lang="id-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20</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21</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dirty="0">
                          <a:effectLst/>
                        </a:rPr>
                        <a:t>22</a:t>
                      </a:r>
                      <a:endParaRPr lang="id-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dirty="0">
                          <a:effectLst/>
                        </a:rPr>
                        <a:t>23</a:t>
                      </a:r>
                      <a:endParaRPr lang="id-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dirty="0">
                          <a:effectLst/>
                        </a:rPr>
                        <a:t>24</a:t>
                      </a:r>
                      <a:endParaRPr lang="id-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dirty="0">
                          <a:effectLst/>
                        </a:rPr>
                        <a:t>25</a:t>
                      </a:r>
                      <a:endParaRPr lang="id-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dirty="0">
                          <a:effectLst/>
                        </a:rPr>
                        <a:t>26</a:t>
                      </a:r>
                      <a:endParaRPr lang="id-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vMerge="1">
                  <a:txBody>
                    <a:bodyPr/>
                    <a:lstStyle/>
                    <a:p>
                      <a:endParaRPr lang="id-ID"/>
                    </a:p>
                  </a:txBody>
                  <a:tcPr/>
                </a:tc>
              </a:tr>
              <a:tr h="250386">
                <a:tc>
                  <a:txBody>
                    <a:bodyPr/>
                    <a:lstStyle/>
                    <a:p>
                      <a:pPr marL="0" marR="0" algn="ctr">
                        <a:lnSpc>
                          <a:spcPct val="150000"/>
                        </a:lnSpc>
                        <a:spcBef>
                          <a:spcPts val="300"/>
                        </a:spcBef>
                        <a:spcAft>
                          <a:spcPts val="200"/>
                        </a:spcAft>
                      </a:pPr>
                      <a:r>
                        <a:rPr lang="en-US" sz="1100">
                          <a:effectLst/>
                        </a:rPr>
                        <a:t>1.</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Mentor</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 </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 </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X</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 </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X</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 </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 </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X</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 </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 </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X</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 </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 </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 </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 </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tc>
                <a:tc>
                  <a:txBody>
                    <a:bodyPr/>
                    <a:lstStyle/>
                    <a:p>
                      <a:pPr marL="0" marR="0" algn="ctr">
                        <a:lnSpc>
                          <a:spcPct val="150000"/>
                        </a:lnSpc>
                        <a:spcBef>
                          <a:spcPts val="300"/>
                        </a:spcBef>
                        <a:spcAft>
                          <a:spcPts val="200"/>
                        </a:spcAft>
                      </a:pPr>
                      <a:r>
                        <a:rPr lang="en-US" sz="1100">
                          <a:effectLst/>
                        </a:rPr>
                        <a:t> </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X</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 </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tc>
                <a:tc>
                  <a:txBody>
                    <a:bodyPr/>
                    <a:lstStyle/>
                    <a:p>
                      <a:pPr marL="0" marR="0" algn="ctr">
                        <a:lnSpc>
                          <a:spcPct val="150000"/>
                        </a:lnSpc>
                        <a:spcBef>
                          <a:spcPts val="300"/>
                        </a:spcBef>
                        <a:spcAft>
                          <a:spcPts val="200"/>
                        </a:spcAft>
                      </a:pPr>
                      <a:r>
                        <a:rPr lang="en-US" sz="1100">
                          <a:effectLst/>
                        </a:rPr>
                        <a:t> </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tc>
                <a:tc>
                  <a:txBody>
                    <a:bodyPr/>
                    <a:lstStyle/>
                    <a:p>
                      <a:pPr marL="0" marR="0" algn="ctr">
                        <a:lnSpc>
                          <a:spcPct val="150000"/>
                        </a:lnSpc>
                        <a:spcBef>
                          <a:spcPts val="300"/>
                        </a:spcBef>
                        <a:spcAft>
                          <a:spcPts val="200"/>
                        </a:spcAft>
                      </a:pPr>
                      <a:r>
                        <a:rPr lang="en-US" sz="1100">
                          <a:effectLst/>
                        </a:rPr>
                        <a:t>5 kali</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r>
              <a:tr h="250386">
                <a:tc>
                  <a:txBody>
                    <a:bodyPr/>
                    <a:lstStyle/>
                    <a:p>
                      <a:pPr marL="0" marR="0" algn="ctr">
                        <a:lnSpc>
                          <a:spcPct val="150000"/>
                        </a:lnSpc>
                        <a:spcBef>
                          <a:spcPts val="300"/>
                        </a:spcBef>
                        <a:spcAft>
                          <a:spcPts val="200"/>
                        </a:spcAft>
                      </a:pPr>
                      <a:r>
                        <a:rPr lang="en-US" sz="1100">
                          <a:effectLst/>
                        </a:rPr>
                        <a:t>2.</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Coach</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 </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 </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 </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X</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 </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dirty="0">
                          <a:effectLst/>
                        </a:rPr>
                        <a:t> </a:t>
                      </a:r>
                      <a:endParaRPr lang="id-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 </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X</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 </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 </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 </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 </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 </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 </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X</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 </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 </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 </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en-US" sz="1100">
                          <a:effectLst/>
                        </a:rPr>
                        <a:t> </a:t>
                      </a:r>
                      <a:endParaRPr lang="id-ID" sz="110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c>
                  <a:txBody>
                    <a:bodyPr/>
                    <a:lstStyle/>
                    <a:p>
                      <a:pPr marL="0" marR="0" algn="ctr">
                        <a:lnSpc>
                          <a:spcPct val="150000"/>
                        </a:lnSpc>
                        <a:spcBef>
                          <a:spcPts val="300"/>
                        </a:spcBef>
                        <a:spcAft>
                          <a:spcPts val="200"/>
                        </a:spcAft>
                      </a:pPr>
                      <a:r>
                        <a:rPr lang="id-ID" sz="1100" dirty="0">
                          <a:effectLst/>
                        </a:rPr>
                        <a:t>3</a:t>
                      </a:r>
                      <a:r>
                        <a:rPr lang="en-US" sz="1100" dirty="0">
                          <a:effectLst/>
                        </a:rPr>
                        <a:t> kali</a:t>
                      </a:r>
                      <a:endParaRPr lang="id-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287" marR="68287" marT="0" marB="0" anchor="ctr"/>
                </a:tc>
              </a:tr>
            </a:tbl>
          </a:graphicData>
        </a:graphic>
      </p:graphicFrame>
      <p:sp>
        <p:nvSpPr>
          <p:cNvPr id="3" name="Rectangle 2"/>
          <p:cNvSpPr/>
          <p:nvPr/>
        </p:nvSpPr>
        <p:spPr>
          <a:xfrm>
            <a:off x="2424905" y="846905"/>
            <a:ext cx="4572000" cy="307777"/>
          </a:xfrm>
          <a:prstGeom prst="rect">
            <a:avLst/>
          </a:prstGeom>
        </p:spPr>
        <p:txBody>
          <a:bodyPr>
            <a:spAutoFit/>
          </a:bodyPr>
          <a:lstStyle/>
          <a:p>
            <a:r>
              <a:rPr lang="en-US" b="1" dirty="0" err="1"/>
              <a:t>Tabel</a:t>
            </a:r>
            <a:r>
              <a:rPr lang="en-US" b="1" dirty="0"/>
              <a:t> 3.3. </a:t>
            </a:r>
            <a:r>
              <a:rPr lang="en-US" b="1" dirty="0" err="1"/>
              <a:t>Rencana</a:t>
            </a:r>
            <a:r>
              <a:rPr lang="en-US" b="1" dirty="0"/>
              <a:t> </a:t>
            </a:r>
            <a:r>
              <a:rPr lang="en-US" b="1" dirty="0" err="1"/>
              <a:t>Jadwal</a:t>
            </a:r>
            <a:r>
              <a:rPr lang="en-US" b="1" dirty="0"/>
              <a:t> </a:t>
            </a:r>
            <a:r>
              <a:rPr lang="en-US" b="1" dirty="0" err="1"/>
              <a:t>konsultasi</a:t>
            </a:r>
            <a:endParaRPr lang="id-ID" dirty="0"/>
          </a:p>
        </p:txBody>
      </p:sp>
    </p:spTree>
  </p:cSld>
  <p:clrMapOvr>
    <a:masterClrMapping/>
  </p:clrMapOvr>
  <p:transition spd="slow">
    <p:cut/>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Shape 331"/>
          <p:cNvSpPr txBox="1">
            <a:spLocks noGrp="1"/>
          </p:cNvSpPr>
          <p:nvPr>
            <p:ph type="subTitle" idx="4294967295"/>
          </p:nvPr>
        </p:nvSpPr>
        <p:spPr>
          <a:xfrm>
            <a:off x="2403749" y="2859165"/>
            <a:ext cx="5021399" cy="784799"/>
          </a:xfrm>
          <a:prstGeom prst="rect">
            <a:avLst/>
          </a:prstGeom>
          <a:noFill/>
          <a:ln>
            <a:noFill/>
          </a:ln>
        </p:spPr>
        <p:txBody>
          <a:bodyPr lIns="91425" tIns="91425" rIns="91425" bIns="91425" anchor="t" anchorCtr="0">
            <a:noAutofit/>
          </a:bodyPr>
          <a:lstStyle/>
          <a:p>
            <a:pPr lvl="0" rtl="0">
              <a:spcBef>
                <a:spcPts val="0"/>
              </a:spcBef>
              <a:buNone/>
            </a:pPr>
            <a:r>
              <a:rPr lang="en" sz="3600" b="1" i="1" dirty="0">
                <a:latin typeface="Lora"/>
                <a:ea typeface="Lora"/>
                <a:cs typeface="Lora"/>
                <a:sym typeface="Lora"/>
              </a:rPr>
              <a:t>Any questions ?</a:t>
            </a:r>
          </a:p>
          <a:p>
            <a:pPr lvl="0" rtl="0">
              <a:spcBef>
                <a:spcPts val="0"/>
              </a:spcBef>
              <a:buNone/>
            </a:pPr>
            <a:endParaRPr sz="1800" dirty="0">
              <a:solidFill>
                <a:schemeClr val="dk1"/>
              </a:solidFill>
            </a:endParaRPr>
          </a:p>
        </p:txBody>
      </p:sp>
      <p:cxnSp>
        <p:nvCxnSpPr>
          <p:cNvPr id="332" name="Shape 332"/>
          <p:cNvCxnSpPr/>
          <p:nvPr/>
        </p:nvCxnSpPr>
        <p:spPr>
          <a:xfrm>
            <a:off x="6450" y="1428750"/>
            <a:ext cx="2397299" cy="0"/>
          </a:xfrm>
          <a:prstGeom prst="straightConnector1">
            <a:avLst/>
          </a:prstGeom>
          <a:noFill/>
          <a:ln w="9525" cap="flat" cmpd="sng">
            <a:solidFill>
              <a:srgbClr val="CCCCCC"/>
            </a:solidFill>
            <a:prstDash val="solid"/>
            <a:round/>
            <a:headEnd type="none" w="lg" len="lg"/>
            <a:tailEnd type="none" w="lg" len="lg"/>
          </a:ln>
        </p:spPr>
      </p:cxnSp>
      <p:sp>
        <p:nvSpPr>
          <p:cNvPr id="333" name="Shape 333"/>
          <p:cNvSpPr txBox="1">
            <a:spLocks noGrp="1"/>
          </p:cNvSpPr>
          <p:nvPr>
            <p:ph type="ctrTitle" idx="4294967295"/>
          </p:nvPr>
        </p:nvSpPr>
        <p:spPr>
          <a:xfrm>
            <a:off x="2371625" y="816550"/>
            <a:ext cx="4908000" cy="1159799"/>
          </a:xfrm>
          <a:prstGeom prst="rect">
            <a:avLst/>
          </a:prstGeom>
          <a:noFill/>
          <a:ln>
            <a:noFill/>
          </a:ln>
        </p:spPr>
        <p:txBody>
          <a:bodyPr lIns="91425" tIns="91425" rIns="91425" bIns="91425" anchor="ctr" anchorCtr="0">
            <a:noAutofit/>
          </a:bodyPr>
          <a:lstStyle/>
          <a:p>
            <a:pPr lvl="0" rtl="0">
              <a:spcBef>
                <a:spcPts val="0"/>
              </a:spcBef>
              <a:buNone/>
            </a:pPr>
            <a:r>
              <a:rPr lang="en" sz="6000" dirty="0"/>
              <a:t>Thanks!</a:t>
            </a:r>
          </a:p>
        </p:txBody>
      </p:sp>
      <p:cxnSp>
        <p:nvCxnSpPr>
          <p:cNvPr id="334" name="Shape 334"/>
          <p:cNvCxnSpPr/>
          <p:nvPr/>
        </p:nvCxnSpPr>
        <p:spPr>
          <a:xfrm>
            <a:off x="5589800" y="1428750"/>
            <a:ext cx="3554100" cy="0"/>
          </a:xfrm>
          <a:prstGeom prst="straightConnector1">
            <a:avLst/>
          </a:prstGeom>
          <a:noFill/>
          <a:ln w="9525" cap="flat" cmpd="sng">
            <a:solidFill>
              <a:srgbClr val="CCCCCC"/>
            </a:solidFill>
            <a:prstDash val="solid"/>
            <a:round/>
            <a:headEnd type="none" w="lg" len="lg"/>
            <a:tailEnd type="none" w="lg" len="lg"/>
          </a:ln>
        </p:spPr>
      </p:cxnSp>
      <p:sp>
        <p:nvSpPr>
          <p:cNvPr id="335" name="Shape 335"/>
          <p:cNvSpPr/>
          <p:nvPr/>
        </p:nvSpPr>
        <p:spPr>
          <a:xfrm>
            <a:off x="831925" y="859175"/>
            <a:ext cx="1139100" cy="1139100"/>
          </a:xfrm>
          <a:prstGeom prst="ellipse">
            <a:avLst/>
          </a:prstGeom>
          <a:solidFill>
            <a:srgbClr val="FFCD00"/>
          </a:solidFill>
          <a:ln>
            <a:noFill/>
          </a:ln>
        </p:spPr>
        <p:txBody>
          <a:bodyPr lIns="91425" tIns="91425" rIns="91425" bIns="91425" anchor="ctr" anchorCtr="0">
            <a:noAutofit/>
          </a:bodyPr>
          <a:lstStyle/>
          <a:p>
            <a:pPr>
              <a:spcBef>
                <a:spcPts val="0"/>
              </a:spcBef>
              <a:buNone/>
            </a:pPr>
            <a:endParaRPr/>
          </a:p>
        </p:txBody>
      </p:sp>
      <p:grpSp>
        <p:nvGrpSpPr>
          <p:cNvPr id="336" name="Shape 336"/>
          <p:cNvGrpSpPr/>
          <p:nvPr/>
        </p:nvGrpSpPr>
        <p:grpSpPr>
          <a:xfrm>
            <a:off x="1148888" y="1190759"/>
            <a:ext cx="505722" cy="475767"/>
            <a:chOff x="5972700" y="2330200"/>
            <a:chExt cx="411625" cy="387275"/>
          </a:xfrm>
        </p:grpSpPr>
        <p:sp>
          <p:nvSpPr>
            <p:cNvPr id="337" name="Shape 337"/>
            <p:cNvSpPr/>
            <p:nvPr/>
          </p:nvSpPr>
          <p:spPr>
            <a:xfrm>
              <a:off x="5972700" y="2476950"/>
              <a:ext cx="98050" cy="219825"/>
            </a:xfrm>
            <a:custGeom>
              <a:avLst/>
              <a:gdLst/>
              <a:ahLst/>
              <a:cxnLst/>
              <a:rect l="0" t="0" r="0" b="0"/>
              <a:pathLst>
                <a:path w="3922" h="8793" fill="none" extrusionOk="0">
                  <a:moveTo>
                    <a:pt x="0" y="0"/>
                  </a:moveTo>
                  <a:lnTo>
                    <a:pt x="0" y="8792"/>
                  </a:lnTo>
                  <a:lnTo>
                    <a:pt x="3921" y="8792"/>
                  </a:lnTo>
                  <a:lnTo>
                    <a:pt x="3921" y="0"/>
                  </a:lnTo>
                  <a:lnTo>
                    <a:pt x="0" y="0"/>
                  </a:lnTo>
                  <a:close/>
                  <a:moveTo>
                    <a:pt x="2411" y="2411"/>
                  </a:moveTo>
                  <a:lnTo>
                    <a:pt x="2411" y="2411"/>
                  </a:lnTo>
                  <a:lnTo>
                    <a:pt x="2265" y="2387"/>
                  </a:lnTo>
                  <a:lnTo>
                    <a:pt x="2143" y="2363"/>
                  </a:lnTo>
                  <a:lnTo>
                    <a:pt x="2022" y="2290"/>
                  </a:lnTo>
                  <a:lnTo>
                    <a:pt x="1924" y="2216"/>
                  </a:lnTo>
                  <a:lnTo>
                    <a:pt x="1827" y="2095"/>
                  </a:lnTo>
                  <a:lnTo>
                    <a:pt x="1754" y="1973"/>
                  </a:lnTo>
                  <a:lnTo>
                    <a:pt x="1729" y="1851"/>
                  </a:lnTo>
                  <a:lnTo>
                    <a:pt x="1705" y="1705"/>
                  </a:lnTo>
                  <a:lnTo>
                    <a:pt x="1705" y="1705"/>
                  </a:lnTo>
                  <a:lnTo>
                    <a:pt x="1729" y="1559"/>
                  </a:lnTo>
                  <a:lnTo>
                    <a:pt x="1754" y="1437"/>
                  </a:lnTo>
                  <a:lnTo>
                    <a:pt x="1827" y="1315"/>
                  </a:lnTo>
                  <a:lnTo>
                    <a:pt x="1924" y="1218"/>
                  </a:lnTo>
                  <a:lnTo>
                    <a:pt x="2022" y="1120"/>
                  </a:lnTo>
                  <a:lnTo>
                    <a:pt x="2143" y="1072"/>
                  </a:lnTo>
                  <a:lnTo>
                    <a:pt x="2265" y="1023"/>
                  </a:lnTo>
                  <a:lnTo>
                    <a:pt x="2411" y="999"/>
                  </a:lnTo>
                  <a:lnTo>
                    <a:pt x="2411" y="999"/>
                  </a:lnTo>
                  <a:lnTo>
                    <a:pt x="2557" y="1023"/>
                  </a:lnTo>
                  <a:lnTo>
                    <a:pt x="2679" y="1072"/>
                  </a:lnTo>
                  <a:lnTo>
                    <a:pt x="2801" y="1120"/>
                  </a:lnTo>
                  <a:lnTo>
                    <a:pt x="2898" y="1218"/>
                  </a:lnTo>
                  <a:lnTo>
                    <a:pt x="2996" y="1315"/>
                  </a:lnTo>
                  <a:lnTo>
                    <a:pt x="3069" y="1437"/>
                  </a:lnTo>
                  <a:lnTo>
                    <a:pt x="3093" y="1559"/>
                  </a:lnTo>
                  <a:lnTo>
                    <a:pt x="3118" y="1705"/>
                  </a:lnTo>
                  <a:lnTo>
                    <a:pt x="3118" y="1705"/>
                  </a:lnTo>
                  <a:lnTo>
                    <a:pt x="3093" y="1851"/>
                  </a:lnTo>
                  <a:lnTo>
                    <a:pt x="3069" y="1973"/>
                  </a:lnTo>
                  <a:lnTo>
                    <a:pt x="2996" y="2095"/>
                  </a:lnTo>
                  <a:lnTo>
                    <a:pt x="2898" y="2216"/>
                  </a:lnTo>
                  <a:lnTo>
                    <a:pt x="2801" y="2290"/>
                  </a:lnTo>
                  <a:lnTo>
                    <a:pt x="2679" y="2363"/>
                  </a:lnTo>
                  <a:lnTo>
                    <a:pt x="2557" y="2387"/>
                  </a:lnTo>
                  <a:lnTo>
                    <a:pt x="2411" y="2411"/>
                  </a:lnTo>
                  <a:lnTo>
                    <a:pt x="2411" y="2411"/>
                  </a:lnTo>
                  <a:close/>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sp>
          <p:nvSpPr>
            <p:cNvPr id="338" name="Shape 338"/>
            <p:cNvSpPr/>
            <p:nvPr/>
          </p:nvSpPr>
          <p:spPr>
            <a:xfrm>
              <a:off x="6078025" y="2330200"/>
              <a:ext cx="306300" cy="387275"/>
            </a:xfrm>
            <a:custGeom>
              <a:avLst/>
              <a:gdLst/>
              <a:ahLst/>
              <a:cxnLst/>
              <a:rect l="0" t="0" r="0" b="0"/>
              <a:pathLst>
                <a:path w="12252" h="15491" fill="none" extrusionOk="0">
                  <a:moveTo>
                    <a:pt x="1" y="13396"/>
                  </a:moveTo>
                  <a:lnTo>
                    <a:pt x="1511" y="13396"/>
                  </a:lnTo>
                  <a:lnTo>
                    <a:pt x="1511" y="13396"/>
                  </a:lnTo>
                  <a:lnTo>
                    <a:pt x="1998" y="13639"/>
                  </a:lnTo>
                  <a:lnTo>
                    <a:pt x="2680" y="13932"/>
                  </a:lnTo>
                  <a:lnTo>
                    <a:pt x="3556" y="14273"/>
                  </a:lnTo>
                  <a:lnTo>
                    <a:pt x="4531" y="14638"/>
                  </a:lnTo>
                  <a:lnTo>
                    <a:pt x="5578" y="14955"/>
                  </a:lnTo>
                  <a:lnTo>
                    <a:pt x="6114" y="15101"/>
                  </a:lnTo>
                  <a:lnTo>
                    <a:pt x="6650" y="15222"/>
                  </a:lnTo>
                  <a:lnTo>
                    <a:pt x="7161" y="15344"/>
                  </a:lnTo>
                  <a:lnTo>
                    <a:pt x="7672" y="15417"/>
                  </a:lnTo>
                  <a:lnTo>
                    <a:pt x="8135" y="15466"/>
                  </a:lnTo>
                  <a:lnTo>
                    <a:pt x="8598" y="15490"/>
                  </a:lnTo>
                  <a:lnTo>
                    <a:pt x="8598" y="15490"/>
                  </a:lnTo>
                  <a:lnTo>
                    <a:pt x="9377" y="15490"/>
                  </a:lnTo>
                  <a:lnTo>
                    <a:pt x="9791" y="15466"/>
                  </a:lnTo>
                  <a:lnTo>
                    <a:pt x="10181" y="15417"/>
                  </a:lnTo>
                  <a:lnTo>
                    <a:pt x="10522" y="15320"/>
                  </a:lnTo>
                  <a:lnTo>
                    <a:pt x="10692" y="15271"/>
                  </a:lnTo>
                  <a:lnTo>
                    <a:pt x="10814" y="15222"/>
                  </a:lnTo>
                  <a:lnTo>
                    <a:pt x="10936" y="15149"/>
                  </a:lnTo>
                  <a:lnTo>
                    <a:pt x="11033" y="15052"/>
                  </a:lnTo>
                  <a:lnTo>
                    <a:pt x="11082" y="14955"/>
                  </a:lnTo>
                  <a:lnTo>
                    <a:pt x="11131" y="14833"/>
                  </a:lnTo>
                  <a:lnTo>
                    <a:pt x="11204" y="14126"/>
                  </a:lnTo>
                  <a:lnTo>
                    <a:pt x="11204" y="14126"/>
                  </a:lnTo>
                  <a:lnTo>
                    <a:pt x="11180" y="13956"/>
                  </a:lnTo>
                  <a:lnTo>
                    <a:pt x="11131" y="13810"/>
                  </a:lnTo>
                  <a:lnTo>
                    <a:pt x="11033" y="13664"/>
                  </a:lnTo>
                  <a:lnTo>
                    <a:pt x="10887" y="13542"/>
                  </a:lnTo>
                  <a:lnTo>
                    <a:pt x="10887" y="13542"/>
                  </a:lnTo>
                  <a:lnTo>
                    <a:pt x="11009" y="13518"/>
                  </a:lnTo>
                  <a:lnTo>
                    <a:pt x="11131" y="13469"/>
                  </a:lnTo>
                  <a:lnTo>
                    <a:pt x="11253" y="13420"/>
                  </a:lnTo>
                  <a:lnTo>
                    <a:pt x="11350" y="13323"/>
                  </a:lnTo>
                  <a:lnTo>
                    <a:pt x="11423" y="13225"/>
                  </a:lnTo>
                  <a:lnTo>
                    <a:pt x="11496" y="13104"/>
                  </a:lnTo>
                  <a:lnTo>
                    <a:pt x="11545" y="12957"/>
                  </a:lnTo>
                  <a:lnTo>
                    <a:pt x="11569" y="12836"/>
                  </a:lnTo>
                  <a:lnTo>
                    <a:pt x="11642" y="11959"/>
                  </a:lnTo>
                  <a:lnTo>
                    <a:pt x="11642" y="11959"/>
                  </a:lnTo>
                  <a:lnTo>
                    <a:pt x="11642" y="11837"/>
                  </a:lnTo>
                  <a:lnTo>
                    <a:pt x="11642" y="11740"/>
                  </a:lnTo>
                  <a:lnTo>
                    <a:pt x="11618" y="11618"/>
                  </a:lnTo>
                  <a:lnTo>
                    <a:pt x="11569" y="11521"/>
                  </a:lnTo>
                  <a:lnTo>
                    <a:pt x="11447" y="11350"/>
                  </a:lnTo>
                  <a:lnTo>
                    <a:pt x="11374" y="11277"/>
                  </a:lnTo>
                  <a:lnTo>
                    <a:pt x="11301" y="11204"/>
                  </a:lnTo>
                  <a:lnTo>
                    <a:pt x="11301" y="11204"/>
                  </a:lnTo>
                  <a:lnTo>
                    <a:pt x="11423" y="11180"/>
                  </a:lnTo>
                  <a:lnTo>
                    <a:pt x="11521" y="11131"/>
                  </a:lnTo>
                  <a:lnTo>
                    <a:pt x="11618" y="11058"/>
                  </a:lnTo>
                  <a:lnTo>
                    <a:pt x="11715" y="10960"/>
                  </a:lnTo>
                  <a:lnTo>
                    <a:pt x="11788" y="10863"/>
                  </a:lnTo>
                  <a:lnTo>
                    <a:pt x="11837" y="10766"/>
                  </a:lnTo>
                  <a:lnTo>
                    <a:pt x="11886" y="10644"/>
                  </a:lnTo>
                  <a:lnTo>
                    <a:pt x="11910" y="10498"/>
                  </a:lnTo>
                  <a:lnTo>
                    <a:pt x="11983" y="9645"/>
                  </a:lnTo>
                  <a:lnTo>
                    <a:pt x="11983" y="9645"/>
                  </a:lnTo>
                  <a:lnTo>
                    <a:pt x="11983" y="9523"/>
                  </a:lnTo>
                  <a:lnTo>
                    <a:pt x="11983" y="9402"/>
                  </a:lnTo>
                  <a:lnTo>
                    <a:pt x="11959" y="9280"/>
                  </a:lnTo>
                  <a:lnTo>
                    <a:pt x="11910" y="9182"/>
                  </a:lnTo>
                  <a:lnTo>
                    <a:pt x="11861" y="9085"/>
                  </a:lnTo>
                  <a:lnTo>
                    <a:pt x="11788" y="9012"/>
                  </a:lnTo>
                  <a:lnTo>
                    <a:pt x="11715" y="8939"/>
                  </a:lnTo>
                  <a:lnTo>
                    <a:pt x="11618" y="8866"/>
                  </a:lnTo>
                  <a:lnTo>
                    <a:pt x="11618" y="8866"/>
                  </a:lnTo>
                  <a:lnTo>
                    <a:pt x="11715" y="8841"/>
                  </a:lnTo>
                  <a:lnTo>
                    <a:pt x="11813" y="8768"/>
                  </a:lnTo>
                  <a:lnTo>
                    <a:pt x="11910" y="8695"/>
                  </a:lnTo>
                  <a:lnTo>
                    <a:pt x="11983" y="8622"/>
                  </a:lnTo>
                  <a:lnTo>
                    <a:pt x="12056" y="8525"/>
                  </a:lnTo>
                  <a:lnTo>
                    <a:pt x="12105" y="8427"/>
                  </a:lnTo>
                  <a:lnTo>
                    <a:pt x="12129" y="8306"/>
                  </a:lnTo>
                  <a:lnTo>
                    <a:pt x="12154" y="8184"/>
                  </a:lnTo>
                  <a:lnTo>
                    <a:pt x="12251" y="7307"/>
                  </a:lnTo>
                  <a:lnTo>
                    <a:pt x="12251" y="7307"/>
                  </a:lnTo>
                  <a:lnTo>
                    <a:pt x="12227" y="7185"/>
                  </a:lnTo>
                  <a:lnTo>
                    <a:pt x="12202" y="7064"/>
                  </a:lnTo>
                  <a:lnTo>
                    <a:pt x="12154" y="6966"/>
                  </a:lnTo>
                  <a:lnTo>
                    <a:pt x="12105" y="6869"/>
                  </a:lnTo>
                  <a:lnTo>
                    <a:pt x="12032" y="6771"/>
                  </a:lnTo>
                  <a:lnTo>
                    <a:pt x="11935" y="6698"/>
                  </a:lnTo>
                  <a:lnTo>
                    <a:pt x="11715" y="6552"/>
                  </a:lnTo>
                  <a:lnTo>
                    <a:pt x="11472" y="6430"/>
                  </a:lnTo>
                  <a:lnTo>
                    <a:pt x="11180" y="6333"/>
                  </a:lnTo>
                  <a:lnTo>
                    <a:pt x="10863" y="6260"/>
                  </a:lnTo>
                  <a:lnTo>
                    <a:pt x="10546" y="6211"/>
                  </a:lnTo>
                  <a:lnTo>
                    <a:pt x="10546" y="6211"/>
                  </a:lnTo>
                  <a:lnTo>
                    <a:pt x="9864" y="6114"/>
                  </a:lnTo>
                  <a:lnTo>
                    <a:pt x="8817" y="6016"/>
                  </a:lnTo>
                  <a:lnTo>
                    <a:pt x="7575" y="5943"/>
                  </a:lnTo>
                  <a:lnTo>
                    <a:pt x="6309" y="5870"/>
                  </a:lnTo>
                  <a:lnTo>
                    <a:pt x="6309" y="5870"/>
                  </a:lnTo>
                  <a:lnTo>
                    <a:pt x="6479" y="5578"/>
                  </a:lnTo>
                  <a:lnTo>
                    <a:pt x="6625" y="5237"/>
                  </a:lnTo>
                  <a:lnTo>
                    <a:pt x="6771" y="4872"/>
                  </a:lnTo>
                  <a:lnTo>
                    <a:pt x="6869" y="4482"/>
                  </a:lnTo>
                  <a:lnTo>
                    <a:pt x="6966" y="4092"/>
                  </a:lnTo>
                  <a:lnTo>
                    <a:pt x="7064" y="3678"/>
                  </a:lnTo>
                  <a:lnTo>
                    <a:pt x="7161" y="2875"/>
                  </a:lnTo>
                  <a:lnTo>
                    <a:pt x="7234" y="2144"/>
                  </a:lnTo>
                  <a:lnTo>
                    <a:pt x="7283" y="1535"/>
                  </a:lnTo>
                  <a:lnTo>
                    <a:pt x="7283" y="975"/>
                  </a:lnTo>
                  <a:lnTo>
                    <a:pt x="7283" y="975"/>
                  </a:lnTo>
                  <a:lnTo>
                    <a:pt x="7283" y="804"/>
                  </a:lnTo>
                  <a:lnTo>
                    <a:pt x="7210" y="609"/>
                  </a:lnTo>
                  <a:lnTo>
                    <a:pt x="7137" y="463"/>
                  </a:lnTo>
                  <a:lnTo>
                    <a:pt x="7015" y="317"/>
                  </a:lnTo>
                  <a:lnTo>
                    <a:pt x="6869" y="171"/>
                  </a:lnTo>
                  <a:lnTo>
                    <a:pt x="6698" y="98"/>
                  </a:lnTo>
                  <a:lnTo>
                    <a:pt x="6503" y="25"/>
                  </a:lnTo>
                  <a:lnTo>
                    <a:pt x="6309" y="1"/>
                  </a:lnTo>
                  <a:lnTo>
                    <a:pt x="6309" y="1"/>
                  </a:lnTo>
                  <a:lnTo>
                    <a:pt x="5943" y="25"/>
                  </a:lnTo>
                  <a:lnTo>
                    <a:pt x="5700" y="74"/>
                  </a:lnTo>
                  <a:lnTo>
                    <a:pt x="5505" y="147"/>
                  </a:lnTo>
                  <a:lnTo>
                    <a:pt x="5359" y="220"/>
                  </a:lnTo>
                  <a:lnTo>
                    <a:pt x="5359" y="220"/>
                  </a:lnTo>
                  <a:lnTo>
                    <a:pt x="4969" y="1462"/>
                  </a:lnTo>
                  <a:lnTo>
                    <a:pt x="4774" y="2022"/>
                  </a:lnTo>
                  <a:lnTo>
                    <a:pt x="4579" y="2534"/>
                  </a:lnTo>
                  <a:lnTo>
                    <a:pt x="4385" y="2996"/>
                  </a:lnTo>
                  <a:lnTo>
                    <a:pt x="4190" y="3386"/>
                  </a:lnTo>
                  <a:lnTo>
                    <a:pt x="4019" y="3678"/>
                  </a:lnTo>
                  <a:lnTo>
                    <a:pt x="3873" y="3922"/>
                  </a:lnTo>
                  <a:lnTo>
                    <a:pt x="3873" y="3922"/>
                  </a:lnTo>
                  <a:lnTo>
                    <a:pt x="3654" y="4141"/>
                  </a:lnTo>
                  <a:lnTo>
                    <a:pt x="3313" y="4482"/>
                  </a:lnTo>
                  <a:lnTo>
                    <a:pt x="2509" y="5237"/>
                  </a:lnTo>
                  <a:lnTo>
                    <a:pt x="1438" y="6211"/>
                  </a:lnTo>
                  <a:lnTo>
                    <a:pt x="1" y="6211"/>
                  </a:lnTo>
                </a:path>
              </a:pathLst>
            </a:custGeom>
            <a:noFill/>
            <a:ln w="9525" cap="rnd"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buNone/>
              </a:pPr>
              <a:endParaRPr/>
            </a:p>
          </p:txBody>
        </p:sp>
      </p:grpSp>
      <p:sp>
        <p:nvSpPr>
          <p:cNvPr id="3" name="Rectangle 2"/>
          <p:cNvSpPr/>
          <p:nvPr/>
        </p:nvSpPr>
        <p:spPr>
          <a:xfrm>
            <a:off x="326532" y="3784561"/>
            <a:ext cx="8680168" cy="1015663"/>
          </a:xfrm>
          <a:prstGeom prst="rect">
            <a:avLst/>
          </a:prstGeom>
        </p:spPr>
        <p:txBody>
          <a:bodyPr wrap="square">
            <a:spAutoFit/>
          </a:bodyPr>
          <a:lstStyle/>
          <a:p>
            <a:r>
              <a:rPr lang="id-ID" sz="1200" i="1" dirty="0">
                <a:latin typeface="Arial" panose="020B0604020202020204" pitchFamily="34" charset="0"/>
                <a:cs typeface="Arial" panose="020B0604020202020204" pitchFamily="34" charset="0"/>
              </a:rPr>
              <a:t>“</a:t>
            </a:r>
            <a:r>
              <a:rPr lang="id-ID" sz="1200" b="1" i="1" dirty="0">
                <a:latin typeface="Arial" panose="020B0604020202020204" pitchFamily="34" charset="0"/>
                <a:cs typeface="Arial" panose="020B0604020202020204" pitchFamily="34" charset="0"/>
              </a:rPr>
              <a:t>Barang siapa yang melepaskan satu kesusahan seorang mukmin, pasti Allah akan melepaskan darinya satu kesusahan pada hari kiamat. Barang siapa yang menjadikan mudah urusan orang lain, pasti Allah akan memudahkannya di dunia dan di akhirat</a:t>
            </a:r>
            <a:r>
              <a:rPr lang="id-ID" sz="1200" i="1" dirty="0">
                <a:latin typeface="Arial" panose="020B0604020202020204" pitchFamily="34" charset="0"/>
                <a:cs typeface="Arial" panose="020B0604020202020204" pitchFamily="34" charset="0"/>
              </a:rPr>
              <a:t>. Barang siapa yang menutupi aib seorang muslim, pasti Allah akan menutupi aibnya di dunia dan di akhirat. </a:t>
            </a:r>
            <a:r>
              <a:rPr lang="id-ID" sz="1200" b="1" i="1" dirty="0">
                <a:latin typeface="Arial" panose="020B0604020202020204" pitchFamily="34" charset="0"/>
                <a:cs typeface="Arial" panose="020B0604020202020204" pitchFamily="34" charset="0"/>
              </a:rPr>
              <a:t>Allah senantiasa menolong hamba Nya selama hamba Nya itu suka menolong saudaranya</a:t>
            </a:r>
            <a:r>
              <a:rPr lang="id-ID" sz="1200" i="1" dirty="0">
                <a:latin typeface="Arial" panose="020B0604020202020204" pitchFamily="34" charset="0"/>
                <a:cs typeface="Arial" panose="020B0604020202020204" pitchFamily="34" charset="0"/>
              </a:rPr>
              <a:t>”. (HR. </a:t>
            </a:r>
            <a:r>
              <a:rPr lang="id-ID" sz="1200" i="1" dirty="0" smtClean="0">
                <a:latin typeface="Arial" panose="020B0604020202020204" pitchFamily="34" charset="0"/>
                <a:cs typeface="Arial" panose="020B0604020202020204" pitchFamily="34" charset="0"/>
              </a:rPr>
              <a:t>Muslim</a:t>
            </a:r>
            <a:r>
              <a:rPr lang="en-US" sz="1200" i="1" dirty="0" smtClean="0">
                <a:latin typeface="Arial" panose="020B0604020202020204" pitchFamily="34" charset="0"/>
                <a:cs typeface="Arial" panose="020B0604020202020204" pitchFamily="34" charset="0"/>
              </a:rPr>
              <a:t>)</a:t>
            </a:r>
            <a:endParaRPr lang="id-ID" sz="1200" i="1" dirty="0">
              <a:latin typeface="Arial" panose="020B0604020202020204" pitchFamily="34" charset="0"/>
              <a:cs typeface="Arial" panose="020B0604020202020204" pitchFamily="34" charset="0"/>
            </a:endParaRPr>
          </a:p>
        </p:txBody>
      </p:sp>
      <p:sp>
        <p:nvSpPr>
          <p:cNvPr id="12" name="Rectangle 11"/>
          <p:cNvSpPr/>
          <p:nvPr/>
        </p:nvSpPr>
        <p:spPr>
          <a:xfrm>
            <a:off x="2668953" y="2380014"/>
            <a:ext cx="1997663" cy="338554"/>
          </a:xfrm>
          <a:prstGeom prst="rect">
            <a:avLst/>
          </a:prstGeom>
        </p:spPr>
        <p:txBody>
          <a:bodyPr wrap="none">
            <a:spAutoFit/>
          </a:bodyPr>
          <a:lstStyle/>
          <a:p>
            <a:pPr lvl="0"/>
            <a:r>
              <a:rPr lang="id-ID" sz="1600" b="1" dirty="0">
                <a:solidFill>
                  <a:schemeClr val="dk1"/>
                </a:solidFill>
              </a:rPr>
              <a:t>B</a:t>
            </a:r>
            <a:r>
              <a:rPr lang="en" sz="1600" b="1" dirty="0">
                <a:solidFill>
                  <a:schemeClr val="dk1"/>
                </a:solidFill>
              </a:rPr>
              <a:t>ack to moderator</a:t>
            </a:r>
          </a:p>
        </p:txBody>
      </p:sp>
    </p:spTree>
    <p:extLst>
      <p:ext uri="{BB962C8B-B14F-4D97-AF65-F5344CB8AC3E}">
        <p14:creationId xmlns:p14="http://schemas.microsoft.com/office/powerpoint/2010/main" val="3707460649"/>
      </p:ext>
    </p:extLst>
  </p:cSld>
  <p:clrMapOvr>
    <a:masterClrMapping/>
  </p:clrMapOvr>
  <p:transition spd="slow">
    <p:cut/>
  </p:transition>
  <p:timing>
    <p:tnLst>
      <p:par>
        <p:cTn id="1" dur="indefinite" restart="never" nodeType="tmRoot"/>
      </p:par>
    </p:tnLst>
  </p:timing>
</p:sld>
</file>

<file path=ppt/theme/theme1.xml><?xml version="1.0" encoding="utf-8"?>
<a:theme xmlns:a="http://schemas.openxmlformats.org/drawingml/2006/main" name="Viola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579</TotalTime>
  <Words>1345</Words>
  <Application>Microsoft Office PowerPoint</Application>
  <PresentationFormat>On-screen Show (16:9)</PresentationFormat>
  <Paragraphs>356</Paragraphs>
  <Slides>42</Slides>
  <Notes>42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Calibri</vt:lpstr>
      <vt:lpstr>Lora</vt:lpstr>
      <vt:lpstr>Quattrocento Sans</vt:lpstr>
      <vt:lpstr>Times New Roman</vt:lpstr>
      <vt:lpstr>Viola template</vt:lpstr>
      <vt:lpstr>RANCANGAN AKTUALISASI NILAI-NILAI DASAR PROFESI PEGAWAI NEGERI SIPIL PADA SEKSI IPDS BPS KOTA BONTANG PROVINSI KALIMANTAN TIMUR</vt:lpstr>
      <vt:lpstr>Hello!</vt:lpstr>
      <vt:lpstr>PowerPoint Presentation</vt:lpstr>
      <vt:lpstr>8-26 Agustus 2016</vt:lpstr>
      <vt:lpstr>Outline</vt:lpstr>
      <vt:lpstr>Pelayanan Konsumen Data</vt:lpstr>
      <vt:lpstr>Pelayanan Konsumen Data</vt:lpstr>
      <vt:lpstr>Pelayanan Konsumen Data</vt:lpstr>
      <vt:lpstr>Pelayanan Konsumen Data</vt:lpstr>
      <vt:lpstr>Pelayanan Konsumen Data</vt:lpstr>
      <vt:lpstr>Mengunggah tabel statis ke Website</vt:lpstr>
      <vt:lpstr>Mengunggah tabel statis ke Website</vt:lpstr>
      <vt:lpstr>Mengunggah tabel statis ke Website</vt:lpstr>
      <vt:lpstr>Mengunggah tabel statis ke Website</vt:lpstr>
      <vt:lpstr>Mengunggah tabel statis ke Website</vt:lpstr>
      <vt:lpstr>Mengunggah tabel dinamis ke Website</vt:lpstr>
      <vt:lpstr>Mengunggah tabel dinamis ke Website</vt:lpstr>
      <vt:lpstr>Mengunggah tabel dinamis ke Website</vt:lpstr>
      <vt:lpstr>Mengunggah tabel dinamis ke Website</vt:lpstr>
      <vt:lpstr>Mengunggah tabel dinamis ke Website</vt:lpstr>
      <vt:lpstr>Merapikan buku-buku perpustakaan</vt:lpstr>
      <vt:lpstr>Merapikan buku-buku perpustakaan</vt:lpstr>
      <vt:lpstr>Merapikan buku-buku perpustakaan</vt:lpstr>
      <vt:lpstr>Merapikan buku-buku perpustakaan</vt:lpstr>
      <vt:lpstr>Melakukan Scanning sketsa peta WB SE </vt:lpstr>
      <vt:lpstr>Melakukan Scanning sketsa peta WB SE</vt:lpstr>
      <vt:lpstr>Melakukan Scanning sketsa peta WB SE</vt:lpstr>
      <vt:lpstr>Melakukan Scanning sketsa peta WB SE</vt:lpstr>
      <vt:lpstr>Mengunggah tabel dinamis ke Website</vt:lpstr>
      <vt:lpstr>Melakukan entri SAKERNAS</vt:lpstr>
      <vt:lpstr>Melakukan entri SAKERNAS</vt:lpstr>
      <vt:lpstr>Melakukan entri SAKERNAS</vt:lpstr>
      <vt:lpstr>Melakukan entri SAKERNAS</vt:lpstr>
      <vt:lpstr>Melakukan entri SAKERNAS</vt:lpstr>
      <vt:lpstr>Membuat infografis </vt:lpstr>
      <vt:lpstr>Melakukan entri SAKERNAS</vt:lpstr>
      <vt:lpstr>Melakukan entri SAKERNAS</vt:lpstr>
      <vt:lpstr>Melakukan entri SAKERNAS</vt:lpstr>
      <vt:lpstr>Melakukan entri SAKERNAS</vt:lpstr>
      <vt:lpstr>Thanks!</vt:lpstr>
      <vt:lpstr>100%</vt:lpstr>
      <vt:lpstr>Thanks!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RANCANGAN AKTUALISASI NILAI-NILAI DASAR PROFESI PEGAWAI NEGERI SIPIL PADA SEKSI IPDS BPS KOTA BONTANG</dc:title>
  <dc:creator>haidir magribi</dc:creator>
  <cp:lastModifiedBy>haidir magribi</cp:lastModifiedBy>
  <cp:revision>116</cp:revision>
  <dcterms:modified xsi:type="dcterms:W3CDTF">2016-08-03T23:30:44Z</dcterms:modified>
</cp:coreProperties>
</file>