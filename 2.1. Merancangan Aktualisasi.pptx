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67" r:id="rId3"/>
    <p:sldId id="257" r:id="rId4"/>
    <p:sldId id="268" r:id="rId5"/>
    <p:sldId id="269" r:id="rId6"/>
    <p:sldId id="270" r:id="rId7"/>
    <p:sldId id="256" r:id="rId8"/>
    <p:sldId id="258" r:id="rId9"/>
    <p:sldId id="261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DF028-061F-4A48-9DF0-3EB90D0E4A7A}" type="datetimeFigureOut">
              <a:rPr lang="en-AU" smtClean="0"/>
              <a:t>19/07/2016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7CAF7-FE07-4A20-851E-294C09760F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4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7862A-7CE2-4952-90A3-CA961AE4841D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5733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4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8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05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6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3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8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2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id-ID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0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4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9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C3BF0-90D4-4015-8DC2-261EDD5BC2F6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9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0141E-0B77-4B81-8CEC-62C2A22E34A2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10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27D3E-B623-4E3C-8F29-3E2E0B6F035A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57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4DF5A-A734-4AC5-BA43-8F39A4D98A4A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53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B3837-8E86-4EC6-AD9C-3E031945F32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92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2054F4-F488-431A-B3F2-8480B97C22F4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74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EADD2-D86F-40A9-8C4B-405B5EEB6DD7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24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18C4E-DBB7-4FB2-BB89-9ECE533A23E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55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d-ID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C6FDF-550A-44EE-AE2C-0AEE990AD1F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95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197E82-62CF-4824-B875-02F0D4A5E5E4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08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91155-E467-4742-8128-EB90F0DECDF2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26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fld id="{9796EC37-1A1E-4E59-BE17-1DDD2B7D82CE}" type="datetimeFigureOut">
              <a:rPr lang="en-US" smtClean="0"/>
              <a:t>7/19/2016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fld id="{7B46E8E0-A45C-4632-A468-61205952A4D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F77166A-6FA9-497B-8DDC-0C8EA2CAEA3A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23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Renstra%20BPS%202015-2019.pdf" TargetMode="External"/><Relationship Id="rId2" Type="http://schemas.openxmlformats.org/officeDocument/2006/relationships/hyperlink" Target="Kepka%20BPS%20No%203%20Tahun%202003%20-%20Uraian%20Tugas%20-%20Daerah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://mediacenter.batamkota.go.id/wp-content/uploads/2014/07/Logo-BPS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00" b="72833" l="9667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401"/>
          <a:stretch/>
        </p:blipFill>
        <p:spPr bwMode="auto">
          <a:xfrm>
            <a:off x="3660962" y="990600"/>
            <a:ext cx="1542573" cy="14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255849" y="4191000"/>
            <a:ext cx="6855275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600" b="1" spc="50" dirty="0" smtClean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Calibri"/>
                <a:cs typeface="Bookman Old Style"/>
              </a:rPr>
              <a:t>MERANCANG  AKTUALISASI </a:t>
            </a:r>
            <a:endParaRPr lang="en-US" sz="3600" b="1" spc="50" dirty="0">
              <a:ln w="11430"/>
              <a:solidFill>
                <a:srgbClr val="FFFF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99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868761"/>
              </p:ext>
            </p:extLst>
          </p:nvPr>
        </p:nvGraphicFramePr>
        <p:xfrm>
          <a:off x="197708" y="228600"/>
          <a:ext cx="8946292" cy="6260878"/>
        </p:xfrm>
        <a:graphic>
          <a:graphicData uri="http://schemas.openxmlformats.org/drawingml/2006/table">
            <a:tbl>
              <a:tblPr firstRow="1" bandRow="1"/>
              <a:tblGrid>
                <a:gridCol w="2833207"/>
                <a:gridCol w="6113085"/>
              </a:tblGrid>
              <a:tr h="5729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Mata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</a:rPr>
                        <a:t>Diklat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id-ID" sz="2400" dirty="0" smtClean="0">
                          <a:solidFill>
                            <a:schemeClr val="bg1"/>
                          </a:solidFill>
                        </a:rPr>
                        <a:t>Indikator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</a:rPr>
                        <a:t>Nilai-Nilai</a:t>
                      </a:r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1"/>
                          </a:solidFill>
                        </a:rPr>
                        <a:t>Dasar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0252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kumimoji="0" lang="en-US" sz="2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A </a:t>
                      </a:r>
                      <a:r>
                        <a:rPr kumimoji="0" lang="en-US" sz="2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KUNTABILITAS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641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id-ID" sz="1800" b="1" dirty="0" smtClean="0">
                          <a:latin typeface="+mj-lt"/>
                        </a:rPr>
                        <a:t>Kejelasan</a:t>
                      </a:r>
                      <a:r>
                        <a:rPr lang="en-US" sz="1800" dirty="0" smtClean="0">
                          <a:latin typeface="+mj-lt"/>
                        </a:rPr>
                        <a:t>, </a:t>
                      </a:r>
                      <a:r>
                        <a:rPr lang="id-ID" sz="1800" dirty="0" smtClean="0">
                          <a:latin typeface="+mj-lt"/>
                        </a:rPr>
                        <a:t>tanggung jawab</a:t>
                      </a:r>
                      <a:r>
                        <a:rPr lang="en-US" sz="1800" dirty="0" smtClean="0">
                          <a:latin typeface="+mj-lt"/>
                        </a:rPr>
                        <a:t>,  </a:t>
                      </a:r>
                      <a:r>
                        <a:rPr lang="en-US" sz="1800" dirty="0" err="1" smtClean="0">
                          <a:latin typeface="+mj-lt"/>
                        </a:rPr>
                        <a:t>menghindari</a:t>
                      </a:r>
                      <a:r>
                        <a:rPr lang="en-US" sz="1800" baseline="0" dirty="0" smtClean="0">
                          <a:latin typeface="+mj-lt"/>
                        </a:rPr>
                        <a:t>  </a:t>
                      </a:r>
                      <a:r>
                        <a:rPr lang="en-US" sz="1800" baseline="0" dirty="0" err="1" smtClean="0">
                          <a:latin typeface="+mj-lt"/>
                        </a:rPr>
                        <a:t>kecurangan</a:t>
                      </a:r>
                      <a:r>
                        <a:rPr lang="en-US" sz="1800" baseline="0" dirty="0" smtClean="0">
                          <a:latin typeface="+mj-lt"/>
                        </a:rPr>
                        <a:t> </a:t>
                      </a:r>
                      <a:r>
                        <a:rPr lang="en-US" sz="1800" baseline="0" dirty="0" err="1" smtClean="0">
                          <a:latin typeface="+mj-lt"/>
                        </a:rPr>
                        <a:t>dan</a:t>
                      </a:r>
                      <a:r>
                        <a:rPr lang="en-US" sz="1800" baseline="0" dirty="0" smtClean="0">
                          <a:latin typeface="+mj-lt"/>
                        </a:rPr>
                        <a:t> </a:t>
                      </a:r>
                      <a:r>
                        <a:rPr lang="en-US" sz="1800" baseline="0" dirty="0" err="1" smtClean="0">
                          <a:latin typeface="+mj-lt"/>
                        </a:rPr>
                        <a:t>koruptif</a:t>
                      </a:r>
                      <a:r>
                        <a:rPr lang="en-US" sz="1800" baseline="0" dirty="0" smtClean="0">
                          <a:latin typeface="+mj-lt"/>
                        </a:rPr>
                        <a:t>, </a:t>
                      </a:r>
                      <a:r>
                        <a:rPr lang="en-US" sz="1800" baseline="0" dirty="0" err="1" smtClean="0">
                          <a:latin typeface="+mj-lt"/>
                        </a:rPr>
                        <a:t>penggunaan</a:t>
                      </a:r>
                      <a:r>
                        <a:rPr lang="en-US" sz="1800" baseline="0" dirty="0" smtClean="0">
                          <a:latin typeface="+mj-lt"/>
                        </a:rPr>
                        <a:t> </a:t>
                      </a:r>
                      <a:r>
                        <a:rPr lang="en-US" sz="1800" baseline="0" dirty="0" err="1" smtClean="0">
                          <a:latin typeface="+mj-lt"/>
                        </a:rPr>
                        <a:t>sumber</a:t>
                      </a:r>
                      <a:r>
                        <a:rPr lang="en-US" sz="1800" baseline="0" dirty="0" smtClean="0">
                          <a:latin typeface="+mj-lt"/>
                        </a:rPr>
                        <a:t> </a:t>
                      </a:r>
                      <a:r>
                        <a:rPr lang="en-US" sz="1800" baseline="0" dirty="0" err="1" smtClean="0">
                          <a:latin typeface="+mj-lt"/>
                        </a:rPr>
                        <a:t>daya</a:t>
                      </a:r>
                      <a:r>
                        <a:rPr lang="en-US" sz="1800" baseline="0" dirty="0" smtClean="0">
                          <a:latin typeface="+mj-lt"/>
                        </a:rPr>
                        <a:t> yang </a:t>
                      </a:r>
                      <a:r>
                        <a:rPr lang="en-US" sz="1800" baseline="0" dirty="0" err="1" smtClean="0">
                          <a:latin typeface="+mj-lt"/>
                        </a:rPr>
                        <a:t>efektif</a:t>
                      </a:r>
                      <a:r>
                        <a:rPr lang="en-US" sz="1800" baseline="0" smtClean="0">
                          <a:latin typeface="+mj-lt"/>
                        </a:rPr>
                        <a:t>, </a:t>
                      </a:r>
                      <a:r>
                        <a:rPr lang="id-ID" sz="1800" b="1" baseline="0" smtClean="0">
                          <a:latin typeface="+mj-lt"/>
                        </a:rPr>
                        <a:t>laporan</a:t>
                      </a:r>
                      <a:r>
                        <a:rPr lang="en-GB" sz="1800" b="0" baseline="0" smtClean="0">
                          <a:latin typeface="+mj-lt"/>
                        </a:rPr>
                        <a:t>, </a:t>
                      </a:r>
                      <a:r>
                        <a:rPr lang="en-US" sz="1800" b="1" kern="1200" smtClean="0">
                          <a:solidFill>
                            <a:schemeClr val="dk1"/>
                          </a:solidFill>
                          <a:latin typeface="Verdana"/>
                          <a:ea typeface="+mn-ea"/>
                          <a:cs typeface="+mn-cs"/>
                        </a:rPr>
                        <a:t>k</a:t>
                      </a:r>
                      <a:r>
                        <a:rPr lang="id-ID" sz="1800" b="1" kern="1200" smtClean="0">
                          <a:solidFill>
                            <a:schemeClr val="dk1"/>
                          </a:solidFill>
                          <a:latin typeface="Verdana"/>
                          <a:ea typeface="+mn-ea"/>
                          <a:cs typeface="+mn-cs"/>
                        </a:rPr>
                        <a:t>onflik</a:t>
                      </a:r>
                      <a:r>
                        <a:rPr lang="id-ID" sz="1800" b="0" kern="1200" smtClean="0">
                          <a:solidFill>
                            <a:schemeClr val="dk1"/>
                          </a:solidFill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id-ID" sz="1800" b="1" kern="1200" smtClean="0">
                          <a:solidFill>
                            <a:schemeClr val="dk1"/>
                          </a:solidFill>
                          <a:latin typeface="Verdana"/>
                          <a:ea typeface="+mn-ea"/>
                          <a:cs typeface="+mn-cs"/>
                        </a:rPr>
                        <a:t>kepentingan</a:t>
                      </a:r>
                      <a:r>
                        <a:rPr lang="id-ID" sz="1800" b="0" kern="1200" smtClean="0">
                          <a:solidFill>
                            <a:schemeClr val="dk1"/>
                          </a:solidFill>
                          <a:latin typeface="Verdana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1800" baseline="0" smtClean="0">
                          <a:latin typeface="+mj-lt"/>
                        </a:rPr>
                        <a:t>dan </a:t>
                      </a:r>
                      <a:r>
                        <a:rPr lang="en-US" sz="1800" baseline="0" dirty="0" smtClean="0">
                          <a:latin typeface="+mj-lt"/>
                        </a:rPr>
                        <a:t>lain-lain</a:t>
                      </a:r>
                      <a:endParaRPr lang="en-US" sz="1800" dirty="0" smtClean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</a:tr>
              <a:tr h="10526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kumimoji="0" lang="en-US" sz="2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N </a:t>
                      </a:r>
                      <a:r>
                        <a:rPr kumimoji="0" lang="en-US" sz="2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ASIONALISME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641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id-ID" sz="1800" b="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Ikhlas, takwa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id-ID" sz="1800" b="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gotong royong, 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 err="1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disiplin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,</a:t>
                      </a:r>
                      <a:r>
                        <a:rPr lang="id-ID" sz="1800" b="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demokratis</a:t>
                      </a:r>
                      <a:r>
                        <a:rPr lang="id-ID" sz="1800" b="0" kern="1200" baseline="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dll</a:t>
                      </a:r>
                      <a:endParaRPr lang="en-US" sz="1800" b="0" dirty="0" smtClean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20000"/>
                      </a:srgbClr>
                    </a:solidFill>
                  </a:tcPr>
                </a:tc>
              </a:tr>
              <a:tr h="9256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kumimoji="0" lang="en-US" sz="2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E </a:t>
                      </a:r>
                      <a:r>
                        <a:rPr kumimoji="0" lang="en-US" sz="2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TIKA PUBLIK</a:t>
                      </a:r>
                      <a:endParaRPr lang="en-US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641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id-ID" sz="1800" b="0" dirty="0" smtClean="0">
                          <a:latin typeface="+mj-lt"/>
                        </a:rPr>
                        <a:t>Sopan, </a:t>
                      </a:r>
                      <a:r>
                        <a:rPr lang="en-US" sz="1800" b="0" dirty="0" err="1" smtClean="0">
                          <a:latin typeface="+mj-lt"/>
                        </a:rPr>
                        <a:t>profesional</a:t>
                      </a:r>
                      <a:r>
                        <a:rPr lang="en-US" sz="1800" b="0" dirty="0" smtClean="0">
                          <a:latin typeface="+mj-lt"/>
                        </a:rPr>
                        <a:t>, </a:t>
                      </a:r>
                      <a:r>
                        <a:rPr lang="en-US" sz="1800" b="0" dirty="0" err="1" smtClean="0">
                          <a:latin typeface="+mj-lt"/>
                        </a:rPr>
                        <a:t>tidak</a:t>
                      </a:r>
                      <a:r>
                        <a:rPr lang="en-US" sz="1800" b="0" dirty="0" smtClean="0">
                          <a:latin typeface="+mj-lt"/>
                        </a:rPr>
                        <a:t> </a:t>
                      </a:r>
                      <a:r>
                        <a:rPr lang="en-US" sz="1800" b="0" dirty="0" err="1" smtClean="0">
                          <a:latin typeface="+mj-lt"/>
                        </a:rPr>
                        <a:t>berpihak</a:t>
                      </a:r>
                      <a:r>
                        <a:rPr lang="en-US" sz="1800" b="0" dirty="0" smtClean="0">
                          <a:latin typeface="+mj-lt"/>
                        </a:rPr>
                        <a:t> </a:t>
                      </a:r>
                      <a:r>
                        <a:rPr lang="en-US" sz="1800" b="0" dirty="0" err="1" smtClean="0">
                          <a:latin typeface="+mj-lt"/>
                        </a:rPr>
                        <a:t>dll</a:t>
                      </a:r>
                      <a:endParaRPr lang="en-US" sz="1800" b="0" dirty="0" smtClean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</a:tr>
              <a:tr h="1481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kumimoji="0" lang="en-US" sz="2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K </a:t>
                      </a:r>
                      <a:r>
                        <a:rPr kumimoji="0" lang="en-US" sz="2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OMITMEN MUTU</a:t>
                      </a:r>
                      <a:endParaRPr lang="en-US" sz="1400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641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800" b="0" dirty="0" err="1" smtClean="0">
                          <a:latin typeface="+mj-lt"/>
                        </a:rPr>
                        <a:t>Efektifitas</a:t>
                      </a:r>
                      <a:r>
                        <a:rPr lang="en-US" sz="1800" b="0" dirty="0" smtClean="0">
                          <a:latin typeface="+mj-lt"/>
                        </a:rPr>
                        <a:t>, </a:t>
                      </a:r>
                      <a:r>
                        <a:rPr lang="en-US" sz="1800" b="0" dirty="0" err="1" smtClean="0">
                          <a:latin typeface="+mj-lt"/>
                        </a:rPr>
                        <a:t>efisiensi</a:t>
                      </a:r>
                      <a:r>
                        <a:rPr lang="en-US" sz="1800" b="0" dirty="0" smtClean="0">
                          <a:latin typeface="+mj-lt"/>
                        </a:rPr>
                        <a:t>, </a:t>
                      </a:r>
                      <a:r>
                        <a:rPr lang="en-US" sz="1800" b="1" dirty="0" err="1" smtClean="0">
                          <a:latin typeface="+mj-lt"/>
                        </a:rPr>
                        <a:t>inovasi</a:t>
                      </a:r>
                      <a:r>
                        <a:rPr lang="en-US" sz="1800" b="0" dirty="0" smtClean="0">
                          <a:latin typeface="+mj-lt"/>
                        </a:rPr>
                        <a:t>, </a:t>
                      </a:r>
                      <a:r>
                        <a:rPr lang="id-ID" sz="1800" b="1" dirty="0" smtClean="0">
                          <a:latin typeface="+mj-lt"/>
                        </a:rPr>
                        <a:t>kreativitas</a:t>
                      </a:r>
                      <a:r>
                        <a:rPr lang="id-ID" sz="1800" b="0" smtClean="0">
                          <a:latin typeface="+mj-lt"/>
                        </a:rPr>
                        <a:t>,</a:t>
                      </a:r>
                      <a:r>
                        <a:rPr lang="id-ID" sz="1800" b="0" baseline="0" smtClean="0">
                          <a:latin typeface="+mj-lt"/>
                        </a:rPr>
                        <a:t> </a:t>
                      </a:r>
                      <a:r>
                        <a:rPr lang="en-US" sz="1800" b="0" smtClean="0">
                          <a:latin typeface="+mj-lt"/>
                        </a:rPr>
                        <a:t>dll</a:t>
                      </a:r>
                      <a:endParaRPr lang="en-US" sz="1800" b="0" dirty="0" smtClean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20000"/>
                      </a:srgbClr>
                    </a:solidFill>
                  </a:tcPr>
                </a:tc>
              </a:tr>
              <a:tr h="12033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kumimoji="0" lang="en-US" sz="2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A </a:t>
                      </a:r>
                      <a:r>
                        <a:rPr kumimoji="0" lang="en-US" sz="2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rial"/>
                          <a:ea typeface="+mj-ea"/>
                          <a:cs typeface="+mj-cs"/>
                        </a:rPr>
                        <a:t>NTI  KORUPSI</a:t>
                      </a:r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641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id-ID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Tanggung jawab, </a:t>
                      </a:r>
                      <a:r>
                        <a:rPr lang="id-ID" sz="1800" b="0" dirty="0" smtClean="0">
                          <a:latin typeface="+mj-lt"/>
                        </a:rPr>
                        <a:t>peduli, mandiri, Jujur (tidak melakukan korupsi ), </a:t>
                      </a:r>
                      <a:r>
                        <a:rPr lang="id-ID" sz="1800" b="1" dirty="0" smtClean="0">
                          <a:latin typeface="+mj-lt"/>
                        </a:rPr>
                        <a:t>berani</a:t>
                      </a:r>
                      <a:r>
                        <a:rPr lang="id-ID" sz="1800" b="0" dirty="0" smtClean="0">
                          <a:latin typeface="+mj-lt"/>
                        </a:rPr>
                        <a:t> dll</a:t>
                      </a:r>
                      <a:endParaRPr lang="en-US" sz="1800" b="0" dirty="0" smtClean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11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308638"/>
              </p:ext>
            </p:extLst>
          </p:nvPr>
        </p:nvGraphicFramePr>
        <p:xfrm>
          <a:off x="323528" y="1196752"/>
          <a:ext cx="8568953" cy="55932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324"/>
                <a:gridCol w="5443336"/>
                <a:gridCol w="582741"/>
                <a:gridCol w="556255"/>
                <a:gridCol w="529765"/>
                <a:gridCol w="503277"/>
                <a:gridCol w="556255"/>
              </a:tblGrid>
              <a:tr h="33317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 dirty="0" err="1">
                          <a:effectLst/>
                        </a:rPr>
                        <a:t>Indikator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Pola</a:t>
                      </a:r>
                      <a:r>
                        <a:rPr lang="en-AU" sz="1600" u="none" strike="noStrike" dirty="0">
                          <a:effectLst/>
                        </a:rPr>
                        <a:t> ANEKA 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70886">
                <a:tc>
                  <a:txBody>
                    <a:bodyPr/>
                    <a:lstStyle/>
                    <a:p>
                      <a:pPr algn="ctr" fontAlgn="ctr"/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</a:tr>
              <a:tr h="28198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No</a:t>
                      </a:r>
                      <a:endParaRPr lang="en-AU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Indikator</a:t>
                      </a:r>
                      <a:endParaRPr lang="en-AU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Mata </a:t>
                      </a:r>
                      <a:r>
                        <a:rPr lang="en-AU" sz="1600" u="none" strike="noStrike" dirty="0" err="1">
                          <a:effectLst/>
                        </a:rPr>
                        <a:t>Diklat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81988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A</a:t>
                      </a:r>
                      <a:endParaRPr lang="en-AU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>
                          <a:effectLst/>
                        </a:rPr>
                        <a:t>N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E</a:t>
                      </a:r>
                      <a:endParaRPr lang="en-AU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K</a:t>
                      </a:r>
                      <a:endParaRPr lang="en-AU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A</a:t>
                      </a:r>
                      <a:endParaRPr lang="en-AU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Kejujuran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Transparansi dan Akses Informasi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3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Menghindari Kecurangan dan Perilaku Korup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4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Penggunaan Sumber Daya yang Teliti, Efektif, dan Efisien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5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Kejelasan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6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Integritas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dan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mematuhi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peraturan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7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Konsisten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8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Menjaga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Rahasia</a:t>
                      </a:r>
                      <a:r>
                        <a:rPr lang="en-AU" sz="1600" u="none" strike="noStrike" dirty="0">
                          <a:effectLst/>
                        </a:rPr>
                        <a:t> Negara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9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Kepercayaan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10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Keseimbangan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11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Netralitas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12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Penyimpanan dan Penggunaan Data &amp; Informasi Pemerintah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13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Mengatasi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Konflik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Kepentingan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14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Kepemimpinan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/>
                </a:tc>
              </a:tr>
              <a:tr h="28198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15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Adil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397" marR="8397" marT="8397" marB="0" anchor="b"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197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002873"/>
              </p:ext>
            </p:extLst>
          </p:nvPr>
        </p:nvGraphicFramePr>
        <p:xfrm>
          <a:off x="251520" y="404665"/>
          <a:ext cx="8640959" cy="1370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664"/>
                <a:gridCol w="5489079"/>
                <a:gridCol w="587638"/>
                <a:gridCol w="560928"/>
                <a:gridCol w="534217"/>
                <a:gridCol w="507505"/>
                <a:gridCol w="560928"/>
              </a:tblGrid>
              <a:tr h="507747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AU" sz="2000" u="none" strike="noStrike" dirty="0" err="1">
                          <a:effectLst/>
                        </a:rPr>
                        <a:t>Indikator</a:t>
                      </a:r>
                      <a:r>
                        <a:rPr lang="en-AU" sz="2000" u="none" strike="noStrike" dirty="0">
                          <a:effectLst/>
                        </a:rPr>
                        <a:t> </a:t>
                      </a:r>
                      <a:r>
                        <a:rPr lang="en-AU" sz="2000" u="none" strike="noStrike" dirty="0" err="1">
                          <a:effectLst/>
                        </a:rPr>
                        <a:t>Pola</a:t>
                      </a:r>
                      <a:r>
                        <a:rPr lang="en-AU" sz="2000" u="none" strike="noStrike" dirty="0">
                          <a:effectLst/>
                        </a:rPr>
                        <a:t> ANEKA </a:t>
                      </a:r>
                      <a:endParaRPr lang="en-A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14591"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949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 dirty="0">
                          <a:effectLst/>
                        </a:rPr>
                        <a:t>No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 dirty="0" err="1">
                          <a:effectLst/>
                        </a:rPr>
                        <a:t>Indikator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Mata </a:t>
                      </a:r>
                      <a:r>
                        <a:rPr lang="en-AU" sz="1600" u="none" strike="noStrike" dirty="0" err="1">
                          <a:effectLst/>
                        </a:rPr>
                        <a:t>Diklat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50899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A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N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E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K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A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004119"/>
              </p:ext>
            </p:extLst>
          </p:nvPr>
        </p:nvGraphicFramePr>
        <p:xfrm>
          <a:off x="251521" y="1772813"/>
          <a:ext cx="8640958" cy="4680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7885"/>
                <a:gridCol w="5466550"/>
                <a:gridCol w="585226"/>
                <a:gridCol w="567491"/>
                <a:gridCol w="532025"/>
                <a:gridCol w="514290"/>
                <a:gridCol w="567491"/>
              </a:tblGrid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 dirty="0">
                          <a:effectLst/>
                        </a:rPr>
                        <a:t>16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Takwa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17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Ikhlas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18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Gotong royong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19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Disiplin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20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Demokrasi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21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Cinta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tanah</a:t>
                      </a:r>
                      <a:r>
                        <a:rPr lang="en-AU" sz="1600" u="none" strike="noStrike" dirty="0">
                          <a:effectLst/>
                        </a:rPr>
                        <a:t> air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22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Rela berkorban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23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Membangun Public Trust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24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Menghargai Orang Lain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25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Pengabdian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26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Orientasi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pada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keunggulan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27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Amanah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28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Tidak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diskriminatif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29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Keahlian Profesional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1203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30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Tidak berpihak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267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499911"/>
              </p:ext>
            </p:extLst>
          </p:nvPr>
        </p:nvGraphicFramePr>
        <p:xfrm>
          <a:off x="251521" y="836712"/>
          <a:ext cx="8640958" cy="1047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663"/>
                <a:gridCol w="5489079"/>
                <a:gridCol w="587638"/>
                <a:gridCol w="560928"/>
                <a:gridCol w="534217"/>
                <a:gridCol w="507505"/>
                <a:gridCol w="560928"/>
              </a:tblGrid>
              <a:tr h="257175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AU" sz="1800" u="none" strike="noStrike" dirty="0" err="1">
                          <a:effectLst/>
                        </a:rPr>
                        <a:t>Indikator</a:t>
                      </a:r>
                      <a:r>
                        <a:rPr lang="en-AU" sz="1800" u="none" strike="noStrike" dirty="0">
                          <a:effectLst/>
                        </a:rPr>
                        <a:t> </a:t>
                      </a:r>
                      <a:r>
                        <a:rPr lang="en-AU" sz="1800" u="none" strike="noStrike" dirty="0" err="1">
                          <a:effectLst/>
                        </a:rPr>
                        <a:t>Pola</a:t>
                      </a:r>
                      <a:r>
                        <a:rPr lang="en-AU" sz="1800" u="none" strike="noStrike" dirty="0">
                          <a:effectLst/>
                        </a:rPr>
                        <a:t> ANEKA </a:t>
                      </a:r>
                      <a:endParaRPr lang="en-A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2000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 dirty="0">
                          <a:effectLst/>
                        </a:rPr>
                        <a:t>No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 dirty="0" err="1">
                          <a:effectLst/>
                        </a:rPr>
                        <a:t>Indikator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Mata </a:t>
                      </a:r>
                      <a:r>
                        <a:rPr lang="en-AU" sz="1600" u="none" strike="noStrike" dirty="0" err="1">
                          <a:effectLst/>
                        </a:rPr>
                        <a:t>Diklat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00025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A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N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E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K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A</a:t>
                      </a:r>
                      <a:endParaRPr lang="en-AU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298834"/>
              </p:ext>
            </p:extLst>
          </p:nvPr>
        </p:nvGraphicFramePr>
        <p:xfrm>
          <a:off x="251519" y="1916833"/>
          <a:ext cx="8640960" cy="42484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49"/>
                <a:gridCol w="5465440"/>
                <a:gridCol w="580350"/>
                <a:gridCol w="562763"/>
                <a:gridCol w="527591"/>
                <a:gridCol w="510004"/>
                <a:gridCol w="562763"/>
              </a:tblGrid>
              <a:tr h="351325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 dirty="0">
                          <a:effectLst/>
                        </a:rPr>
                        <a:t>31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Menyelesaikan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tugas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dengan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baik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32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Memahami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administrasi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dengan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baik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33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Memegang nilai-nilai Pancasila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34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Setia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 dirty="0">
                          <a:effectLst/>
                        </a:rPr>
                        <a:t>35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Efektivitas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36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Efisiensi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37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Inovasi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38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Menjaga Mutu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√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39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Peduli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40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Mandiri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41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Tanggung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jawab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C000"/>
                    </a:solidFill>
                  </a:tcPr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42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 dirty="0" err="1">
                          <a:effectLst/>
                        </a:rPr>
                        <a:t>Kerja</a:t>
                      </a:r>
                      <a:r>
                        <a:rPr lang="en-AU" sz="1600" u="none" strike="noStrike" dirty="0">
                          <a:effectLst/>
                        </a:rPr>
                        <a:t> </a:t>
                      </a:r>
                      <a:r>
                        <a:rPr lang="en-AU" sz="1600" u="none" strike="noStrike" dirty="0" err="1">
                          <a:effectLst/>
                        </a:rPr>
                        <a:t>keras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 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43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Sederhana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79318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600" u="none" strike="noStrike">
                          <a:effectLst/>
                        </a:rPr>
                        <a:t>44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600" u="none" strike="noStrike">
                          <a:effectLst/>
                        </a:rPr>
                        <a:t>Berani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>
                          <a:effectLst/>
                        </a:rPr>
                        <a:t> </a:t>
                      </a:r>
                      <a:endParaRPr lang="en-AU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600" u="none" strike="noStrike" dirty="0">
                          <a:effectLst/>
                        </a:rPr>
                        <a:t>√</a:t>
                      </a:r>
                      <a:endParaRPr lang="en-A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6017">
                <a:tc>
                  <a:txBody>
                    <a:bodyPr/>
                    <a:lstStyle/>
                    <a:p>
                      <a:pPr algn="ctr" fontAlgn="ctr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u="none" strike="noStrike">
                          <a:effectLst/>
                        </a:rPr>
                        <a:t> 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179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2400" y="1101435"/>
            <a:ext cx="88392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463" indent="-398463" algn="l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800" dirty="0" err="1" smtClean="0">
                <a:solidFill>
                  <a:schemeClr val="tx1"/>
                </a:solidFill>
              </a:rPr>
              <a:t>Aktualisasi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nilai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dasar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diawali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dgn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penyusunan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rancangan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aktualisasi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nilai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dasar</a:t>
            </a:r>
            <a:r>
              <a:rPr lang="en-US" sz="1800" dirty="0" smtClean="0">
                <a:solidFill>
                  <a:schemeClr val="tx1"/>
                </a:solidFill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</a:rPr>
              <a:t>hasilnya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sebuah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dokumen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yg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disebut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dgn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Rancangan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Aktualisasi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Nilai</a:t>
            </a:r>
            <a:r>
              <a:rPr lang="id-ID" sz="1800" dirty="0" smtClean="0">
                <a:solidFill>
                  <a:srgbClr val="0070C0"/>
                </a:solidFill>
              </a:rPr>
              <a:t>-Nilai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Dasar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Profesi</a:t>
            </a:r>
            <a:r>
              <a:rPr lang="en-US" sz="1800" dirty="0" smtClean="0">
                <a:solidFill>
                  <a:srgbClr val="0070C0"/>
                </a:solidFill>
              </a:rPr>
              <a:t> PNS. </a:t>
            </a:r>
          </a:p>
          <a:p>
            <a:pPr marL="398463" indent="-398463" algn="l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800" dirty="0" err="1" smtClean="0">
                <a:solidFill>
                  <a:schemeClr val="tx1"/>
                </a:solidFill>
              </a:rPr>
              <a:t>Dalam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merancang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aktualisasi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nilai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dasar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ini</a:t>
            </a:r>
            <a:r>
              <a:rPr lang="en-US" sz="1800" dirty="0" smtClean="0">
                <a:solidFill>
                  <a:schemeClr val="tx1"/>
                </a:solidFill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</a:rPr>
              <a:t>setiap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peserta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Diklat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Prajab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dituntut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utk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menyusun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rgbClr val="FF0000"/>
                </a:solidFill>
              </a:rPr>
              <a:t>daftar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err="1" smtClean="0">
                <a:solidFill>
                  <a:srgbClr val="FF0000"/>
                </a:solidFill>
              </a:rPr>
              <a:t>rencana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err="1" smtClean="0">
                <a:solidFill>
                  <a:srgbClr val="FF0000"/>
                </a:solidFill>
              </a:rPr>
              <a:t>kegiatan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yg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akan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dilaksanakan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ketika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kembali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ke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tempat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tugas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atau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tempat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magang</a:t>
            </a:r>
            <a:r>
              <a:rPr lang="en-US" sz="1800" dirty="0" smtClean="0">
                <a:solidFill>
                  <a:srgbClr val="0070C0"/>
                </a:solidFill>
              </a:rPr>
              <a:t>. </a:t>
            </a:r>
          </a:p>
          <a:p>
            <a:pPr marL="398463" indent="-398463" algn="l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800" dirty="0" err="1" smtClean="0">
                <a:solidFill>
                  <a:schemeClr val="tx1"/>
                </a:solidFill>
              </a:rPr>
              <a:t>Kegiatan-kegiatan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tsb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dpt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bersumber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dari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Sasaran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Kinerja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Pegawai</a:t>
            </a:r>
            <a:r>
              <a:rPr lang="en-US" sz="1800" dirty="0" smtClean="0">
                <a:solidFill>
                  <a:srgbClr val="0070C0"/>
                </a:solidFill>
              </a:rPr>
              <a:t> (SKP), </a:t>
            </a:r>
            <a:r>
              <a:rPr lang="en-US" sz="1800" dirty="0" err="1" smtClean="0">
                <a:solidFill>
                  <a:srgbClr val="0070C0"/>
                </a:solidFill>
              </a:rPr>
              <a:t>penugasan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khusus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dari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atasan</a:t>
            </a:r>
            <a:r>
              <a:rPr lang="en-US" sz="1800" dirty="0" smtClean="0">
                <a:solidFill>
                  <a:srgbClr val="0070C0"/>
                </a:solidFill>
              </a:rPr>
              <a:t>, </a:t>
            </a:r>
            <a:r>
              <a:rPr lang="en-US" sz="1800" dirty="0" err="1" smtClean="0">
                <a:solidFill>
                  <a:srgbClr val="0070C0"/>
                </a:solidFill>
              </a:rPr>
              <a:t>dan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atau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kegiatan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yg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merupakan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inisiatif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sendiri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yg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mendapat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persetujuan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dari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atasan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langsung</a:t>
            </a:r>
            <a:r>
              <a:rPr lang="en-US" sz="1800" dirty="0" smtClean="0">
                <a:solidFill>
                  <a:srgbClr val="0070C0"/>
                </a:solidFill>
              </a:rPr>
              <a:t>. </a:t>
            </a:r>
          </a:p>
          <a:p>
            <a:pPr marL="398463" indent="-398463" algn="l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800" dirty="0" err="1" smtClean="0">
                <a:solidFill>
                  <a:schemeClr val="tx1"/>
                </a:solidFill>
              </a:rPr>
              <a:t>Setiap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peserta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dituntut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utk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merencanakan</a:t>
            </a:r>
            <a:r>
              <a:rPr lang="en-US" sz="1800" dirty="0" smtClean="0">
                <a:solidFill>
                  <a:schemeClr val="tx1"/>
                </a:solidFill>
              </a:rPr>
              <a:t> minimal </a:t>
            </a:r>
            <a:r>
              <a:rPr lang="id-ID" sz="1800" dirty="0" smtClean="0">
                <a:solidFill>
                  <a:schemeClr val="tx1"/>
                </a:solidFill>
              </a:rPr>
              <a:t>7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kegiatan</a:t>
            </a:r>
            <a:r>
              <a:rPr lang="en-US" sz="1800" dirty="0" smtClean="0">
                <a:solidFill>
                  <a:schemeClr val="tx1"/>
                </a:solidFill>
              </a:rPr>
              <a:t>, dg </a:t>
            </a:r>
            <a:r>
              <a:rPr lang="en-US" sz="1800" dirty="0" err="1" smtClean="0">
                <a:solidFill>
                  <a:schemeClr val="tx1"/>
                </a:solidFill>
              </a:rPr>
              <a:t>pertimbangan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bahwa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kegiatan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tsb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dpt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dilaksanakan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selama</a:t>
            </a:r>
            <a:r>
              <a:rPr lang="en-US" sz="1800" dirty="0" smtClean="0">
                <a:solidFill>
                  <a:schemeClr val="tx1"/>
                </a:solidFill>
              </a:rPr>
              <a:t> masa </a:t>
            </a:r>
            <a:r>
              <a:rPr lang="en-US" sz="1800" dirty="0" err="1" smtClean="0">
                <a:solidFill>
                  <a:schemeClr val="tx1"/>
                </a:solidFill>
              </a:rPr>
              <a:t>aktualisasi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nilai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dasar</a:t>
            </a:r>
            <a:r>
              <a:rPr lang="en-US" sz="1800" dirty="0" smtClean="0">
                <a:solidFill>
                  <a:schemeClr val="tx1"/>
                </a:solidFill>
              </a:rPr>
              <a:t> (15 </a:t>
            </a:r>
            <a:r>
              <a:rPr lang="en-US" sz="1800" dirty="0" err="1" smtClean="0">
                <a:solidFill>
                  <a:schemeClr val="tx1"/>
                </a:solidFill>
              </a:rPr>
              <a:t>hari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kerja</a:t>
            </a:r>
            <a:r>
              <a:rPr lang="en-US" sz="1800" dirty="0" smtClean="0">
                <a:solidFill>
                  <a:schemeClr val="tx1"/>
                </a:solidFill>
              </a:rPr>
              <a:t>) di </a:t>
            </a:r>
            <a:r>
              <a:rPr lang="en-US" sz="1800" dirty="0" err="1" smtClean="0">
                <a:solidFill>
                  <a:schemeClr val="tx1"/>
                </a:solidFill>
              </a:rPr>
              <a:t>tempat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tugas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atau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tempat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magang</a:t>
            </a:r>
            <a:r>
              <a:rPr lang="en-US" sz="1800" dirty="0" smtClean="0">
                <a:solidFill>
                  <a:schemeClr val="tx1"/>
                </a:solidFill>
              </a:rPr>
              <a:t>. </a:t>
            </a:r>
          </a:p>
          <a:p>
            <a:pPr marL="398463" indent="-398463" algn="l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800" dirty="0" err="1" smtClean="0">
                <a:solidFill>
                  <a:schemeClr val="tx1"/>
                </a:solidFill>
              </a:rPr>
              <a:t>Peserta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Diklat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Prajab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dituntut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rgbClr val="FF0000"/>
                </a:solidFill>
              </a:rPr>
              <a:t>mengaktualisasikan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err="1" smtClean="0">
                <a:solidFill>
                  <a:srgbClr val="FF0000"/>
                </a:solidFill>
              </a:rPr>
              <a:t>nilai-nilai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err="1" smtClean="0">
                <a:solidFill>
                  <a:srgbClr val="FF0000"/>
                </a:solidFill>
              </a:rPr>
              <a:t>dasar</a:t>
            </a:r>
            <a:r>
              <a:rPr lang="en-US" sz="1800" dirty="0" smtClean="0">
                <a:solidFill>
                  <a:srgbClr val="FF0000"/>
                </a:solidFill>
              </a:rPr>
              <a:t>. 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398463" indent="-398463" algn="l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800" dirty="0" smtClean="0">
                <a:solidFill>
                  <a:prstClr val="black"/>
                </a:solidFill>
              </a:rPr>
              <a:t>Proses </a:t>
            </a:r>
            <a:r>
              <a:rPr lang="en-US" sz="1800" dirty="0" err="1" smtClean="0">
                <a:solidFill>
                  <a:prstClr val="black"/>
                </a:solidFill>
              </a:rPr>
              <a:t>internalisasi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nilai-nilai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dasar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selama</a:t>
            </a:r>
            <a:r>
              <a:rPr lang="en-US" sz="1800" dirty="0" smtClean="0">
                <a:solidFill>
                  <a:prstClr val="black"/>
                </a:solidFill>
              </a:rPr>
              <a:t> masa </a:t>
            </a:r>
            <a:r>
              <a:rPr lang="en-US" sz="1800" dirty="0" err="1" smtClean="0">
                <a:solidFill>
                  <a:prstClr val="black"/>
                </a:solidFill>
              </a:rPr>
              <a:t>pembelajaran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sangat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membantu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peserta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Diklat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dlm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mengaitkan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nilai-nilai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dasar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tsb</a:t>
            </a:r>
            <a:r>
              <a:rPr lang="en-US" sz="1800" dirty="0" smtClean="0">
                <a:solidFill>
                  <a:prstClr val="black"/>
                </a:solidFill>
              </a:rPr>
              <a:t> dg </a:t>
            </a:r>
            <a:r>
              <a:rPr lang="en-US" sz="1800" dirty="0" err="1" smtClean="0">
                <a:solidFill>
                  <a:prstClr val="black"/>
                </a:solidFill>
              </a:rPr>
              <a:t>pelaksanaan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</a:rPr>
              <a:t>kegiatan</a:t>
            </a:r>
            <a:r>
              <a:rPr lang="en-US" sz="1800" dirty="0" smtClean="0">
                <a:solidFill>
                  <a:prstClr val="black"/>
                </a:solidFill>
              </a:rPr>
              <a:t>.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342900" indent="-342900" algn="l">
              <a:buFont typeface="Wingdings" pitchFamily="2" charset="2"/>
              <a:buChar char="§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8266" y="152400"/>
            <a:ext cx="5727465" cy="6463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600" b="1" spc="50" dirty="0" smtClean="0">
                <a:ln w="11430"/>
                <a:solidFill>
                  <a:srgbClr val="FFFF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Calibri"/>
                <a:cs typeface="Bookman Old Style"/>
              </a:rPr>
              <a:t>MERANCANG  AKTUALISASI </a:t>
            </a:r>
            <a:endParaRPr lang="en-US" sz="3600" b="1" spc="50" dirty="0">
              <a:ln w="11430"/>
              <a:solidFill>
                <a:srgbClr val="FFFF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320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137148"/>
              </p:ext>
            </p:extLst>
          </p:nvPr>
        </p:nvGraphicFramePr>
        <p:xfrm>
          <a:off x="304800" y="1295400"/>
          <a:ext cx="8382000" cy="30022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09600"/>
                <a:gridCol w="1752600"/>
                <a:gridCol w="1295400"/>
                <a:gridCol w="1219200"/>
                <a:gridCol w="1143000"/>
                <a:gridCol w="1224421"/>
                <a:gridCol w="1137779"/>
              </a:tblGrid>
              <a:tr h="5692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80565" algn="l"/>
                          <a:tab pos="2971800" algn="ctr"/>
                          <a:tab pos="5943600" algn="r"/>
                        </a:tabLst>
                        <a:defRPr/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NO.</a:t>
                      </a:r>
                      <a:endParaRPr lang="en-US" sz="1400" dirty="0" smtClean="0">
                        <a:effectLst/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err="1" smtClean="0">
                          <a:latin typeface="+mj-lt"/>
                        </a:rPr>
                        <a:t>Kegiatan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err="1" smtClean="0">
                          <a:effectLst/>
                          <a:latin typeface="+mj-lt"/>
                        </a:rPr>
                        <a:t>Tahapan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  <a:latin typeface="+mj-lt"/>
                        </a:rPr>
                        <a:t>Kegiatan</a:t>
                      </a:r>
                      <a:endParaRPr lang="en-US" sz="1400" dirty="0">
                        <a:effectLst/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smtClean="0">
                          <a:effectLst/>
                          <a:latin typeface="+mj-lt"/>
                        </a:rPr>
                        <a:t>Output /</a:t>
                      </a:r>
                      <a:r>
                        <a:rPr lang="en-US" sz="1400" dirty="0" err="1" smtClean="0">
                          <a:effectLst/>
                          <a:latin typeface="+mj-lt"/>
                        </a:rPr>
                        <a:t>Hasil</a:t>
                      </a:r>
                      <a:r>
                        <a:rPr lang="en-US" sz="1400" baseline="0" dirty="0" smtClean="0">
                          <a:effectLst/>
                          <a:latin typeface="+mj-lt"/>
                        </a:rPr>
                        <a:t> </a:t>
                      </a:r>
                      <a:r>
                        <a:rPr lang="en-US" sz="1400" baseline="0" dirty="0" err="1" smtClean="0">
                          <a:effectLst/>
                          <a:latin typeface="+mj-lt"/>
                        </a:rPr>
                        <a:t>Kegiatan</a:t>
                      </a:r>
                      <a:endParaRPr lang="en-US" sz="1400" dirty="0">
                        <a:effectLst/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err="1" smtClean="0">
                          <a:effectLst/>
                          <a:latin typeface="+mj-lt"/>
                        </a:rPr>
                        <a:t>Indikator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  <a:latin typeface="+mj-lt"/>
                        </a:rPr>
                        <a:t>Nilai-Nilai</a:t>
                      </a:r>
                      <a:r>
                        <a:rPr lang="en-US" sz="1400" dirty="0" smtClean="0">
                          <a:effectLst/>
                          <a:latin typeface="+mj-lt"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  <a:latin typeface="+mj-lt"/>
                        </a:rPr>
                        <a:t>Dasar</a:t>
                      </a:r>
                      <a:endParaRPr lang="en-US" sz="1400" dirty="0">
                        <a:effectLst/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Kontribusi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Terhadap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VISI </a:t>
                      </a:r>
                      <a:r>
                        <a:rPr lang="en-US" sz="14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MISI </a:t>
                      </a:r>
                      <a:r>
                        <a:rPr lang="en-US" sz="14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err="1" smtClean="0"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Penguatan</a:t>
                      </a:r>
                      <a:r>
                        <a:rPr lang="en-US" sz="1400" dirty="0" smtClean="0"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Nilai</a:t>
                      </a:r>
                      <a:r>
                        <a:rPr lang="en-US" sz="1400" dirty="0" smtClean="0"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Nilai</a:t>
                      </a:r>
                      <a:r>
                        <a:rPr lang="en-US" sz="1400" dirty="0" smtClean="0"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  <a:latin typeface="+mj-lt"/>
                          <a:ea typeface="Times New Roman"/>
                          <a:cs typeface="Times New Roman"/>
                        </a:rPr>
                        <a:t>Organisasi</a:t>
                      </a:r>
                      <a:endParaRPr lang="en-US" sz="1400" dirty="0">
                        <a:effectLst/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93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  <a:endParaRPr lang="en-US" sz="16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smtClean="0">
                          <a:effectLst/>
                        </a:rPr>
                        <a:t>(2)</a:t>
                      </a:r>
                      <a:endParaRPr lang="en-US" sz="16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smtClean="0">
                          <a:effectLst/>
                        </a:rPr>
                        <a:t>(3)</a:t>
                      </a:r>
                      <a:endParaRPr lang="en-US" sz="16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smtClean="0">
                          <a:effectLst/>
                        </a:rPr>
                        <a:t>(4)</a:t>
                      </a:r>
                      <a:endParaRPr lang="en-US" sz="16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smtClean="0">
                          <a:effectLst/>
                        </a:rPr>
                        <a:t>(5)</a:t>
                      </a:r>
                      <a:endParaRPr lang="en-US" sz="16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smtClean="0">
                          <a:effectLst/>
                        </a:rPr>
                        <a:t>(6)</a:t>
                      </a:r>
                      <a:endParaRPr lang="en-US" sz="16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400" dirty="0" smtClean="0">
                          <a:effectLst/>
                        </a:rPr>
                        <a:t>(7)</a:t>
                      </a:r>
                      <a:endParaRPr lang="en-US" sz="16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81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048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048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048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80565" algn="l"/>
                          <a:tab pos="2971800" algn="ctr"/>
                          <a:tab pos="5943600" algn="r"/>
                        </a:tabLst>
                      </a:pPr>
                      <a:endParaRPr lang="en-US" sz="1800" dirty="0">
                        <a:effectLst/>
                        <a:latin typeface="VAG Rounded 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72539" y="210329"/>
            <a:ext cx="53012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rgbClr val="FFC000"/>
                </a:solidFill>
              </a:rPr>
              <a:t>Formulir</a:t>
            </a:r>
            <a:r>
              <a:rPr lang="id-ID" sz="2400" b="1" dirty="0" smtClean="0">
                <a:solidFill>
                  <a:srgbClr val="FFC000"/>
                </a:solidFill>
              </a:rPr>
              <a:t> 1</a:t>
            </a:r>
            <a:r>
              <a:rPr lang="en-US" sz="2400" b="1" dirty="0" smtClean="0">
                <a:solidFill>
                  <a:srgbClr val="FFC000"/>
                </a:solidFill>
              </a:rPr>
              <a:t>  </a:t>
            </a:r>
            <a:r>
              <a:rPr lang="en-US" sz="2400" b="1" dirty="0" err="1" smtClean="0">
                <a:solidFill>
                  <a:srgbClr val="FFC000"/>
                </a:solidFill>
              </a:rPr>
              <a:t>Rancangan</a:t>
            </a:r>
            <a:r>
              <a:rPr lang="en-US" sz="2400" b="1" dirty="0" smtClean="0">
                <a:solidFill>
                  <a:srgbClr val="FFC000"/>
                </a:solidFill>
              </a:rPr>
              <a:t> </a:t>
            </a:r>
            <a:r>
              <a:rPr lang="en-US" sz="2400" b="1" dirty="0" err="1" smtClean="0">
                <a:solidFill>
                  <a:srgbClr val="FFC000"/>
                </a:solidFill>
              </a:rPr>
              <a:t>Aktualisasi</a:t>
            </a:r>
            <a:r>
              <a:rPr lang="en-US" sz="2400" b="1" dirty="0" smtClean="0">
                <a:solidFill>
                  <a:srgbClr val="FFC000"/>
                </a:solidFill>
              </a:rPr>
              <a:t> </a:t>
            </a:r>
          </a:p>
          <a:p>
            <a:pPr algn="ctr"/>
            <a:r>
              <a:rPr lang="en-US" sz="2400" b="1" dirty="0" err="1" smtClean="0">
                <a:solidFill>
                  <a:srgbClr val="FFC000"/>
                </a:solidFill>
              </a:rPr>
              <a:t>Profesi</a:t>
            </a:r>
            <a:r>
              <a:rPr lang="en-US" sz="2400" b="1" dirty="0" smtClean="0">
                <a:solidFill>
                  <a:srgbClr val="FFC000"/>
                </a:solidFill>
              </a:rPr>
              <a:t> </a:t>
            </a:r>
            <a:r>
              <a:rPr lang="en-US" sz="2400" b="1" dirty="0" err="1" smtClean="0">
                <a:solidFill>
                  <a:srgbClr val="FFC000"/>
                </a:solidFill>
              </a:rPr>
              <a:t>Nilai-Nilai</a:t>
            </a:r>
            <a:r>
              <a:rPr lang="en-US" sz="2400" b="1" dirty="0" smtClean="0">
                <a:solidFill>
                  <a:srgbClr val="FFC000"/>
                </a:solidFill>
              </a:rPr>
              <a:t> </a:t>
            </a:r>
            <a:r>
              <a:rPr lang="en-US" sz="2400" b="1" dirty="0" err="1" smtClean="0">
                <a:solidFill>
                  <a:srgbClr val="FFC000"/>
                </a:solidFill>
              </a:rPr>
              <a:t>Dasar</a:t>
            </a:r>
            <a:r>
              <a:rPr lang="en-US" sz="2400" b="1" dirty="0" smtClean="0">
                <a:solidFill>
                  <a:srgbClr val="FFC000"/>
                </a:solidFill>
              </a:rPr>
              <a:t> PNS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hlinkClick r:id="rId2" action="ppaction://hlinkfile"/>
          </p:cNvPr>
          <p:cNvSpPr txBox="1"/>
          <p:nvPr/>
        </p:nvSpPr>
        <p:spPr>
          <a:xfrm>
            <a:off x="3303782" y="5163740"/>
            <a:ext cx="2514600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FF00"/>
                </a:solidFill>
              </a:rPr>
              <a:t>URAIAN </a:t>
            </a:r>
          </a:p>
          <a:p>
            <a:pPr algn="ctr"/>
            <a:r>
              <a:rPr lang="en-US" sz="2400" dirty="0" smtClean="0">
                <a:solidFill>
                  <a:srgbClr val="FFFF00"/>
                </a:solidFill>
              </a:rPr>
              <a:t>TUGAS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hlinkClick r:id="rId3" action="ppaction://hlinkfile"/>
          </p:cNvPr>
          <p:cNvSpPr txBox="1"/>
          <p:nvPr/>
        </p:nvSpPr>
        <p:spPr>
          <a:xfrm>
            <a:off x="381000" y="5163740"/>
            <a:ext cx="2514600" cy="8309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FF00"/>
                </a:solidFill>
              </a:rPr>
              <a:t>VISI DAN MISI</a:t>
            </a:r>
          </a:p>
          <a:p>
            <a:pPr algn="ctr"/>
            <a:r>
              <a:rPr lang="en-US" sz="2400" dirty="0" smtClean="0">
                <a:solidFill>
                  <a:srgbClr val="FFFF00"/>
                </a:solidFill>
              </a:rPr>
              <a:t>(RENSTRA)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0690" y="5161126"/>
            <a:ext cx="2514600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FF00"/>
                </a:solidFill>
              </a:rPr>
              <a:t>NILAI-NILAI ORGANISASI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55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23222" y="164752"/>
            <a:ext cx="5972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rgbClr val="FFFF00"/>
                </a:solidFill>
              </a:rPr>
              <a:t>Keterangan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Pengisian</a:t>
            </a:r>
            <a:endParaRPr lang="en-US" dirty="0" smtClean="0">
              <a:solidFill>
                <a:srgbClr val="FFFF00"/>
              </a:solidFill>
            </a:endParaRPr>
          </a:p>
          <a:p>
            <a:r>
              <a:rPr lang="en-US" dirty="0" err="1" smtClean="0">
                <a:solidFill>
                  <a:srgbClr val="FFFF00"/>
                </a:solidFill>
              </a:rPr>
              <a:t>Formulir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Rancangan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Aktualisasi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Nilai-Nilai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Dasar</a:t>
            </a:r>
            <a:r>
              <a:rPr lang="en-US" b="1" dirty="0">
                <a:solidFill>
                  <a:srgbClr val="FFFF00"/>
                </a:solidFill>
              </a:rPr>
              <a:t> PNS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092" name="Rectangle 1091"/>
          <p:cNvSpPr/>
          <p:nvPr/>
        </p:nvSpPr>
        <p:spPr>
          <a:xfrm>
            <a:off x="304800" y="1371600"/>
            <a:ext cx="8610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4125" indent="-1254125">
              <a:tabLst>
                <a:tab pos="1076325" algn="l"/>
                <a:tab pos="1254125" algn="l"/>
              </a:tabLst>
            </a:pPr>
            <a:r>
              <a:rPr lang="en-US" sz="1600"/>
              <a:t>Kolom 1	: 	Diisi dengan nomor urut 1, 2, 3 dst.</a:t>
            </a:r>
            <a:endParaRPr lang="en-AU" sz="1600"/>
          </a:p>
          <a:p>
            <a:pPr marL="1254125" indent="-1254125">
              <a:tabLst>
                <a:tab pos="1076325" algn="l"/>
                <a:tab pos="1254125" algn="l"/>
              </a:tabLst>
            </a:pPr>
            <a:r>
              <a:rPr lang="en-US" sz="1600"/>
              <a:t>Kolom 2	: 	Diisi dengan kegiatan yang dapat bersumber dari SKP, penugasan atasan, atau kegiatan inisiatif sendiri yang mendapat persetujuan atasan. Misalnya kegiatan yang bersumber dari SKP: mengolah data akreditasi lembaga Diklat.)</a:t>
            </a:r>
            <a:endParaRPr lang="en-AU" sz="1600"/>
          </a:p>
          <a:p>
            <a:pPr marL="1254125" indent="-1254125">
              <a:tabLst>
                <a:tab pos="1076325" algn="l"/>
                <a:tab pos="1254125" algn="l"/>
              </a:tabLst>
            </a:pPr>
            <a:r>
              <a:rPr lang="en-US" sz="1600"/>
              <a:t>Kolom 3	:	Diisi dengan uraian tahapan kegiatan yang telah diisi dari kolom 2. </a:t>
            </a:r>
            <a:endParaRPr lang="en-AU" sz="1600"/>
          </a:p>
          <a:p>
            <a:pPr marL="1254125" indent="-1254125">
              <a:tabLst>
                <a:tab pos="1076325" algn="l"/>
                <a:tab pos="1254125" algn="l"/>
              </a:tabLst>
            </a:pPr>
            <a:r>
              <a:rPr lang="en-US" sz="1600"/>
              <a:t>Kolom 4	:	Diisi dengan keterkaitan antara kegiatan dengan indikator ND dan Output kegiatan misalnya, 2 dokumen, 3 surat, dll</a:t>
            </a:r>
            <a:endParaRPr lang="en-AU" sz="1600"/>
          </a:p>
          <a:p>
            <a:pPr marL="1254125" indent="-1254125">
              <a:tabLst>
                <a:tab pos="1076325" algn="l"/>
                <a:tab pos="1254125" algn="l"/>
              </a:tabLst>
            </a:pPr>
            <a:r>
              <a:rPr lang="en-US" sz="1600"/>
              <a:t>Kolom 5	:	Diisi dengan sumber nilai dasar yang relevan sesuai uraian pada kolom 4, yaitu; akuntabilitas PNS, komitmen mutu dan anti korupsi, kemudian sertakan </a:t>
            </a:r>
            <a:r>
              <a:rPr lang="en-US" sz="1600" b="1"/>
              <a:t>indikator</a:t>
            </a:r>
            <a:r>
              <a:rPr lang="en-US" sz="1600"/>
              <a:t> yang dipilih pada masing-masing ANEKA</a:t>
            </a:r>
            <a:endParaRPr lang="en-AU" sz="1600"/>
          </a:p>
          <a:p>
            <a:pPr marL="1254125" indent="-1254125">
              <a:tabLst>
                <a:tab pos="1076325" algn="l"/>
                <a:tab pos="1254125" algn="l"/>
              </a:tabLst>
            </a:pPr>
            <a:r>
              <a:rPr lang="en-US" sz="1600"/>
              <a:t>Kolom 6	:	Diisi  dengan  uraian  tentang  kontribusi  output kegiatan  terhadap  pencapaian  visi  dan  misi organisasi</a:t>
            </a:r>
            <a:r>
              <a:rPr lang="en-US" sz="1600"/>
              <a:t>. </a:t>
            </a:r>
            <a:endParaRPr lang="en-AU" sz="1600" smtClean="0"/>
          </a:p>
          <a:p>
            <a:pPr marL="1254125" indent="-1254125">
              <a:tabLst>
                <a:tab pos="1076325" algn="l"/>
                <a:tab pos="1254125" algn="l"/>
              </a:tabLst>
            </a:pPr>
            <a:r>
              <a:rPr lang="en-US" sz="1600" smtClean="0"/>
              <a:t>Kolom 7	:	Diisi  dengan  uraian  tentang  kontribusi  output kegiatan terhadap penguatan nilai-nilai organisasi (PIA). </a:t>
            </a:r>
            <a:endParaRPr lang="en-AU" sz="1600"/>
          </a:p>
        </p:txBody>
      </p:sp>
    </p:spTree>
    <p:extLst>
      <p:ext uri="{BB962C8B-B14F-4D97-AF65-F5344CB8AC3E}">
        <p14:creationId xmlns:p14="http://schemas.microsoft.com/office/powerpoint/2010/main" val="178394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3979" y="304800"/>
            <a:ext cx="3813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FF00"/>
                </a:solidFill>
              </a:rPr>
              <a:t>DISKUSI KELOMPOK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630680"/>
            <a:ext cx="48310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Kelas</a:t>
            </a:r>
            <a:r>
              <a:rPr lang="en-US" sz="2400" dirty="0" smtClean="0"/>
              <a:t> </a:t>
            </a:r>
            <a:r>
              <a:rPr lang="en-US" sz="2400" dirty="0" err="1" smtClean="0"/>
              <a:t>dibagi</a:t>
            </a:r>
            <a:r>
              <a:rPr lang="en-US" sz="2400" dirty="0" smtClean="0"/>
              <a:t> </a:t>
            </a:r>
            <a:r>
              <a:rPr lang="en-US" sz="2400" err="1" smtClean="0"/>
              <a:t>dalam</a:t>
            </a:r>
            <a:r>
              <a:rPr lang="en-US" sz="2400" smtClean="0"/>
              <a:t> </a:t>
            </a:r>
            <a:r>
              <a:rPr lang="en-US" sz="2400" b="1" smtClean="0"/>
              <a:t> </a:t>
            </a:r>
            <a:r>
              <a:rPr lang="en-US" sz="2400" b="1" dirty="0" err="1" smtClean="0"/>
              <a:t>kelompok</a:t>
            </a:r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Waktu</a:t>
            </a:r>
            <a:r>
              <a:rPr lang="en-US" sz="2400" dirty="0" smtClean="0"/>
              <a:t> </a:t>
            </a:r>
            <a:r>
              <a:rPr lang="en-US" sz="2400" dirty="0" err="1" smtClean="0"/>
              <a:t>Diskusi</a:t>
            </a:r>
            <a:r>
              <a:rPr lang="en-US" sz="2400" dirty="0" smtClean="0"/>
              <a:t> </a:t>
            </a:r>
            <a:r>
              <a:rPr lang="en-US" sz="2400" dirty="0" err="1" smtClean="0"/>
              <a:t>selama</a:t>
            </a:r>
            <a:r>
              <a:rPr lang="en-US" sz="2400" dirty="0" smtClean="0"/>
              <a:t> </a:t>
            </a:r>
            <a:r>
              <a:rPr lang="en-US" sz="2400" b="1" dirty="0" smtClean="0"/>
              <a:t>30 </a:t>
            </a:r>
            <a:r>
              <a:rPr lang="en-US" sz="2400" b="1" dirty="0" err="1" smtClean="0"/>
              <a:t>menit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2635686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 err="1" smtClean="0">
                <a:solidFill>
                  <a:srgbClr val="0070C0"/>
                </a:solidFill>
              </a:rPr>
              <a:t>Materi</a:t>
            </a:r>
            <a:r>
              <a:rPr lang="en-US" sz="2200" i="1" dirty="0" smtClean="0">
                <a:solidFill>
                  <a:srgbClr val="0070C0"/>
                </a:solidFill>
              </a:rPr>
              <a:t> </a:t>
            </a:r>
            <a:r>
              <a:rPr lang="en-US" sz="2200" i="1" dirty="0" err="1" smtClean="0">
                <a:solidFill>
                  <a:srgbClr val="0070C0"/>
                </a:solidFill>
              </a:rPr>
              <a:t>Diskusi</a:t>
            </a:r>
            <a:r>
              <a:rPr lang="en-US" sz="2200" i="1" dirty="0" smtClean="0">
                <a:solidFill>
                  <a:srgbClr val="0070C0"/>
                </a:solidFill>
              </a:rPr>
              <a:t>: </a:t>
            </a:r>
          </a:p>
          <a:p>
            <a:r>
              <a:rPr lang="en-US" sz="2200" dirty="0" smtClean="0"/>
              <a:t>1. </a:t>
            </a:r>
            <a:r>
              <a:rPr lang="en-US" sz="2200" dirty="0" err="1" smtClean="0"/>
              <a:t>Kelompok</a:t>
            </a:r>
            <a:r>
              <a:rPr lang="en-US" sz="2200" dirty="0" smtClean="0"/>
              <a:t> </a:t>
            </a:r>
            <a:r>
              <a:rPr lang="en-US" sz="2200" dirty="0" err="1" smtClean="0"/>
              <a:t>membuat</a:t>
            </a:r>
            <a:r>
              <a:rPr lang="en-US" sz="2200" dirty="0" smtClean="0"/>
              <a:t> </a:t>
            </a:r>
            <a:r>
              <a:rPr lang="en-US" sz="2200" dirty="0" err="1" smtClean="0"/>
              <a:t>contoh</a:t>
            </a:r>
            <a:r>
              <a:rPr lang="en-US" sz="2200" dirty="0" smtClean="0"/>
              <a:t> </a:t>
            </a:r>
            <a:r>
              <a:rPr lang="en-US" sz="2200" b="1" dirty="0" err="1" smtClean="0"/>
              <a:t>Formulir</a:t>
            </a:r>
            <a:r>
              <a:rPr lang="en-US" sz="2200" b="1" dirty="0" smtClean="0"/>
              <a:t> </a:t>
            </a:r>
            <a:r>
              <a:rPr lang="id-ID" sz="2200" b="1" dirty="0" smtClean="0"/>
              <a:t>1</a:t>
            </a:r>
            <a:endParaRPr lang="en-US" sz="2200" b="1" dirty="0" smtClean="0"/>
          </a:p>
          <a:p>
            <a:r>
              <a:rPr lang="en-US" sz="2200" dirty="0" smtClean="0"/>
              <a:t>2. Unit </a:t>
            </a:r>
            <a:r>
              <a:rPr lang="en-US" sz="2200" dirty="0" err="1" smtClean="0"/>
              <a:t>Kerja</a:t>
            </a:r>
            <a:r>
              <a:rPr lang="en-US" sz="2200" dirty="0" smtClean="0"/>
              <a:t> </a:t>
            </a:r>
            <a:r>
              <a:rPr lang="en-US" sz="2200" dirty="0" err="1" smtClean="0"/>
              <a:t>diambil</a:t>
            </a:r>
            <a:r>
              <a:rPr lang="en-US" sz="2200" dirty="0" smtClean="0"/>
              <a:t> </a:t>
            </a:r>
            <a:r>
              <a:rPr lang="en-US" sz="2200" dirty="0" err="1" smtClean="0"/>
              <a:t>dari</a:t>
            </a:r>
            <a:r>
              <a:rPr lang="en-US" sz="2200" dirty="0" smtClean="0"/>
              <a:t> </a:t>
            </a:r>
            <a:r>
              <a:rPr lang="en-US" sz="2200" dirty="0" err="1" smtClean="0"/>
              <a:t>salah</a:t>
            </a:r>
            <a:r>
              <a:rPr lang="en-US" sz="2200" dirty="0" smtClean="0"/>
              <a:t> </a:t>
            </a:r>
            <a:r>
              <a:rPr lang="en-US" sz="2200" dirty="0" err="1" smtClean="0"/>
              <a:t>satu</a:t>
            </a:r>
            <a:r>
              <a:rPr lang="en-US" sz="2200" dirty="0" smtClean="0"/>
              <a:t> </a:t>
            </a:r>
            <a:r>
              <a:rPr lang="en-US" sz="2200" dirty="0" err="1" smtClean="0"/>
              <a:t>anggota</a:t>
            </a:r>
            <a:r>
              <a:rPr lang="en-US" sz="2200" dirty="0" smtClean="0"/>
              <a:t> </a:t>
            </a:r>
            <a:r>
              <a:rPr lang="en-US" sz="2200" dirty="0" err="1" smtClean="0"/>
              <a:t>kelompok</a:t>
            </a:r>
            <a:r>
              <a:rPr lang="en-US" sz="2200" dirty="0" smtClean="0"/>
              <a:t>  </a:t>
            </a:r>
            <a:endParaRPr 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568042" y="4122003"/>
            <a:ext cx="6410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Hasil</a:t>
            </a:r>
            <a:r>
              <a:rPr lang="en-US" sz="2400" dirty="0" smtClean="0"/>
              <a:t> </a:t>
            </a:r>
            <a:r>
              <a:rPr lang="en-US" sz="2400" dirty="0" err="1" smtClean="0"/>
              <a:t>Diskusi</a:t>
            </a:r>
            <a:r>
              <a:rPr lang="en-US" sz="2400" dirty="0" smtClean="0"/>
              <a:t> </a:t>
            </a:r>
            <a:r>
              <a:rPr lang="en-US" sz="2400" dirty="0" err="1" smtClean="0"/>
              <a:t>Dibuat</a:t>
            </a:r>
            <a:r>
              <a:rPr lang="en-US" sz="2400" dirty="0" smtClean="0"/>
              <a:t> </a:t>
            </a:r>
            <a:r>
              <a:rPr lang="en-US" sz="2400" dirty="0" err="1" smtClean="0"/>
              <a:t>dalam</a:t>
            </a:r>
            <a:r>
              <a:rPr lang="en-US" sz="2400" dirty="0" smtClean="0"/>
              <a:t> POWER POINT</a:t>
            </a:r>
            <a:endParaRPr lang="en-US" sz="2400" b="1" i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Hasil</a:t>
            </a:r>
            <a:r>
              <a:rPr lang="en-US" sz="2400" dirty="0" smtClean="0"/>
              <a:t> </a:t>
            </a:r>
            <a:r>
              <a:rPr lang="en-US" sz="2400" dirty="0" err="1" smtClean="0"/>
              <a:t>Diskusi</a:t>
            </a:r>
            <a:r>
              <a:rPr lang="en-US" sz="2400" dirty="0" smtClean="0"/>
              <a:t> </a:t>
            </a:r>
            <a:r>
              <a:rPr lang="en-US" sz="2400" dirty="0" err="1" smtClean="0"/>
              <a:t>Dipresentasikan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510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734</TotalTime>
  <Words>578</Words>
  <Application>Microsoft Office PowerPoint</Application>
  <PresentationFormat>On-screen Show (4:3)</PresentationFormat>
  <Paragraphs>402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Theme1</vt:lpstr>
      <vt:lpstr>Diseño predeterminado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BPS</dc:creator>
  <cp:lastModifiedBy>Pusdiklat BPS</cp:lastModifiedBy>
  <cp:revision>46</cp:revision>
  <dcterms:created xsi:type="dcterms:W3CDTF">2014-12-11T03:49:51Z</dcterms:created>
  <dcterms:modified xsi:type="dcterms:W3CDTF">2016-07-19T03:15:58Z</dcterms:modified>
</cp:coreProperties>
</file>