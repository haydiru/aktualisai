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36"/>
  </p:notesMasterIdLst>
  <p:sldIdLst>
    <p:sldId id="256" r:id="rId2"/>
    <p:sldId id="258" r:id="rId3"/>
    <p:sldId id="260" r:id="rId4"/>
    <p:sldId id="270" r:id="rId5"/>
    <p:sldId id="340" r:id="rId6"/>
    <p:sldId id="341" r:id="rId7"/>
    <p:sldId id="342" r:id="rId8"/>
    <p:sldId id="343" r:id="rId9"/>
    <p:sldId id="259" r:id="rId10"/>
    <p:sldId id="286" r:id="rId11"/>
    <p:sldId id="344" r:id="rId12"/>
    <p:sldId id="345" r:id="rId13"/>
    <p:sldId id="346" r:id="rId14"/>
    <p:sldId id="347" r:id="rId15"/>
    <p:sldId id="348" r:id="rId16"/>
    <p:sldId id="349" r:id="rId17"/>
    <p:sldId id="350" r:id="rId18"/>
    <p:sldId id="351" r:id="rId19"/>
    <p:sldId id="352" r:id="rId20"/>
    <p:sldId id="353" r:id="rId21"/>
    <p:sldId id="354" r:id="rId22"/>
    <p:sldId id="355" r:id="rId23"/>
    <p:sldId id="356" r:id="rId24"/>
    <p:sldId id="357" r:id="rId25"/>
    <p:sldId id="358" r:id="rId26"/>
    <p:sldId id="359" r:id="rId27"/>
    <p:sldId id="360" r:id="rId28"/>
    <p:sldId id="361" r:id="rId29"/>
    <p:sldId id="362" r:id="rId30"/>
    <p:sldId id="363" r:id="rId31"/>
    <p:sldId id="364" r:id="rId32"/>
    <p:sldId id="279" r:id="rId33"/>
    <p:sldId id="271" r:id="rId34"/>
    <p:sldId id="339" r:id="rId35"/>
  </p:sldIdLst>
  <p:sldSz cx="9144000" cy="5143500" type="screen16x9"/>
  <p:notesSz cx="6858000" cy="91440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E76403A-0E00-4F40-B57C-24428DF4E4F1}">
  <a:tblStyle styleId="{AE76403A-0E00-4F40-B57C-24428DF4E4F1}" styleName="Table_0">
    <a:wholeTbl>
      <a:tcStyle>
        <a:tcBdr>
          <a:left>
            <a:ln w="9525" cap="flat" cmpd="sng">
              <a:solidFill>
                <a:srgbClr val="000000"/>
              </a:solidFill>
              <a:prstDash val="solid"/>
              <a:round/>
              <a:headEnd type="none" w="med" len="med"/>
              <a:tailEnd type="none" w="med" len="med"/>
            </a:ln>
          </a:left>
          <a:right>
            <a:ln w="9525" cap="flat" cmpd="sng">
              <a:solidFill>
                <a:srgbClr val="000000"/>
              </a:solidFill>
              <a:prstDash val="solid"/>
              <a:round/>
              <a:headEnd type="none" w="med" len="med"/>
              <a:tailEnd type="none" w="med" len="med"/>
            </a:ln>
          </a:right>
          <a:top>
            <a:ln w="9525" cap="flat" cmpd="sng">
              <a:solidFill>
                <a:srgbClr val="000000"/>
              </a:solidFill>
              <a:prstDash val="solid"/>
              <a:round/>
              <a:headEnd type="none" w="med" len="med"/>
              <a:tailEnd type="none" w="med" len="med"/>
            </a:ln>
          </a:top>
          <a:bottom>
            <a:ln w="9525" cap="flat" cmpd="sng">
              <a:solidFill>
                <a:srgbClr val="000000"/>
              </a:solidFill>
              <a:prstDash val="solid"/>
              <a:round/>
              <a:headEnd type="none" w="med" len="med"/>
              <a:tailEnd type="none" w="med" len="med"/>
            </a:ln>
          </a:bottom>
          <a:insideH>
            <a:ln w="9525" cap="flat" cmpd="sng">
              <a:solidFill>
                <a:srgbClr val="000000"/>
              </a:solidFill>
              <a:prstDash val="solid"/>
              <a:round/>
              <a:headEnd type="none" w="med" len="med"/>
              <a:tailEnd type="none" w="med" len="med"/>
            </a:ln>
          </a:insideH>
          <a:insideV>
            <a:ln w="9525" cap="flat" cmpd="sng">
              <a:solidFill>
                <a:srgbClr val="000000"/>
              </a:solidFill>
              <a:prstDash val="solid"/>
              <a:round/>
              <a:headEnd type="none" w="med" len="med"/>
              <a:tailEnd type="none" w="med" len="med"/>
            </a:ln>
          </a:insideV>
        </a:tcBdr>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3" autoAdjust="0"/>
    <p:restoredTop sz="94660"/>
  </p:normalViewPr>
  <p:slideViewPr>
    <p:cSldViewPr snapToGrid="0">
      <p:cViewPr varScale="1">
        <p:scale>
          <a:sx n="93" d="100"/>
          <a:sy n="93" d="100"/>
        </p:scale>
        <p:origin x="74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381175"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 name="Shape 3"/>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a:spcBef>
                <a:spcPts val="0"/>
              </a:spcBef>
              <a:defRPr sz="1100"/>
            </a:lvl1pPr>
            <a:lvl2pPr>
              <a:spcBef>
                <a:spcPts val="0"/>
              </a:spcBef>
              <a:defRPr sz="1100"/>
            </a:lvl2pPr>
            <a:lvl3pPr>
              <a:spcBef>
                <a:spcPts val="0"/>
              </a:spcBef>
              <a:defRPr sz="1100"/>
            </a:lvl3pPr>
            <a:lvl4pPr>
              <a:spcBef>
                <a:spcPts val="0"/>
              </a:spcBef>
              <a:defRPr sz="1100"/>
            </a:lvl4pPr>
            <a:lvl5pPr>
              <a:spcBef>
                <a:spcPts val="0"/>
              </a:spcBef>
              <a:defRPr sz="1100"/>
            </a:lvl5pPr>
            <a:lvl6pPr>
              <a:spcBef>
                <a:spcPts val="0"/>
              </a:spcBef>
              <a:defRPr sz="1100"/>
            </a:lvl6pPr>
            <a:lvl7pPr>
              <a:spcBef>
                <a:spcPts val="0"/>
              </a:spcBef>
              <a:defRPr sz="1100"/>
            </a:lvl7pPr>
            <a:lvl8pPr>
              <a:spcBef>
                <a:spcPts val="0"/>
              </a:spcBef>
              <a:defRPr sz="1100"/>
            </a:lvl8pPr>
            <a:lvl9pPr>
              <a:spcBef>
                <a:spcPts val="0"/>
              </a:spcBef>
              <a:defRPr sz="1100"/>
            </a:lvl9pPr>
          </a:lstStyle>
          <a:p>
            <a:endParaRPr/>
          </a:p>
        </p:txBody>
      </p:sp>
    </p:spTree>
    <p:extLst>
      <p:ext uri="{BB962C8B-B14F-4D97-AF65-F5344CB8AC3E}">
        <p14:creationId xmlns:p14="http://schemas.microsoft.com/office/powerpoint/2010/main" val="2599415736"/>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Shape 6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9" name="Shape 6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651821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Shape 9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93" name="Shape 9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552042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Shape 10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5" name="Shape 10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8217739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Shape 23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32" name="Shape 23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546395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dirty="0"/>
          </a:p>
        </p:txBody>
      </p:sp>
    </p:spTree>
    <p:extLst>
      <p:ext uri="{BB962C8B-B14F-4D97-AF65-F5344CB8AC3E}">
        <p14:creationId xmlns:p14="http://schemas.microsoft.com/office/powerpoint/2010/main" val="470763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Shape 10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5" name="Shape 10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109559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0" name="Shape 10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917002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6309891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6521005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5303087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5074499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0" name="Shape 10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7521467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2931884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80494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0449367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0" name="Shape 10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4289651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908376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9064062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0264147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0" name="Shape 10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9672324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1107584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0565382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4030236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1619448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0" name="Shape 10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8294310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2490792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308690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7609869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Shape 34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41" name="Shape 34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7715622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Shape 24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48" name="Shape 248"/>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9284241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Shape 34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41" name="Shape 34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852046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Shape 7"/>
        <p:cNvGrpSpPr/>
        <p:nvPr/>
      </p:nvGrpSpPr>
      <p:grpSpPr>
        <a:xfrm>
          <a:off x="0" y="0"/>
          <a:ext cx="0" cy="0"/>
          <a:chOff x="0" y="0"/>
          <a:chExt cx="0" cy="0"/>
        </a:xfrm>
      </p:grpSpPr>
      <p:sp>
        <p:nvSpPr>
          <p:cNvPr id="8" name="Shape 8"/>
          <p:cNvSpPr txBox="1">
            <a:spLocks noGrp="1"/>
          </p:cNvSpPr>
          <p:nvPr>
            <p:ph type="ctrTitle"/>
          </p:nvPr>
        </p:nvSpPr>
        <p:spPr>
          <a:xfrm>
            <a:off x="996630" y="2003888"/>
            <a:ext cx="4523699" cy="1159799"/>
          </a:xfrm>
          <a:prstGeom prst="rect">
            <a:avLst/>
          </a:prstGeom>
        </p:spPr>
        <p:txBody>
          <a:bodyPr lIns="91425" tIns="91425" rIns="91425" bIns="91425" anchor="b" anchorCtr="0"/>
          <a:lstStyle>
            <a:lvl1pPr>
              <a:spcBef>
                <a:spcPts val="0"/>
              </a:spcBef>
              <a:buSzPct val="100000"/>
              <a:defRPr sz="3600"/>
            </a:lvl1pPr>
            <a:lvl2pPr>
              <a:spcBef>
                <a:spcPts val="0"/>
              </a:spcBef>
              <a:buSzPct val="100000"/>
              <a:defRPr sz="3600"/>
            </a:lvl2pPr>
            <a:lvl3pPr>
              <a:spcBef>
                <a:spcPts val="0"/>
              </a:spcBef>
              <a:buSzPct val="100000"/>
              <a:defRPr sz="3600"/>
            </a:lvl3pPr>
            <a:lvl4pPr>
              <a:spcBef>
                <a:spcPts val="0"/>
              </a:spcBef>
              <a:buSzPct val="100000"/>
              <a:defRPr sz="3600"/>
            </a:lvl4pPr>
            <a:lvl5pPr>
              <a:spcBef>
                <a:spcPts val="0"/>
              </a:spcBef>
              <a:buSzPct val="100000"/>
              <a:defRPr sz="3600"/>
            </a:lvl5pPr>
            <a:lvl6pPr>
              <a:spcBef>
                <a:spcPts val="0"/>
              </a:spcBef>
              <a:buSzPct val="100000"/>
              <a:defRPr sz="3600"/>
            </a:lvl6pPr>
            <a:lvl7pPr>
              <a:spcBef>
                <a:spcPts val="0"/>
              </a:spcBef>
              <a:buSzPct val="100000"/>
              <a:defRPr sz="3600"/>
            </a:lvl7pPr>
            <a:lvl8pPr>
              <a:spcBef>
                <a:spcPts val="0"/>
              </a:spcBef>
              <a:buSzPct val="100000"/>
              <a:defRPr sz="3600"/>
            </a:lvl8pPr>
            <a:lvl9pPr>
              <a:spcBef>
                <a:spcPts val="0"/>
              </a:spcBef>
              <a:buSzPct val="100000"/>
              <a:defRPr sz="3600"/>
            </a:lvl9pPr>
          </a:lstStyle>
          <a:p>
            <a:endParaRPr/>
          </a:p>
        </p:txBody>
      </p:sp>
      <p:cxnSp>
        <p:nvCxnSpPr>
          <p:cNvPr id="9" name="Shape 9"/>
          <p:cNvCxnSpPr/>
          <p:nvPr/>
        </p:nvCxnSpPr>
        <p:spPr>
          <a:xfrm>
            <a:off x="-6025" y="3676511"/>
            <a:ext cx="9161999" cy="0"/>
          </a:xfrm>
          <a:prstGeom prst="straightConnector1">
            <a:avLst/>
          </a:prstGeom>
          <a:noFill/>
          <a:ln w="9525" cap="flat" cmpd="sng">
            <a:solidFill>
              <a:srgbClr val="000000"/>
            </a:solidFill>
            <a:prstDash val="solid"/>
            <a:round/>
            <a:headEnd type="none" w="lg" len="lg"/>
            <a:tailEnd type="none" w="lg" len="lg"/>
          </a:ln>
        </p:spPr>
      </p:cxnSp>
      <p:sp>
        <p:nvSpPr>
          <p:cNvPr id="10" name="Shape 10"/>
          <p:cNvSpPr/>
          <p:nvPr/>
        </p:nvSpPr>
        <p:spPr>
          <a:xfrm>
            <a:off x="1117950" y="3393000"/>
            <a:ext cx="566999" cy="566999"/>
          </a:xfrm>
          <a:prstGeom prst="ellipse">
            <a:avLst/>
          </a:prstGeom>
          <a:solidFill>
            <a:srgbClr val="FFCD00"/>
          </a:solidFill>
          <a:ln>
            <a:noFill/>
          </a:ln>
        </p:spPr>
        <p:txBody>
          <a:bodyPr lIns="91425" tIns="91425" rIns="91425" bIns="91425" anchor="ctr" anchorCtr="0">
            <a:noAutofit/>
          </a:bodyPr>
          <a:lstStyle/>
          <a:p>
            <a:pPr>
              <a:spcBef>
                <a:spcPts val="0"/>
              </a:spcBef>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ubtitle">
    <p:spTree>
      <p:nvGrpSpPr>
        <p:cNvPr id="1" name="Shape 11"/>
        <p:cNvGrpSpPr/>
        <p:nvPr/>
      </p:nvGrpSpPr>
      <p:grpSpPr>
        <a:xfrm>
          <a:off x="0" y="0"/>
          <a:ext cx="0" cy="0"/>
          <a:chOff x="0" y="0"/>
          <a:chExt cx="0" cy="0"/>
        </a:xfrm>
      </p:grpSpPr>
      <p:sp>
        <p:nvSpPr>
          <p:cNvPr id="12" name="Shape 12"/>
          <p:cNvSpPr txBox="1">
            <a:spLocks noGrp="1"/>
          </p:cNvSpPr>
          <p:nvPr>
            <p:ph type="subTitle" idx="1"/>
          </p:nvPr>
        </p:nvSpPr>
        <p:spPr>
          <a:xfrm>
            <a:off x="2022300" y="2815923"/>
            <a:ext cx="5591400" cy="784799"/>
          </a:xfrm>
          <a:prstGeom prst="rect">
            <a:avLst/>
          </a:prstGeom>
        </p:spPr>
        <p:txBody>
          <a:bodyPr lIns="91425" tIns="91425" rIns="91425" bIns="91425" anchor="t" anchorCtr="0"/>
          <a:lstStyle>
            <a:lvl1pPr rtl="0">
              <a:spcBef>
                <a:spcPts val="0"/>
              </a:spcBef>
              <a:buClr>
                <a:srgbClr val="000000"/>
              </a:buClr>
              <a:buSzPct val="100000"/>
              <a:buNone/>
              <a:defRPr sz="1400"/>
            </a:lvl1pPr>
            <a:lvl2pPr rtl="0">
              <a:spcBef>
                <a:spcPts val="0"/>
              </a:spcBef>
              <a:buClr>
                <a:schemeClr val="dk2"/>
              </a:buClr>
              <a:buSzPct val="100000"/>
              <a:buNone/>
              <a:defRPr sz="1400">
                <a:solidFill>
                  <a:schemeClr val="dk2"/>
                </a:solidFill>
              </a:defRPr>
            </a:lvl2pPr>
            <a:lvl3pPr rtl="0">
              <a:spcBef>
                <a:spcPts val="0"/>
              </a:spcBef>
              <a:buClr>
                <a:schemeClr val="dk2"/>
              </a:buClr>
              <a:buSzPct val="100000"/>
              <a:buNone/>
              <a:defRPr sz="1400">
                <a:solidFill>
                  <a:schemeClr val="dk2"/>
                </a:solidFill>
              </a:defRPr>
            </a:lvl3pPr>
            <a:lvl4pPr rtl="0">
              <a:spcBef>
                <a:spcPts val="0"/>
              </a:spcBef>
              <a:buClr>
                <a:schemeClr val="dk2"/>
              </a:buClr>
              <a:buSzPct val="100000"/>
              <a:buNone/>
              <a:defRPr sz="1400">
                <a:solidFill>
                  <a:schemeClr val="dk2"/>
                </a:solidFill>
              </a:defRPr>
            </a:lvl4pPr>
            <a:lvl5pPr rtl="0">
              <a:spcBef>
                <a:spcPts val="0"/>
              </a:spcBef>
              <a:buClr>
                <a:schemeClr val="dk2"/>
              </a:buClr>
              <a:buSzPct val="100000"/>
              <a:buNone/>
              <a:defRPr sz="1400">
                <a:solidFill>
                  <a:schemeClr val="dk2"/>
                </a:solidFill>
              </a:defRPr>
            </a:lvl5pPr>
            <a:lvl6pPr rtl="0">
              <a:spcBef>
                <a:spcPts val="0"/>
              </a:spcBef>
              <a:buClr>
                <a:schemeClr val="dk2"/>
              </a:buClr>
              <a:buSzPct val="100000"/>
              <a:buNone/>
              <a:defRPr sz="1400">
                <a:solidFill>
                  <a:schemeClr val="dk2"/>
                </a:solidFill>
              </a:defRPr>
            </a:lvl6pPr>
            <a:lvl7pPr rtl="0">
              <a:spcBef>
                <a:spcPts val="0"/>
              </a:spcBef>
              <a:buClr>
                <a:schemeClr val="dk2"/>
              </a:buClr>
              <a:buSzPct val="100000"/>
              <a:buNone/>
              <a:defRPr sz="1400">
                <a:solidFill>
                  <a:schemeClr val="dk2"/>
                </a:solidFill>
              </a:defRPr>
            </a:lvl7pPr>
            <a:lvl8pPr rtl="0">
              <a:spcBef>
                <a:spcPts val="0"/>
              </a:spcBef>
              <a:buClr>
                <a:schemeClr val="dk2"/>
              </a:buClr>
              <a:buSzPct val="100000"/>
              <a:buNone/>
              <a:defRPr sz="1400">
                <a:solidFill>
                  <a:schemeClr val="dk2"/>
                </a:solidFill>
              </a:defRPr>
            </a:lvl8pPr>
            <a:lvl9pPr rtl="0">
              <a:spcBef>
                <a:spcPts val="0"/>
              </a:spcBef>
              <a:buClr>
                <a:schemeClr val="dk2"/>
              </a:buClr>
              <a:buSzPct val="100000"/>
              <a:buNone/>
              <a:defRPr sz="1400">
                <a:solidFill>
                  <a:schemeClr val="dk2"/>
                </a:solidFill>
              </a:defRPr>
            </a:lvl9pPr>
          </a:lstStyle>
          <a:p>
            <a:endParaRPr/>
          </a:p>
        </p:txBody>
      </p:sp>
      <p:cxnSp>
        <p:nvCxnSpPr>
          <p:cNvPr id="13" name="Shape 13"/>
          <p:cNvCxnSpPr/>
          <p:nvPr/>
        </p:nvCxnSpPr>
        <p:spPr>
          <a:xfrm>
            <a:off x="-6025" y="2571761"/>
            <a:ext cx="1984499" cy="0"/>
          </a:xfrm>
          <a:prstGeom prst="straightConnector1">
            <a:avLst/>
          </a:prstGeom>
          <a:noFill/>
          <a:ln w="9525" cap="flat" cmpd="sng">
            <a:solidFill>
              <a:srgbClr val="CCCCCC"/>
            </a:solidFill>
            <a:prstDash val="solid"/>
            <a:round/>
            <a:headEnd type="none" w="lg" len="lg"/>
            <a:tailEnd type="none" w="lg" len="lg"/>
          </a:ln>
        </p:spPr>
      </p:cxnSp>
      <p:sp>
        <p:nvSpPr>
          <p:cNvPr id="14" name="Shape 14"/>
          <p:cNvSpPr/>
          <p:nvPr/>
        </p:nvSpPr>
        <p:spPr>
          <a:xfrm>
            <a:off x="1117950" y="2288250"/>
            <a:ext cx="566999" cy="566999"/>
          </a:xfrm>
          <a:prstGeom prst="ellipse">
            <a:avLst/>
          </a:prstGeom>
          <a:solidFill>
            <a:srgbClr val="FFCD00"/>
          </a:solidFill>
          <a:ln>
            <a:noFill/>
          </a:ln>
        </p:spPr>
        <p:txBody>
          <a:bodyPr lIns="91425" tIns="91425" rIns="91425" bIns="91425" anchor="ctr" anchorCtr="0">
            <a:noAutofit/>
          </a:bodyPr>
          <a:lstStyle/>
          <a:p>
            <a:pPr lvl="0" rtl="0">
              <a:spcBef>
                <a:spcPts val="0"/>
              </a:spcBef>
              <a:buNone/>
            </a:pPr>
            <a:endParaRPr/>
          </a:p>
        </p:txBody>
      </p:sp>
      <p:sp>
        <p:nvSpPr>
          <p:cNvPr id="15" name="Shape 15"/>
          <p:cNvSpPr txBox="1">
            <a:spLocks noGrp="1"/>
          </p:cNvSpPr>
          <p:nvPr>
            <p:ph type="ctrTitle"/>
          </p:nvPr>
        </p:nvSpPr>
        <p:spPr>
          <a:xfrm>
            <a:off x="2022225" y="1693523"/>
            <a:ext cx="3787799" cy="1159799"/>
          </a:xfrm>
          <a:prstGeom prst="rect">
            <a:avLst/>
          </a:prstGeom>
        </p:spPr>
        <p:txBody>
          <a:bodyPr lIns="91425" tIns="91425" rIns="91425" bIns="91425" anchor="b" anchorCtr="0"/>
          <a:lstStyle>
            <a:lvl1pPr rtl="0">
              <a:spcBef>
                <a:spcPts val="0"/>
              </a:spcBef>
              <a:buSzPct val="100000"/>
              <a:defRPr sz="3000"/>
            </a:lvl1pPr>
            <a:lvl2pPr rtl="0">
              <a:spcBef>
                <a:spcPts val="0"/>
              </a:spcBef>
              <a:buSzPct val="100000"/>
              <a:defRPr sz="3000"/>
            </a:lvl2pPr>
            <a:lvl3pPr rtl="0">
              <a:spcBef>
                <a:spcPts val="0"/>
              </a:spcBef>
              <a:buSzPct val="100000"/>
              <a:defRPr sz="3000"/>
            </a:lvl3pPr>
            <a:lvl4pPr rtl="0">
              <a:spcBef>
                <a:spcPts val="0"/>
              </a:spcBef>
              <a:buSzPct val="100000"/>
              <a:defRPr sz="3000"/>
            </a:lvl4pPr>
            <a:lvl5pPr rtl="0">
              <a:spcBef>
                <a:spcPts val="0"/>
              </a:spcBef>
              <a:buSzPct val="100000"/>
              <a:defRPr sz="3000"/>
            </a:lvl5pPr>
            <a:lvl6pPr rtl="0">
              <a:spcBef>
                <a:spcPts val="0"/>
              </a:spcBef>
              <a:buSzPct val="100000"/>
              <a:defRPr sz="3000"/>
            </a:lvl6pPr>
            <a:lvl7pPr rtl="0">
              <a:spcBef>
                <a:spcPts val="0"/>
              </a:spcBef>
              <a:buSzPct val="100000"/>
              <a:defRPr sz="3000"/>
            </a:lvl7pPr>
            <a:lvl8pPr rtl="0">
              <a:spcBef>
                <a:spcPts val="0"/>
              </a:spcBef>
              <a:buSzPct val="100000"/>
              <a:defRPr sz="3000"/>
            </a:lvl8pPr>
            <a:lvl9pPr rtl="0">
              <a:spcBef>
                <a:spcPts val="0"/>
              </a:spcBef>
              <a:buSzPct val="100000"/>
              <a:defRPr sz="3000"/>
            </a:lvl9pPr>
          </a:lstStyle>
          <a:p>
            <a:endParaRPr/>
          </a:p>
        </p:txBody>
      </p:sp>
      <p:cxnSp>
        <p:nvCxnSpPr>
          <p:cNvPr id="16" name="Shape 16"/>
          <p:cNvCxnSpPr/>
          <p:nvPr/>
        </p:nvCxnSpPr>
        <p:spPr>
          <a:xfrm>
            <a:off x="5898975" y="2571750"/>
            <a:ext cx="3251099" cy="0"/>
          </a:xfrm>
          <a:prstGeom prst="straightConnector1">
            <a:avLst/>
          </a:prstGeom>
          <a:noFill/>
          <a:ln w="9525" cap="flat" cmpd="sng">
            <a:solidFill>
              <a:srgbClr val="CCCCCC"/>
            </a:solidFill>
            <a:prstDash val="solid"/>
            <a:round/>
            <a:headEnd type="none" w="lg" len="lg"/>
            <a:tailEnd type="none" w="lg" len="lg"/>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Quote">
    <p:spTree>
      <p:nvGrpSpPr>
        <p:cNvPr id="1" name="Shape 17"/>
        <p:cNvGrpSpPr/>
        <p:nvPr/>
      </p:nvGrpSpPr>
      <p:grpSpPr>
        <a:xfrm>
          <a:off x="0" y="0"/>
          <a:ext cx="0" cy="0"/>
          <a:chOff x="0" y="0"/>
          <a:chExt cx="0" cy="0"/>
        </a:xfrm>
      </p:grpSpPr>
      <p:sp>
        <p:nvSpPr>
          <p:cNvPr id="18" name="Shape 18"/>
          <p:cNvSpPr txBox="1">
            <a:spLocks noGrp="1"/>
          </p:cNvSpPr>
          <p:nvPr>
            <p:ph type="body" idx="1"/>
          </p:nvPr>
        </p:nvSpPr>
        <p:spPr>
          <a:xfrm>
            <a:off x="2105050" y="2238000"/>
            <a:ext cx="4933800" cy="819899"/>
          </a:xfrm>
          <a:prstGeom prst="rect">
            <a:avLst/>
          </a:prstGeom>
        </p:spPr>
        <p:txBody>
          <a:bodyPr lIns="91425" tIns="91425" rIns="91425" bIns="91425" anchor="b" anchorCtr="0"/>
          <a:lstStyle>
            <a:lvl1pPr algn="ctr" rtl="0">
              <a:spcBef>
                <a:spcPts val="0"/>
              </a:spcBef>
              <a:buSzPct val="100000"/>
              <a:buFont typeface="Lora"/>
              <a:defRPr sz="2400" i="1">
                <a:latin typeface="Lora"/>
                <a:ea typeface="Lora"/>
                <a:cs typeface="Lora"/>
                <a:sym typeface="Lora"/>
              </a:defRPr>
            </a:lvl1pPr>
            <a:lvl2pPr algn="ctr" rtl="0">
              <a:spcBef>
                <a:spcPts val="0"/>
              </a:spcBef>
              <a:buFont typeface="Lora"/>
              <a:defRPr i="1">
                <a:latin typeface="Lora"/>
                <a:ea typeface="Lora"/>
                <a:cs typeface="Lora"/>
                <a:sym typeface="Lora"/>
              </a:defRPr>
            </a:lvl2pPr>
            <a:lvl3pPr algn="ctr" rtl="0">
              <a:spcBef>
                <a:spcPts val="0"/>
              </a:spcBef>
              <a:buFont typeface="Lora"/>
              <a:defRPr i="1">
                <a:latin typeface="Lora"/>
                <a:ea typeface="Lora"/>
                <a:cs typeface="Lora"/>
                <a:sym typeface="Lora"/>
              </a:defRPr>
            </a:lvl3pPr>
            <a:lvl4pPr algn="ctr" rtl="0">
              <a:spcBef>
                <a:spcPts val="0"/>
              </a:spcBef>
              <a:buSzPct val="100000"/>
              <a:buFont typeface="Lora"/>
              <a:defRPr sz="2400" i="1">
                <a:latin typeface="Lora"/>
                <a:ea typeface="Lora"/>
                <a:cs typeface="Lora"/>
                <a:sym typeface="Lora"/>
              </a:defRPr>
            </a:lvl4pPr>
            <a:lvl5pPr algn="ctr" rtl="0">
              <a:spcBef>
                <a:spcPts val="0"/>
              </a:spcBef>
              <a:buSzPct val="100000"/>
              <a:buFont typeface="Lora"/>
              <a:defRPr sz="2400" i="1">
                <a:latin typeface="Lora"/>
                <a:ea typeface="Lora"/>
                <a:cs typeface="Lora"/>
                <a:sym typeface="Lora"/>
              </a:defRPr>
            </a:lvl5pPr>
            <a:lvl6pPr algn="ctr" rtl="0">
              <a:spcBef>
                <a:spcPts val="0"/>
              </a:spcBef>
              <a:buSzPct val="100000"/>
              <a:buFont typeface="Lora"/>
              <a:defRPr sz="2400" i="1">
                <a:latin typeface="Lora"/>
                <a:ea typeface="Lora"/>
                <a:cs typeface="Lora"/>
                <a:sym typeface="Lora"/>
              </a:defRPr>
            </a:lvl6pPr>
            <a:lvl7pPr algn="ctr" rtl="0">
              <a:spcBef>
                <a:spcPts val="0"/>
              </a:spcBef>
              <a:buSzPct val="100000"/>
              <a:buFont typeface="Lora"/>
              <a:defRPr sz="2400" i="1">
                <a:latin typeface="Lora"/>
                <a:ea typeface="Lora"/>
                <a:cs typeface="Lora"/>
                <a:sym typeface="Lora"/>
              </a:defRPr>
            </a:lvl7pPr>
            <a:lvl8pPr algn="ctr" rtl="0">
              <a:spcBef>
                <a:spcPts val="0"/>
              </a:spcBef>
              <a:buSzPct val="100000"/>
              <a:buFont typeface="Lora"/>
              <a:defRPr sz="2400" i="1">
                <a:latin typeface="Lora"/>
                <a:ea typeface="Lora"/>
                <a:cs typeface="Lora"/>
                <a:sym typeface="Lora"/>
              </a:defRPr>
            </a:lvl8pPr>
            <a:lvl9pPr algn="ctr">
              <a:spcBef>
                <a:spcPts val="0"/>
              </a:spcBef>
              <a:buSzPct val="100000"/>
              <a:buFont typeface="Lora"/>
              <a:defRPr sz="2400" i="1">
                <a:latin typeface="Lora"/>
                <a:ea typeface="Lora"/>
                <a:cs typeface="Lora"/>
                <a:sym typeface="Lora"/>
              </a:defRPr>
            </a:lvl9pPr>
          </a:lstStyle>
          <a:p>
            <a:endParaRPr/>
          </a:p>
        </p:txBody>
      </p:sp>
      <p:cxnSp>
        <p:nvCxnSpPr>
          <p:cNvPr id="19" name="Shape 19"/>
          <p:cNvCxnSpPr/>
          <p:nvPr/>
        </p:nvCxnSpPr>
        <p:spPr>
          <a:xfrm>
            <a:off x="4584075" y="3676500"/>
            <a:ext cx="0" cy="1480499"/>
          </a:xfrm>
          <a:prstGeom prst="straightConnector1">
            <a:avLst/>
          </a:prstGeom>
          <a:noFill/>
          <a:ln w="9525" cap="flat" cmpd="sng">
            <a:solidFill>
              <a:srgbClr val="CCCCCC"/>
            </a:solidFill>
            <a:prstDash val="solid"/>
            <a:round/>
            <a:headEnd type="none" w="lg" len="lg"/>
            <a:tailEnd type="none" w="lg" len="lg"/>
          </a:ln>
        </p:spPr>
      </p:cxnSp>
      <p:sp>
        <p:nvSpPr>
          <p:cNvPr id="20" name="Shape 20"/>
          <p:cNvSpPr/>
          <p:nvPr/>
        </p:nvSpPr>
        <p:spPr>
          <a:xfrm>
            <a:off x="4288500" y="3393000"/>
            <a:ext cx="566999" cy="566999"/>
          </a:xfrm>
          <a:prstGeom prst="ellipse">
            <a:avLst/>
          </a:prstGeom>
          <a:solidFill>
            <a:srgbClr val="FFCD00"/>
          </a:solidFill>
          <a:ln>
            <a:noFill/>
          </a:ln>
        </p:spPr>
        <p:txBody>
          <a:bodyPr lIns="91425" tIns="91425" rIns="91425" bIns="91425" anchor="ctr" anchorCtr="0">
            <a:noAutofit/>
          </a:bodyPr>
          <a:lstStyle/>
          <a:p>
            <a:pPr lvl="0" rtl="0">
              <a:spcBef>
                <a:spcPts val="0"/>
              </a:spcBef>
              <a:buNone/>
            </a:pPr>
            <a:endParaRPr/>
          </a:p>
        </p:txBody>
      </p:sp>
      <p:sp>
        <p:nvSpPr>
          <p:cNvPr id="21" name="Shape 21"/>
          <p:cNvSpPr txBox="1"/>
          <p:nvPr/>
        </p:nvSpPr>
        <p:spPr>
          <a:xfrm>
            <a:off x="3593400" y="3412651"/>
            <a:ext cx="1957200" cy="653699"/>
          </a:xfrm>
          <a:prstGeom prst="rect">
            <a:avLst/>
          </a:prstGeom>
          <a:noFill/>
          <a:ln>
            <a:noFill/>
          </a:ln>
        </p:spPr>
        <p:txBody>
          <a:bodyPr lIns="91425" tIns="91425" rIns="91425" bIns="91425" anchor="t" anchorCtr="0">
            <a:noAutofit/>
          </a:bodyPr>
          <a:lstStyle/>
          <a:p>
            <a:pPr algn="ctr">
              <a:spcBef>
                <a:spcPts val="0"/>
              </a:spcBef>
              <a:buNone/>
            </a:pPr>
            <a:r>
              <a:rPr lang="en" sz="3600" b="1">
                <a:latin typeface="Lora"/>
                <a:ea typeface="Lora"/>
                <a:cs typeface="Lora"/>
                <a:sym typeface="Lora"/>
              </a:rPr>
              <a: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22"/>
        <p:cNvGrpSpPr/>
        <p:nvPr/>
      </p:nvGrpSpPr>
      <p:grpSpPr>
        <a:xfrm>
          <a:off x="0" y="0"/>
          <a:ext cx="0" cy="0"/>
          <a:chOff x="0" y="0"/>
          <a:chExt cx="0" cy="0"/>
        </a:xfrm>
      </p:grpSpPr>
      <p:cxnSp>
        <p:nvCxnSpPr>
          <p:cNvPr id="23" name="Shape 23"/>
          <p:cNvCxnSpPr/>
          <p:nvPr/>
        </p:nvCxnSpPr>
        <p:spPr>
          <a:xfrm>
            <a:off x="0" y="1131725"/>
            <a:ext cx="1375800" cy="0"/>
          </a:xfrm>
          <a:prstGeom prst="straightConnector1">
            <a:avLst/>
          </a:prstGeom>
          <a:noFill/>
          <a:ln w="9525" cap="flat" cmpd="sng">
            <a:solidFill>
              <a:srgbClr val="CCCCCC"/>
            </a:solidFill>
            <a:prstDash val="solid"/>
            <a:round/>
            <a:headEnd type="none" w="lg" len="lg"/>
            <a:tailEnd type="none" w="lg" len="lg"/>
          </a:ln>
        </p:spPr>
      </p:cxnSp>
      <p:sp>
        <p:nvSpPr>
          <p:cNvPr id="24" name="Shape 24"/>
          <p:cNvSpPr/>
          <p:nvPr/>
        </p:nvSpPr>
        <p:spPr>
          <a:xfrm>
            <a:off x="817475" y="928766"/>
            <a:ext cx="405899" cy="405899"/>
          </a:xfrm>
          <a:prstGeom prst="ellipse">
            <a:avLst/>
          </a:prstGeom>
          <a:solidFill>
            <a:srgbClr val="FFCD00"/>
          </a:solidFill>
          <a:ln>
            <a:noFill/>
          </a:ln>
        </p:spPr>
        <p:txBody>
          <a:bodyPr lIns="91425" tIns="91425" rIns="91425" bIns="91425" anchor="ctr" anchorCtr="0">
            <a:noAutofit/>
          </a:bodyPr>
          <a:lstStyle/>
          <a:p>
            <a:pPr lvl="0" rtl="0">
              <a:spcBef>
                <a:spcPts val="0"/>
              </a:spcBef>
              <a:buNone/>
            </a:pPr>
            <a:endParaRPr/>
          </a:p>
        </p:txBody>
      </p:sp>
      <p:sp>
        <p:nvSpPr>
          <p:cNvPr id="25" name="Shape 25"/>
          <p:cNvSpPr txBox="1">
            <a:spLocks noGrp="1"/>
          </p:cNvSpPr>
          <p:nvPr>
            <p:ph type="title"/>
          </p:nvPr>
        </p:nvSpPr>
        <p:spPr>
          <a:xfrm>
            <a:off x="1381250" y="922668"/>
            <a:ext cx="3878399" cy="435599"/>
          </a:xfrm>
          <a:prstGeom prst="rect">
            <a:avLst/>
          </a:prstGeom>
        </p:spPr>
        <p:txBody>
          <a:bodyPr lIns="91425" tIns="91425" rIns="91425" bIns="91425" anchor="ctr" anchorCtr="0"/>
          <a:lstStyle>
            <a:lvl1pPr rtl="0">
              <a:spcBef>
                <a:spcPts val="0"/>
              </a:spcBef>
              <a:buSzPct val="100000"/>
              <a:buFont typeface="Lora"/>
              <a:buNone/>
              <a:defRPr sz="2000" b="1">
                <a:latin typeface="Lora"/>
                <a:ea typeface="Lora"/>
                <a:cs typeface="Lora"/>
                <a:sym typeface="Lora"/>
              </a:defRPr>
            </a:lvl1pPr>
            <a:lvl2pPr rtl="0">
              <a:spcBef>
                <a:spcPts val="0"/>
              </a:spcBef>
              <a:buSzPct val="100000"/>
              <a:buFont typeface="Lora"/>
              <a:buNone/>
              <a:defRPr sz="2000" b="1">
                <a:latin typeface="Lora"/>
                <a:ea typeface="Lora"/>
                <a:cs typeface="Lora"/>
                <a:sym typeface="Lora"/>
              </a:defRPr>
            </a:lvl2pPr>
            <a:lvl3pPr rtl="0">
              <a:spcBef>
                <a:spcPts val="0"/>
              </a:spcBef>
              <a:buSzPct val="100000"/>
              <a:buFont typeface="Lora"/>
              <a:buNone/>
              <a:defRPr sz="2000" b="1">
                <a:latin typeface="Lora"/>
                <a:ea typeface="Lora"/>
                <a:cs typeface="Lora"/>
                <a:sym typeface="Lora"/>
              </a:defRPr>
            </a:lvl3pPr>
            <a:lvl4pPr rtl="0">
              <a:spcBef>
                <a:spcPts val="0"/>
              </a:spcBef>
              <a:buSzPct val="100000"/>
              <a:buFont typeface="Lora"/>
              <a:buNone/>
              <a:defRPr sz="2000" b="1">
                <a:latin typeface="Lora"/>
                <a:ea typeface="Lora"/>
                <a:cs typeface="Lora"/>
                <a:sym typeface="Lora"/>
              </a:defRPr>
            </a:lvl4pPr>
            <a:lvl5pPr rtl="0">
              <a:spcBef>
                <a:spcPts val="0"/>
              </a:spcBef>
              <a:buSzPct val="100000"/>
              <a:buFont typeface="Lora"/>
              <a:buNone/>
              <a:defRPr sz="2000" b="1">
                <a:latin typeface="Lora"/>
                <a:ea typeface="Lora"/>
                <a:cs typeface="Lora"/>
                <a:sym typeface="Lora"/>
              </a:defRPr>
            </a:lvl5pPr>
            <a:lvl6pPr rtl="0">
              <a:spcBef>
                <a:spcPts val="0"/>
              </a:spcBef>
              <a:buSzPct val="100000"/>
              <a:buFont typeface="Lora"/>
              <a:buNone/>
              <a:defRPr sz="2000" b="1">
                <a:latin typeface="Lora"/>
                <a:ea typeface="Lora"/>
                <a:cs typeface="Lora"/>
                <a:sym typeface="Lora"/>
              </a:defRPr>
            </a:lvl6pPr>
            <a:lvl7pPr rtl="0">
              <a:spcBef>
                <a:spcPts val="0"/>
              </a:spcBef>
              <a:buSzPct val="100000"/>
              <a:buFont typeface="Lora"/>
              <a:buNone/>
              <a:defRPr sz="2000" b="1">
                <a:latin typeface="Lora"/>
                <a:ea typeface="Lora"/>
                <a:cs typeface="Lora"/>
                <a:sym typeface="Lora"/>
              </a:defRPr>
            </a:lvl7pPr>
            <a:lvl8pPr rtl="0">
              <a:spcBef>
                <a:spcPts val="0"/>
              </a:spcBef>
              <a:buSzPct val="100000"/>
              <a:buFont typeface="Lora"/>
              <a:buNone/>
              <a:defRPr sz="2000" b="1">
                <a:latin typeface="Lora"/>
                <a:ea typeface="Lora"/>
                <a:cs typeface="Lora"/>
                <a:sym typeface="Lora"/>
              </a:defRPr>
            </a:lvl8pPr>
            <a:lvl9pPr rtl="0">
              <a:spcBef>
                <a:spcPts val="0"/>
              </a:spcBef>
              <a:buSzPct val="100000"/>
              <a:buFont typeface="Lora"/>
              <a:buNone/>
              <a:defRPr sz="2000" b="1">
                <a:latin typeface="Lora"/>
                <a:ea typeface="Lora"/>
                <a:cs typeface="Lora"/>
                <a:sym typeface="Lora"/>
              </a:defRPr>
            </a:lvl9pPr>
          </a:lstStyle>
          <a:p>
            <a:endParaRPr/>
          </a:p>
        </p:txBody>
      </p:sp>
      <p:sp>
        <p:nvSpPr>
          <p:cNvPr id="26" name="Shape 26"/>
          <p:cNvSpPr txBox="1">
            <a:spLocks noGrp="1"/>
          </p:cNvSpPr>
          <p:nvPr>
            <p:ph type="body" idx="1"/>
          </p:nvPr>
        </p:nvSpPr>
        <p:spPr>
          <a:xfrm>
            <a:off x="1381250" y="1616470"/>
            <a:ext cx="6809700" cy="3112200"/>
          </a:xfrm>
          <a:prstGeom prst="rect">
            <a:avLst/>
          </a:prstGeom>
        </p:spPr>
        <p:txBody>
          <a:bodyPr lIns="91425" tIns="91425" rIns="91425" bIns="91425" anchor="t" anchorCtr="0"/>
          <a:lstStyle>
            <a:lvl1pPr rtl="0">
              <a:spcBef>
                <a:spcPts val="600"/>
              </a:spcBef>
              <a:buClr>
                <a:srgbClr val="FFCD00"/>
              </a:buClr>
              <a:buSzPct val="100000"/>
              <a:buFont typeface="Quattrocento Sans"/>
              <a:buChar char="◉"/>
              <a:defRPr sz="2400">
                <a:latin typeface="Quattrocento Sans"/>
                <a:ea typeface="Quattrocento Sans"/>
                <a:cs typeface="Quattrocento Sans"/>
                <a:sym typeface="Quattrocento Sans"/>
              </a:defRPr>
            </a:lvl1pPr>
            <a:lvl2pPr rtl="0">
              <a:spcBef>
                <a:spcPts val="480"/>
              </a:spcBef>
              <a:buClr>
                <a:srgbClr val="FFCD00"/>
              </a:buClr>
              <a:buSzPct val="100000"/>
              <a:buFont typeface="Quattrocento Sans"/>
              <a:defRPr sz="2000">
                <a:latin typeface="Quattrocento Sans"/>
                <a:ea typeface="Quattrocento Sans"/>
                <a:cs typeface="Quattrocento Sans"/>
                <a:sym typeface="Quattrocento Sans"/>
              </a:defRPr>
            </a:lvl2pPr>
            <a:lvl3pPr rtl="0">
              <a:spcBef>
                <a:spcPts val="480"/>
              </a:spcBef>
              <a:buClr>
                <a:srgbClr val="FFCD00"/>
              </a:buClr>
              <a:buSzPct val="100000"/>
              <a:buFont typeface="Quattrocento Sans"/>
              <a:defRPr sz="2000">
                <a:latin typeface="Quattrocento Sans"/>
                <a:ea typeface="Quattrocento Sans"/>
                <a:cs typeface="Quattrocento Sans"/>
                <a:sym typeface="Quattrocento Sans"/>
              </a:defRPr>
            </a:lvl3pPr>
            <a:lvl4pPr rtl="0">
              <a:spcBef>
                <a:spcPts val="360"/>
              </a:spcBef>
              <a:buClr>
                <a:srgbClr val="FFCD00"/>
              </a:buClr>
              <a:buSzPct val="100000"/>
              <a:buFont typeface="Quattrocento Sans"/>
              <a:defRPr sz="1800">
                <a:latin typeface="Quattrocento Sans"/>
                <a:ea typeface="Quattrocento Sans"/>
                <a:cs typeface="Quattrocento Sans"/>
                <a:sym typeface="Quattrocento Sans"/>
              </a:defRPr>
            </a:lvl4pPr>
            <a:lvl5pPr rtl="0">
              <a:spcBef>
                <a:spcPts val="360"/>
              </a:spcBef>
              <a:buClr>
                <a:srgbClr val="FFCD00"/>
              </a:buClr>
              <a:buSzPct val="100000"/>
              <a:buFont typeface="Quattrocento Sans"/>
              <a:defRPr sz="1800">
                <a:latin typeface="Quattrocento Sans"/>
                <a:ea typeface="Quattrocento Sans"/>
                <a:cs typeface="Quattrocento Sans"/>
                <a:sym typeface="Quattrocento Sans"/>
              </a:defRPr>
            </a:lvl5pPr>
            <a:lvl6pPr rtl="0">
              <a:spcBef>
                <a:spcPts val="360"/>
              </a:spcBef>
              <a:buClr>
                <a:srgbClr val="FFCD00"/>
              </a:buClr>
              <a:buSzPct val="100000"/>
              <a:buFont typeface="Quattrocento Sans"/>
              <a:defRPr sz="1800">
                <a:latin typeface="Quattrocento Sans"/>
                <a:ea typeface="Quattrocento Sans"/>
                <a:cs typeface="Quattrocento Sans"/>
                <a:sym typeface="Quattrocento Sans"/>
              </a:defRPr>
            </a:lvl6pPr>
            <a:lvl7pPr rtl="0">
              <a:spcBef>
                <a:spcPts val="360"/>
              </a:spcBef>
              <a:buClr>
                <a:srgbClr val="FFCD00"/>
              </a:buClr>
              <a:buSzPct val="100000"/>
              <a:buFont typeface="Quattrocento Sans"/>
              <a:defRPr sz="1800">
                <a:latin typeface="Quattrocento Sans"/>
                <a:ea typeface="Quattrocento Sans"/>
                <a:cs typeface="Quattrocento Sans"/>
                <a:sym typeface="Quattrocento Sans"/>
              </a:defRPr>
            </a:lvl7pPr>
            <a:lvl8pPr rtl="0">
              <a:spcBef>
                <a:spcPts val="360"/>
              </a:spcBef>
              <a:buClr>
                <a:srgbClr val="FFCD00"/>
              </a:buClr>
              <a:buSzPct val="100000"/>
              <a:buFont typeface="Quattrocento Sans"/>
              <a:defRPr sz="1800">
                <a:latin typeface="Quattrocento Sans"/>
                <a:ea typeface="Quattrocento Sans"/>
                <a:cs typeface="Quattrocento Sans"/>
                <a:sym typeface="Quattrocento Sans"/>
              </a:defRPr>
            </a:lvl8pPr>
            <a:lvl9pPr rtl="0">
              <a:spcBef>
                <a:spcPts val="360"/>
              </a:spcBef>
              <a:buClr>
                <a:srgbClr val="FFCD00"/>
              </a:buClr>
              <a:buSzPct val="100000"/>
              <a:buFont typeface="Quattrocento Sans"/>
              <a:defRPr sz="1800">
                <a:latin typeface="Quattrocento Sans"/>
                <a:ea typeface="Quattrocento Sans"/>
                <a:cs typeface="Quattrocento Sans"/>
                <a:sym typeface="Quattrocento Sans"/>
              </a:defRPr>
            </a:lvl9pPr>
          </a:lstStyle>
          <a:p>
            <a:endParaRPr/>
          </a:p>
        </p:txBody>
      </p:sp>
      <p:cxnSp>
        <p:nvCxnSpPr>
          <p:cNvPr id="27" name="Shape 27"/>
          <p:cNvCxnSpPr/>
          <p:nvPr/>
        </p:nvCxnSpPr>
        <p:spPr>
          <a:xfrm>
            <a:off x="5265650" y="1131725"/>
            <a:ext cx="3878399" cy="0"/>
          </a:xfrm>
          <a:prstGeom prst="straightConnector1">
            <a:avLst/>
          </a:prstGeom>
          <a:noFill/>
          <a:ln w="9525" cap="flat" cmpd="sng">
            <a:solidFill>
              <a:srgbClr val="CCCCCC"/>
            </a:solidFill>
            <a:prstDash val="solid"/>
            <a:round/>
            <a:headEnd type="none" w="lg" len="lg"/>
            <a:tailEnd type="none" w="lg" len="lg"/>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2"/>
        <p:cNvGrpSpPr/>
        <p:nvPr/>
      </p:nvGrpSpPr>
      <p:grpSpPr>
        <a:xfrm>
          <a:off x="0" y="0"/>
          <a:ext cx="0" cy="0"/>
          <a:chOff x="0" y="0"/>
          <a:chExt cx="0" cy="0"/>
        </a:xfrm>
      </p:grpSpPr>
      <p:cxnSp>
        <p:nvCxnSpPr>
          <p:cNvPr id="53" name="Shape 53"/>
          <p:cNvCxnSpPr/>
          <p:nvPr/>
        </p:nvCxnSpPr>
        <p:spPr>
          <a:xfrm>
            <a:off x="-6025" y="4513728"/>
            <a:ext cx="9161999" cy="0"/>
          </a:xfrm>
          <a:prstGeom prst="straightConnector1">
            <a:avLst/>
          </a:prstGeom>
          <a:noFill/>
          <a:ln w="9525" cap="flat" cmpd="sng">
            <a:solidFill>
              <a:srgbClr val="CCCCCC"/>
            </a:solidFill>
            <a:prstDash val="solid"/>
            <a:round/>
            <a:headEnd type="none" w="lg" len="lg"/>
            <a:tailEnd type="none" w="lg" len="lg"/>
          </a:ln>
        </p:spPr>
      </p:cxnSp>
      <p:sp>
        <p:nvSpPr>
          <p:cNvPr id="54" name="Shape 54"/>
          <p:cNvSpPr/>
          <p:nvPr/>
        </p:nvSpPr>
        <p:spPr>
          <a:xfrm>
            <a:off x="4293700" y="4235405"/>
            <a:ext cx="556499" cy="556499"/>
          </a:xfrm>
          <a:prstGeom prst="ellipse">
            <a:avLst/>
          </a:prstGeom>
          <a:solidFill>
            <a:srgbClr val="FFCD00"/>
          </a:solidFill>
          <a:ln>
            <a:noFill/>
          </a:ln>
        </p:spPr>
        <p:txBody>
          <a:bodyPr lIns="91425" tIns="91425" rIns="91425" bIns="91425" anchor="ctr" anchorCtr="0">
            <a:noAutofit/>
          </a:bodyPr>
          <a:lstStyle/>
          <a:p>
            <a:pPr lvl="0" rtl="0">
              <a:spcBef>
                <a:spcPts val="0"/>
              </a:spcBef>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ompletely blank">
    <p:spTree>
      <p:nvGrpSpPr>
        <p:cNvPr id="1" name="Shape 5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
        <p:cNvGrpSpPr/>
        <p:nvPr/>
      </p:nvGrpSpPr>
      <p:grpSpPr>
        <a:xfrm>
          <a:off x="0" y="0"/>
          <a:ext cx="0" cy="0"/>
          <a:chOff x="0" y="0"/>
          <a:chExt cx="0" cy="0"/>
        </a:xfrm>
      </p:grpSpPr>
      <p:sp>
        <p:nvSpPr>
          <p:cNvPr id="5" name="Shape 5"/>
          <p:cNvSpPr txBox="1">
            <a:spLocks noGrp="1"/>
          </p:cNvSpPr>
          <p:nvPr>
            <p:ph type="body" idx="1"/>
          </p:nvPr>
        </p:nvSpPr>
        <p:spPr>
          <a:xfrm>
            <a:off x="1381250" y="1616470"/>
            <a:ext cx="6809700" cy="3112200"/>
          </a:xfrm>
          <a:prstGeom prst="rect">
            <a:avLst/>
          </a:prstGeom>
          <a:noFill/>
          <a:ln>
            <a:noFill/>
          </a:ln>
        </p:spPr>
        <p:txBody>
          <a:bodyPr lIns="91425" tIns="91425" rIns="91425" bIns="91425" anchor="t" anchorCtr="0"/>
          <a:lstStyle>
            <a:lvl1pPr>
              <a:spcBef>
                <a:spcPts val="600"/>
              </a:spcBef>
              <a:buClr>
                <a:srgbClr val="FFCD00"/>
              </a:buClr>
              <a:buSzPct val="100000"/>
              <a:buFont typeface="Quattrocento Sans"/>
              <a:buChar char="◉"/>
              <a:defRPr sz="2400">
                <a:latin typeface="Quattrocento Sans"/>
                <a:ea typeface="Quattrocento Sans"/>
                <a:cs typeface="Quattrocento Sans"/>
                <a:sym typeface="Quattrocento Sans"/>
              </a:defRPr>
            </a:lvl1pPr>
            <a:lvl2pPr>
              <a:spcBef>
                <a:spcPts val="480"/>
              </a:spcBef>
              <a:buClr>
                <a:srgbClr val="FFCD00"/>
              </a:buClr>
              <a:buSzPct val="100000"/>
              <a:buFont typeface="Quattrocento Sans"/>
              <a:defRPr sz="2000">
                <a:latin typeface="Quattrocento Sans"/>
                <a:ea typeface="Quattrocento Sans"/>
                <a:cs typeface="Quattrocento Sans"/>
                <a:sym typeface="Quattrocento Sans"/>
              </a:defRPr>
            </a:lvl2pPr>
            <a:lvl3pPr>
              <a:spcBef>
                <a:spcPts val="480"/>
              </a:spcBef>
              <a:buClr>
                <a:srgbClr val="FFCD00"/>
              </a:buClr>
              <a:buSzPct val="100000"/>
              <a:buFont typeface="Quattrocento Sans"/>
              <a:defRPr sz="2000">
                <a:latin typeface="Quattrocento Sans"/>
                <a:ea typeface="Quattrocento Sans"/>
                <a:cs typeface="Quattrocento Sans"/>
                <a:sym typeface="Quattrocento Sans"/>
              </a:defRPr>
            </a:lvl3pPr>
            <a:lvl4pPr>
              <a:spcBef>
                <a:spcPts val="360"/>
              </a:spcBef>
              <a:buClr>
                <a:srgbClr val="FFCD00"/>
              </a:buClr>
              <a:buSzPct val="100000"/>
              <a:buFont typeface="Quattrocento Sans"/>
              <a:defRPr sz="1800">
                <a:latin typeface="Quattrocento Sans"/>
                <a:ea typeface="Quattrocento Sans"/>
                <a:cs typeface="Quattrocento Sans"/>
                <a:sym typeface="Quattrocento Sans"/>
              </a:defRPr>
            </a:lvl4pPr>
            <a:lvl5pPr>
              <a:spcBef>
                <a:spcPts val="360"/>
              </a:spcBef>
              <a:buClr>
                <a:srgbClr val="FFCD00"/>
              </a:buClr>
              <a:buSzPct val="100000"/>
              <a:buFont typeface="Quattrocento Sans"/>
              <a:defRPr sz="1800">
                <a:latin typeface="Quattrocento Sans"/>
                <a:ea typeface="Quattrocento Sans"/>
                <a:cs typeface="Quattrocento Sans"/>
                <a:sym typeface="Quattrocento Sans"/>
              </a:defRPr>
            </a:lvl5pPr>
            <a:lvl6pPr>
              <a:spcBef>
                <a:spcPts val="360"/>
              </a:spcBef>
              <a:buClr>
                <a:srgbClr val="FFCD00"/>
              </a:buClr>
              <a:buSzPct val="100000"/>
              <a:buFont typeface="Quattrocento Sans"/>
              <a:defRPr sz="1800">
                <a:latin typeface="Quattrocento Sans"/>
                <a:ea typeface="Quattrocento Sans"/>
                <a:cs typeface="Quattrocento Sans"/>
                <a:sym typeface="Quattrocento Sans"/>
              </a:defRPr>
            </a:lvl6pPr>
            <a:lvl7pPr>
              <a:spcBef>
                <a:spcPts val="360"/>
              </a:spcBef>
              <a:buClr>
                <a:srgbClr val="FFCD00"/>
              </a:buClr>
              <a:buSzPct val="100000"/>
              <a:buFont typeface="Quattrocento Sans"/>
              <a:defRPr sz="1800">
                <a:latin typeface="Quattrocento Sans"/>
                <a:ea typeface="Quattrocento Sans"/>
                <a:cs typeface="Quattrocento Sans"/>
                <a:sym typeface="Quattrocento Sans"/>
              </a:defRPr>
            </a:lvl7pPr>
            <a:lvl8pPr>
              <a:spcBef>
                <a:spcPts val="360"/>
              </a:spcBef>
              <a:buClr>
                <a:srgbClr val="FFCD00"/>
              </a:buClr>
              <a:buSzPct val="100000"/>
              <a:buFont typeface="Quattrocento Sans"/>
              <a:defRPr sz="1800">
                <a:latin typeface="Quattrocento Sans"/>
                <a:ea typeface="Quattrocento Sans"/>
                <a:cs typeface="Quattrocento Sans"/>
                <a:sym typeface="Quattrocento Sans"/>
              </a:defRPr>
            </a:lvl8pPr>
            <a:lvl9pPr>
              <a:spcBef>
                <a:spcPts val="360"/>
              </a:spcBef>
              <a:buClr>
                <a:srgbClr val="FFCD00"/>
              </a:buClr>
              <a:buSzPct val="100000"/>
              <a:buFont typeface="Quattrocento Sans"/>
              <a:defRPr sz="1800">
                <a:latin typeface="Quattrocento Sans"/>
                <a:ea typeface="Quattrocento Sans"/>
                <a:cs typeface="Quattrocento Sans"/>
                <a:sym typeface="Quattrocento Sans"/>
              </a:defRPr>
            </a:lvl9pPr>
          </a:lstStyle>
          <a:p>
            <a:endParaRPr/>
          </a:p>
        </p:txBody>
      </p:sp>
      <p:sp>
        <p:nvSpPr>
          <p:cNvPr id="6" name="Shape 6"/>
          <p:cNvSpPr txBox="1">
            <a:spLocks noGrp="1"/>
          </p:cNvSpPr>
          <p:nvPr>
            <p:ph type="title"/>
          </p:nvPr>
        </p:nvSpPr>
        <p:spPr>
          <a:xfrm>
            <a:off x="1381250" y="937116"/>
            <a:ext cx="6809700" cy="435599"/>
          </a:xfrm>
          <a:prstGeom prst="rect">
            <a:avLst/>
          </a:prstGeom>
          <a:noFill/>
          <a:ln>
            <a:noFill/>
          </a:ln>
        </p:spPr>
        <p:txBody>
          <a:bodyPr lIns="91425" tIns="91425" rIns="91425" bIns="91425" anchor="ctr" anchorCtr="0"/>
          <a:lstStyle>
            <a:lvl1pPr>
              <a:spcBef>
                <a:spcPts val="0"/>
              </a:spcBef>
              <a:buSzPct val="100000"/>
              <a:buFont typeface="Lora"/>
              <a:buNone/>
              <a:defRPr sz="2000" b="1">
                <a:latin typeface="Lora"/>
                <a:ea typeface="Lora"/>
                <a:cs typeface="Lora"/>
                <a:sym typeface="Lora"/>
              </a:defRPr>
            </a:lvl1pPr>
            <a:lvl2pPr>
              <a:spcBef>
                <a:spcPts val="0"/>
              </a:spcBef>
              <a:buSzPct val="100000"/>
              <a:buFont typeface="Lora"/>
              <a:buNone/>
              <a:defRPr sz="2000" b="1">
                <a:latin typeface="Lora"/>
                <a:ea typeface="Lora"/>
                <a:cs typeface="Lora"/>
                <a:sym typeface="Lora"/>
              </a:defRPr>
            </a:lvl2pPr>
            <a:lvl3pPr>
              <a:spcBef>
                <a:spcPts val="0"/>
              </a:spcBef>
              <a:buSzPct val="100000"/>
              <a:buFont typeface="Lora"/>
              <a:buNone/>
              <a:defRPr sz="2000" b="1">
                <a:latin typeface="Lora"/>
                <a:ea typeface="Lora"/>
                <a:cs typeface="Lora"/>
                <a:sym typeface="Lora"/>
              </a:defRPr>
            </a:lvl3pPr>
            <a:lvl4pPr>
              <a:spcBef>
                <a:spcPts val="0"/>
              </a:spcBef>
              <a:buSzPct val="100000"/>
              <a:buFont typeface="Lora"/>
              <a:buNone/>
              <a:defRPr sz="2000" b="1">
                <a:latin typeface="Lora"/>
                <a:ea typeface="Lora"/>
                <a:cs typeface="Lora"/>
                <a:sym typeface="Lora"/>
              </a:defRPr>
            </a:lvl4pPr>
            <a:lvl5pPr>
              <a:spcBef>
                <a:spcPts val="0"/>
              </a:spcBef>
              <a:buSzPct val="100000"/>
              <a:buFont typeface="Lora"/>
              <a:buNone/>
              <a:defRPr sz="2000" b="1">
                <a:latin typeface="Lora"/>
                <a:ea typeface="Lora"/>
                <a:cs typeface="Lora"/>
                <a:sym typeface="Lora"/>
              </a:defRPr>
            </a:lvl5pPr>
            <a:lvl6pPr>
              <a:spcBef>
                <a:spcPts val="0"/>
              </a:spcBef>
              <a:buSzPct val="100000"/>
              <a:buFont typeface="Lora"/>
              <a:buNone/>
              <a:defRPr sz="2000" b="1">
                <a:latin typeface="Lora"/>
                <a:ea typeface="Lora"/>
                <a:cs typeface="Lora"/>
                <a:sym typeface="Lora"/>
              </a:defRPr>
            </a:lvl6pPr>
            <a:lvl7pPr>
              <a:spcBef>
                <a:spcPts val="0"/>
              </a:spcBef>
              <a:buSzPct val="100000"/>
              <a:buFont typeface="Lora"/>
              <a:buNone/>
              <a:defRPr sz="2000" b="1">
                <a:latin typeface="Lora"/>
                <a:ea typeface="Lora"/>
                <a:cs typeface="Lora"/>
                <a:sym typeface="Lora"/>
              </a:defRPr>
            </a:lvl7pPr>
            <a:lvl8pPr>
              <a:spcBef>
                <a:spcPts val="0"/>
              </a:spcBef>
              <a:buSzPct val="100000"/>
              <a:buFont typeface="Lora"/>
              <a:buNone/>
              <a:defRPr sz="2000" b="1">
                <a:latin typeface="Lora"/>
                <a:ea typeface="Lora"/>
                <a:cs typeface="Lora"/>
                <a:sym typeface="Lora"/>
              </a:defRPr>
            </a:lvl8pPr>
            <a:lvl9pPr>
              <a:spcBef>
                <a:spcPts val="0"/>
              </a:spcBef>
              <a:buSzPct val="100000"/>
              <a:buFont typeface="Lora"/>
              <a:buNone/>
              <a:defRPr sz="2000" b="1">
                <a:latin typeface="Lora"/>
                <a:ea typeface="Lora"/>
                <a:cs typeface="Lora"/>
                <a:sym typeface="Lor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6" r:id="rId5"/>
    <p:sldLayoutId id="2147483657" r:id="rId6"/>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Shape 57"/>
          <p:cNvSpPr txBox="1">
            <a:spLocks noGrp="1"/>
          </p:cNvSpPr>
          <p:nvPr>
            <p:ph type="ctrTitle"/>
          </p:nvPr>
        </p:nvSpPr>
        <p:spPr>
          <a:xfrm>
            <a:off x="559940" y="1058238"/>
            <a:ext cx="8075488" cy="2228739"/>
          </a:xfrm>
          <a:prstGeom prst="rect">
            <a:avLst/>
          </a:prstGeom>
        </p:spPr>
        <p:txBody>
          <a:bodyPr lIns="91425" tIns="91425" rIns="91425" bIns="91425" anchor="b" anchorCtr="0">
            <a:noAutofit/>
          </a:bodyPr>
          <a:lstStyle/>
          <a:p>
            <a:r>
              <a:rPr lang="en-US" sz="2800" dirty="0" smtClean="0"/>
              <a:t>LAPORAN</a:t>
            </a:r>
            <a:r>
              <a:rPr lang="id-ID" sz="2800" dirty="0" smtClean="0"/>
              <a:t> </a:t>
            </a:r>
            <a:r>
              <a:rPr lang="id-ID" sz="2800" dirty="0"/>
              <a:t>AKTUALISASI </a:t>
            </a:r>
            <a:r>
              <a:rPr lang="id-ID" sz="2800" dirty="0" smtClean="0"/>
              <a:t>NILAI-NILAI </a:t>
            </a:r>
            <a:r>
              <a:rPr lang="id-ID" sz="2800" dirty="0"/>
              <a:t>DASAR PROFESI PEGAWAI NEGERI </a:t>
            </a:r>
            <a:r>
              <a:rPr lang="id-ID" sz="2800" dirty="0" smtClean="0"/>
              <a:t>SIPIL </a:t>
            </a:r>
            <a:r>
              <a:rPr lang="id-ID" sz="2800" dirty="0"/>
              <a:t>PADA SEKSI </a:t>
            </a:r>
            <a:r>
              <a:rPr lang="en-US" sz="2800" dirty="0" smtClean="0"/>
              <a:t>IPDS </a:t>
            </a:r>
            <a:r>
              <a:rPr lang="id-ID" sz="2800" dirty="0" smtClean="0"/>
              <a:t>BPS </a:t>
            </a:r>
            <a:r>
              <a:rPr lang="id-ID" sz="2800" dirty="0"/>
              <a:t>KOTA </a:t>
            </a:r>
            <a:r>
              <a:rPr lang="id-ID" sz="2800" dirty="0" smtClean="0"/>
              <a:t>BONTANG</a:t>
            </a:r>
            <a:r>
              <a:rPr lang="en-US" sz="2800" dirty="0" smtClean="0"/>
              <a:t/>
            </a:r>
            <a:br>
              <a:rPr lang="en-US" sz="2800" dirty="0" smtClean="0"/>
            </a:br>
            <a:r>
              <a:rPr lang="en-US" sz="2800" dirty="0" smtClean="0"/>
              <a:t>PROVINSI KALIMANTAN TIMUR</a:t>
            </a:r>
            <a:endParaRPr lang="id-ID" sz="2800" dirty="0"/>
          </a:p>
        </p:txBody>
      </p:sp>
      <p:grpSp>
        <p:nvGrpSpPr>
          <p:cNvPr id="58" name="Shape 58"/>
          <p:cNvGrpSpPr/>
          <p:nvPr/>
        </p:nvGrpSpPr>
        <p:grpSpPr>
          <a:xfrm>
            <a:off x="1299164" y="3511423"/>
            <a:ext cx="215966" cy="342398"/>
            <a:chOff x="6718575" y="2318625"/>
            <a:chExt cx="256950" cy="407375"/>
          </a:xfrm>
        </p:grpSpPr>
        <p:sp>
          <p:nvSpPr>
            <p:cNvPr id="59" name="Shape 59"/>
            <p:cNvSpPr/>
            <p:nvPr/>
          </p:nvSpPr>
          <p:spPr>
            <a:xfrm>
              <a:off x="6795900" y="2673600"/>
              <a:ext cx="102300" cy="22550"/>
            </a:xfrm>
            <a:custGeom>
              <a:avLst/>
              <a:gdLst/>
              <a:ahLst/>
              <a:cxnLst/>
              <a:rect l="0" t="0" r="0" b="0"/>
              <a:pathLst>
                <a:path w="4092" h="902" fill="none" extrusionOk="0">
                  <a:moveTo>
                    <a:pt x="4092" y="902"/>
                  </a:moveTo>
                  <a:lnTo>
                    <a:pt x="4092" y="1"/>
                  </a:lnTo>
                  <a:lnTo>
                    <a:pt x="0" y="1"/>
                  </a:lnTo>
                  <a:lnTo>
                    <a:pt x="0" y="902"/>
                  </a:lnTo>
                  <a:lnTo>
                    <a:pt x="4092" y="902"/>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60" name="Shape 60"/>
            <p:cNvSpPr/>
            <p:nvPr/>
          </p:nvSpPr>
          <p:spPr>
            <a:xfrm>
              <a:off x="6795900" y="2650475"/>
              <a:ext cx="102300" cy="22550"/>
            </a:xfrm>
            <a:custGeom>
              <a:avLst/>
              <a:gdLst/>
              <a:ahLst/>
              <a:cxnLst/>
              <a:rect l="0" t="0" r="0" b="0"/>
              <a:pathLst>
                <a:path w="4092" h="902" fill="none" extrusionOk="0">
                  <a:moveTo>
                    <a:pt x="4092" y="901"/>
                  </a:moveTo>
                  <a:lnTo>
                    <a:pt x="4092" y="0"/>
                  </a:lnTo>
                  <a:lnTo>
                    <a:pt x="0" y="0"/>
                  </a:lnTo>
                  <a:lnTo>
                    <a:pt x="0" y="901"/>
                  </a:lnTo>
                  <a:lnTo>
                    <a:pt x="4092" y="901"/>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61" name="Shape 61"/>
            <p:cNvSpPr/>
            <p:nvPr/>
          </p:nvSpPr>
          <p:spPr>
            <a:xfrm>
              <a:off x="6795900" y="2696125"/>
              <a:ext cx="102300" cy="29875"/>
            </a:xfrm>
            <a:custGeom>
              <a:avLst/>
              <a:gdLst/>
              <a:ahLst/>
              <a:cxnLst/>
              <a:rect l="0" t="0" r="0" b="0"/>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62" name="Shape 62"/>
            <p:cNvSpPr/>
            <p:nvPr/>
          </p:nvSpPr>
          <p:spPr>
            <a:xfrm>
              <a:off x="6784925" y="2459275"/>
              <a:ext cx="35350" cy="166875"/>
            </a:xfrm>
            <a:custGeom>
              <a:avLst/>
              <a:gdLst/>
              <a:ahLst/>
              <a:cxnLst/>
              <a:rect l="0" t="0" r="0" b="0"/>
              <a:pathLst>
                <a:path w="1414" h="6675" fill="none" extrusionOk="0">
                  <a:moveTo>
                    <a:pt x="1413" y="6674"/>
                  </a:moveTo>
                  <a:lnTo>
                    <a:pt x="1413" y="6674"/>
                  </a:lnTo>
                  <a:lnTo>
                    <a:pt x="585" y="2850"/>
                  </a:lnTo>
                  <a:lnTo>
                    <a:pt x="1" y="1"/>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63" name="Shape 63"/>
            <p:cNvSpPr/>
            <p:nvPr/>
          </p:nvSpPr>
          <p:spPr>
            <a:xfrm>
              <a:off x="6718575" y="2318625"/>
              <a:ext cx="256950" cy="307525"/>
            </a:xfrm>
            <a:custGeom>
              <a:avLst/>
              <a:gdLst/>
              <a:ahLst/>
              <a:cxnLst/>
              <a:rect l="0" t="0" r="0" b="0"/>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64" name="Shape 64"/>
            <p:cNvSpPr/>
            <p:nvPr/>
          </p:nvSpPr>
          <p:spPr>
            <a:xfrm>
              <a:off x="6873825" y="2459275"/>
              <a:ext cx="35350" cy="166875"/>
            </a:xfrm>
            <a:custGeom>
              <a:avLst/>
              <a:gdLst/>
              <a:ahLst/>
              <a:cxnLst/>
              <a:rect l="0" t="0" r="0" b="0"/>
              <a:pathLst>
                <a:path w="1414" h="6675" fill="none" extrusionOk="0">
                  <a:moveTo>
                    <a:pt x="1413" y="1"/>
                  </a:moveTo>
                  <a:lnTo>
                    <a:pt x="1413" y="1"/>
                  </a:lnTo>
                  <a:lnTo>
                    <a:pt x="829" y="2850"/>
                  </a:lnTo>
                  <a:lnTo>
                    <a:pt x="1" y="6674"/>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65" name="Shape 65"/>
            <p:cNvSpPr/>
            <p:nvPr/>
          </p:nvSpPr>
          <p:spPr>
            <a:xfrm>
              <a:off x="6801975" y="2453200"/>
              <a:ext cx="90150" cy="19500"/>
            </a:xfrm>
            <a:custGeom>
              <a:avLst/>
              <a:gdLst/>
              <a:ahLst/>
              <a:cxnLst/>
              <a:rect l="0" t="0" r="0" b="0"/>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66" name="Shape 66"/>
            <p:cNvSpPr/>
            <p:nvPr/>
          </p:nvSpPr>
          <p:spPr>
            <a:xfrm>
              <a:off x="6795900" y="2628550"/>
              <a:ext cx="102300" cy="25"/>
            </a:xfrm>
            <a:custGeom>
              <a:avLst/>
              <a:gdLst/>
              <a:ahLst/>
              <a:cxnLst/>
              <a:rect l="0" t="0" r="0" b="0"/>
              <a:pathLst>
                <a:path w="4092" h="1" fill="none" extrusionOk="0">
                  <a:moveTo>
                    <a:pt x="0" y="1"/>
                  </a:moveTo>
                  <a:lnTo>
                    <a:pt x="4092" y="1"/>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2" name="Shape 96"/>
          <p:cNvSpPr txBox="1">
            <a:spLocks/>
          </p:cNvSpPr>
          <p:nvPr/>
        </p:nvSpPr>
        <p:spPr>
          <a:xfrm>
            <a:off x="4597684" y="3766347"/>
            <a:ext cx="4279187" cy="784799"/>
          </a:xfrm>
          <a:prstGeom prst="rect">
            <a:avLst/>
          </a:prstGeom>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algn="r"/>
            <a:r>
              <a:rPr lang="id-ID" b="1" dirty="0"/>
              <a:t>HAIDIR MAGRIBI</a:t>
            </a:r>
          </a:p>
          <a:p>
            <a:pPr algn="r"/>
            <a:r>
              <a:rPr lang="id-ID" b="1" dirty="0"/>
              <a:t>NIP. </a:t>
            </a:r>
            <a:r>
              <a:rPr lang="id-ID" b="1" dirty="0" smtClean="0"/>
              <a:t>199310012016021001</a:t>
            </a:r>
            <a:endParaRPr lang="id-ID" b="1" dirty="0"/>
          </a:p>
        </p:txBody>
      </p:sp>
    </p:spTree>
  </p:cSld>
  <p:clrMapOvr>
    <a:masterClrMapping/>
  </p:clrMapOvr>
  <p:transition spd="slow">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Shape 86"/>
          <p:cNvSpPr txBox="1">
            <a:spLocks noGrp="1"/>
          </p:cNvSpPr>
          <p:nvPr>
            <p:ph type="subTitle" idx="1"/>
          </p:nvPr>
        </p:nvSpPr>
        <p:spPr>
          <a:xfrm>
            <a:off x="2371500" y="2093775"/>
            <a:ext cx="5021399" cy="784799"/>
          </a:xfrm>
          <a:prstGeom prst="rect">
            <a:avLst/>
          </a:prstGeom>
          <a:noFill/>
          <a:ln>
            <a:noFill/>
          </a:ln>
        </p:spPr>
        <p:txBody>
          <a:bodyPr lIns="91425" tIns="91425" rIns="91425" bIns="91425" anchor="t" anchorCtr="0">
            <a:noAutofit/>
          </a:bodyPr>
          <a:lstStyle/>
          <a:p>
            <a:pPr rtl="0">
              <a:spcBef>
                <a:spcPts val="0"/>
              </a:spcBef>
              <a:buNone/>
            </a:pPr>
            <a:r>
              <a:rPr lang="en" sz="3600" b="1" i="1" dirty="0">
                <a:latin typeface="Lora"/>
                <a:ea typeface="Lora"/>
                <a:cs typeface="Lora"/>
                <a:sym typeface="Lora"/>
              </a:rPr>
              <a:t>I am </a:t>
            </a:r>
            <a:r>
              <a:rPr lang="en" sz="3600" b="1" i="1" dirty="0" smtClean="0">
                <a:latin typeface="Lora"/>
                <a:ea typeface="Lora"/>
                <a:cs typeface="Lora"/>
                <a:sym typeface="Lora"/>
              </a:rPr>
              <a:t>Haidir Magribi</a:t>
            </a:r>
            <a:endParaRPr lang="en" sz="3600" b="1" i="1" dirty="0">
              <a:latin typeface="Lora"/>
              <a:ea typeface="Lora"/>
              <a:cs typeface="Lora"/>
              <a:sym typeface="Lora"/>
            </a:endParaRPr>
          </a:p>
          <a:p>
            <a:pPr lvl="0" rtl="0">
              <a:spcBef>
                <a:spcPts val="0"/>
              </a:spcBef>
              <a:buClr>
                <a:schemeClr val="dk1"/>
              </a:buClr>
              <a:buSzPct val="61111"/>
              <a:buFont typeface="Arial"/>
              <a:buNone/>
            </a:pPr>
            <a:r>
              <a:rPr lang="en" sz="1800" dirty="0">
                <a:solidFill>
                  <a:schemeClr val="dk1"/>
                </a:solidFill>
              </a:rPr>
              <a:t>I </a:t>
            </a:r>
            <a:r>
              <a:rPr lang="en" sz="1800" dirty="0" smtClean="0">
                <a:solidFill>
                  <a:schemeClr val="dk1"/>
                </a:solidFill>
              </a:rPr>
              <a:t>am a staff IPDS BPS statistic of Bontang city </a:t>
            </a:r>
            <a:endParaRPr lang="en" sz="1800" dirty="0">
              <a:solidFill>
                <a:schemeClr val="dk1"/>
              </a:solidFill>
            </a:endParaRPr>
          </a:p>
          <a:p>
            <a:pPr>
              <a:spcBef>
                <a:spcPts val="0"/>
              </a:spcBef>
              <a:buNone/>
            </a:pPr>
            <a:endParaRPr b="1" dirty="0"/>
          </a:p>
        </p:txBody>
      </p:sp>
      <p:cxnSp>
        <p:nvCxnSpPr>
          <p:cNvPr id="87" name="Shape 87"/>
          <p:cNvCxnSpPr/>
          <p:nvPr/>
        </p:nvCxnSpPr>
        <p:spPr>
          <a:xfrm>
            <a:off x="6450" y="1428750"/>
            <a:ext cx="2397299" cy="0"/>
          </a:xfrm>
          <a:prstGeom prst="straightConnector1">
            <a:avLst/>
          </a:prstGeom>
          <a:noFill/>
          <a:ln w="9525" cap="flat" cmpd="sng">
            <a:solidFill>
              <a:srgbClr val="CCCCCC"/>
            </a:solidFill>
            <a:prstDash val="solid"/>
            <a:round/>
            <a:headEnd type="none" w="lg" len="lg"/>
            <a:tailEnd type="none" w="lg" len="lg"/>
          </a:ln>
        </p:spPr>
      </p:cxnSp>
      <p:pic>
        <p:nvPicPr>
          <p:cNvPr id="88" name="Shape 88"/>
          <p:cNvPicPr preferRelativeResize="0"/>
          <p:nvPr/>
        </p:nvPicPr>
        <p:blipFill>
          <a:blip r:embed="rId3">
            <a:alphaModFix/>
          </a:blip>
          <a:stretch>
            <a:fillRect/>
          </a:stretch>
        </p:blipFill>
        <p:spPr>
          <a:xfrm>
            <a:off x="834600" y="861898"/>
            <a:ext cx="1133700" cy="1133700"/>
          </a:xfrm>
          <a:prstGeom prst="ellipse">
            <a:avLst/>
          </a:prstGeom>
          <a:noFill/>
          <a:ln>
            <a:noFill/>
          </a:ln>
        </p:spPr>
      </p:pic>
      <p:sp>
        <p:nvSpPr>
          <p:cNvPr id="89" name="Shape 89"/>
          <p:cNvSpPr txBox="1">
            <a:spLocks noGrp="1"/>
          </p:cNvSpPr>
          <p:nvPr>
            <p:ph type="ctrTitle"/>
          </p:nvPr>
        </p:nvSpPr>
        <p:spPr>
          <a:xfrm>
            <a:off x="2371625" y="816550"/>
            <a:ext cx="4908000" cy="1159799"/>
          </a:xfrm>
          <a:prstGeom prst="rect">
            <a:avLst/>
          </a:prstGeom>
          <a:noFill/>
          <a:ln>
            <a:noFill/>
          </a:ln>
        </p:spPr>
        <p:txBody>
          <a:bodyPr lIns="91425" tIns="91425" rIns="91425" bIns="91425" anchor="ctr" anchorCtr="0">
            <a:noAutofit/>
          </a:bodyPr>
          <a:lstStyle/>
          <a:p>
            <a:pPr>
              <a:spcBef>
                <a:spcPts val="0"/>
              </a:spcBef>
              <a:buNone/>
            </a:pPr>
            <a:r>
              <a:rPr lang="en" sz="6000"/>
              <a:t>Hello!</a:t>
            </a:r>
          </a:p>
        </p:txBody>
      </p:sp>
      <p:cxnSp>
        <p:nvCxnSpPr>
          <p:cNvPr id="90" name="Shape 90"/>
          <p:cNvCxnSpPr/>
          <p:nvPr/>
        </p:nvCxnSpPr>
        <p:spPr>
          <a:xfrm>
            <a:off x="4738400" y="1428750"/>
            <a:ext cx="4405500" cy="0"/>
          </a:xfrm>
          <a:prstGeom prst="straightConnector1">
            <a:avLst/>
          </a:prstGeom>
          <a:noFill/>
          <a:ln w="9525" cap="flat" cmpd="sng">
            <a:solidFill>
              <a:srgbClr val="CCCCCC"/>
            </a:solidFill>
            <a:prstDash val="solid"/>
            <a:round/>
            <a:headEnd type="none" w="lg" len="lg"/>
            <a:tailEnd type="none" w="lg" len="lg"/>
          </a:ln>
        </p:spPr>
      </p:cxnSp>
    </p:spTree>
  </p:cSld>
  <p:clrMapOvr>
    <a:masterClrMapping/>
  </p:clrMapOvr>
  <p:transition spd="slow">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Shape 102"/>
          <p:cNvSpPr txBox="1">
            <a:spLocks noGrp="1"/>
          </p:cNvSpPr>
          <p:nvPr>
            <p:ph type="body" idx="1"/>
          </p:nvPr>
        </p:nvSpPr>
        <p:spPr>
          <a:xfrm>
            <a:off x="1212351" y="2361289"/>
            <a:ext cx="6719298" cy="819899"/>
          </a:xfrm>
          <a:prstGeom prst="rect">
            <a:avLst/>
          </a:prstGeom>
        </p:spPr>
        <p:txBody>
          <a:bodyPr lIns="91425" tIns="91425" rIns="91425" bIns="91425" anchor="b" anchorCtr="0">
            <a:noAutofit/>
          </a:bodyPr>
          <a:lstStyle/>
          <a:p>
            <a:pPr>
              <a:buNone/>
            </a:pPr>
            <a:r>
              <a:rPr lang="en-US" dirty="0" err="1"/>
              <a:t>Tahap</a:t>
            </a:r>
            <a:r>
              <a:rPr lang="en-US" dirty="0"/>
              <a:t> </a:t>
            </a:r>
            <a:r>
              <a:rPr lang="en-US" dirty="0" err="1"/>
              <a:t>Aktualisasi</a:t>
            </a:r>
            <a:r>
              <a:rPr lang="en-US" dirty="0"/>
              <a:t> </a:t>
            </a:r>
            <a:r>
              <a:rPr lang="en-US" dirty="0" err="1"/>
              <a:t>nilai-nilai</a:t>
            </a:r>
            <a:r>
              <a:rPr lang="en-US" dirty="0"/>
              <a:t> </a:t>
            </a:r>
            <a:r>
              <a:rPr lang="en-US" dirty="0" err="1"/>
              <a:t>dasar</a:t>
            </a:r>
            <a:r>
              <a:rPr lang="en-US" dirty="0"/>
              <a:t> </a:t>
            </a:r>
            <a:r>
              <a:rPr lang="en-US" dirty="0" err="1"/>
              <a:t>profesi</a:t>
            </a:r>
            <a:r>
              <a:rPr lang="en-US" dirty="0"/>
              <a:t> PNS </a:t>
            </a:r>
            <a:r>
              <a:rPr lang="en-US" dirty="0" err="1"/>
              <a:t>dilaksanakan</a:t>
            </a:r>
            <a:r>
              <a:rPr lang="en-US" dirty="0"/>
              <a:t> </a:t>
            </a:r>
            <a:r>
              <a:rPr lang="en-US" dirty="0" err="1"/>
              <a:t>dengan</a:t>
            </a:r>
            <a:r>
              <a:rPr lang="en-US" dirty="0"/>
              <a:t> </a:t>
            </a:r>
            <a:r>
              <a:rPr lang="en-US" dirty="0" err="1"/>
              <a:t>mengerjakan</a:t>
            </a:r>
            <a:r>
              <a:rPr lang="en-US" dirty="0"/>
              <a:t> 8 (</a:t>
            </a:r>
            <a:r>
              <a:rPr lang="en-US" dirty="0" err="1"/>
              <a:t>delapan</a:t>
            </a:r>
            <a:r>
              <a:rPr lang="en-US" dirty="0"/>
              <a:t>) </a:t>
            </a:r>
            <a:r>
              <a:rPr lang="en-US" dirty="0" err="1"/>
              <a:t>kegiatan</a:t>
            </a:r>
            <a:r>
              <a:rPr lang="en" dirty="0" smtClean="0"/>
              <a:t>.</a:t>
            </a:r>
            <a:endParaRPr lang="en" dirty="0"/>
          </a:p>
        </p:txBody>
      </p:sp>
    </p:spTree>
  </p:cSld>
  <p:clrMapOvr>
    <a:masterClrMapping/>
  </p:clrMapOvr>
  <p:transition spd="slow">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Shape 222"/>
          <p:cNvSpPr txBox="1">
            <a:spLocks noGrp="1"/>
          </p:cNvSpPr>
          <p:nvPr>
            <p:ph type="ctrTitle"/>
          </p:nvPr>
        </p:nvSpPr>
        <p:spPr>
          <a:xfrm>
            <a:off x="685800" y="1583342"/>
            <a:ext cx="7772400" cy="1159799"/>
          </a:xfrm>
          <a:prstGeom prst="rect">
            <a:avLst/>
          </a:prstGeom>
          <a:noFill/>
          <a:ln>
            <a:noFill/>
          </a:ln>
        </p:spPr>
        <p:txBody>
          <a:bodyPr lIns="91425" tIns="91425" rIns="91425" bIns="91425" anchor="ctr" anchorCtr="0">
            <a:noAutofit/>
          </a:bodyPr>
          <a:lstStyle/>
          <a:p>
            <a:pPr lvl="0" algn="ctr" rtl="0">
              <a:spcBef>
                <a:spcPts val="0"/>
              </a:spcBef>
              <a:buNone/>
            </a:pPr>
            <a:r>
              <a:rPr lang="en" sz="6600" dirty="0" smtClean="0"/>
              <a:t>8-25 Agustus 2016</a:t>
            </a:r>
            <a:endParaRPr lang="en" sz="6600" dirty="0"/>
          </a:p>
        </p:txBody>
      </p:sp>
      <p:sp>
        <p:nvSpPr>
          <p:cNvPr id="223" name="Shape 223"/>
          <p:cNvSpPr txBox="1">
            <a:spLocks noGrp="1"/>
          </p:cNvSpPr>
          <p:nvPr>
            <p:ph type="subTitle" idx="1"/>
          </p:nvPr>
        </p:nvSpPr>
        <p:spPr>
          <a:xfrm>
            <a:off x="685800" y="2840053"/>
            <a:ext cx="7772400" cy="784799"/>
          </a:xfrm>
          <a:prstGeom prst="rect">
            <a:avLst/>
          </a:prstGeom>
          <a:noFill/>
          <a:ln>
            <a:noFill/>
          </a:ln>
        </p:spPr>
        <p:txBody>
          <a:bodyPr lIns="91425" tIns="91425" rIns="91425" bIns="91425" anchor="t" anchorCtr="0">
            <a:noAutofit/>
          </a:bodyPr>
          <a:lstStyle/>
          <a:p>
            <a:pPr lvl="0" algn="ctr"/>
            <a:r>
              <a:rPr lang="en-US" sz="1800" i="1" dirty="0" smtClean="0"/>
              <a:t>“You </a:t>
            </a:r>
            <a:r>
              <a:rPr lang="en-US" sz="1800" i="1" dirty="0"/>
              <a:t>may delay, but time will </a:t>
            </a:r>
            <a:r>
              <a:rPr lang="en-US" sz="1800" i="1" dirty="0" smtClean="0"/>
              <a:t>not. </a:t>
            </a:r>
            <a:r>
              <a:rPr lang="en-US" sz="1800" i="1" dirty="0"/>
              <a:t>(Benjamin Franklin</a:t>
            </a:r>
            <a:r>
              <a:rPr lang="en-US" sz="1800" i="1" dirty="0" smtClean="0"/>
              <a:t>)”</a:t>
            </a:r>
            <a:endParaRPr lang="en" sz="1800" i="1" dirty="0"/>
          </a:p>
        </p:txBody>
      </p:sp>
      <p:grpSp>
        <p:nvGrpSpPr>
          <p:cNvPr id="224" name="Shape 224"/>
          <p:cNvGrpSpPr/>
          <p:nvPr/>
        </p:nvGrpSpPr>
        <p:grpSpPr>
          <a:xfrm>
            <a:off x="4433047" y="4413424"/>
            <a:ext cx="277858" cy="201655"/>
            <a:chOff x="3932350" y="3714775"/>
            <a:chExt cx="439650" cy="319075"/>
          </a:xfrm>
        </p:grpSpPr>
        <p:sp>
          <p:nvSpPr>
            <p:cNvPr id="225" name="Shape 225"/>
            <p:cNvSpPr/>
            <p:nvPr/>
          </p:nvSpPr>
          <p:spPr>
            <a:xfrm>
              <a:off x="3932350" y="3714775"/>
              <a:ext cx="439650" cy="319075"/>
            </a:xfrm>
            <a:custGeom>
              <a:avLst/>
              <a:gdLst/>
              <a:ahLst/>
              <a:cxnLst/>
              <a:rect l="0" t="0" r="0" b="0"/>
              <a:pathLst>
                <a:path w="17586" h="12763" fill="none" extrusionOk="0">
                  <a:moveTo>
                    <a:pt x="1" y="1"/>
                  </a:moveTo>
                  <a:lnTo>
                    <a:pt x="1" y="12276"/>
                  </a:lnTo>
                  <a:lnTo>
                    <a:pt x="1" y="12276"/>
                  </a:lnTo>
                  <a:lnTo>
                    <a:pt x="1" y="12373"/>
                  </a:lnTo>
                  <a:lnTo>
                    <a:pt x="25" y="12471"/>
                  </a:lnTo>
                  <a:lnTo>
                    <a:pt x="74" y="12544"/>
                  </a:lnTo>
                  <a:lnTo>
                    <a:pt x="123" y="12617"/>
                  </a:lnTo>
                  <a:lnTo>
                    <a:pt x="196" y="12690"/>
                  </a:lnTo>
                  <a:lnTo>
                    <a:pt x="293" y="12714"/>
                  </a:lnTo>
                  <a:lnTo>
                    <a:pt x="366" y="12763"/>
                  </a:lnTo>
                  <a:lnTo>
                    <a:pt x="488" y="12763"/>
                  </a:lnTo>
                  <a:lnTo>
                    <a:pt x="17585" y="1276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26" name="Shape 226"/>
            <p:cNvSpPr/>
            <p:nvPr/>
          </p:nvSpPr>
          <p:spPr>
            <a:xfrm>
              <a:off x="3970100" y="3862750"/>
              <a:ext cx="77350" cy="132750"/>
            </a:xfrm>
            <a:custGeom>
              <a:avLst/>
              <a:gdLst/>
              <a:ahLst/>
              <a:cxnLst/>
              <a:rect l="0" t="0" r="0" b="0"/>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27" name="Shape 227"/>
            <p:cNvSpPr/>
            <p:nvPr/>
          </p:nvSpPr>
          <p:spPr>
            <a:xfrm>
              <a:off x="4278800" y="3862750"/>
              <a:ext cx="77350" cy="132750"/>
            </a:xfrm>
            <a:custGeom>
              <a:avLst/>
              <a:gdLst/>
              <a:ahLst/>
              <a:cxnLst/>
              <a:rect l="0" t="0" r="0" b="0"/>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0"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28" name="Shape 228"/>
            <p:cNvSpPr/>
            <p:nvPr/>
          </p:nvSpPr>
          <p:spPr>
            <a:xfrm>
              <a:off x="4073000" y="3716600"/>
              <a:ext cx="77350" cy="278900"/>
            </a:xfrm>
            <a:custGeom>
              <a:avLst/>
              <a:gdLst/>
              <a:ahLst/>
              <a:cxnLst/>
              <a:rect l="0" t="0" r="0" b="0"/>
              <a:pathLst>
                <a:path w="3094" h="11156" fill="none" extrusionOk="0">
                  <a:moveTo>
                    <a:pt x="3094" y="11155"/>
                  </a:moveTo>
                  <a:lnTo>
                    <a:pt x="3094" y="488"/>
                  </a:lnTo>
                  <a:lnTo>
                    <a:pt x="3094" y="488"/>
                  </a:lnTo>
                  <a:lnTo>
                    <a:pt x="3094" y="391"/>
                  </a:lnTo>
                  <a:lnTo>
                    <a:pt x="3070" y="293"/>
                  </a:lnTo>
                  <a:lnTo>
                    <a:pt x="3021" y="220"/>
                  </a:lnTo>
                  <a:lnTo>
                    <a:pt x="2948" y="147"/>
                  </a:lnTo>
                  <a:lnTo>
                    <a:pt x="2899" y="98"/>
                  </a:lnTo>
                  <a:lnTo>
                    <a:pt x="2802" y="50"/>
                  </a:lnTo>
                  <a:lnTo>
                    <a:pt x="2704" y="25"/>
                  </a:lnTo>
                  <a:lnTo>
                    <a:pt x="2607" y="1"/>
                  </a:lnTo>
                  <a:lnTo>
                    <a:pt x="488" y="1"/>
                  </a:lnTo>
                  <a:lnTo>
                    <a:pt x="488" y="1"/>
                  </a:lnTo>
                  <a:lnTo>
                    <a:pt x="391" y="25"/>
                  </a:lnTo>
                  <a:lnTo>
                    <a:pt x="293" y="50"/>
                  </a:lnTo>
                  <a:lnTo>
                    <a:pt x="220" y="98"/>
                  </a:lnTo>
                  <a:lnTo>
                    <a:pt x="147" y="147"/>
                  </a:lnTo>
                  <a:lnTo>
                    <a:pt x="74" y="220"/>
                  </a:lnTo>
                  <a:lnTo>
                    <a:pt x="50" y="293"/>
                  </a:lnTo>
                  <a:lnTo>
                    <a:pt x="1" y="391"/>
                  </a:lnTo>
                  <a:lnTo>
                    <a:pt x="1" y="488"/>
                  </a:lnTo>
                  <a:lnTo>
                    <a:pt x="1" y="11155"/>
                  </a:lnTo>
                  <a:lnTo>
                    <a:pt x="3094" y="11155"/>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29" name="Shape 229"/>
            <p:cNvSpPr/>
            <p:nvPr/>
          </p:nvSpPr>
          <p:spPr>
            <a:xfrm>
              <a:off x="4175900" y="3787250"/>
              <a:ext cx="77350" cy="208250"/>
            </a:xfrm>
            <a:custGeom>
              <a:avLst/>
              <a:gdLst/>
              <a:ahLst/>
              <a:cxnLst/>
              <a:rect l="0" t="0" r="0" b="0"/>
              <a:pathLst>
                <a:path w="3094" h="8330" fill="none" extrusionOk="0">
                  <a:moveTo>
                    <a:pt x="3094" y="832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8329"/>
                  </a:lnTo>
                  <a:lnTo>
                    <a:pt x="3094" y="8329"/>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Tree>
  </p:cSld>
  <p:clrMapOvr>
    <a:masterClrMapping/>
  </p:clrMapOvr>
  <p:transition spd="slow">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1" y="924720"/>
            <a:ext cx="3001564" cy="435599"/>
          </a:xfrm>
          <a:prstGeom prst="rect">
            <a:avLst/>
          </a:prstGeom>
        </p:spPr>
        <p:txBody>
          <a:bodyPr lIns="91425" tIns="91425" rIns="91425" bIns="91425" anchor="ctr" anchorCtr="0">
            <a:noAutofit/>
          </a:bodyPr>
          <a:lstStyle/>
          <a:p>
            <a:r>
              <a:rPr lang="en-US" dirty="0" smtClean="0"/>
              <a:t>Outline</a:t>
            </a:r>
            <a:endParaRPr lang="en"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384830" y="2192205"/>
            <a:ext cx="3549216" cy="163323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endParaRPr lang="en" sz="1400" dirty="0"/>
          </a:p>
        </p:txBody>
      </p:sp>
      <p:sp>
        <p:nvSpPr>
          <p:cNvPr id="2" name="Text Placeholder 1"/>
          <p:cNvSpPr>
            <a:spLocks noGrp="1"/>
          </p:cNvSpPr>
          <p:nvPr>
            <p:ph type="body" idx="1"/>
          </p:nvPr>
        </p:nvSpPr>
        <p:spPr>
          <a:xfrm>
            <a:off x="384830" y="1616470"/>
            <a:ext cx="7844770" cy="3112200"/>
          </a:xfrm>
        </p:spPr>
        <p:txBody>
          <a:bodyPr/>
          <a:lstStyle/>
          <a:p>
            <a:r>
              <a:rPr lang="en-US" dirty="0" smtClean="0"/>
              <a:t> </a:t>
            </a:r>
            <a:r>
              <a:rPr lang="en-US" dirty="0" err="1" smtClean="0"/>
              <a:t>Jadwal</a:t>
            </a:r>
            <a:r>
              <a:rPr lang="en-US" dirty="0" smtClean="0"/>
              <a:t> &amp; </a:t>
            </a:r>
            <a:r>
              <a:rPr lang="en-US" dirty="0" err="1" smtClean="0"/>
              <a:t>Implementasi</a:t>
            </a:r>
            <a:endParaRPr lang="en-US" dirty="0" smtClean="0"/>
          </a:p>
          <a:p>
            <a:r>
              <a:rPr lang="en-US" dirty="0"/>
              <a:t> </a:t>
            </a:r>
            <a:r>
              <a:rPr lang="en-US" dirty="0" err="1"/>
              <a:t>Dijelaskan</a:t>
            </a:r>
            <a:r>
              <a:rPr lang="en-US" dirty="0"/>
              <a:t> per </a:t>
            </a:r>
            <a:r>
              <a:rPr lang="en-US" dirty="0" err="1"/>
              <a:t>Nilai-nilai</a:t>
            </a:r>
            <a:r>
              <a:rPr lang="en-US" dirty="0"/>
              <a:t> </a:t>
            </a:r>
            <a:r>
              <a:rPr lang="en-US" dirty="0" smtClean="0"/>
              <a:t>ANEKA</a:t>
            </a:r>
          </a:p>
          <a:p>
            <a:r>
              <a:rPr lang="en-US" dirty="0" smtClean="0"/>
              <a:t> </a:t>
            </a:r>
            <a:r>
              <a:rPr lang="en-US" dirty="0" err="1" smtClean="0"/>
              <a:t>Contoh</a:t>
            </a:r>
            <a:r>
              <a:rPr lang="en-US" dirty="0" smtClean="0"/>
              <a:t> </a:t>
            </a:r>
            <a:r>
              <a:rPr lang="en-US" dirty="0" err="1" smtClean="0"/>
              <a:t>penerapan</a:t>
            </a:r>
            <a:r>
              <a:rPr lang="en-US" dirty="0" smtClean="0"/>
              <a:t> </a:t>
            </a:r>
            <a:r>
              <a:rPr lang="en-US" dirty="0" err="1" smtClean="0"/>
              <a:t>nilai-nilai</a:t>
            </a:r>
            <a:r>
              <a:rPr lang="en-US" dirty="0" smtClean="0"/>
              <a:t> ANEKA &amp; </a:t>
            </a:r>
            <a:r>
              <a:rPr lang="en-US" smtClean="0"/>
              <a:t>akibatnya </a:t>
            </a:r>
            <a:r>
              <a:rPr lang="en-US" dirty="0" err="1" smtClean="0"/>
              <a:t>bila</a:t>
            </a:r>
            <a:r>
              <a:rPr lang="en-US" dirty="0" smtClean="0"/>
              <a:t> 	</a:t>
            </a:r>
            <a:r>
              <a:rPr lang="en-US" dirty="0" err="1" smtClean="0"/>
              <a:t>tidak</a:t>
            </a:r>
            <a:r>
              <a:rPr lang="en-US" dirty="0" smtClean="0"/>
              <a:t> </a:t>
            </a:r>
            <a:r>
              <a:rPr lang="en-US" dirty="0" err="1" smtClean="0"/>
              <a:t>diterapkan</a:t>
            </a:r>
            <a:endParaRPr lang="en-US" dirty="0" smtClean="0"/>
          </a:p>
          <a:p>
            <a:r>
              <a:rPr lang="en-US" dirty="0"/>
              <a:t> </a:t>
            </a:r>
            <a:r>
              <a:rPr lang="en-US" dirty="0" err="1"/>
              <a:t>K</a:t>
            </a:r>
            <a:r>
              <a:rPr lang="en-US" dirty="0" err="1" smtClean="0"/>
              <a:t>endala</a:t>
            </a:r>
            <a:r>
              <a:rPr lang="en-US" dirty="0" smtClean="0"/>
              <a:t> &amp; </a:t>
            </a:r>
            <a:r>
              <a:rPr lang="en-US" dirty="0" err="1" smtClean="0"/>
              <a:t>Solusi</a:t>
            </a:r>
            <a:endParaRPr lang="en-US" dirty="0" smtClean="0"/>
          </a:p>
        </p:txBody>
      </p:sp>
    </p:spTree>
    <p:extLst>
      <p:ext uri="{BB962C8B-B14F-4D97-AF65-F5344CB8AC3E}">
        <p14:creationId xmlns:p14="http://schemas.microsoft.com/office/powerpoint/2010/main" val="478443469"/>
      </p:ext>
    </p:extLst>
  </p:cSld>
  <p:clrMapOvr>
    <a:masterClrMapping/>
  </p:clrMapOvr>
  <p:transition spd="slow">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147417789"/>
              </p:ext>
            </p:extLst>
          </p:nvPr>
        </p:nvGraphicFramePr>
        <p:xfrm>
          <a:off x="566057" y="682171"/>
          <a:ext cx="7707085" cy="4276344"/>
        </p:xfrm>
        <a:graphic>
          <a:graphicData uri="http://schemas.openxmlformats.org/drawingml/2006/table">
            <a:tbl>
              <a:tblPr firstRow="1" firstCol="1" bandRow="1">
                <a:tableStyleId>{21E4AEA4-8DFA-4A89-87EB-49C32662AFE0}</a:tableStyleId>
              </a:tblPr>
              <a:tblGrid>
                <a:gridCol w="402077"/>
                <a:gridCol w="1118506"/>
                <a:gridCol w="970086"/>
                <a:gridCol w="972686"/>
                <a:gridCol w="928475"/>
                <a:gridCol w="1370604"/>
                <a:gridCol w="1944651"/>
              </a:tblGrid>
              <a:tr h="188368">
                <a:tc rowSpan="2">
                  <a:txBody>
                    <a:bodyPr/>
                    <a:lstStyle/>
                    <a:p>
                      <a:pPr marL="0" marR="0" algn="ctr">
                        <a:lnSpc>
                          <a:spcPct val="115000"/>
                        </a:lnSpc>
                        <a:spcBef>
                          <a:spcPts val="200"/>
                        </a:spcBef>
                        <a:spcAft>
                          <a:spcPts val="100"/>
                        </a:spcAft>
                      </a:pPr>
                      <a:r>
                        <a:rPr lang="en-US" sz="1400" dirty="0">
                          <a:solidFill>
                            <a:schemeClr val="bg1"/>
                          </a:solidFill>
                          <a:effectLst/>
                        </a:rPr>
                        <a:t>No.</a:t>
                      </a:r>
                      <a:endParaRPr lang="id-ID"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2">
                  <a:txBody>
                    <a:bodyPr/>
                    <a:lstStyle/>
                    <a:p>
                      <a:pPr marL="0" marR="0" algn="ctr">
                        <a:lnSpc>
                          <a:spcPct val="115000"/>
                        </a:lnSpc>
                        <a:spcBef>
                          <a:spcPts val="200"/>
                        </a:spcBef>
                        <a:spcAft>
                          <a:spcPts val="100"/>
                        </a:spcAft>
                      </a:pPr>
                      <a:r>
                        <a:rPr lang="en-US" sz="1400" dirty="0" err="1">
                          <a:solidFill>
                            <a:schemeClr val="bg1"/>
                          </a:solidFill>
                          <a:effectLst/>
                        </a:rPr>
                        <a:t>Kegiatan</a:t>
                      </a:r>
                      <a:endParaRPr lang="id-ID"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marL="0" marR="0" algn="ctr">
                        <a:lnSpc>
                          <a:spcPct val="115000"/>
                        </a:lnSpc>
                        <a:spcBef>
                          <a:spcPts val="200"/>
                        </a:spcBef>
                        <a:spcAft>
                          <a:spcPts val="100"/>
                        </a:spcAft>
                      </a:pPr>
                      <a:r>
                        <a:rPr lang="en-US" sz="1400">
                          <a:solidFill>
                            <a:schemeClr val="bg1"/>
                          </a:solidFill>
                          <a:effectLst/>
                        </a:rPr>
                        <a:t>Rancangan</a:t>
                      </a:r>
                      <a:endParaRPr lang="id-ID" sz="14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id-ID"/>
                    </a:p>
                  </a:txBody>
                  <a:tcPr/>
                </a:tc>
                <a:tc gridSpan="2">
                  <a:txBody>
                    <a:bodyPr/>
                    <a:lstStyle/>
                    <a:p>
                      <a:pPr marL="0" marR="0" algn="ctr">
                        <a:lnSpc>
                          <a:spcPct val="115000"/>
                        </a:lnSpc>
                        <a:spcBef>
                          <a:spcPts val="200"/>
                        </a:spcBef>
                        <a:spcAft>
                          <a:spcPts val="100"/>
                        </a:spcAft>
                      </a:pPr>
                      <a:r>
                        <a:rPr lang="id-ID" sz="1400">
                          <a:solidFill>
                            <a:schemeClr val="bg1"/>
                          </a:solidFill>
                          <a:effectLst/>
                        </a:rPr>
                        <a:t>Aktualisasi</a:t>
                      </a:r>
                      <a:endParaRPr lang="id-ID" sz="14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id-ID"/>
                    </a:p>
                  </a:txBody>
                  <a:tcPr/>
                </a:tc>
                <a:tc rowSpan="2">
                  <a:txBody>
                    <a:bodyPr/>
                    <a:lstStyle/>
                    <a:p>
                      <a:pPr marL="0" marR="0" algn="ctr">
                        <a:lnSpc>
                          <a:spcPct val="115000"/>
                        </a:lnSpc>
                        <a:spcBef>
                          <a:spcPts val="200"/>
                        </a:spcBef>
                        <a:spcAft>
                          <a:spcPts val="100"/>
                        </a:spcAft>
                      </a:pPr>
                      <a:r>
                        <a:rPr lang="en-US" sz="1400" dirty="0" err="1">
                          <a:solidFill>
                            <a:schemeClr val="bg1"/>
                          </a:solidFill>
                          <a:effectLst/>
                        </a:rPr>
                        <a:t>Keterangan</a:t>
                      </a:r>
                      <a:endParaRPr lang="id-ID"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188368">
                <a:tc vMerge="1">
                  <a:txBody>
                    <a:bodyPr/>
                    <a:lstStyle/>
                    <a:p>
                      <a:endParaRPr lang="id-ID"/>
                    </a:p>
                  </a:txBody>
                  <a:tcPr/>
                </a:tc>
                <a:tc vMerge="1">
                  <a:txBody>
                    <a:bodyPr/>
                    <a:lstStyle/>
                    <a:p>
                      <a:endParaRPr lang="id-ID"/>
                    </a:p>
                  </a:txBody>
                  <a:tcPr/>
                </a:tc>
                <a:tc>
                  <a:txBody>
                    <a:bodyPr/>
                    <a:lstStyle/>
                    <a:p>
                      <a:pPr marL="0" marR="0" algn="ctr">
                        <a:lnSpc>
                          <a:spcPct val="115000"/>
                        </a:lnSpc>
                        <a:spcBef>
                          <a:spcPts val="200"/>
                        </a:spcBef>
                        <a:spcAft>
                          <a:spcPts val="100"/>
                        </a:spcAft>
                      </a:pPr>
                      <a:r>
                        <a:rPr lang="en-US" sz="1400" dirty="0" err="1">
                          <a:solidFill>
                            <a:schemeClr val="bg1"/>
                          </a:solidFill>
                          <a:effectLst/>
                        </a:rPr>
                        <a:t>Jadwal</a:t>
                      </a:r>
                      <a:endParaRPr lang="id-ID"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marR="0" algn="ctr">
                        <a:lnSpc>
                          <a:spcPct val="115000"/>
                        </a:lnSpc>
                        <a:spcBef>
                          <a:spcPts val="200"/>
                        </a:spcBef>
                        <a:spcAft>
                          <a:spcPts val="100"/>
                        </a:spcAft>
                      </a:pPr>
                      <a:r>
                        <a:rPr lang="id-ID" sz="1400">
                          <a:solidFill>
                            <a:schemeClr val="bg1"/>
                          </a:solidFill>
                          <a:effectLst/>
                        </a:rPr>
                        <a:t>Target</a:t>
                      </a:r>
                      <a:endParaRPr lang="id-ID" sz="14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marR="0" algn="ctr">
                        <a:lnSpc>
                          <a:spcPct val="115000"/>
                        </a:lnSpc>
                        <a:spcBef>
                          <a:spcPts val="200"/>
                        </a:spcBef>
                        <a:spcAft>
                          <a:spcPts val="100"/>
                        </a:spcAft>
                      </a:pPr>
                      <a:r>
                        <a:rPr lang="en-US" sz="1400">
                          <a:solidFill>
                            <a:schemeClr val="bg1"/>
                          </a:solidFill>
                          <a:effectLst/>
                        </a:rPr>
                        <a:t>Jadwal</a:t>
                      </a:r>
                      <a:endParaRPr lang="id-ID" sz="14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marR="0" algn="ctr">
                        <a:lnSpc>
                          <a:spcPct val="115000"/>
                        </a:lnSpc>
                        <a:spcBef>
                          <a:spcPts val="200"/>
                        </a:spcBef>
                        <a:spcAft>
                          <a:spcPts val="100"/>
                        </a:spcAft>
                      </a:pPr>
                      <a:r>
                        <a:rPr lang="id-ID" sz="1400" dirty="0">
                          <a:solidFill>
                            <a:schemeClr val="bg1"/>
                          </a:solidFill>
                          <a:effectLst/>
                        </a:rPr>
                        <a:t>Realisasi</a:t>
                      </a:r>
                      <a:endParaRPr lang="id-ID"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vMerge="1">
                  <a:txBody>
                    <a:bodyPr/>
                    <a:lstStyle/>
                    <a:p>
                      <a:endParaRPr lang="id-ID"/>
                    </a:p>
                  </a:txBody>
                  <a:tcPr/>
                </a:tc>
              </a:tr>
              <a:tr h="188368">
                <a:tc>
                  <a:txBody>
                    <a:bodyPr/>
                    <a:lstStyle/>
                    <a:p>
                      <a:pPr marL="0" marR="0" algn="ctr">
                        <a:lnSpc>
                          <a:spcPct val="115000"/>
                        </a:lnSpc>
                        <a:spcBef>
                          <a:spcPts val="200"/>
                        </a:spcBef>
                        <a:spcAft>
                          <a:spcPts val="100"/>
                        </a:spcAft>
                      </a:pPr>
                      <a:r>
                        <a:rPr lang="en-US" sz="1200">
                          <a:effectLst/>
                        </a:rPr>
                        <a:t>(1)</a:t>
                      </a:r>
                      <a:endParaRPr lang="id-ID" sz="120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T w="12700" cap="flat" cmpd="sng" algn="ctr">
                      <a:solidFill>
                        <a:schemeClr val="bg1"/>
                      </a:solidFill>
                      <a:prstDash val="solid"/>
                      <a:round/>
                      <a:headEnd type="none" w="med" len="med"/>
                      <a:tailEnd type="none" w="med" len="med"/>
                    </a:lnT>
                  </a:tcPr>
                </a:tc>
                <a:tc>
                  <a:txBody>
                    <a:bodyPr/>
                    <a:lstStyle/>
                    <a:p>
                      <a:pPr marL="0" marR="0" algn="ctr">
                        <a:lnSpc>
                          <a:spcPct val="115000"/>
                        </a:lnSpc>
                        <a:spcBef>
                          <a:spcPts val="200"/>
                        </a:spcBef>
                        <a:spcAft>
                          <a:spcPts val="100"/>
                        </a:spcAft>
                      </a:pPr>
                      <a:r>
                        <a:rPr lang="en-US" sz="1200">
                          <a:effectLst/>
                        </a:rPr>
                        <a:t>(2)</a:t>
                      </a:r>
                      <a:endParaRPr lang="id-ID" sz="120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T w="12700" cap="flat" cmpd="sng" algn="ctr">
                      <a:solidFill>
                        <a:schemeClr val="bg1"/>
                      </a:solidFill>
                      <a:prstDash val="solid"/>
                      <a:round/>
                      <a:headEnd type="none" w="med" len="med"/>
                      <a:tailEnd type="none" w="med" len="med"/>
                    </a:lnT>
                  </a:tcPr>
                </a:tc>
                <a:tc>
                  <a:txBody>
                    <a:bodyPr/>
                    <a:lstStyle/>
                    <a:p>
                      <a:pPr marL="0" marR="0" algn="ctr">
                        <a:lnSpc>
                          <a:spcPct val="115000"/>
                        </a:lnSpc>
                        <a:spcBef>
                          <a:spcPts val="200"/>
                        </a:spcBef>
                        <a:spcAft>
                          <a:spcPts val="100"/>
                        </a:spcAft>
                      </a:pPr>
                      <a:r>
                        <a:rPr lang="en-US" sz="1200" dirty="0">
                          <a:effectLst/>
                        </a:rPr>
                        <a:t>(3)</a:t>
                      </a:r>
                      <a:endParaRPr lang="id-ID"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T w="12700" cap="flat" cmpd="sng" algn="ctr">
                      <a:solidFill>
                        <a:schemeClr val="bg1"/>
                      </a:solidFill>
                      <a:prstDash val="solid"/>
                      <a:round/>
                      <a:headEnd type="none" w="med" len="med"/>
                      <a:tailEnd type="none" w="med" len="med"/>
                    </a:lnT>
                  </a:tcPr>
                </a:tc>
                <a:tc>
                  <a:txBody>
                    <a:bodyPr/>
                    <a:lstStyle/>
                    <a:p>
                      <a:pPr marL="0" marR="0" algn="ctr">
                        <a:lnSpc>
                          <a:spcPct val="115000"/>
                        </a:lnSpc>
                        <a:spcBef>
                          <a:spcPts val="200"/>
                        </a:spcBef>
                        <a:spcAft>
                          <a:spcPts val="100"/>
                        </a:spcAft>
                      </a:pPr>
                      <a:r>
                        <a:rPr lang="en-US" sz="1200">
                          <a:effectLst/>
                        </a:rPr>
                        <a:t>(4)</a:t>
                      </a:r>
                      <a:endParaRPr lang="id-ID" sz="120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T w="12700" cap="flat" cmpd="sng" algn="ctr">
                      <a:solidFill>
                        <a:schemeClr val="bg1"/>
                      </a:solidFill>
                      <a:prstDash val="solid"/>
                      <a:round/>
                      <a:headEnd type="none" w="med" len="med"/>
                      <a:tailEnd type="none" w="med" len="med"/>
                    </a:lnT>
                  </a:tcPr>
                </a:tc>
                <a:tc>
                  <a:txBody>
                    <a:bodyPr/>
                    <a:lstStyle/>
                    <a:p>
                      <a:pPr marL="0" marR="0" algn="ctr">
                        <a:lnSpc>
                          <a:spcPct val="115000"/>
                        </a:lnSpc>
                        <a:spcBef>
                          <a:spcPts val="200"/>
                        </a:spcBef>
                        <a:spcAft>
                          <a:spcPts val="100"/>
                        </a:spcAft>
                      </a:pPr>
                      <a:r>
                        <a:rPr lang="en-US" sz="1200">
                          <a:effectLst/>
                        </a:rPr>
                        <a:t>(5)</a:t>
                      </a:r>
                      <a:endParaRPr lang="id-ID" sz="120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T w="12700" cap="flat" cmpd="sng" algn="ctr">
                      <a:solidFill>
                        <a:schemeClr val="bg1"/>
                      </a:solidFill>
                      <a:prstDash val="solid"/>
                      <a:round/>
                      <a:headEnd type="none" w="med" len="med"/>
                      <a:tailEnd type="none" w="med" len="med"/>
                    </a:lnT>
                  </a:tcPr>
                </a:tc>
                <a:tc>
                  <a:txBody>
                    <a:bodyPr/>
                    <a:lstStyle/>
                    <a:p>
                      <a:pPr marL="0" marR="0" algn="ctr">
                        <a:lnSpc>
                          <a:spcPct val="115000"/>
                        </a:lnSpc>
                        <a:spcBef>
                          <a:spcPts val="200"/>
                        </a:spcBef>
                        <a:spcAft>
                          <a:spcPts val="100"/>
                        </a:spcAft>
                      </a:pPr>
                      <a:r>
                        <a:rPr lang="en-US" sz="1200" dirty="0">
                          <a:effectLst/>
                        </a:rPr>
                        <a:t>(6)</a:t>
                      </a:r>
                      <a:endParaRPr lang="id-ID"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T w="12700" cap="flat" cmpd="sng" algn="ctr">
                      <a:solidFill>
                        <a:schemeClr val="bg1"/>
                      </a:solidFill>
                      <a:prstDash val="solid"/>
                      <a:round/>
                      <a:headEnd type="none" w="med" len="med"/>
                      <a:tailEnd type="none" w="med" len="med"/>
                    </a:lnT>
                  </a:tcPr>
                </a:tc>
                <a:tc>
                  <a:txBody>
                    <a:bodyPr/>
                    <a:lstStyle/>
                    <a:p>
                      <a:pPr marL="0" marR="0" algn="ctr">
                        <a:lnSpc>
                          <a:spcPct val="115000"/>
                        </a:lnSpc>
                        <a:spcBef>
                          <a:spcPts val="200"/>
                        </a:spcBef>
                        <a:spcAft>
                          <a:spcPts val="100"/>
                        </a:spcAft>
                      </a:pPr>
                      <a:r>
                        <a:rPr lang="en-US" sz="1200" dirty="0">
                          <a:effectLst/>
                        </a:rPr>
                        <a:t>(7)</a:t>
                      </a:r>
                      <a:endParaRPr lang="id-ID"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T w="12700" cap="flat" cmpd="sng" algn="ctr">
                      <a:solidFill>
                        <a:schemeClr val="bg1"/>
                      </a:solidFill>
                      <a:prstDash val="solid"/>
                      <a:round/>
                      <a:headEnd type="none" w="med" len="med"/>
                      <a:tailEnd type="none" w="med" len="med"/>
                    </a:lnT>
                  </a:tcPr>
                </a:tc>
              </a:tr>
              <a:tr h="590997">
                <a:tc>
                  <a:txBody>
                    <a:bodyPr/>
                    <a:lstStyle/>
                    <a:p>
                      <a:pPr marL="0" marR="0" algn="ctr">
                        <a:lnSpc>
                          <a:spcPct val="115000"/>
                        </a:lnSpc>
                        <a:spcBef>
                          <a:spcPts val="200"/>
                        </a:spcBef>
                        <a:spcAft>
                          <a:spcPts val="100"/>
                        </a:spcAft>
                      </a:pPr>
                      <a:r>
                        <a:rPr lang="id-ID" sz="1200">
                          <a:effectLst/>
                        </a:rPr>
                        <a:t>1.</a:t>
                      </a:r>
                      <a:endParaRPr lang="id-ID" sz="120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a:effectLst/>
                        </a:rPr>
                        <a:t>Melayani permintaan data</a:t>
                      </a:r>
                      <a:endParaRPr lang="id-ID" sz="1200" b="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a:effectLst/>
                        </a:rPr>
                        <a:t>8-26 Agustus 2016</a:t>
                      </a:r>
                      <a:endParaRPr lang="id-ID" sz="1200" b="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dirty="0">
                          <a:effectLst/>
                        </a:rPr>
                        <a:t>2 </a:t>
                      </a:r>
                      <a:r>
                        <a:rPr lang="en-US" sz="1200" b="0" dirty="0" err="1">
                          <a:effectLst/>
                        </a:rPr>
                        <a:t>konsumen</a:t>
                      </a:r>
                      <a:r>
                        <a:rPr lang="en-US" sz="1200" b="0" dirty="0">
                          <a:effectLst/>
                        </a:rPr>
                        <a:t> data</a:t>
                      </a:r>
                      <a:endParaRPr lang="id-ID"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dirty="0">
                          <a:effectLst/>
                        </a:rPr>
                        <a:t>8 &amp; 15 </a:t>
                      </a:r>
                      <a:r>
                        <a:rPr lang="en-US" sz="1200" b="0" dirty="0" err="1">
                          <a:effectLst/>
                        </a:rPr>
                        <a:t>Agustus</a:t>
                      </a:r>
                      <a:r>
                        <a:rPr lang="en-US" sz="1200" b="0" dirty="0">
                          <a:effectLst/>
                        </a:rPr>
                        <a:t> 2016</a:t>
                      </a:r>
                      <a:endParaRPr lang="id-ID"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a:effectLst/>
                        </a:rPr>
                        <a:t>2 konsumen data</a:t>
                      </a:r>
                      <a:endParaRPr lang="id-ID" sz="1200" b="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a:effectLst/>
                        </a:rPr>
                        <a:t>Waktu sesuai kedatangan konsumen</a:t>
                      </a:r>
                      <a:endParaRPr lang="id-ID" sz="1200" b="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r>
              <a:tr h="792311">
                <a:tc>
                  <a:txBody>
                    <a:bodyPr/>
                    <a:lstStyle/>
                    <a:p>
                      <a:pPr marL="0" marR="0" algn="ctr">
                        <a:lnSpc>
                          <a:spcPct val="115000"/>
                        </a:lnSpc>
                        <a:spcBef>
                          <a:spcPts val="200"/>
                        </a:spcBef>
                        <a:spcAft>
                          <a:spcPts val="100"/>
                        </a:spcAft>
                      </a:pPr>
                      <a:r>
                        <a:rPr lang="id-ID" sz="1200">
                          <a:effectLst/>
                        </a:rPr>
                        <a:t>2.</a:t>
                      </a:r>
                      <a:endParaRPr lang="id-ID" sz="120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a:effectLst/>
                        </a:rPr>
                        <a:t>Mengunggah tabel statis ke website BPS Kota Bontang</a:t>
                      </a:r>
                      <a:endParaRPr lang="id-ID" sz="1200" b="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a:effectLst/>
                        </a:rPr>
                        <a:t>8-9 Agustus 2016</a:t>
                      </a:r>
                      <a:endParaRPr lang="id-ID" sz="1200" b="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dirty="0">
                          <a:effectLst/>
                        </a:rPr>
                        <a:t>20 </a:t>
                      </a:r>
                      <a:r>
                        <a:rPr lang="en-US" sz="1200" b="0" dirty="0" err="1">
                          <a:effectLst/>
                        </a:rPr>
                        <a:t>tabel</a:t>
                      </a:r>
                      <a:endParaRPr lang="id-ID"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dirty="0">
                          <a:effectLst/>
                        </a:rPr>
                        <a:t>9-10 </a:t>
                      </a:r>
                      <a:r>
                        <a:rPr lang="en-US" sz="1200" b="0" dirty="0" err="1">
                          <a:effectLst/>
                        </a:rPr>
                        <a:t>Agustus</a:t>
                      </a:r>
                      <a:r>
                        <a:rPr lang="en-US" sz="1200" b="0" dirty="0">
                          <a:effectLst/>
                        </a:rPr>
                        <a:t> 2016</a:t>
                      </a:r>
                      <a:endParaRPr lang="id-ID"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a:effectLst/>
                        </a:rPr>
                        <a:t>20 tabel</a:t>
                      </a:r>
                      <a:endParaRPr lang="id-ID" sz="1200" b="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dirty="0">
                          <a:effectLst/>
                        </a:rPr>
                        <a:t> </a:t>
                      </a:r>
                      <a:endParaRPr lang="id-ID"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r>
              <a:tr h="833563">
                <a:tc>
                  <a:txBody>
                    <a:bodyPr/>
                    <a:lstStyle/>
                    <a:p>
                      <a:pPr marL="0" marR="0" algn="ctr">
                        <a:lnSpc>
                          <a:spcPct val="115000"/>
                        </a:lnSpc>
                        <a:spcBef>
                          <a:spcPts val="200"/>
                        </a:spcBef>
                        <a:spcAft>
                          <a:spcPts val="100"/>
                        </a:spcAft>
                      </a:pPr>
                      <a:r>
                        <a:rPr lang="id-ID" sz="1200">
                          <a:effectLst/>
                        </a:rPr>
                        <a:t>3.</a:t>
                      </a:r>
                      <a:endParaRPr lang="id-ID" sz="120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a:effectLst/>
                        </a:rPr>
                        <a:t>Melakukan perekaman/scanning peta SE 2016</a:t>
                      </a:r>
                      <a:endParaRPr lang="id-ID" sz="1200" b="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a:effectLst/>
                        </a:rPr>
                        <a:t>15-16 Agustus 2016</a:t>
                      </a:r>
                      <a:endParaRPr lang="id-ID" sz="1200" b="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a:effectLst/>
                        </a:rPr>
                        <a:t>Softfile peta SE2016 seluruh Blok Sensus</a:t>
                      </a:r>
                      <a:endParaRPr lang="id-ID" sz="1200" b="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dirty="0">
                          <a:effectLst/>
                        </a:rPr>
                        <a:t>11-12 </a:t>
                      </a:r>
                      <a:r>
                        <a:rPr lang="en-US" sz="1200" b="0" dirty="0" err="1">
                          <a:effectLst/>
                        </a:rPr>
                        <a:t>Agustus</a:t>
                      </a:r>
                      <a:r>
                        <a:rPr lang="en-US" sz="1200" b="0" dirty="0">
                          <a:effectLst/>
                        </a:rPr>
                        <a:t> 2016</a:t>
                      </a:r>
                      <a:endParaRPr lang="id-ID"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dirty="0" err="1">
                          <a:effectLst/>
                        </a:rPr>
                        <a:t>Softfile</a:t>
                      </a:r>
                      <a:r>
                        <a:rPr lang="en-US" sz="1200" b="0" dirty="0">
                          <a:effectLst/>
                        </a:rPr>
                        <a:t> </a:t>
                      </a:r>
                      <a:r>
                        <a:rPr lang="en-US" sz="1200" b="0" dirty="0" err="1">
                          <a:effectLst/>
                        </a:rPr>
                        <a:t>peta</a:t>
                      </a:r>
                      <a:r>
                        <a:rPr lang="en-US" sz="1200" b="0" dirty="0">
                          <a:effectLst/>
                        </a:rPr>
                        <a:t> SE2016 </a:t>
                      </a:r>
                      <a:r>
                        <a:rPr lang="en-US" sz="1200" b="0" dirty="0" err="1">
                          <a:effectLst/>
                        </a:rPr>
                        <a:t>seluruh</a:t>
                      </a:r>
                      <a:r>
                        <a:rPr lang="en-US" sz="1200" b="0" dirty="0">
                          <a:effectLst/>
                        </a:rPr>
                        <a:t> Blok </a:t>
                      </a:r>
                      <a:r>
                        <a:rPr lang="en-US" sz="1200" b="0" dirty="0" err="1">
                          <a:effectLst/>
                        </a:rPr>
                        <a:t>Sensus</a:t>
                      </a:r>
                      <a:endParaRPr lang="id-ID"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dirty="0" err="1">
                          <a:effectLst/>
                        </a:rPr>
                        <a:t>Pelaksanaan</a:t>
                      </a:r>
                      <a:r>
                        <a:rPr lang="en-US" sz="1200" b="0" dirty="0">
                          <a:effectLst/>
                        </a:rPr>
                        <a:t> </a:t>
                      </a:r>
                      <a:r>
                        <a:rPr lang="en-US" sz="1200" b="0" dirty="0" err="1">
                          <a:effectLst/>
                        </a:rPr>
                        <a:t>dipercepat</a:t>
                      </a:r>
                      <a:r>
                        <a:rPr lang="en-US" sz="1200" b="0" dirty="0">
                          <a:effectLst/>
                        </a:rPr>
                        <a:t> </a:t>
                      </a:r>
                      <a:r>
                        <a:rPr lang="en-US" sz="1200" b="0" dirty="0" err="1">
                          <a:effectLst/>
                        </a:rPr>
                        <a:t>karena</a:t>
                      </a:r>
                      <a:r>
                        <a:rPr lang="en-US" sz="1200" b="0" dirty="0">
                          <a:effectLst/>
                        </a:rPr>
                        <a:t> </a:t>
                      </a:r>
                      <a:r>
                        <a:rPr lang="en-US" sz="1200" b="0" dirty="0" err="1">
                          <a:effectLst/>
                        </a:rPr>
                        <a:t>perintah</a:t>
                      </a:r>
                      <a:r>
                        <a:rPr lang="en-US" sz="1200" b="0" dirty="0">
                          <a:effectLst/>
                        </a:rPr>
                        <a:t> </a:t>
                      </a:r>
                      <a:r>
                        <a:rPr lang="en-US" sz="1200" b="0" dirty="0" err="1">
                          <a:effectLst/>
                        </a:rPr>
                        <a:t>atasan</a:t>
                      </a:r>
                      <a:endParaRPr lang="id-ID"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r>
              <a:tr h="1194940">
                <a:tc>
                  <a:txBody>
                    <a:bodyPr/>
                    <a:lstStyle/>
                    <a:p>
                      <a:pPr marL="0" marR="0" algn="ctr">
                        <a:lnSpc>
                          <a:spcPct val="115000"/>
                        </a:lnSpc>
                        <a:spcBef>
                          <a:spcPts val="200"/>
                        </a:spcBef>
                        <a:spcAft>
                          <a:spcPts val="100"/>
                        </a:spcAft>
                      </a:pPr>
                      <a:r>
                        <a:rPr lang="id-ID" sz="1200">
                          <a:effectLst/>
                        </a:rPr>
                        <a:t>4.</a:t>
                      </a:r>
                      <a:endParaRPr lang="id-ID" sz="120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a:effectLst/>
                        </a:rPr>
                        <a:t>Melakukan Instalasi Program Pelayanan Statistik Terpadu (PST)</a:t>
                      </a:r>
                      <a:endParaRPr lang="id-ID" sz="1200" b="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a:effectLst/>
                        </a:rPr>
                        <a:t>11-12 Agustus 2016</a:t>
                      </a:r>
                      <a:endParaRPr lang="id-ID" sz="1200" b="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a:effectLst/>
                        </a:rPr>
                        <a:t>2 aplikasi PST yang terinstal 1 di PC server, 1 di PC client</a:t>
                      </a:r>
                      <a:endParaRPr lang="id-ID" sz="1200" b="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a:effectLst/>
                        </a:rPr>
                        <a:t>12 Agustus 2016</a:t>
                      </a:r>
                      <a:endParaRPr lang="id-ID" sz="1200" b="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dirty="0">
                          <a:effectLst/>
                        </a:rPr>
                        <a:t>2 </a:t>
                      </a:r>
                      <a:r>
                        <a:rPr lang="en-US" sz="1200" b="0" dirty="0" err="1">
                          <a:effectLst/>
                        </a:rPr>
                        <a:t>aplikasi</a:t>
                      </a:r>
                      <a:r>
                        <a:rPr lang="en-US" sz="1200" b="0" dirty="0">
                          <a:effectLst/>
                        </a:rPr>
                        <a:t> PST yang </a:t>
                      </a:r>
                      <a:r>
                        <a:rPr lang="en-US" sz="1200" b="0" dirty="0" err="1">
                          <a:effectLst/>
                        </a:rPr>
                        <a:t>terinstal</a:t>
                      </a:r>
                      <a:r>
                        <a:rPr lang="en-US" sz="1200" b="0" dirty="0">
                          <a:effectLst/>
                        </a:rPr>
                        <a:t> 1 di PC server, 1 di PC client</a:t>
                      </a:r>
                      <a:endParaRPr lang="id-ID"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c>
                  <a:txBody>
                    <a:bodyPr/>
                    <a:lstStyle/>
                    <a:p>
                      <a:pPr marL="0" marR="0" algn="ctr">
                        <a:lnSpc>
                          <a:spcPct val="115000"/>
                        </a:lnSpc>
                        <a:spcBef>
                          <a:spcPts val="200"/>
                        </a:spcBef>
                        <a:spcAft>
                          <a:spcPts val="100"/>
                        </a:spcAft>
                      </a:pPr>
                      <a:r>
                        <a:rPr lang="en-US" sz="1200" b="0" dirty="0">
                          <a:effectLst/>
                        </a:rPr>
                        <a:t>-</a:t>
                      </a:r>
                      <a:endParaRPr lang="id-ID"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tc>
              </a:tr>
            </a:tbl>
          </a:graphicData>
        </a:graphic>
      </p:graphicFrame>
      <p:sp>
        <p:nvSpPr>
          <p:cNvPr id="3" name="TextBox 2"/>
          <p:cNvSpPr txBox="1"/>
          <p:nvPr/>
        </p:nvSpPr>
        <p:spPr>
          <a:xfrm>
            <a:off x="2210938" y="300252"/>
            <a:ext cx="5030544" cy="338554"/>
          </a:xfrm>
          <a:prstGeom prst="rect">
            <a:avLst/>
          </a:prstGeom>
          <a:noFill/>
        </p:spPr>
        <p:txBody>
          <a:bodyPr wrap="none" rtlCol="0">
            <a:spAutoFit/>
          </a:bodyPr>
          <a:lstStyle/>
          <a:p>
            <a:r>
              <a:rPr lang="en-US" sz="1600" b="1" dirty="0" err="1" smtClean="0"/>
              <a:t>Tabel</a:t>
            </a:r>
            <a:r>
              <a:rPr lang="en-US" sz="1600" b="1" dirty="0" smtClean="0"/>
              <a:t> </a:t>
            </a:r>
            <a:r>
              <a:rPr lang="en-US" sz="1600" b="1" dirty="0" err="1"/>
              <a:t>Realisasi</a:t>
            </a:r>
            <a:r>
              <a:rPr lang="en-US" sz="1600" b="1" dirty="0"/>
              <a:t> </a:t>
            </a:r>
            <a:r>
              <a:rPr lang="en-US" sz="1600" b="1" dirty="0" err="1"/>
              <a:t>Kegiatan</a:t>
            </a:r>
            <a:r>
              <a:rPr lang="en-US" sz="1600" b="1" dirty="0"/>
              <a:t> </a:t>
            </a:r>
            <a:r>
              <a:rPr lang="en-US" sz="1600" b="1" dirty="0" err="1"/>
              <a:t>Pelaksanaan</a:t>
            </a:r>
            <a:r>
              <a:rPr lang="en-US" sz="1600" b="1" dirty="0"/>
              <a:t> </a:t>
            </a:r>
            <a:r>
              <a:rPr lang="en-US" sz="1600" b="1" dirty="0" err="1" smtClean="0"/>
              <a:t>Aktualisasi</a:t>
            </a:r>
            <a:endParaRPr lang="id-ID" sz="1600" dirty="0"/>
          </a:p>
        </p:txBody>
      </p:sp>
    </p:spTree>
    <p:extLst>
      <p:ext uri="{BB962C8B-B14F-4D97-AF65-F5344CB8AC3E}">
        <p14:creationId xmlns:p14="http://schemas.microsoft.com/office/powerpoint/2010/main" val="17555202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234712885"/>
              </p:ext>
            </p:extLst>
          </p:nvPr>
        </p:nvGraphicFramePr>
        <p:xfrm>
          <a:off x="566057" y="645887"/>
          <a:ext cx="7707085" cy="4320352"/>
        </p:xfrm>
        <a:graphic>
          <a:graphicData uri="http://schemas.openxmlformats.org/drawingml/2006/table">
            <a:tbl>
              <a:tblPr firstRow="1" firstCol="1" bandRow="1">
                <a:tableStyleId>{21E4AEA4-8DFA-4A89-87EB-49C32662AFE0}</a:tableStyleId>
              </a:tblPr>
              <a:tblGrid>
                <a:gridCol w="402077"/>
                <a:gridCol w="1118506"/>
                <a:gridCol w="970086"/>
                <a:gridCol w="972686"/>
                <a:gridCol w="928475"/>
                <a:gridCol w="1370604"/>
                <a:gridCol w="1944651"/>
              </a:tblGrid>
              <a:tr h="225299">
                <a:tc rowSpan="2">
                  <a:txBody>
                    <a:bodyPr/>
                    <a:lstStyle/>
                    <a:p>
                      <a:pPr marL="0" marR="0" algn="ctr">
                        <a:lnSpc>
                          <a:spcPct val="115000"/>
                        </a:lnSpc>
                        <a:spcBef>
                          <a:spcPts val="200"/>
                        </a:spcBef>
                        <a:spcAft>
                          <a:spcPts val="100"/>
                        </a:spcAft>
                      </a:pPr>
                      <a:r>
                        <a:rPr lang="en-US" sz="1400" dirty="0">
                          <a:solidFill>
                            <a:schemeClr val="bg1"/>
                          </a:solidFill>
                          <a:effectLst/>
                        </a:rPr>
                        <a:t>No.</a:t>
                      </a:r>
                      <a:endParaRPr lang="id-ID"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2">
                  <a:txBody>
                    <a:bodyPr/>
                    <a:lstStyle/>
                    <a:p>
                      <a:pPr marL="0" marR="0" algn="ctr">
                        <a:lnSpc>
                          <a:spcPct val="115000"/>
                        </a:lnSpc>
                        <a:spcBef>
                          <a:spcPts val="200"/>
                        </a:spcBef>
                        <a:spcAft>
                          <a:spcPts val="100"/>
                        </a:spcAft>
                      </a:pPr>
                      <a:r>
                        <a:rPr lang="en-US" sz="1400" dirty="0" err="1">
                          <a:solidFill>
                            <a:schemeClr val="bg1"/>
                          </a:solidFill>
                          <a:effectLst/>
                        </a:rPr>
                        <a:t>Kegiatan</a:t>
                      </a:r>
                      <a:endParaRPr lang="id-ID"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marL="0" marR="0" algn="ctr">
                        <a:lnSpc>
                          <a:spcPct val="115000"/>
                        </a:lnSpc>
                        <a:spcBef>
                          <a:spcPts val="200"/>
                        </a:spcBef>
                        <a:spcAft>
                          <a:spcPts val="100"/>
                        </a:spcAft>
                      </a:pPr>
                      <a:r>
                        <a:rPr lang="en-US" sz="1400">
                          <a:solidFill>
                            <a:schemeClr val="bg1"/>
                          </a:solidFill>
                          <a:effectLst/>
                        </a:rPr>
                        <a:t>Rancangan</a:t>
                      </a:r>
                      <a:endParaRPr lang="id-ID" sz="14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id-ID"/>
                    </a:p>
                  </a:txBody>
                  <a:tcPr/>
                </a:tc>
                <a:tc gridSpan="2">
                  <a:txBody>
                    <a:bodyPr/>
                    <a:lstStyle/>
                    <a:p>
                      <a:pPr marL="0" marR="0" algn="ctr">
                        <a:lnSpc>
                          <a:spcPct val="115000"/>
                        </a:lnSpc>
                        <a:spcBef>
                          <a:spcPts val="200"/>
                        </a:spcBef>
                        <a:spcAft>
                          <a:spcPts val="100"/>
                        </a:spcAft>
                      </a:pPr>
                      <a:r>
                        <a:rPr lang="id-ID" sz="1400">
                          <a:solidFill>
                            <a:schemeClr val="bg1"/>
                          </a:solidFill>
                          <a:effectLst/>
                        </a:rPr>
                        <a:t>Aktualisasi</a:t>
                      </a:r>
                      <a:endParaRPr lang="id-ID" sz="14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id-ID"/>
                    </a:p>
                  </a:txBody>
                  <a:tcPr/>
                </a:tc>
                <a:tc rowSpan="2">
                  <a:txBody>
                    <a:bodyPr/>
                    <a:lstStyle/>
                    <a:p>
                      <a:pPr marL="0" marR="0" algn="ctr">
                        <a:lnSpc>
                          <a:spcPct val="115000"/>
                        </a:lnSpc>
                        <a:spcBef>
                          <a:spcPts val="200"/>
                        </a:spcBef>
                        <a:spcAft>
                          <a:spcPts val="100"/>
                        </a:spcAft>
                      </a:pPr>
                      <a:r>
                        <a:rPr lang="en-US" sz="1400" dirty="0" err="1">
                          <a:solidFill>
                            <a:schemeClr val="bg1"/>
                          </a:solidFill>
                          <a:effectLst/>
                        </a:rPr>
                        <a:t>Keterangan</a:t>
                      </a:r>
                      <a:endParaRPr lang="id-ID"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225299">
                <a:tc vMerge="1">
                  <a:txBody>
                    <a:bodyPr/>
                    <a:lstStyle/>
                    <a:p>
                      <a:endParaRPr lang="id-ID"/>
                    </a:p>
                  </a:txBody>
                  <a:tcPr/>
                </a:tc>
                <a:tc vMerge="1">
                  <a:txBody>
                    <a:bodyPr/>
                    <a:lstStyle/>
                    <a:p>
                      <a:endParaRPr lang="id-ID"/>
                    </a:p>
                  </a:txBody>
                  <a:tcPr/>
                </a:tc>
                <a:tc>
                  <a:txBody>
                    <a:bodyPr/>
                    <a:lstStyle/>
                    <a:p>
                      <a:pPr marL="0" marR="0" algn="ctr">
                        <a:lnSpc>
                          <a:spcPct val="115000"/>
                        </a:lnSpc>
                        <a:spcBef>
                          <a:spcPts val="200"/>
                        </a:spcBef>
                        <a:spcAft>
                          <a:spcPts val="100"/>
                        </a:spcAft>
                      </a:pPr>
                      <a:r>
                        <a:rPr lang="en-US" sz="1400" dirty="0" err="1">
                          <a:solidFill>
                            <a:schemeClr val="bg1"/>
                          </a:solidFill>
                          <a:effectLst/>
                        </a:rPr>
                        <a:t>Jadwal</a:t>
                      </a:r>
                      <a:endParaRPr lang="id-ID"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marR="0" algn="ctr">
                        <a:lnSpc>
                          <a:spcPct val="115000"/>
                        </a:lnSpc>
                        <a:spcBef>
                          <a:spcPts val="200"/>
                        </a:spcBef>
                        <a:spcAft>
                          <a:spcPts val="100"/>
                        </a:spcAft>
                      </a:pPr>
                      <a:r>
                        <a:rPr lang="id-ID" sz="1400">
                          <a:solidFill>
                            <a:schemeClr val="bg1"/>
                          </a:solidFill>
                          <a:effectLst/>
                        </a:rPr>
                        <a:t>Target</a:t>
                      </a:r>
                      <a:endParaRPr lang="id-ID" sz="14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marR="0" algn="ctr">
                        <a:lnSpc>
                          <a:spcPct val="115000"/>
                        </a:lnSpc>
                        <a:spcBef>
                          <a:spcPts val="200"/>
                        </a:spcBef>
                        <a:spcAft>
                          <a:spcPts val="100"/>
                        </a:spcAft>
                      </a:pPr>
                      <a:r>
                        <a:rPr lang="en-US" sz="1400">
                          <a:solidFill>
                            <a:schemeClr val="bg1"/>
                          </a:solidFill>
                          <a:effectLst/>
                        </a:rPr>
                        <a:t>Jadwal</a:t>
                      </a:r>
                      <a:endParaRPr lang="id-ID" sz="14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marR="0" algn="ctr">
                        <a:lnSpc>
                          <a:spcPct val="115000"/>
                        </a:lnSpc>
                        <a:spcBef>
                          <a:spcPts val="200"/>
                        </a:spcBef>
                        <a:spcAft>
                          <a:spcPts val="100"/>
                        </a:spcAft>
                      </a:pPr>
                      <a:r>
                        <a:rPr lang="id-ID" sz="1400" dirty="0">
                          <a:solidFill>
                            <a:schemeClr val="bg1"/>
                          </a:solidFill>
                          <a:effectLst/>
                        </a:rPr>
                        <a:t>Realisasi</a:t>
                      </a:r>
                      <a:endParaRPr lang="id-ID"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vMerge="1">
                  <a:txBody>
                    <a:bodyPr/>
                    <a:lstStyle/>
                    <a:p>
                      <a:endParaRPr lang="id-ID"/>
                    </a:p>
                  </a:txBody>
                  <a:tcPr/>
                </a:tc>
              </a:tr>
              <a:tr h="193113">
                <a:tc>
                  <a:txBody>
                    <a:bodyPr/>
                    <a:lstStyle/>
                    <a:p>
                      <a:pPr marL="0" marR="0" algn="ctr">
                        <a:lnSpc>
                          <a:spcPct val="115000"/>
                        </a:lnSpc>
                        <a:spcBef>
                          <a:spcPts val="200"/>
                        </a:spcBef>
                        <a:spcAft>
                          <a:spcPts val="100"/>
                        </a:spcAft>
                      </a:pPr>
                      <a:r>
                        <a:rPr lang="en-US" sz="1200">
                          <a:effectLst/>
                        </a:rPr>
                        <a:t>(1)</a:t>
                      </a:r>
                      <a:endParaRPr lang="id-ID" sz="120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T w="12700" cap="flat" cmpd="sng" algn="ctr">
                      <a:solidFill>
                        <a:schemeClr val="bg1"/>
                      </a:solidFill>
                      <a:prstDash val="solid"/>
                      <a:round/>
                      <a:headEnd type="none" w="med" len="med"/>
                      <a:tailEnd type="none" w="med" len="med"/>
                    </a:lnT>
                  </a:tcPr>
                </a:tc>
                <a:tc>
                  <a:txBody>
                    <a:bodyPr/>
                    <a:lstStyle/>
                    <a:p>
                      <a:pPr marL="0" marR="0" algn="ctr">
                        <a:lnSpc>
                          <a:spcPct val="115000"/>
                        </a:lnSpc>
                        <a:spcBef>
                          <a:spcPts val="200"/>
                        </a:spcBef>
                        <a:spcAft>
                          <a:spcPts val="100"/>
                        </a:spcAft>
                      </a:pPr>
                      <a:r>
                        <a:rPr lang="en-US" sz="1200">
                          <a:effectLst/>
                        </a:rPr>
                        <a:t>(2)</a:t>
                      </a:r>
                      <a:endParaRPr lang="id-ID" sz="120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T w="12700" cap="flat" cmpd="sng" algn="ctr">
                      <a:solidFill>
                        <a:schemeClr val="bg1"/>
                      </a:solidFill>
                      <a:prstDash val="solid"/>
                      <a:round/>
                      <a:headEnd type="none" w="med" len="med"/>
                      <a:tailEnd type="none" w="med" len="med"/>
                    </a:lnT>
                  </a:tcPr>
                </a:tc>
                <a:tc>
                  <a:txBody>
                    <a:bodyPr/>
                    <a:lstStyle/>
                    <a:p>
                      <a:pPr marL="0" marR="0" algn="ctr">
                        <a:lnSpc>
                          <a:spcPct val="115000"/>
                        </a:lnSpc>
                        <a:spcBef>
                          <a:spcPts val="200"/>
                        </a:spcBef>
                        <a:spcAft>
                          <a:spcPts val="100"/>
                        </a:spcAft>
                      </a:pPr>
                      <a:r>
                        <a:rPr lang="en-US" sz="1200" dirty="0">
                          <a:effectLst/>
                        </a:rPr>
                        <a:t>(3)</a:t>
                      </a:r>
                      <a:endParaRPr lang="id-ID"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T w="12700" cap="flat" cmpd="sng" algn="ctr">
                      <a:solidFill>
                        <a:schemeClr val="bg1"/>
                      </a:solidFill>
                      <a:prstDash val="solid"/>
                      <a:round/>
                      <a:headEnd type="none" w="med" len="med"/>
                      <a:tailEnd type="none" w="med" len="med"/>
                    </a:lnT>
                  </a:tcPr>
                </a:tc>
                <a:tc>
                  <a:txBody>
                    <a:bodyPr/>
                    <a:lstStyle/>
                    <a:p>
                      <a:pPr marL="0" marR="0" algn="ctr">
                        <a:lnSpc>
                          <a:spcPct val="115000"/>
                        </a:lnSpc>
                        <a:spcBef>
                          <a:spcPts val="200"/>
                        </a:spcBef>
                        <a:spcAft>
                          <a:spcPts val="100"/>
                        </a:spcAft>
                      </a:pPr>
                      <a:r>
                        <a:rPr lang="en-US" sz="1200">
                          <a:effectLst/>
                        </a:rPr>
                        <a:t>(4)</a:t>
                      </a:r>
                      <a:endParaRPr lang="id-ID" sz="120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T w="12700" cap="flat" cmpd="sng" algn="ctr">
                      <a:solidFill>
                        <a:schemeClr val="bg1"/>
                      </a:solidFill>
                      <a:prstDash val="solid"/>
                      <a:round/>
                      <a:headEnd type="none" w="med" len="med"/>
                      <a:tailEnd type="none" w="med" len="med"/>
                    </a:lnT>
                  </a:tcPr>
                </a:tc>
                <a:tc>
                  <a:txBody>
                    <a:bodyPr/>
                    <a:lstStyle/>
                    <a:p>
                      <a:pPr marL="0" marR="0" algn="ctr">
                        <a:lnSpc>
                          <a:spcPct val="115000"/>
                        </a:lnSpc>
                        <a:spcBef>
                          <a:spcPts val="200"/>
                        </a:spcBef>
                        <a:spcAft>
                          <a:spcPts val="100"/>
                        </a:spcAft>
                      </a:pPr>
                      <a:r>
                        <a:rPr lang="en-US" sz="1200">
                          <a:effectLst/>
                        </a:rPr>
                        <a:t>(5)</a:t>
                      </a:r>
                      <a:endParaRPr lang="id-ID" sz="120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T w="12700" cap="flat" cmpd="sng" algn="ctr">
                      <a:solidFill>
                        <a:schemeClr val="bg1"/>
                      </a:solidFill>
                      <a:prstDash val="solid"/>
                      <a:round/>
                      <a:headEnd type="none" w="med" len="med"/>
                      <a:tailEnd type="none" w="med" len="med"/>
                    </a:lnT>
                  </a:tcPr>
                </a:tc>
                <a:tc>
                  <a:txBody>
                    <a:bodyPr/>
                    <a:lstStyle/>
                    <a:p>
                      <a:pPr marL="0" marR="0" algn="ctr">
                        <a:lnSpc>
                          <a:spcPct val="115000"/>
                        </a:lnSpc>
                        <a:spcBef>
                          <a:spcPts val="200"/>
                        </a:spcBef>
                        <a:spcAft>
                          <a:spcPts val="100"/>
                        </a:spcAft>
                      </a:pPr>
                      <a:r>
                        <a:rPr lang="en-US" sz="1200" dirty="0">
                          <a:effectLst/>
                        </a:rPr>
                        <a:t>(6)</a:t>
                      </a:r>
                      <a:endParaRPr lang="id-ID"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T w="12700" cap="flat" cmpd="sng" algn="ctr">
                      <a:solidFill>
                        <a:schemeClr val="bg1"/>
                      </a:solidFill>
                      <a:prstDash val="solid"/>
                      <a:round/>
                      <a:headEnd type="none" w="med" len="med"/>
                      <a:tailEnd type="none" w="med" len="med"/>
                    </a:lnT>
                  </a:tcPr>
                </a:tc>
                <a:tc>
                  <a:txBody>
                    <a:bodyPr/>
                    <a:lstStyle/>
                    <a:p>
                      <a:pPr marL="0" marR="0" algn="ctr">
                        <a:lnSpc>
                          <a:spcPct val="115000"/>
                        </a:lnSpc>
                        <a:spcBef>
                          <a:spcPts val="200"/>
                        </a:spcBef>
                        <a:spcAft>
                          <a:spcPts val="100"/>
                        </a:spcAft>
                      </a:pPr>
                      <a:r>
                        <a:rPr lang="en-US" sz="1200" dirty="0">
                          <a:effectLst/>
                        </a:rPr>
                        <a:t>(7)</a:t>
                      </a:r>
                      <a:endParaRPr lang="id-ID"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6914" marR="36914" marT="0" marB="0" anchor="ctr">
                    <a:lnT w="12700" cap="flat" cmpd="sng" algn="ctr">
                      <a:solidFill>
                        <a:schemeClr val="bg1"/>
                      </a:solidFill>
                      <a:prstDash val="solid"/>
                      <a:round/>
                      <a:headEnd type="none" w="med" len="med"/>
                      <a:tailEnd type="none" w="med" len="med"/>
                    </a:lnT>
                  </a:tcPr>
                </a:tc>
              </a:tr>
              <a:tr h="744381">
                <a:tc>
                  <a:txBody>
                    <a:bodyPr/>
                    <a:lstStyle/>
                    <a:p>
                      <a:pPr marL="0" marR="0" algn="ctr">
                        <a:lnSpc>
                          <a:spcPct val="115000"/>
                        </a:lnSpc>
                        <a:spcBef>
                          <a:spcPts val="200"/>
                        </a:spcBef>
                        <a:spcAft>
                          <a:spcPts val="100"/>
                        </a:spcAft>
                      </a:pPr>
                      <a:r>
                        <a:rPr lang="id-ID" sz="1100">
                          <a:solidFill>
                            <a:schemeClr val="bg1"/>
                          </a:solidFill>
                          <a:effectLst/>
                          <a:latin typeface="Arial" panose="020B0604020202020204" pitchFamily="34" charset="0"/>
                          <a:ea typeface="Calibri" panose="020F0502020204030204" pitchFamily="34" charset="0"/>
                          <a:cs typeface="Times New Roman" panose="02020603050405020304" pitchFamily="18" charset="0"/>
                        </a:rPr>
                        <a:t>5.</a:t>
                      </a:r>
                      <a:endParaRPr lang="id-ID" sz="1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Mengunggah tabel dinamis ke website BPS Kota Bontang</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9-10 Agustus 2016</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10 tabel</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15 Agustus 2016</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10 tabel</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Diundur akibat dipercepatnya kegiatan scanning peta SE 2016</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r>
              <a:tr h="727522">
                <a:tc>
                  <a:txBody>
                    <a:bodyPr/>
                    <a:lstStyle/>
                    <a:p>
                      <a:pPr marL="0" marR="0" algn="ctr">
                        <a:lnSpc>
                          <a:spcPct val="115000"/>
                        </a:lnSpc>
                        <a:spcBef>
                          <a:spcPts val="200"/>
                        </a:spcBef>
                        <a:spcAft>
                          <a:spcPts val="100"/>
                        </a:spcAft>
                      </a:pPr>
                      <a:r>
                        <a:rPr lang="id-ID" sz="1100">
                          <a:solidFill>
                            <a:schemeClr val="bg1"/>
                          </a:solidFill>
                          <a:effectLst/>
                          <a:latin typeface="Arial" panose="020B0604020202020204" pitchFamily="34" charset="0"/>
                          <a:ea typeface="Calibri" panose="020F0502020204030204" pitchFamily="34" charset="0"/>
                          <a:cs typeface="Times New Roman" panose="02020603050405020304" pitchFamily="18" charset="0"/>
                        </a:rPr>
                        <a:t>6.</a:t>
                      </a:r>
                      <a:endParaRPr lang="id-ID" sz="1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Melakukan Entri SAKERNAS</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18-19 Agustus 2016</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25 dokumen entri</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22-25 Agustus</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Pelaksanaan diundur kerena dokumen yang masuk masih sedikit</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r>
              <a:tr h="933513">
                <a:tc>
                  <a:txBody>
                    <a:bodyPr/>
                    <a:lstStyle/>
                    <a:p>
                      <a:pPr marL="0" marR="0" algn="ctr">
                        <a:lnSpc>
                          <a:spcPct val="115000"/>
                        </a:lnSpc>
                        <a:spcBef>
                          <a:spcPts val="200"/>
                        </a:spcBef>
                        <a:spcAft>
                          <a:spcPts val="100"/>
                        </a:spcAft>
                      </a:pPr>
                      <a:r>
                        <a:rPr lang="id-ID" sz="1100">
                          <a:solidFill>
                            <a:schemeClr val="bg1"/>
                          </a:solidFill>
                          <a:effectLst/>
                          <a:latin typeface="Arial" panose="020B0604020202020204" pitchFamily="34" charset="0"/>
                          <a:ea typeface="Calibri" panose="020F0502020204030204" pitchFamily="34" charset="0"/>
                          <a:cs typeface="Times New Roman" panose="02020603050405020304" pitchFamily="18" charset="0"/>
                        </a:rPr>
                        <a:t>7.</a:t>
                      </a:r>
                      <a:endParaRPr lang="id-ID" sz="1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Membuat peta tematik dari data bontang dalam angka 2015</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22-23 Agustus 2016</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3 peta tematik</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18-19 Agustus 2016</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3 peta tematik</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Waktu pelaksanaan ditukar dengan kegiatan entri sakernas</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r>
              <a:tr h="1122645">
                <a:tc>
                  <a:txBody>
                    <a:bodyPr/>
                    <a:lstStyle/>
                    <a:p>
                      <a:pPr marL="0" marR="0" algn="ctr">
                        <a:lnSpc>
                          <a:spcPct val="115000"/>
                        </a:lnSpc>
                        <a:spcBef>
                          <a:spcPts val="200"/>
                        </a:spcBef>
                        <a:spcAft>
                          <a:spcPts val="100"/>
                        </a:spcAft>
                      </a:pPr>
                      <a:r>
                        <a:rPr lang="id-ID" sz="11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8.</a:t>
                      </a:r>
                      <a:endParaRPr lang="id-ID" sz="1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Melakukan instalasi mesin fingerprint dan perekaman sidik jari pegawai</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16 </a:t>
                      </a:r>
                      <a:r>
                        <a:rPr lang="en-US" sz="11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Agustus</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 Mesin fingerprint yang siap pakai dan 19 sidik jari terekam</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200"/>
                        </a:spcBef>
                        <a:spcAft>
                          <a:spcPts val="100"/>
                        </a:spcAft>
                      </a:pPr>
                      <a:r>
                        <a:rPr lang="en-US" sz="11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Merupakan</a:t>
                      </a:r>
                      <a:r>
                        <a:rPr lang="en-US" sz="1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t>
                      </a:r>
                      <a:r>
                        <a:rPr lang="en-US" sz="11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kegiatan</a:t>
                      </a:r>
                      <a:r>
                        <a:rPr lang="en-US" sz="1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yang </a:t>
                      </a:r>
                      <a:r>
                        <a:rPr lang="en-US" sz="11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tidak</a:t>
                      </a:r>
                      <a:r>
                        <a:rPr lang="en-US" sz="1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t>
                      </a:r>
                      <a:r>
                        <a:rPr lang="en-US" sz="11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masuk</a:t>
                      </a:r>
                      <a:r>
                        <a:rPr lang="en-US" sz="1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t>
                      </a:r>
                      <a:r>
                        <a:rPr lang="en-US" sz="11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dalam</a:t>
                      </a:r>
                      <a:r>
                        <a:rPr lang="en-US" sz="1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t>
                      </a:r>
                      <a:r>
                        <a:rPr lang="en-US" sz="11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rencana</a:t>
                      </a:r>
                      <a:r>
                        <a:rPr lang="en-US" sz="1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t>
                      </a:r>
                      <a:r>
                        <a:rPr lang="en-US" sz="11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aktualisasi</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r>
            </a:tbl>
          </a:graphicData>
        </a:graphic>
      </p:graphicFrame>
      <p:sp>
        <p:nvSpPr>
          <p:cNvPr id="3" name="TextBox 2"/>
          <p:cNvSpPr txBox="1"/>
          <p:nvPr/>
        </p:nvSpPr>
        <p:spPr>
          <a:xfrm>
            <a:off x="2210937" y="300252"/>
            <a:ext cx="6196083" cy="338554"/>
          </a:xfrm>
          <a:prstGeom prst="rect">
            <a:avLst/>
          </a:prstGeom>
          <a:noFill/>
        </p:spPr>
        <p:txBody>
          <a:bodyPr wrap="square" rtlCol="0">
            <a:spAutoFit/>
          </a:bodyPr>
          <a:lstStyle/>
          <a:p>
            <a:r>
              <a:rPr lang="en-US" sz="1600" b="1" dirty="0" err="1" smtClean="0"/>
              <a:t>Tabel</a:t>
            </a:r>
            <a:r>
              <a:rPr lang="en-US" sz="1600" b="1" dirty="0" smtClean="0"/>
              <a:t> </a:t>
            </a:r>
            <a:r>
              <a:rPr lang="en-US" sz="1600" b="1" dirty="0" err="1"/>
              <a:t>Realisasi</a:t>
            </a:r>
            <a:r>
              <a:rPr lang="en-US" sz="1600" b="1" dirty="0"/>
              <a:t> </a:t>
            </a:r>
            <a:r>
              <a:rPr lang="en-US" sz="1600" b="1" dirty="0" err="1"/>
              <a:t>Kegiatan</a:t>
            </a:r>
            <a:r>
              <a:rPr lang="en-US" sz="1600" b="1" dirty="0"/>
              <a:t> </a:t>
            </a:r>
            <a:r>
              <a:rPr lang="en-US" sz="1600" b="1" dirty="0" err="1"/>
              <a:t>Pelaksanaan</a:t>
            </a:r>
            <a:r>
              <a:rPr lang="en-US" sz="1600" b="1" dirty="0"/>
              <a:t> </a:t>
            </a:r>
            <a:r>
              <a:rPr lang="en-US" sz="1600" b="1" dirty="0" err="1" smtClean="0"/>
              <a:t>Aktualisasi</a:t>
            </a:r>
            <a:r>
              <a:rPr lang="en-US" sz="1600" b="1" dirty="0" smtClean="0"/>
              <a:t> (</a:t>
            </a:r>
            <a:r>
              <a:rPr lang="en-US" sz="1600" b="1" dirty="0" err="1" smtClean="0"/>
              <a:t>lanjutan</a:t>
            </a:r>
            <a:r>
              <a:rPr lang="en-US" sz="1600" b="1" dirty="0" smtClean="0"/>
              <a:t>)</a:t>
            </a:r>
            <a:endParaRPr lang="id-ID" sz="1600" dirty="0"/>
          </a:p>
        </p:txBody>
      </p:sp>
    </p:spTree>
    <p:extLst>
      <p:ext uri="{BB962C8B-B14F-4D97-AF65-F5344CB8AC3E}">
        <p14:creationId xmlns:p14="http://schemas.microsoft.com/office/powerpoint/2010/main" val="27775228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Shape 102"/>
          <p:cNvSpPr txBox="1">
            <a:spLocks noGrp="1"/>
          </p:cNvSpPr>
          <p:nvPr>
            <p:ph type="body" idx="1"/>
          </p:nvPr>
        </p:nvSpPr>
        <p:spPr>
          <a:xfrm>
            <a:off x="1212351" y="2361289"/>
            <a:ext cx="6719298" cy="819899"/>
          </a:xfrm>
          <a:prstGeom prst="rect">
            <a:avLst/>
          </a:prstGeom>
        </p:spPr>
        <p:txBody>
          <a:bodyPr lIns="91425" tIns="91425" rIns="91425" bIns="91425" anchor="b" anchorCtr="0">
            <a:noAutofit/>
          </a:bodyPr>
          <a:lstStyle/>
          <a:p>
            <a:pPr>
              <a:buNone/>
            </a:pPr>
            <a:r>
              <a:rPr lang="en-US" dirty="0" err="1" smtClean="0"/>
              <a:t>Nilai-nilai</a:t>
            </a:r>
            <a:r>
              <a:rPr lang="en-US" dirty="0" smtClean="0"/>
              <a:t> ANEKA yang </a:t>
            </a:r>
            <a:r>
              <a:rPr lang="en-US" dirty="0" err="1" smtClean="0"/>
              <a:t>Telah</a:t>
            </a:r>
            <a:r>
              <a:rPr lang="en-US" dirty="0" smtClean="0"/>
              <a:t> </a:t>
            </a:r>
            <a:r>
              <a:rPr lang="en-US" dirty="0" err="1" smtClean="0"/>
              <a:t>Diaktualisasikan</a:t>
            </a:r>
            <a:r>
              <a:rPr lang="en-US" dirty="0" smtClean="0"/>
              <a:t> Serta </a:t>
            </a:r>
            <a:r>
              <a:rPr lang="en-US" dirty="0" err="1" smtClean="0"/>
              <a:t>Dampak</a:t>
            </a:r>
            <a:r>
              <a:rPr lang="en-US" dirty="0" err="1"/>
              <a:t>-</a:t>
            </a:r>
            <a:r>
              <a:rPr lang="en-US" dirty="0" err="1" smtClean="0"/>
              <a:t>dampak</a:t>
            </a:r>
            <a:r>
              <a:rPr lang="en-US" dirty="0" smtClean="0"/>
              <a:t> </a:t>
            </a:r>
            <a:r>
              <a:rPr lang="en-US" dirty="0" err="1" smtClean="0"/>
              <a:t>Apabila</a:t>
            </a:r>
            <a:r>
              <a:rPr lang="en-US" dirty="0" smtClean="0"/>
              <a:t> </a:t>
            </a:r>
            <a:r>
              <a:rPr lang="en-US" dirty="0" err="1" smtClean="0"/>
              <a:t>nilai</a:t>
            </a:r>
            <a:r>
              <a:rPr lang="en-US" dirty="0" smtClean="0"/>
              <a:t> </a:t>
            </a:r>
            <a:r>
              <a:rPr lang="en-US" dirty="0" err="1" smtClean="0"/>
              <a:t>tersebut</a:t>
            </a:r>
            <a:r>
              <a:rPr lang="en-US" dirty="0" smtClean="0"/>
              <a:t> </a:t>
            </a:r>
            <a:r>
              <a:rPr lang="en-US" dirty="0" err="1" smtClean="0"/>
              <a:t>tidak</a:t>
            </a:r>
            <a:r>
              <a:rPr lang="en-US" dirty="0" smtClean="0"/>
              <a:t> </a:t>
            </a:r>
            <a:r>
              <a:rPr lang="en-US" dirty="0" err="1" smtClean="0"/>
              <a:t>Diterapkan</a:t>
            </a:r>
            <a:endParaRPr lang="en" dirty="0"/>
          </a:p>
        </p:txBody>
      </p:sp>
    </p:spTree>
    <p:extLst>
      <p:ext uri="{BB962C8B-B14F-4D97-AF65-F5344CB8AC3E}">
        <p14:creationId xmlns:p14="http://schemas.microsoft.com/office/powerpoint/2010/main" val="310837048"/>
      </p:ext>
    </p:extLst>
  </p:cSld>
  <p:clrMapOvr>
    <a:masterClrMapping/>
  </p:clrMapOvr>
  <p:transition spd="slow">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Rectangle 1"/>
          <p:cNvSpPr/>
          <p:nvPr/>
        </p:nvSpPr>
        <p:spPr>
          <a:xfrm flipH="1">
            <a:off x="5117911" y="2291149"/>
            <a:ext cx="294062" cy="562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n>
                <a:solidFill>
                  <a:schemeClr val="bg1"/>
                </a:solidFill>
              </a:ln>
              <a:solidFill>
                <a:schemeClr val="bg1"/>
              </a:solidFill>
            </a:endParaRPr>
          </a:p>
        </p:txBody>
      </p:sp>
      <p:sp>
        <p:nvSpPr>
          <p:cNvPr id="95" name="Shape 95"/>
          <p:cNvSpPr txBox="1">
            <a:spLocks noGrp="1"/>
          </p:cNvSpPr>
          <p:nvPr>
            <p:ph type="ctrTitle"/>
          </p:nvPr>
        </p:nvSpPr>
        <p:spPr>
          <a:xfrm>
            <a:off x="1993196" y="1711250"/>
            <a:ext cx="3274840" cy="1159799"/>
          </a:xfrm>
          <a:prstGeom prst="rect">
            <a:avLst/>
          </a:prstGeom>
        </p:spPr>
        <p:txBody>
          <a:bodyPr lIns="91425" tIns="91425" rIns="91425" bIns="91425" anchor="b" anchorCtr="0">
            <a:noAutofit/>
          </a:bodyPr>
          <a:lstStyle/>
          <a:p>
            <a:pPr lvl="0"/>
            <a:r>
              <a:rPr lang="en-US" dirty="0" err="1" smtClean="0"/>
              <a:t>Akuntabilitas</a:t>
            </a:r>
            <a:endParaRPr lang="en" dirty="0"/>
          </a:p>
        </p:txBody>
      </p:sp>
      <p:sp>
        <p:nvSpPr>
          <p:cNvPr id="96" name="Shape 96"/>
          <p:cNvSpPr txBox="1">
            <a:spLocks noGrp="1"/>
          </p:cNvSpPr>
          <p:nvPr>
            <p:ph type="subTitle" idx="1"/>
          </p:nvPr>
        </p:nvSpPr>
        <p:spPr>
          <a:xfrm>
            <a:off x="1688341" y="2871049"/>
            <a:ext cx="7153202" cy="1660008"/>
          </a:xfrm>
          <a:prstGeom prst="rect">
            <a:avLst/>
          </a:prstGeom>
        </p:spPr>
        <p:txBody>
          <a:bodyPr lIns="91425" tIns="91425" rIns="91425" bIns="91425" anchor="t" anchorCtr="0">
            <a:noAutofit/>
          </a:bodyPr>
          <a:lstStyle/>
          <a:p>
            <a:pPr lvl="0" algn="ctr">
              <a:lnSpc>
                <a:spcPct val="150000"/>
              </a:lnSpc>
            </a:pPr>
            <a:endParaRPr lang="en-US" sz="1600" b="1" dirty="0" smtClean="0"/>
          </a:p>
          <a:p>
            <a:pPr lvl="0" algn="ctr">
              <a:lnSpc>
                <a:spcPct val="150000"/>
              </a:lnSpc>
            </a:pPr>
            <a:r>
              <a:rPr lang="en-US" sz="1600" b="1" dirty="0" err="1" smtClean="0">
                <a:solidFill>
                  <a:srgbClr val="FF0000"/>
                </a:solidFill>
              </a:rPr>
              <a:t>Tanggung</a:t>
            </a:r>
            <a:r>
              <a:rPr lang="en-US" sz="1600" b="1" dirty="0" smtClean="0">
                <a:solidFill>
                  <a:srgbClr val="FF0000"/>
                </a:solidFill>
              </a:rPr>
              <a:t> </a:t>
            </a:r>
            <a:r>
              <a:rPr lang="en-US" sz="1600" b="1" dirty="0" err="1" smtClean="0">
                <a:solidFill>
                  <a:srgbClr val="FF0000"/>
                </a:solidFill>
              </a:rPr>
              <a:t>Jawab</a:t>
            </a:r>
            <a:r>
              <a:rPr lang="en-US" sz="1600" b="1" dirty="0">
                <a:solidFill>
                  <a:srgbClr val="FF0000"/>
                </a:solidFill>
              </a:rPr>
              <a:t> </a:t>
            </a:r>
            <a:r>
              <a:rPr lang="en-US" sz="1600" b="1" dirty="0" smtClean="0"/>
              <a:t>			</a:t>
            </a:r>
            <a:r>
              <a:rPr lang="en-US" sz="1600" b="1" dirty="0" err="1" smtClean="0">
                <a:solidFill>
                  <a:srgbClr val="00B050"/>
                </a:solidFill>
              </a:rPr>
              <a:t>Laporan</a:t>
            </a:r>
            <a:endParaRPr lang="en-US" sz="1600" b="1" dirty="0" smtClean="0">
              <a:solidFill>
                <a:srgbClr val="00B050"/>
              </a:solidFill>
            </a:endParaRPr>
          </a:p>
          <a:p>
            <a:pPr lvl="0" algn="ctr">
              <a:lnSpc>
                <a:spcPct val="150000"/>
              </a:lnSpc>
            </a:pPr>
            <a:endParaRPr lang="en-US" sz="1600" b="1" dirty="0"/>
          </a:p>
          <a:p>
            <a:pPr lvl="0" algn="ctr">
              <a:lnSpc>
                <a:spcPct val="150000"/>
              </a:lnSpc>
            </a:pPr>
            <a:r>
              <a:rPr lang="en-US" sz="1600" b="1" dirty="0" err="1" smtClean="0">
                <a:solidFill>
                  <a:srgbClr val="0070C0"/>
                </a:solidFill>
              </a:rPr>
              <a:t>Kejelasan</a:t>
            </a:r>
            <a:r>
              <a:rPr lang="en-US" sz="1600" b="1" dirty="0"/>
              <a:t>	</a:t>
            </a:r>
            <a:r>
              <a:rPr lang="en-US" sz="1600" b="1" dirty="0" smtClean="0"/>
              <a:t>	</a:t>
            </a:r>
            <a:r>
              <a:rPr lang="en-US" sz="1600" b="1" dirty="0" err="1" smtClean="0">
                <a:solidFill>
                  <a:srgbClr val="C00000"/>
                </a:solidFill>
              </a:rPr>
              <a:t>Penggunaan</a:t>
            </a:r>
            <a:r>
              <a:rPr lang="en-US" sz="1600" b="1" dirty="0" smtClean="0">
                <a:solidFill>
                  <a:srgbClr val="C00000"/>
                </a:solidFill>
              </a:rPr>
              <a:t> </a:t>
            </a:r>
            <a:r>
              <a:rPr lang="en-US" sz="1600" b="1" dirty="0" err="1" smtClean="0">
                <a:solidFill>
                  <a:srgbClr val="C00000"/>
                </a:solidFill>
              </a:rPr>
              <a:t>Sumber</a:t>
            </a:r>
            <a:r>
              <a:rPr lang="en-US" sz="1600" b="1" dirty="0" smtClean="0">
                <a:solidFill>
                  <a:srgbClr val="C00000"/>
                </a:solidFill>
              </a:rPr>
              <a:t> </a:t>
            </a:r>
            <a:r>
              <a:rPr lang="en-US" sz="1600" b="1" dirty="0" err="1" smtClean="0">
                <a:solidFill>
                  <a:srgbClr val="C00000"/>
                </a:solidFill>
              </a:rPr>
              <a:t>Daya</a:t>
            </a:r>
            <a:r>
              <a:rPr lang="en-US" sz="1600" b="1" dirty="0" smtClean="0">
                <a:solidFill>
                  <a:srgbClr val="C00000"/>
                </a:solidFill>
              </a:rPr>
              <a:t> Negara</a:t>
            </a:r>
            <a:endParaRPr lang="en" sz="1600" b="1" dirty="0">
              <a:solidFill>
                <a:srgbClr val="C00000"/>
              </a:solidFill>
            </a:endParaRPr>
          </a:p>
        </p:txBody>
      </p:sp>
      <p:sp>
        <p:nvSpPr>
          <p:cNvPr id="97" name="Shape 97"/>
          <p:cNvSpPr txBox="1"/>
          <p:nvPr/>
        </p:nvSpPr>
        <p:spPr>
          <a:xfrm>
            <a:off x="1133975" y="2291150"/>
            <a:ext cx="543899" cy="562199"/>
          </a:xfrm>
          <a:prstGeom prst="rect">
            <a:avLst/>
          </a:prstGeom>
          <a:noFill/>
          <a:ln>
            <a:noFill/>
          </a:ln>
        </p:spPr>
        <p:txBody>
          <a:bodyPr lIns="91425" tIns="91425" rIns="91425" bIns="91425" anchor="ctr" anchorCtr="0">
            <a:noAutofit/>
          </a:bodyPr>
          <a:lstStyle/>
          <a:p>
            <a:pPr algn="ctr">
              <a:spcBef>
                <a:spcPts val="0"/>
              </a:spcBef>
              <a:buNone/>
            </a:pPr>
            <a:r>
              <a:rPr lang="en" sz="2400" dirty="0">
                <a:solidFill>
                  <a:schemeClr val="dk1"/>
                </a:solidFill>
                <a:latin typeface="Lora"/>
                <a:ea typeface="Lora"/>
                <a:cs typeface="Lora"/>
                <a:sym typeface="Lora"/>
              </a:rPr>
              <a:t>1</a:t>
            </a:r>
          </a:p>
        </p:txBody>
      </p:sp>
    </p:spTree>
  </p:cSld>
  <p:clrMapOvr>
    <a:masterClrMapping/>
  </p:clrMapOvr>
  <p:transition spd="slow">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0" y="924720"/>
            <a:ext cx="3878399" cy="435599"/>
          </a:xfrm>
          <a:prstGeom prst="rect">
            <a:avLst/>
          </a:prstGeom>
        </p:spPr>
        <p:txBody>
          <a:bodyPr lIns="91425" tIns="91425" rIns="91425" bIns="91425" anchor="ctr" anchorCtr="0">
            <a:noAutofit/>
          </a:bodyPr>
          <a:lstStyle/>
          <a:p>
            <a:r>
              <a:rPr lang="en-US" dirty="0" err="1" smtClean="0">
                <a:solidFill>
                  <a:srgbClr val="FF0000"/>
                </a:solidFill>
              </a:rPr>
              <a:t>Tanggung</a:t>
            </a:r>
            <a:r>
              <a:rPr lang="en-US" dirty="0" smtClean="0">
                <a:solidFill>
                  <a:srgbClr val="FF0000"/>
                </a:solidFill>
              </a:rPr>
              <a:t> </a:t>
            </a:r>
            <a:r>
              <a:rPr lang="en-US" dirty="0" err="1" smtClean="0">
                <a:solidFill>
                  <a:srgbClr val="FF0000"/>
                </a:solidFill>
              </a:rPr>
              <a:t>Jawab</a:t>
            </a:r>
            <a:endParaRPr lang="en" dirty="0">
              <a:solidFill>
                <a:srgbClr val="FF0000"/>
              </a:solidFill>
            </a:endParaRPr>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sz="2000" dirty="0" err="1" smtClean="0"/>
              <a:t>Contoh</a:t>
            </a:r>
            <a:r>
              <a:rPr lang="en-US" sz="2000" dirty="0" smtClean="0"/>
              <a:t> </a:t>
            </a:r>
            <a:r>
              <a:rPr lang="en-US" sz="2000" dirty="0" err="1" smtClean="0"/>
              <a:t>Penerapannya</a:t>
            </a:r>
            <a:r>
              <a:rPr lang="en-US" sz="2000" dirty="0" smtClean="0"/>
              <a:t>:</a:t>
            </a:r>
            <a:endParaRPr lang="id-ID" sz="2000"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099333"/>
            <a:ext cx="7153202" cy="78479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smtClean="0"/>
              <a:t>Saya</a:t>
            </a:r>
            <a:r>
              <a:rPr lang="en-US" sz="1400" dirty="0" smtClean="0"/>
              <a:t> </a:t>
            </a:r>
            <a:r>
              <a:rPr lang="en-US" sz="1400" dirty="0" err="1"/>
              <a:t>telah</a:t>
            </a:r>
            <a:r>
              <a:rPr lang="en-US" sz="1400" dirty="0"/>
              <a:t> </a:t>
            </a:r>
            <a:r>
              <a:rPr lang="en-US" sz="1400" b="1" dirty="0" err="1"/>
              <a:t>bertanggung</a:t>
            </a:r>
            <a:r>
              <a:rPr lang="en-US" sz="1400" dirty="0"/>
              <a:t> </a:t>
            </a:r>
            <a:r>
              <a:rPr lang="en-US" sz="1400" b="1" dirty="0" err="1"/>
              <a:t>jawab</a:t>
            </a:r>
            <a:r>
              <a:rPr lang="en-US" sz="1400" dirty="0"/>
              <a:t> </a:t>
            </a:r>
            <a:r>
              <a:rPr lang="en-US" sz="1400" dirty="0" err="1"/>
              <a:t>menyelesaikan</a:t>
            </a:r>
            <a:r>
              <a:rPr lang="en-US" sz="1400" dirty="0"/>
              <a:t> </a:t>
            </a:r>
            <a:r>
              <a:rPr lang="en-US" sz="1400" dirty="0" err="1" smtClean="0"/>
              <a:t>tugas</a:t>
            </a:r>
            <a:r>
              <a:rPr lang="en-US" sz="1400" dirty="0" smtClean="0"/>
              <a:t> </a:t>
            </a:r>
            <a:r>
              <a:rPr lang="en-US" sz="1400" dirty="0" err="1" smtClean="0"/>
              <a:t>Entri</a:t>
            </a:r>
            <a:r>
              <a:rPr lang="en-US" sz="1400" dirty="0" smtClean="0"/>
              <a:t> </a:t>
            </a:r>
            <a:r>
              <a:rPr lang="en-US" sz="1400" dirty="0" err="1" smtClean="0"/>
              <a:t>Sakernas</a:t>
            </a:r>
            <a:r>
              <a:rPr lang="en-US" sz="1400" dirty="0" smtClean="0"/>
              <a:t> </a:t>
            </a:r>
            <a:r>
              <a:rPr lang="en-US" sz="1400" dirty="0" err="1"/>
              <a:t>sesuai</a:t>
            </a:r>
            <a:r>
              <a:rPr lang="en-US" sz="1400" dirty="0"/>
              <a:t> </a:t>
            </a:r>
            <a:r>
              <a:rPr lang="en-US" sz="1400" dirty="0" err="1"/>
              <a:t>dengan</a:t>
            </a:r>
            <a:r>
              <a:rPr lang="en-US" sz="1400" dirty="0"/>
              <a:t> target yang </a:t>
            </a:r>
            <a:r>
              <a:rPr lang="en-US" sz="1400" dirty="0" err="1"/>
              <a:t>direncanakan</a:t>
            </a:r>
            <a:r>
              <a:rPr lang="en-US" sz="1400" dirty="0"/>
              <a:t> (</a:t>
            </a:r>
            <a:r>
              <a:rPr lang="en-US" sz="1400" b="1" dirty="0" err="1" smtClean="0"/>
              <a:t>akuntabilitas</a:t>
            </a:r>
            <a:r>
              <a:rPr lang="en-US" sz="1400" b="1" dirty="0" smtClean="0"/>
              <a:t>)</a:t>
            </a:r>
            <a:endParaRPr lang="en" sz="1400" dirty="0"/>
          </a:p>
        </p:txBody>
      </p:sp>
      <p:sp>
        <p:nvSpPr>
          <p:cNvPr id="11" name="Shape 108"/>
          <p:cNvSpPr txBox="1">
            <a:spLocks/>
          </p:cNvSpPr>
          <p:nvPr/>
        </p:nvSpPr>
        <p:spPr>
          <a:xfrm>
            <a:off x="107824" y="2884132"/>
            <a:ext cx="58836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sz="2000" dirty="0" err="1" smtClean="0"/>
              <a:t>Jika</a:t>
            </a:r>
            <a:r>
              <a:rPr lang="en-US" sz="2000" dirty="0" smtClean="0"/>
              <a:t> </a:t>
            </a:r>
            <a:r>
              <a:rPr lang="en-US" sz="2000" dirty="0" err="1" smtClean="0"/>
              <a:t>Nilai</a:t>
            </a:r>
            <a:r>
              <a:rPr lang="en-US" sz="2000" dirty="0" smtClean="0"/>
              <a:t> </a:t>
            </a:r>
            <a:r>
              <a:rPr lang="en-US" sz="2000" dirty="0" err="1" smtClean="0"/>
              <a:t>Tidak</a:t>
            </a:r>
            <a:r>
              <a:rPr lang="en-US" sz="2000" dirty="0" smtClean="0"/>
              <a:t> </a:t>
            </a:r>
            <a:r>
              <a:rPr lang="en-US" sz="2000" dirty="0" err="1" smtClean="0"/>
              <a:t>Diterapkan</a:t>
            </a:r>
            <a:r>
              <a:rPr lang="en-US" sz="2000" dirty="0" smtClean="0"/>
              <a:t>:</a:t>
            </a:r>
            <a:endParaRPr lang="id-ID" sz="2000" dirty="0"/>
          </a:p>
        </p:txBody>
      </p:sp>
      <p:sp>
        <p:nvSpPr>
          <p:cNvPr id="12" name="Shape 96"/>
          <p:cNvSpPr txBox="1">
            <a:spLocks/>
          </p:cNvSpPr>
          <p:nvPr/>
        </p:nvSpPr>
        <p:spPr>
          <a:xfrm>
            <a:off x="1024282" y="3533366"/>
            <a:ext cx="7153202" cy="78479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buNone/>
            </a:pPr>
            <a:r>
              <a:rPr lang="en-US" sz="1400" dirty="0" err="1"/>
              <a:t>Sebagai</a:t>
            </a:r>
            <a:r>
              <a:rPr lang="en-US" sz="1400" dirty="0"/>
              <a:t> </a:t>
            </a:r>
            <a:r>
              <a:rPr lang="en-US" sz="1400" dirty="0" err="1"/>
              <a:t>contoh</a:t>
            </a:r>
            <a:r>
              <a:rPr lang="en-US" sz="1400" dirty="0"/>
              <a:t>, </a:t>
            </a:r>
            <a:r>
              <a:rPr lang="en-US" sz="1400" dirty="0" err="1"/>
              <a:t>dalam</a:t>
            </a:r>
            <a:r>
              <a:rPr lang="en-US" sz="1400" dirty="0"/>
              <a:t> </a:t>
            </a:r>
            <a:r>
              <a:rPr lang="en-US" sz="1400" dirty="0" err="1"/>
              <a:t>kegiatan</a:t>
            </a:r>
            <a:r>
              <a:rPr lang="en-US" sz="1400" dirty="0"/>
              <a:t> </a:t>
            </a:r>
            <a:r>
              <a:rPr lang="en-US" sz="1400" dirty="0" err="1"/>
              <a:t>mengentri</a:t>
            </a:r>
            <a:r>
              <a:rPr lang="en-US" sz="1400" dirty="0"/>
              <a:t> </a:t>
            </a:r>
            <a:r>
              <a:rPr lang="en-US" sz="1400" dirty="0" err="1"/>
              <a:t>sakernas</a:t>
            </a:r>
            <a:r>
              <a:rPr lang="en-US" sz="1400" dirty="0"/>
              <a:t>. </a:t>
            </a:r>
            <a:r>
              <a:rPr lang="en-US" sz="1400" dirty="0" err="1"/>
              <a:t>Jika</a:t>
            </a:r>
            <a:r>
              <a:rPr lang="en-US" sz="1400" dirty="0"/>
              <a:t> </a:t>
            </a:r>
            <a:r>
              <a:rPr lang="en-US" sz="1400" dirty="0" err="1"/>
              <a:t>saya</a:t>
            </a:r>
            <a:r>
              <a:rPr lang="en-US" sz="1400" dirty="0"/>
              <a:t> </a:t>
            </a:r>
            <a:r>
              <a:rPr lang="en-US" sz="1400" dirty="0" err="1"/>
              <a:t>tidak</a:t>
            </a:r>
            <a:r>
              <a:rPr lang="en-US" sz="1400" dirty="0"/>
              <a:t> </a:t>
            </a:r>
            <a:r>
              <a:rPr lang="en-US" sz="1400" dirty="0" err="1"/>
              <a:t>bertanggung</a:t>
            </a:r>
            <a:r>
              <a:rPr lang="en-US" sz="1400" dirty="0"/>
              <a:t> </a:t>
            </a:r>
            <a:r>
              <a:rPr lang="en-US" sz="1400" dirty="0" err="1"/>
              <a:t>jawab</a:t>
            </a:r>
            <a:r>
              <a:rPr lang="en-US" sz="1400" dirty="0"/>
              <a:t> </a:t>
            </a:r>
            <a:r>
              <a:rPr lang="en-US" sz="1400" dirty="0" err="1"/>
              <a:t>dalam</a:t>
            </a:r>
            <a:r>
              <a:rPr lang="en-US" sz="1400" dirty="0"/>
              <a:t> </a:t>
            </a:r>
            <a:r>
              <a:rPr lang="en-US" sz="1400" dirty="0" err="1"/>
              <a:t>penyelesaian</a:t>
            </a:r>
            <a:r>
              <a:rPr lang="en-US" sz="1400" dirty="0"/>
              <a:t> </a:t>
            </a:r>
            <a:r>
              <a:rPr lang="en-US" sz="1400" dirty="0" err="1"/>
              <a:t>tugas</a:t>
            </a:r>
            <a:r>
              <a:rPr lang="en-US" sz="1400" dirty="0"/>
              <a:t> </a:t>
            </a:r>
            <a:r>
              <a:rPr lang="en-US" sz="1400" dirty="0" err="1"/>
              <a:t>ini</a:t>
            </a:r>
            <a:r>
              <a:rPr lang="en-US" sz="1400" dirty="0"/>
              <a:t> </a:t>
            </a:r>
            <a:r>
              <a:rPr lang="en-US" sz="1400" dirty="0" err="1"/>
              <a:t>maka</a:t>
            </a:r>
            <a:r>
              <a:rPr lang="en-US" sz="1400" dirty="0"/>
              <a:t> </a:t>
            </a:r>
            <a:r>
              <a:rPr lang="en-US" sz="1400" dirty="0" err="1"/>
              <a:t>maka</a:t>
            </a:r>
            <a:r>
              <a:rPr lang="en-US" sz="1400" dirty="0"/>
              <a:t> </a:t>
            </a:r>
            <a:r>
              <a:rPr lang="en-US" sz="1400" dirty="0" err="1"/>
              <a:t>akan</a:t>
            </a:r>
            <a:r>
              <a:rPr lang="en-US" sz="1400" dirty="0"/>
              <a:t> </a:t>
            </a:r>
            <a:r>
              <a:rPr lang="en-US" sz="1400" dirty="0" err="1"/>
              <a:t>menghambat</a:t>
            </a:r>
            <a:r>
              <a:rPr lang="en-US" sz="1400" dirty="0"/>
              <a:t> proses-proses </a:t>
            </a:r>
            <a:r>
              <a:rPr lang="en-US" sz="1400" dirty="0" err="1"/>
              <a:t>selanjutnya</a:t>
            </a:r>
            <a:r>
              <a:rPr lang="en-US" sz="1400" dirty="0"/>
              <a:t> </a:t>
            </a:r>
            <a:r>
              <a:rPr lang="en-US" sz="1400" dirty="0" err="1"/>
              <a:t>baik</a:t>
            </a:r>
            <a:r>
              <a:rPr lang="en-US" sz="1400" dirty="0"/>
              <a:t> yang </a:t>
            </a:r>
            <a:r>
              <a:rPr lang="en-US" sz="1400" dirty="0" err="1"/>
              <a:t>akan</a:t>
            </a:r>
            <a:r>
              <a:rPr lang="en-US" sz="1400" dirty="0"/>
              <a:t> </a:t>
            </a:r>
            <a:r>
              <a:rPr lang="en-US" sz="1400" dirty="0" err="1"/>
              <a:t>dilakukan</a:t>
            </a:r>
            <a:r>
              <a:rPr lang="en-US" sz="1400" dirty="0"/>
              <a:t> BPS </a:t>
            </a:r>
            <a:r>
              <a:rPr lang="en-US" sz="1400" dirty="0" err="1"/>
              <a:t>provinsi</a:t>
            </a:r>
            <a:r>
              <a:rPr lang="en-US" sz="1400" dirty="0"/>
              <a:t> </a:t>
            </a:r>
            <a:r>
              <a:rPr lang="en-US" sz="1400" dirty="0" err="1"/>
              <a:t>maupun</a:t>
            </a:r>
            <a:r>
              <a:rPr lang="en-US" sz="1400" dirty="0"/>
              <a:t> di BPS </a:t>
            </a:r>
            <a:r>
              <a:rPr lang="en-US" sz="1400" dirty="0" err="1"/>
              <a:t>pusat</a:t>
            </a:r>
            <a:r>
              <a:rPr lang="en-US" sz="1400" dirty="0"/>
              <a:t>.</a:t>
            </a:r>
            <a:endParaRPr lang="id-ID" sz="1400" dirty="0"/>
          </a:p>
        </p:txBody>
      </p:sp>
    </p:spTree>
    <p:extLst>
      <p:ext uri="{BB962C8B-B14F-4D97-AF65-F5344CB8AC3E}">
        <p14:creationId xmlns:p14="http://schemas.microsoft.com/office/powerpoint/2010/main" val="331385176"/>
      </p:ext>
    </p:extLst>
  </p:cSld>
  <p:clrMapOvr>
    <a:masterClrMapping/>
  </p:clrMapOvr>
  <p:transition spd="slow">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0" y="924720"/>
            <a:ext cx="3878399" cy="435599"/>
          </a:xfrm>
          <a:prstGeom prst="rect">
            <a:avLst/>
          </a:prstGeom>
        </p:spPr>
        <p:txBody>
          <a:bodyPr lIns="91425" tIns="91425" rIns="91425" bIns="91425" anchor="ctr" anchorCtr="0">
            <a:noAutofit/>
          </a:bodyPr>
          <a:lstStyle/>
          <a:p>
            <a:r>
              <a:rPr lang="en-US" dirty="0" err="1" smtClean="0">
                <a:solidFill>
                  <a:srgbClr val="00B050"/>
                </a:solidFill>
              </a:rPr>
              <a:t>Laporan</a:t>
            </a:r>
            <a:endParaRPr lang="en" dirty="0">
              <a:solidFill>
                <a:srgbClr val="00B050"/>
              </a:solidFill>
            </a:endParaRPr>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sz="2000" dirty="0" err="1" smtClean="0"/>
              <a:t>Contoh</a:t>
            </a:r>
            <a:r>
              <a:rPr lang="en-US" sz="2000" dirty="0" smtClean="0"/>
              <a:t> </a:t>
            </a:r>
            <a:r>
              <a:rPr lang="en-US" sz="2000" dirty="0" err="1" smtClean="0"/>
              <a:t>Penerapannya</a:t>
            </a:r>
            <a:r>
              <a:rPr lang="en-US" sz="2000" dirty="0" smtClean="0"/>
              <a:t>:</a:t>
            </a:r>
            <a:endParaRPr lang="id-ID" sz="2000"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099333"/>
            <a:ext cx="7153202" cy="78479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smtClean="0"/>
              <a:t>Saat</a:t>
            </a:r>
            <a:r>
              <a:rPr lang="en-US" sz="1400" dirty="0" smtClean="0"/>
              <a:t> </a:t>
            </a:r>
            <a:r>
              <a:rPr lang="en-US" sz="1400" dirty="0" err="1" smtClean="0"/>
              <a:t>kegiatan</a:t>
            </a:r>
            <a:r>
              <a:rPr lang="en-US" sz="1400" dirty="0" smtClean="0"/>
              <a:t> </a:t>
            </a:r>
            <a:r>
              <a:rPr lang="en-US" sz="1400" dirty="0" err="1" smtClean="0"/>
              <a:t>aktualisasi</a:t>
            </a:r>
            <a:r>
              <a:rPr lang="en-US" sz="1400" dirty="0" smtClean="0"/>
              <a:t> </a:t>
            </a:r>
            <a:r>
              <a:rPr lang="en-US" sz="1400" dirty="0" err="1" smtClean="0"/>
              <a:t>telah</a:t>
            </a:r>
            <a:r>
              <a:rPr lang="en-US" sz="1400" dirty="0" smtClean="0"/>
              <a:t> </a:t>
            </a:r>
            <a:r>
              <a:rPr lang="en-US" sz="1400" dirty="0" err="1" smtClean="0"/>
              <a:t>selesai</a:t>
            </a:r>
            <a:r>
              <a:rPr lang="en-US" sz="1400" dirty="0" smtClean="0"/>
              <a:t> </a:t>
            </a:r>
            <a:r>
              <a:rPr lang="en-US" sz="1400" dirty="0" err="1" smtClean="0"/>
              <a:t>dilaksanakan</a:t>
            </a:r>
            <a:r>
              <a:rPr lang="en-US" sz="1400" dirty="0" smtClean="0"/>
              <a:t> </a:t>
            </a:r>
            <a:r>
              <a:rPr lang="en-US" sz="1400" dirty="0" err="1" smtClean="0"/>
              <a:t>saya</a:t>
            </a:r>
            <a:r>
              <a:rPr lang="en-US" sz="1400" dirty="0" smtClean="0"/>
              <a:t> </a:t>
            </a:r>
            <a:r>
              <a:rPr lang="en-US" sz="1400" dirty="0" err="1" smtClean="0"/>
              <a:t>telah</a:t>
            </a:r>
            <a:r>
              <a:rPr lang="en-US" sz="1400" dirty="0" smtClean="0"/>
              <a:t> </a:t>
            </a:r>
            <a:r>
              <a:rPr lang="en-US" sz="1400" b="1" dirty="0" err="1" smtClean="0"/>
              <a:t>melaporkan</a:t>
            </a:r>
            <a:r>
              <a:rPr lang="en-US" sz="1400" dirty="0" smtClean="0"/>
              <a:t> </a:t>
            </a:r>
            <a:r>
              <a:rPr lang="en-US" sz="1400" dirty="0" err="1" smtClean="0"/>
              <a:t>kepada</a:t>
            </a:r>
            <a:r>
              <a:rPr lang="en-US" sz="1400" dirty="0" smtClean="0"/>
              <a:t> </a:t>
            </a:r>
            <a:r>
              <a:rPr lang="en-US" sz="1400" dirty="0" err="1" smtClean="0"/>
              <a:t>atasan</a:t>
            </a:r>
            <a:r>
              <a:rPr lang="en-US" sz="1400" dirty="0" smtClean="0"/>
              <a:t> (</a:t>
            </a:r>
            <a:r>
              <a:rPr lang="en-US" sz="1400" b="1" dirty="0" err="1" smtClean="0"/>
              <a:t>akuntabilitas</a:t>
            </a:r>
            <a:r>
              <a:rPr lang="en-US" sz="1400" dirty="0" smtClean="0"/>
              <a:t>). </a:t>
            </a:r>
            <a:endParaRPr lang="en" sz="1400" dirty="0"/>
          </a:p>
        </p:txBody>
      </p:sp>
      <p:sp>
        <p:nvSpPr>
          <p:cNvPr id="11" name="Shape 108"/>
          <p:cNvSpPr txBox="1">
            <a:spLocks/>
          </p:cNvSpPr>
          <p:nvPr/>
        </p:nvSpPr>
        <p:spPr>
          <a:xfrm>
            <a:off x="107824" y="2884132"/>
            <a:ext cx="58836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sz="2000" dirty="0" err="1" smtClean="0"/>
              <a:t>Jika</a:t>
            </a:r>
            <a:r>
              <a:rPr lang="en-US" sz="2000" dirty="0" smtClean="0"/>
              <a:t> </a:t>
            </a:r>
            <a:r>
              <a:rPr lang="en-US" sz="2000" dirty="0" err="1" smtClean="0"/>
              <a:t>Nilai</a:t>
            </a:r>
            <a:r>
              <a:rPr lang="en-US" sz="2000" dirty="0" smtClean="0"/>
              <a:t> </a:t>
            </a:r>
            <a:r>
              <a:rPr lang="en-US" sz="2000" dirty="0" err="1" smtClean="0"/>
              <a:t>Tidak</a:t>
            </a:r>
            <a:r>
              <a:rPr lang="en-US" sz="2000" dirty="0" smtClean="0"/>
              <a:t> </a:t>
            </a:r>
            <a:r>
              <a:rPr lang="en-US" sz="2000" dirty="0" err="1" smtClean="0"/>
              <a:t>Diterapkan</a:t>
            </a:r>
            <a:r>
              <a:rPr lang="en-US" sz="2000" dirty="0" smtClean="0"/>
              <a:t>:</a:t>
            </a:r>
            <a:endParaRPr lang="id-ID" sz="2000" dirty="0"/>
          </a:p>
        </p:txBody>
      </p:sp>
      <p:sp>
        <p:nvSpPr>
          <p:cNvPr id="12" name="Shape 96"/>
          <p:cNvSpPr txBox="1">
            <a:spLocks/>
          </p:cNvSpPr>
          <p:nvPr/>
        </p:nvSpPr>
        <p:spPr>
          <a:xfrm>
            <a:off x="1024282" y="3533366"/>
            <a:ext cx="7153202" cy="78479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buNone/>
            </a:pPr>
            <a:r>
              <a:rPr lang="en-US" sz="1400" dirty="0" err="1"/>
              <a:t>Sebagai</a:t>
            </a:r>
            <a:r>
              <a:rPr lang="en-US" sz="1400" dirty="0"/>
              <a:t> </a:t>
            </a:r>
            <a:r>
              <a:rPr lang="en-US" sz="1400" dirty="0" err="1"/>
              <a:t>contoh</a:t>
            </a:r>
            <a:r>
              <a:rPr lang="en-US" sz="1400" dirty="0"/>
              <a:t>, </a:t>
            </a:r>
            <a:r>
              <a:rPr lang="en-US" sz="1400" dirty="0" err="1"/>
              <a:t>dalam</a:t>
            </a:r>
            <a:r>
              <a:rPr lang="en-US" sz="1400" dirty="0"/>
              <a:t> </a:t>
            </a:r>
            <a:r>
              <a:rPr lang="en-US" sz="1400" dirty="0" err="1"/>
              <a:t>kegiatan</a:t>
            </a:r>
            <a:r>
              <a:rPr lang="en-US" sz="1400" dirty="0"/>
              <a:t> </a:t>
            </a:r>
            <a:r>
              <a:rPr lang="en-US" sz="1400" dirty="0" err="1"/>
              <a:t>mengupload</a:t>
            </a:r>
            <a:r>
              <a:rPr lang="en-US" sz="1400" dirty="0"/>
              <a:t> </a:t>
            </a:r>
            <a:r>
              <a:rPr lang="en-US" sz="1400" dirty="0" err="1"/>
              <a:t>tabel</a:t>
            </a:r>
            <a:r>
              <a:rPr lang="en-US" sz="1400" dirty="0"/>
              <a:t> </a:t>
            </a:r>
            <a:r>
              <a:rPr lang="en-US" sz="1400" dirty="0" err="1"/>
              <a:t>statis</a:t>
            </a:r>
            <a:r>
              <a:rPr lang="en-US" sz="1400" dirty="0"/>
              <a:t> </a:t>
            </a:r>
            <a:r>
              <a:rPr lang="en-US" sz="1400" dirty="0" err="1"/>
              <a:t>ke</a:t>
            </a:r>
            <a:r>
              <a:rPr lang="en-US" sz="1400" dirty="0"/>
              <a:t> </a:t>
            </a:r>
            <a:r>
              <a:rPr lang="en-US" sz="1400" i="1" dirty="0"/>
              <a:t>website </a:t>
            </a:r>
            <a:r>
              <a:rPr lang="en-US" sz="1400" dirty="0"/>
              <a:t>BPS Kota </a:t>
            </a:r>
            <a:r>
              <a:rPr lang="en-US" sz="1400" dirty="0" err="1"/>
              <a:t>Bontang</a:t>
            </a:r>
            <a:r>
              <a:rPr lang="en-US" sz="1400" dirty="0"/>
              <a:t>. </a:t>
            </a:r>
            <a:r>
              <a:rPr lang="en-US" sz="1400" dirty="0" err="1"/>
              <a:t>Apabila</a:t>
            </a:r>
            <a:r>
              <a:rPr lang="en-US" sz="1400" dirty="0"/>
              <a:t> </a:t>
            </a:r>
            <a:r>
              <a:rPr lang="en-US" sz="1400" dirty="0" err="1"/>
              <a:t>progres</a:t>
            </a:r>
            <a:r>
              <a:rPr lang="en-US" sz="1400" dirty="0"/>
              <a:t> </a:t>
            </a:r>
            <a:r>
              <a:rPr lang="en-US" sz="1400" dirty="0" err="1"/>
              <a:t>maupun</a:t>
            </a:r>
            <a:r>
              <a:rPr lang="en-US" sz="1400" dirty="0"/>
              <a:t> </a:t>
            </a:r>
            <a:r>
              <a:rPr lang="en-US" sz="1400" dirty="0" err="1"/>
              <a:t>hasil</a:t>
            </a:r>
            <a:r>
              <a:rPr lang="en-US" sz="1400" dirty="0"/>
              <a:t> </a:t>
            </a:r>
            <a:r>
              <a:rPr lang="en-US" sz="1400" dirty="0" err="1"/>
              <a:t>pekerjan</a:t>
            </a:r>
            <a:r>
              <a:rPr lang="en-US" sz="1400" dirty="0"/>
              <a:t> </a:t>
            </a:r>
            <a:r>
              <a:rPr lang="en-US" sz="1400" dirty="0" err="1"/>
              <a:t>tidak</a:t>
            </a:r>
            <a:r>
              <a:rPr lang="en-US" sz="1400" dirty="0"/>
              <a:t> </a:t>
            </a:r>
            <a:r>
              <a:rPr lang="en-US" sz="1400" dirty="0" err="1"/>
              <a:t>dilaporkan</a:t>
            </a:r>
            <a:r>
              <a:rPr lang="en-US" sz="1400" dirty="0"/>
              <a:t> </a:t>
            </a:r>
            <a:r>
              <a:rPr lang="en-US" sz="1400" dirty="0" err="1"/>
              <a:t>kepada</a:t>
            </a:r>
            <a:r>
              <a:rPr lang="en-US" sz="1400" dirty="0"/>
              <a:t> </a:t>
            </a:r>
            <a:r>
              <a:rPr lang="en-US" sz="1400" dirty="0" err="1"/>
              <a:t>atasan</a:t>
            </a:r>
            <a:r>
              <a:rPr lang="en-US" sz="1400" dirty="0"/>
              <a:t>, </a:t>
            </a:r>
            <a:r>
              <a:rPr lang="en-US" sz="1400" dirty="0" err="1"/>
              <a:t>hal</a:t>
            </a:r>
            <a:r>
              <a:rPr lang="en-US" sz="1400" dirty="0"/>
              <a:t> </a:t>
            </a:r>
            <a:r>
              <a:rPr lang="en-US" sz="1400" dirty="0" err="1"/>
              <a:t>ini</a:t>
            </a:r>
            <a:r>
              <a:rPr lang="en-US" sz="1400" dirty="0"/>
              <a:t> </a:t>
            </a:r>
            <a:r>
              <a:rPr lang="en-US" sz="1400" dirty="0" err="1"/>
              <a:t>akan</a:t>
            </a:r>
            <a:r>
              <a:rPr lang="en-US" sz="1400" dirty="0"/>
              <a:t> </a:t>
            </a:r>
            <a:r>
              <a:rPr lang="en-US" sz="1400" dirty="0" err="1"/>
              <a:t>menimbulkan</a:t>
            </a:r>
            <a:r>
              <a:rPr lang="en-US" sz="1400" dirty="0"/>
              <a:t> </a:t>
            </a:r>
            <a:r>
              <a:rPr lang="en-US" sz="1400" dirty="0" err="1"/>
              <a:t>kesan</a:t>
            </a:r>
            <a:r>
              <a:rPr lang="en-US" sz="1400" dirty="0"/>
              <a:t> </a:t>
            </a:r>
            <a:r>
              <a:rPr lang="en-US" sz="1400" dirty="0" err="1"/>
              <a:t>bahwa</a:t>
            </a:r>
            <a:r>
              <a:rPr lang="en-US" sz="1400" dirty="0"/>
              <a:t> </a:t>
            </a:r>
            <a:r>
              <a:rPr lang="en-US" sz="1400" dirty="0" err="1"/>
              <a:t>tugas</a:t>
            </a:r>
            <a:r>
              <a:rPr lang="en-US" sz="1400" dirty="0"/>
              <a:t> yang </a:t>
            </a:r>
            <a:r>
              <a:rPr lang="en-US" sz="1400" dirty="0" err="1"/>
              <a:t>dibebankan</a:t>
            </a:r>
            <a:r>
              <a:rPr lang="en-US" sz="1400" dirty="0"/>
              <a:t> </a:t>
            </a:r>
            <a:r>
              <a:rPr lang="en-US" sz="1400" dirty="0" err="1"/>
              <a:t>kepada</a:t>
            </a:r>
            <a:r>
              <a:rPr lang="en-US" sz="1400" dirty="0"/>
              <a:t> </a:t>
            </a:r>
            <a:r>
              <a:rPr lang="en-US" sz="1400" dirty="0" err="1"/>
              <a:t>kita</a:t>
            </a:r>
            <a:r>
              <a:rPr lang="en-US" sz="1400" dirty="0"/>
              <a:t> </a:t>
            </a:r>
            <a:r>
              <a:rPr lang="en-US" sz="1400" dirty="0" err="1"/>
              <a:t>tidak</a:t>
            </a:r>
            <a:r>
              <a:rPr lang="en-US" sz="1400" dirty="0"/>
              <a:t> </a:t>
            </a:r>
            <a:r>
              <a:rPr lang="en-US" sz="1400" dirty="0" err="1"/>
              <a:t>berjalan</a:t>
            </a:r>
            <a:r>
              <a:rPr lang="en-US" sz="1400" dirty="0"/>
              <a:t> </a:t>
            </a:r>
            <a:r>
              <a:rPr lang="en-US" sz="1400" dirty="0" err="1"/>
              <a:t>dengan</a:t>
            </a:r>
            <a:r>
              <a:rPr lang="en-US" sz="1400" dirty="0"/>
              <a:t> </a:t>
            </a:r>
            <a:r>
              <a:rPr lang="en-US" sz="1400" dirty="0" err="1"/>
              <a:t>lancar</a:t>
            </a:r>
            <a:r>
              <a:rPr lang="en-US" sz="1400" dirty="0"/>
              <a:t>. </a:t>
            </a:r>
            <a:endParaRPr lang="id-ID" sz="1400" dirty="0"/>
          </a:p>
        </p:txBody>
      </p:sp>
    </p:spTree>
    <p:extLst>
      <p:ext uri="{BB962C8B-B14F-4D97-AF65-F5344CB8AC3E}">
        <p14:creationId xmlns:p14="http://schemas.microsoft.com/office/powerpoint/2010/main" val="1618578599"/>
      </p:ext>
    </p:extLst>
  </p:cSld>
  <p:clrMapOvr>
    <a:masterClrMapping/>
  </p:clrMapOvr>
  <p:transition spd="slow">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0" y="924720"/>
            <a:ext cx="3878399" cy="435599"/>
          </a:xfrm>
          <a:prstGeom prst="rect">
            <a:avLst/>
          </a:prstGeom>
        </p:spPr>
        <p:txBody>
          <a:bodyPr lIns="91425" tIns="91425" rIns="91425" bIns="91425" anchor="ctr" anchorCtr="0">
            <a:noAutofit/>
          </a:bodyPr>
          <a:lstStyle/>
          <a:p>
            <a:r>
              <a:rPr lang="en-US" dirty="0" err="1" smtClean="0">
                <a:solidFill>
                  <a:srgbClr val="00B0F0"/>
                </a:solidFill>
              </a:rPr>
              <a:t>Kejelasan</a:t>
            </a:r>
            <a:endParaRPr lang="en" dirty="0">
              <a:solidFill>
                <a:srgbClr val="00B0F0"/>
              </a:solidFill>
            </a:endParaRPr>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sz="2000" dirty="0" err="1" smtClean="0"/>
              <a:t>Contoh</a:t>
            </a:r>
            <a:r>
              <a:rPr lang="en-US" sz="2000" dirty="0" smtClean="0"/>
              <a:t> </a:t>
            </a:r>
            <a:r>
              <a:rPr lang="en-US" sz="2000" dirty="0" err="1" smtClean="0"/>
              <a:t>Penerapannya</a:t>
            </a:r>
            <a:r>
              <a:rPr lang="en-US" sz="2000" dirty="0" smtClean="0"/>
              <a:t>:</a:t>
            </a:r>
            <a:endParaRPr lang="id-ID" sz="2000"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099333"/>
            <a:ext cx="7153202" cy="78479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smtClean="0"/>
              <a:t>Sebelum</a:t>
            </a:r>
            <a:r>
              <a:rPr lang="en-US" sz="1400" dirty="0" smtClean="0"/>
              <a:t> </a:t>
            </a:r>
            <a:r>
              <a:rPr lang="en-US" sz="1400" dirty="0" err="1" smtClean="0"/>
              <a:t>kegiatan</a:t>
            </a:r>
            <a:r>
              <a:rPr lang="en-US" sz="1400" dirty="0" smtClean="0"/>
              <a:t> </a:t>
            </a:r>
            <a:r>
              <a:rPr lang="en-US" sz="1400" dirty="0" err="1" smtClean="0"/>
              <a:t>aktualisasi</a:t>
            </a:r>
            <a:r>
              <a:rPr lang="en-US" sz="1400" dirty="0" smtClean="0"/>
              <a:t> </a:t>
            </a:r>
            <a:r>
              <a:rPr lang="en-US" sz="1400" dirty="0" err="1" smtClean="0"/>
              <a:t>dilakukan</a:t>
            </a:r>
            <a:r>
              <a:rPr lang="en-US" sz="1400" dirty="0" smtClean="0"/>
              <a:t> </a:t>
            </a:r>
            <a:r>
              <a:rPr lang="en-US" sz="1400" dirty="0" err="1" smtClean="0"/>
              <a:t>saya</a:t>
            </a:r>
            <a:r>
              <a:rPr lang="en-US" sz="1400" dirty="0" smtClean="0"/>
              <a:t> </a:t>
            </a:r>
            <a:r>
              <a:rPr lang="en-US" sz="1400" dirty="0" err="1" smtClean="0"/>
              <a:t>telah</a:t>
            </a:r>
            <a:r>
              <a:rPr lang="en-US" sz="1400" dirty="0" smtClean="0"/>
              <a:t> </a:t>
            </a:r>
            <a:r>
              <a:rPr lang="en-US" sz="1400" dirty="0" err="1" smtClean="0"/>
              <a:t>meminta</a:t>
            </a:r>
            <a:r>
              <a:rPr lang="en-US" sz="1400" dirty="0" smtClean="0"/>
              <a:t> </a:t>
            </a:r>
            <a:r>
              <a:rPr lang="en-US" sz="1400" b="1" dirty="0" err="1" smtClean="0"/>
              <a:t>kejelasan</a:t>
            </a:r>
            <a:r>
              <a:rPr lang="en-US" sz="1400" dirty="0" smtClean="0"/>
              <a:t> </a:t>
            </a:r>
            <a:r>
              <a:rPr lang="en-US" sz="1400" dirty="0" err="1" smtClean="0"/>
              <a:t>terhadap</a:t>
            </a:r>
            <a:r>
              <a:rPr lang="en-US" sz="1400" dirty="0" smtClean="0"/>
              <a:t> </a:t>
            </a:r>
            <a:r>
              <a:rPr lang="en-US" sz="1400" dirty="0" err="1" smtClean="0"/>
              <a:t>tugas</a:t>
            </a:r>
            <a:r>
              <a:rPr lang="en-US" sz="1400" dirty="0" smtClean="0"/>
              <a:t> yang </a:t>
            </a:r>
            <a:r>
              <a:rPr lang="en-US" sz="1400" dirty="0" err="1" smtClean="0"/>
              <a:t>diberikan</a:t>
            </a:r>
            <a:r>
              <a:rPr lang="en-US" sz="1400" dirty="0" smtClean="0"/>
              <a:t> (</a:t>
            </a:r>
            <a:r>
              <a:rPr lang="en-US" sz="1400" b="1" dirty="0" err="1" smtClean="0"/>
              <a:t>akuntabilitas</a:t>
            </a:r>
            <a:r>
              <a:rPr lang="en-US" sz="1400" dirty="0" smtClean="0"/>
              <a:t>).</a:t>
            </a:r>
            <a:endParaRPr lang="en" sz="1400" dirty="0"/>
          </a:p>
        </p:txBody>
      </p:sp>
      <p:sp>
        <p:nvSpPr>
          <p:cNvPr id="11" name="Shape 108"/>
          <p:cNvSpPr txBox="1">
            <a:spLocks/>
          </p:cNvSpPr>
          <p:nvPr/>
        </p:nvSpPr>
        <p:spPr>
          <a:xfrm>
            <a:off x="107824" y="2884132"/>
            <a:ext cx="58836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sz="2000" dirty="0" err="1" smtClean="0"/>
              <a:t>Jika</a:t>
            </a:r>
            <a:r>
              <a:rPr lang="en-US" sz="2000" dirty="0" smtClean="0"/>
              <a:t> </a:t>
            </a:r>
            <a:r>
              <a:rPr lang="en-US" sz="2000" dirty="0" err="1" smtClean="0"/>
              <a:t>Nilai</a:t>
            </a:r>
            <a:r>
              <a:rPr lang="en-US" sz="2000" dirty="0" smtClean="0"/>
              <a:t> </a:t>
            </a:r>
            <a:r>
              <a:rPr lang="en-US" sz="2000" dirty="0" err="1" smtClean="0"/>
              <a:t>Tidak</a:t>
            </a:r>
            <a:r>
              <a:rPr lang="en-US" sz="2000" dirty="0" smtClean="0"/>
              <a:t> </a:t>
            </a:r>
            <a:r>
              <a:rPr lang="en-US" sz="2000" dirty="0" err="1" smtClean="0"/>
              <a:t>Diterapkan</a:t>
            </a:r>
            <a:r>
              <a:rPr lang="en-US" sz="2000" dirty="0" smtClean="0"/>
              <a:t>:</a:t>
            </a:r>
            <a:endParaRPr lang="id-ID" sz="2000" dirty="0"/>
          </a:p>
        </p:txBody>
      </p:sp>
      <p:sp>
        <p:nvSpPr>
          <p:cNvPr id="12" name="Shape 96"/>
          <p:cNvSpPr txBox="1">
            <a:spLocks/>
          </p:cNvSpPr>
          <p:nvPr/>
        </p:nvSpPr>
        <p:spPr>
          <a:xfrm>
            <a:off x="1024282" y="3533366"/>
            <a:ext cx="7153202" cy="78479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buNone/>
            </a:pPr>
            <a:r>
              <a:rPr lang="en-US" sz="1400" dirty="0" err="1"/>
              <a:t>Sebagai</a:t>
            </a:r>
            <a:r>
              <a:rPr lang="en-US" sz="1400" dirty="0"/>
              <a:t> </a:t>
            </a:r>
            <a:r>
              <a:rPr lang="en-US" sz="1400" dirty="0" err="1"/>
              <a:t>contoh</a:t>
            </a:r>
            <a:r>
              <a:rPr lang="en-US" sz="1400" dirty="0"/>
              <a:t> </a:t>
            </a:r>
            <a:r>
              <a:rPr lang="en-US" sz="1400" dirty="0" err="1"/>
              <a:t>saat</a:t>
            </a:r>
            <a:r>
              <a:rPr lang="en-US" sz="1400" dirty="0"/>
              <a:t> </a:t>
            </a:r>
            <a:r>
              <a:rPr lang="en-US" sz="1400" dirty="0" err="1"/>
              <a:t>pelaksanaan</a:t>
            </a:r>
            <a:r>
              <a:rPr lang="en-US" sz="1400" dirty="0"/>
              <a:t> </a:t>
            </a:r>
            <a:r>
              <a:rPr lang="en-US" sz="1400" dirty="0" err="1"/>
              <a:t>kegiatan</a:t>
            </a:r>
            <a:r>
              <a:rPr lang="en-US" sz="1400" dirty="0"/>
              <a:t> </a:t>
            </a:r>
            <a:r>
              <a:rPr lang="en-US" sz="1400" i="1" dirty="0"/>
              <a:t>scanning </a:t>
            </a:r>
            <a:r>
              <a:rPr lang="en-US" sz="1400" dirty="0" err="1"/>
              <a:t>peta</a:t>
            </a:r>
            <a:r>
              <a:rPr lang="en-US" sz="1400" dirty="0"/>
              <a:t> WB SE 2016, </a:t>
            </a:r>
            <a:r>
              <a:rPr lang="en-US" sz="1400" dirty="0" err="1"/>
              <a:t>jika</a:t>
            </a:r>
            <a:r>
              <a:rPr lang="en-US" sz="1400" dirty="0"/>
              <a:t> </a:t>
            </a:r>
            <a:r>
              <a:rPr lang="en-US" sz="1400" dirty="0" err="1"/>
              <a:t>saya</a:t>
            </a:r>
            <a:r>
              <a:rPr lang="en-US" sz="1400" dirty="0"/>
              <a:t> </a:t>
            </a:r>
            <a:r>
              <a:rPr lang="en-US" sz="1400" dirty="0" err="1"/>
              <a:t>tidak</a:t>
            </a:r>
            <a:r>
              <a:rPr lang="en-US" sz="1400" dirty="0"/>
              <a:t> </a:t>
            </a:r>
            <a:r>
              <a:rPr lang="en-US" sz="1400" dirty="0" err="1"/>
              <a:t>meminta</a:t>
            </a:r>
            <a:r>
              <a:rPr lang="en-US" sz="1400" dirty="0"/>
              <a:t> </a:t>
            </a:r>
            <a:r>
              <a:rPr lang="en-US" sz="1400" dirty="0" err="1"/>
              <a:t>kejelasan</a:t>
            </a:r>
            <a:r>
              <a:rPr lang="en-US" sz="1400" dirty="0"/>
              <a:t> </a:t>
            </a:r>
            <a:r>
              <a:rPr lang="en-US" sz="1400" dirty="0" err="1"/>
              <a:t>kepada</a:t>
            </a:r>
            <a:r>
              <a:rPr lang="en-US" sz="1400" dirty="0"/>
              <a:t> </a:t>
            </a:r>
            <a:r>
              <a:rPr lang="en-US" sz="1400" dirty="0" err="1"/>
              <a:t>atasan</a:t>
            </a:r>
            <a:r>
              <a:rPr lang="en-US" sz="1400" dirty="0"/>
              <a:t> </a:t>
            </a:r>
            <a:r>
              <a:rPr lang="en-US" sz="1400" dirty="0" err="1"/>
              <a:t>maka</a:t>
            </a:r>
            <a:r>
              <a:rPr lang="en-US" sz="1400" dirty="0"/>
              <a:t> </a:t>
            </a:r>
            <a:r>
              <a:rPr lang="en-US" sz="1400" dirty="0" err="1"/>
              <a:t>akan</a:t>
            </a:r>
            <a:r>
              <a:rPr lang="en-US" sz="1400" dirty="0"/>
              <a:t> </a:t>
            </a:r>
            <a:r>
              <a:rPr lang="en-US" sz="1400" dirty="0" err="1"/>
              <a:t>menyebabkan</a:t>
            </a:r>
            <a:r>
              <a:rPr lang="en-US" sz="1400" dirty="0"/>
              <a:t> </a:t>
            </a:r>
            <a:r>
              <a:rPr lang="en-US" sz="1400" dirty="0" err="1"/>
              <a:t>kesalahan</a:t>
            </a:r>
            <a:r>
              <a:rPr lang="en-US" sz="1400" dirty="0"/>
              <a:t> </a:t>
            </a:r>
            <a:r>
              <a:rPr lang="en-US" sz="1400" i="1" dirty="0"/>
              <a:t>scan</a:t>
            </a:r>
            <a:r>
              <a:rPr lang="en-US" sz="1400" dirty="0"/>
              <a:t> </a:t>
            </a:r>
            <a:r>
              <a:rPr lang="en-US" sz="1400" dirty="0" err="1"/>
              <a:t>peta</a:t>
            </a:r>
            <a:r>
              <a:rPr lang="en-US" sz="1400" dirty="0"/>
              <a:t>. </a:t>
            </a:r>
            <a:endParaRPr lang="id-ID" sz="1400" dirty="0"/>
          </a:p>
        </p:txBody>
      </p:sp>
    </p:spTree>
    <p:extLst>
      <p:ext uri="{BB962C8B-B14F-4D97-AF65-F5344CB8AC3E}">
        <p14:creationId xmlns:p14="http://schemas.microsoft.com/office/powerpoint/2010/main" val="4147955566"/>
      </p:ext>
    </p:extLst>
  </p:cSld>
  <p:clrMapOvr>
    <a:masterClrMapping/>
  </p:clrMapOvr>
  <p:transition spd="slow">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0" y="924720"/>
            <a:ext cx="3804899" cy="435599"/>
          </a:xfrm>
          <a:prstGeom prst="rect">
            <a:avLst/>
          </a:prstGeom>
        </p:spPr>
        <p:txBody>
          <a:bodyPr lIns="91425" tIns="91425" rIns="91425" bIns="91425" anchor="ctr" anchorCtr="0">
            <a:noAutofit/>
          </a:bodyPr>
          <a:lstStyle/>
          <a:p>
            <a:r>
              <a:rPr lang="en-US" dirty="0" err="1">
                <a:solidFill>
                  <a:srgbClr val="C00000"/>
                </a:solidFill>
              </a:rPr>
              <a:t>Penggunaan</a:t>
            </a:r>
            <a:r>
              <a:rPr lang="en-US" dirty="0">
                <a:solidFill>
                  <a:srgbClr val="C00000"/>
                </a:solidFill>
              </a:rPr>
              <a:t> </a:t>
            </a:r>
            <a:r>
              <a:rPr lang="en-US" dirty="0" err="1">
                <a:solidFill>
                  <a:srgbClr val="C00000"/>
                </a:solidFill>
              </a:rPr>
              <a:t>Sumber</a:t>
            </a:r>
            <a:r>
              <a:rPr lang="en-US" dirty="0">
                <a:solidFill>
                  <a:srgbClr val="C00000"/>
                </a:solidFill>
              </a:rPr>
              <a:t> </a:t>
            </a:r>
            <a:r>
              <a:rPr lang="en-US" dirty="0" err="1">
                <a:solidFill>
                  <a:srgbClr val="C00000"/>
                </a:solidFill>
              </a:rPr>
              <a:t>Daya</a:t>
            </a:r>
            <a:r>
              <a:rPr lang="en-US" dirty="0">
                <a:solidFill>
                  <a:srgbClr val="C00000"/>
                </a:solidFill>
              </a:rPr>
              <a:t> </a:t>
            </a:r>
            <a:r>
              <a:rPr lang="en-US" dirty="0" err="1">
                <a:solidFill>
                  <a:srgbClr val="C00000"/>
                </a:solidFill>
              </a:rPr>
              <a:t>Milik</a:t>
            </a:r>
            <a:r>
              <a:rPr lang="en-US" dirty="0">
                <a:solidFill>
                  <a:srgbClr val="C00000"/>
                </a:solidFill>
              </a:rPr>
              <a:t> Negara</a:t>
            </a:r>
            <a:endParaRPr lang="id-ID" dirty="0">
              <a:solidFill>
                <a:srgbClr val="C00000"/>
              </a:solidFill>
            </a:endParaRPr>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sz="2000" dirty="0" err="1" smtClean="0"/>
              <a:t>Contoh</a:t>
            </a:r>
            <a:r>
              <a:rPr lang="en-US" sz="2000" dirty="0" smtClean="0"/>
              <a:t> </a:t>
            </a:r>
            <a:r>
              <a:rPr lang="en-US" sz="2000" dirty="0" err="1" smtClean="0"/>
              <a:t>Penerapannya</a:t>
            </a:r>
            <a:r>
              <a:rPr lang="en-US" sz="2000" dirty="0" smtClean="0"/>
              <a:t>:</a:t>
            </a:r>
            <a:endParaRPr lang="id-ID" sz="2000"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099333"/>
            <a:ext cx="7153202" cy="78479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smtClean="0"/>
              <a:t>Saya</a:t>
            </a:r>
            <a:r>
              <a:rPr lang="en-US" sz="1400" dirty="0" smtClean="0"/>
              <a:t> </a:t>
            </a:r>
            <a:r>
              <a:rPr lang="en-US" sz="1400" dirty="0" err="1" smtClean="0"/>
              <a:t>telah</a:t>
            </a:r>
            <a:r>
              <a:rPr lang="en-US" sz="1400" dirty="0" smtClean="0"/>
              <a:t> </a:t>
            </a:r>
            <a:r>
              <a:rPr lang="en-US" sz="1400" dirty="0" err="1" smtClean="0"/>
              <a:t>mengunakan</a:t>
            </a:r>
            <a:r>
              <a:rPr lang="en-US" sz="1400" dirty="0" smtClean="0"/>
              <a:t> </a:t>
            </a:r>
            <a:r>
              <a:rPr lang="en-US" sz="1400" b="1" dirty="0" err="1"/>
              <a:t>sumber</a:t>
            </a:r>
            <a:r>
              <a:rPr lang="en-US" sz="1400" b="1" dirty="0"/>
              <a:t> </a:t>
            </a:r>
            <a:r>
              <a:rPr lang="en-US" sz="1400" b="1" dirty="0" err="1"/>
              <a:t>daya</a:t>
            </a:r>
            <a:r>
              <a:rPr lang="en-US" sz="1400" b="1" dirty="0"/>
              <a:t> </a:t>
            </a:r>
            <a:r>
              <a:rPr lang="en-US" sz="1400" b="1" dirty="0" err="1"/>
              <a:t>negara</a:t>
            </a:r>
            <a:r>
              <a:rPr lang="en-US" sz="1400" dirty="0"/>
              <a:t> </a:t>
            </a:r>
            <a:r>
              <a:rPr lang="en-US" sz="1400" dirty="0" err="1"/>
              <a:t>seperti</a:t>
            </a:r>
            <a:r>
              <a:rPr lang="en-US" sz="1400" dirty="0"/>
              <a:t> internet, </a:t>
            </a:r>
            <a:r>
              <a:rPr lang="en-US" sz="1400" dirty="0" err="1"/>
              <a:t>listrik</a:t>
            </a:r>
            <a:r>
              <a:rPr lang="en-US" sz="1400" dirty="0"/>
              <a:t>, </a:t>
            </a:r>
            <a:r>
              <a:rPr lang="en-US" sz="1400" dirty="0" err="1"/>
              <a:t>meja</a:t>
            </a:r>
            <a:r>
              <a:rPr lang="en-US" sz="1400" dirty="0"/>
              <a:t>, </a:t>
            </a:r>
            <a:r>
              <a:rPr lang="en-US" sz="1400" dirty="0" err="1"/>
              <a:t>kursi</a:t>
            </a:r>
            <a:r>
              <a:rPr lang="en-US" sz="1400" dirty="0"/>
              <a:t> </a:t>
            </a:r>
            <a:r>
              <a:rPr lang="en-US" sz="1400" dirty="0" err="1"/>
              <a:t>dll</a:t>
            </a:r>
            <a:r>
              <a:rPr lang="en-US" sz="1400" dirty="0"/>
              <a:t> </a:t>
            </a:r>
            <a:r>
              <a:rPr lang="en-US" sz="1400" dirty="0" err="1"/>
              <a:t>dengan</a:t>
            </a:r>
            <a:r>
              <a:rPr lang="en-US" sz="1400" dirty="0"/>
              <a:t> </a:t>
            </a:r>
            <a:r>
              <a:rPr lang="en-US" sz="1400" dirty="0" err="1"/>
              <a:t>efektif</a:t>
            </a:r>
            <a:r>
              <a:rPr lang="en-US" sz="1400" dirty="0"/>
              <a:t> </a:t>
            </a:r>
            <a:r>
              <a:rPr lang="en-US" sz="1400" dirty="0" err="1"/>
              <a:t>dan</a:t>
            </a:r>
            <a:r>
              <a:rPr lang="en-US" sz="1400" dirty="0"/>
              <a:t> </a:t>
            </a:r>
            <a:r>
              <a:rPr lang="en-US" sz="1400" dirty="0" err="1"/>
              <a:t>bertanggung</a:t>
            </a:r>
            <a:r>
              <a:rPr lang="en-US" sz="1400" dirty="0"/>
              <a:t> </a:t>
            </a:r>
            <a:r>
              <a:rPr lang="en-US" sz="1400" dirty="0" err="1"/>
              <a:t>jawab</a:t>
            </a:r>
            <a:r>
              <a:rPr lang="en-US" sz="1400" b="1" dirty="0"/>
              <a:t> </a:t>
            </a:r>
            <a:r>
              <a:rPr lang="en-US" sz="1400" dirty="0"/>
              <a:t>(</a:t>
            </a:r>
            <a:r>
              <a:rPr lang="en-US" sz="1400" b="1" dirty="0" err="1"/>
              <a:t>akuntabilitas</a:t>
            </a:r>
            <a:r>
              <a:rPr lang="en-US" sz="1400" dirty="0"/>
              <a:t>). </a:t>
            </a:r>
            <a:endParaRPr lang="en" sz="1400" dirty="0"/>
          </a:p>
        </p:txBody>
      </p:sp>
      <p:sp>
        <p:nvSpPr>
          <p:cNvPr id="11" name="Shape 108"/>
          <p:cNvSpPr txBox="1">
            <a:spLocks/>
          </p:cNvSpPr>
          <p:nvPr/>
        </p:nvSpPr>
        <p:spPr>
          <a:xfrm>
            <a:off x="107824" y="2884132"/>
            <a:ext cx="58836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sz="2000" dirty="0" err="1" smtClean="0"/>
              <a:t>Jika</a:t>
            </a:r>
            <a:r>
              <a:rPr lang="en-US" sz="2000" dirty="0" smtClean="0"/>
              <a:t> </a:t>
            </a:r>
            <a:r>
              <a:rPr lang="en-US" sz="2000" dirty="0" err="1" smtClean="0"/>
              <a:t>Nilai</a:t>
            </a:r>
            <a:r>
              <a:rPr lang="en-US" sz="2000" dirty="0" smtClean="0"/>
              <a:t> </a:t>
            </a:r>
            <a:r>
              <a:rPr lang="en-US" sz="2000" dirty="0" err="1" smtClean="0"/>
              <a:t>Tidak</a:t>
            </a:r>
            <a:r>
              <a:rPr lang="en-US" sz="2000" dirty="0" smtClean="0"/>
              <a:t> </a:t>
            </a:r>
            <a:r>
              <a:rPr lang="en-US" sz="2000" dirty="0" err="1" smtClean="0"/>
              <a:t>Diterapkan</a:t>
            </a:r>
            <a:r>
              <a:rPr lang="en-US" sz="2000" dirty="0" smtClean="0"/>
              <a:t>:</a:t>
            </a:r>
            <a:endParaRPr lang="id-ID" sz="2000" dirty="0"/>
          </a:p>
        </p:txBody>
      </p:sp>
      <p:sp>
        <p:nvSpPr>
          <p:cNvPr id="12" name="Shape 96"/>
          <p:cNvSpPr txBox="1">
            <a:spLocks/>
          </p:cNvSpPr>
          <p:nvPr/>
        </p:nvSpPr>
        <p:spPr>
          <a:xfrm>
            <a:off x="1024282" y="3533366"/>
            <a:ext cx="7153202" cy="1011338"/>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buNone/>
            </a:pPr>
            <a:r>
              <a:rPr lang="en-US" sz="1400" dirty="0" err="1"/>
              <a:t>Sebagai</a:t>
            </a:r>
            <a:r>
              <a:rPr lang="en-US" sz="1400" dirty="0"/>
              <a:t> </a:t>
            </a:r>
            <a:r>
              <a:rPr lang="en-US" sz="1400" dirty="0" err="1"/>
              <a:t>contoh</a:t>
            </a:r>
            <a:r>
              <a:rPr lang="en-US" sz="1400" dirty="0"/>
              <a:t>, </a:t>
            </a:r>
            <a:r>
              <a:rPr lang="en-US" sz="1400" dirty="0" err="1"/>
              <a:t>dalam</a:t>
            </a:r>
            <a:r>
              <a:rPr lang="en-US" sz="1400" dirty="0"/>
              <a:t> </a:t>
            </a:r>
            <a:r>
              <a:rPr lang="en-US" sz="1400" dirty="0" err="1"/>
              <a:t>kegiatan</a:t>
            </a:r>
            <a:r>
              <a:rPr lang="en-US" sz="1400" dirty="0"/>
              <a:t> </a:t>
            </a:r>
            <a:r>
              <a:rPr lang="en-US" sz="1400" dirty="0" err="1"/>
              <a:t>mengunggah</a:t>
            </a:r>
            <a:r>
              <a:rPr lang="en-US" sz="1400" dirty="0"/>
              <a:t> </a:t>
            </a:r>
            <a:r>
              <a:rPr lang="en-US" sz="1400" dirty="0" err="1"/>
              <a:t>tabel</a:t>
            </a:r>
            <a:r>
              <a:rPr lang="en-US" sz="1400" dirty="0"/>
              <a:t> </a:t>
            </a:r>
            <a:r>
              <a:rPr lang="en-US" sz="1400" dirty="0" err="1"/>
              <a:t>dinamis</a:t>
            </a:r>
            <a:r>
              <a:rPr lang="en-US" sz="1400" dirty="0"/>
              <a:t> </a:t>
            </a:r>
            <a:r>
              <a:rPr lang="en-US" sz="1400" dirty="0" err="1"/>
              <a:t>ke</a:t>
            </a:r>
            <a:r>
              <a:rPr lang="en-US" sz="1400" dirty="0"/>
              <a:t> </a:t>
            </a:r>
            <a:r>
              <a:rPr lang="en-US" sz="1400" i="1" dirty="0"/>
              <a:t>website</a:t>
            </a:r>
            <a:r>
              <a:rPr lang="en-US" sz="1400" dirty="0"/>
              <a:t> BPS, </a:t>
            </a:r>
            <a:r>
              <a:rPr lang="en-US" sz="1400" dirty="0" err="1"/>
              <a:t>apabila</a:t>
            </a:r>
            <a:r>
              <a:rPr lang="en-US" sz="1400" dirty="0"/>
              <a:t> PC </a:t>
            </a:r>
            <a:r>
              <a:rPr lang="en-US" sz="1400" dirty="0" err="1"/>
              <a:t>kantor</a:t>
            </a:r>
            <a:r>
              <a:rPr lang="en-US" sz="1400" dirty="0"/>
              <a:t> </a:t>
            </a:r>
            <a:r>
              <a:rPr lang="en-US" sz="1400" dirty="0" err="1"/>
              <a:t>digunakan</a:t>
            </a:r>
            <a:r>
              <a:rPr lang="en-US" sz="1400" dirty="0"/>
              <a:t> </a:t>
            </a:r>
            <a:r>
              <a:rPr lang="en-US" sz="1400" dirty="0" err="1"/>
              <a:t>untuk</a:t>
            </a:r>
            <a:r>
              <a:rPr lang="en-US" sz="1400" dirty="0"/>
              <a:t> </a:t>
            </a:r>
            <a:r>
              <a:rPr lang="en-US" sz="1400" dirty="0" err="1"/>
              <a:t>kepentingan</a:t>
            </a:r>
            <a:r>
              <a:rPr lang="en-US" sz="1400" dirty="0"/>
              <a:t> di </a:t>
            </a:r>
            <a:r>
              <a:rPr lang="en-US" sz="1400" dirty="0" err="1"/>
              <a:t>luar</a:t>
            </a:r>
            <a:r>
              <a:rPr lang="en-US" sz="1400" dirty="0"/>
              <a:t> </a:t>
            </a:r>
            <a:r>
              <a:rPr lang="en-US" sz="1400" dirty="0" err="1"/>
              <a:t>kegiatan</a:t>
            </a:r>
            <a:r>
              <a:rPr lang="en-US" sz="1400" dirty="0"/>
              <a:t> (</a:t>
            </a:r>
            <a:r>
              <a:rPr lang="en-US" sz="1400" dirty="0" err="1"/>
              <a:t>seperti</a:t>
            </a:r>
            <a:r>
              <a:rPr lang="en-US" sz="1400" dirty="0"/>
              <a:t> </a:t>
            </a:r>
            <a:r>
              <a:rPr lang="en-US" sz="1400" dirty="0" err="1"/>
              <a:t>penggunaan</a:t>
            </a:r>
            <a:r>
              <a:rPr lang="en-US" sz="1400" dirty="0"/>
              <a:t> </a:t>
            </a:r>
            <a:r>
              <a:rPr lang="en-US" sz="1400" dirty="0" err="1"/>
              <a:t>untuk</a:t>
            </a:r>
            <a:r>
              <a:rPr lang="en-US" sz="1400" dirty="0"/>
              <a:t> media </a:t>
            </a:r>
            <a:r>
              <a:rPr lang="en-US" sz="1400" dirty="0" err="1"/>
              <a:t>sosial</a:t>
            </a:r>
            <a:r>
              <a:rPr lang="en-US" sz="1400" dirty="0"/>
              <a:t> </a:t>
            </a:r>
            <a:r>
              <a:rPr lang="en-US" sz="1400" dirty="0" err="1"/>
              <a:t>facebook</a:t>
            </a:r>
            <a:r>
              <a:rPr lang="en-US" sz="1400" dirty="0"/>
              <a:t>, twitter, </a:t>
            </a:r>
            <a:r>
              <a:rPr lang="en-US" sz="1400" dirty="0" err="1"/>
              <a:t>dan</a:t>
            </a:r>
            <a:r>
              <a:rPr lang="en-US" sz="1400" dirty="0"/>
              <a:t> online shopping), </a:t>
            </a:r>
            <a:r>
              <a:rPr lang="en-US" sz="1400" dirty="0" err="1"/>
              <a:t>kegiatan</a:t>
            </a:r>
            <a:r>
              <a:rPr lang="en-US" sz="1400" dirty="0"/>
              <a:t> </a:t>
            </a:r>
            <a:r>
              <a:rPr lang="en-US" sz="1400" dirty="0" err="1"/>
              <a:t>ini</a:t>
            </a:r>
            <a:r>
              <a:rPr lang="en-US" sz="1400" dirty="0"/>
              <a:t> </a:t>
            </a:r>
            <a:r>
              <a:rPr lang="en-US" sz="1400" dirty="0" err="1"/>
              <a:t>akan</a:t>
            </a:r>
            <a:r>
              <a:rPr lang="en-US" sz="1400" dirty="0"/>
              <a:t> </a:t>
            </a:r>
            <a:r>
              <a:rPr lang="en-US" sz="1400" dirty="0" err="1"/>
              <a:t>terhambat</a:t>
            </a:r>
            <a:r>
              <a:rPr lang="en-US" sz="1400" dirty="0"/>
              <a:t> </a:t>
            </a:r>
            <a:r>
              <a:rPr lang="en-US" sz="1400" dirty="0" err="1"/>
              <a:t>sehingga</a:t>
            </a:r>
            <a:r>
              <a:rPr lang="en-US" sz="1400" dirty="0"/>
              <a:t> </a:t>
            </a:r>
            <a:r>
              <a:rPr lang="en-US" sz="1400" dirty="0" err="1"/>
              <a:t>kegiatan</a:t>
            </a:r>
            <a:r>
              <a:rPr lang="en-US" sz="1400" dirty="0"/>
              <a:t> lain </a:t>
            </a:r>
            <a:r>
              <a:rPr lang="en-US" sz="1400" dirty="0" err="1"/>
              <a:t>tidak</a:t>
            </a:r>
            <a:r>
              <a:rPr lang="en-US" sz="1400" dirty="0"/>
              <a:t> </a:t>
            </a:r>
            <a:r>
              <a:rPr lang="en-US" sz="1400" dirty="0" err="1"/>
              <a:t>bisa</a:t>
            </a:r>
            <a:r>
              <a:rPr lang="en-US" sz="1400" dirty="0"/>
              <a:t> </a:t>
            </a:r>
            <a:r>
              <a:rPr lang="en-US" sz="1400" dirty="0" err="1"/>
              <a:t>dimulai</a:t>
            </a:r>
            <a:r>
              <a:rPr lang="en-US" sz="1400" dirty="0"/>
              <a:t>.</a:t>
            </a:r>
            <a:endParaRPr lang="id-ID" sz="1400" dirty="0"/>
          </a:p>
        </p:txBody>
      </p:sp>
    </p:spTree>
    <p:extLst>
      <p:ext uri="{BB962C8B-B14F-4D97-AF65-F5344CB8AC3E}">
        <p14:creationId xmlns:p14="http://schemas.microsoft.com/office/powerpoint/2010/main" val="3169495094"/>
      </p:ext>
    </p:extLst>
  </p:cSld>
  <p:clrMapOvr>
    <a:masterClrMapping/>
  </p:clrMapOvr>
  <p:transition spd="slow">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Rectangle 1"/>
          <p:cNvSpPr/>
          <p:nvPr/>
        </p:nvSpPr>
        <p:spPr>
          <a:xfrm flipH="1">
            <a:off x="5117911" y="2291149"/>
            <a:ext cx="294062" cy="562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n>
                <a:solidFill>
                  <a:schemeClr val="bg1"/>
                </a:solidFill>
              </a:ln>
              <a:solidFill>
                <a:schemeClr val="bg1"/>
              </a:solidFill>
            </a:endParaRPr>
          </a:p>
        </p:txBody>
      </p:sp>
      <p:sp>
        <p:nvSpPr>
          <p:cNvPr id="95" name="Shape 95"/>
          <p:cNvSpPr txBox="1">
            <a:spLocks noGrp="1"/>
          </p:cNvSpPr>
          <p:nvPr>
            <p:ph type="ctrTitle"/>
          </p:nvPr>
        </p:nvSpPr>
        <p:spPr>
          <a:xfrm>
            <a:off x="1993196" y="1711250"/>
            <a:ext cx="3274840" cy="1159799"/>
          </a:xfrm>
          <a:prstGeom prst="rect">
            <a:avLst/>
          </a:prstGeom>
        </p:spPr>
        <p:txBody>
          <a:bodyPr lIns="91425" tIns="91425" rIns="91425" bIns="91425" anchor="b" anchorCtr="0">
            <a:noAutofit/>
          </a:bodyPr>
          <a:lstStyle/>
          <a:p>
            <a:pPr lvl="0"/>
            <a:r>
              <a:rPr lang="en-US" dirty="0" err="1" smtClean="0"/>
              <a:t>Nasionalisme</a:t>
            </a:r>
            <a:endParaRPr lang="en" dirty="0"/>
          </a:p>
        </p:txBody>
      </p:sp>
      <p:sp>
        <p:nvSpPr>
          <p:cNvPr id="96" name="Shape 96"/>
          <p:cNvSpPr txBox="1">
            <a:spLocks noGrp="1"/>
          </p:cNvSpPr>
          <p:nvPr>
            <p:ph type="subTitle" idx="1"/>
          </p:nvPr>
        </p:nvSpPr>
        <p:spPr>
          <a:xfrm>
            <a:off x="1677874" y="2603244"/>
            <a:ext cx="7153202" cy="1660008"/>
          </a:xfrm>
          <a:prstGeom prst="rect">
            <a:avLst/>
          </a:prstGeom>
        </p:spPr>
        <p:txBody>
          <a:bodyPr lIns="91425" tIns="91425" rIns="91425" bIns="91425" anchor="t" anchorCtr="0">
            <a:noAutofit/>
          </a:bodyPr>
          <a:lstStyle/>
          <a:p>
            <a:pPr lvl="0" algn="ctr">
              <a:lnSpc>
                <a:spcPct val="150000"/>
              </a:lnSpc>
            </a:pPr>
            <a:endParaRPr lang="en-US" sz="1600" b="1" dirty="0"/>
          </a:p>
          <a:p>
            <a:pPr lvl="0" algn="ctr">
              <a:lnSpc>
                <a:spcPct val="150000"/>
              </a:lnSpc>
            </a:pPr>
            <a:r>
              <a:rPr lang="en-US" sz="1600" b="1" dirty="0" err="1" smtClean="0">
                <a:solidFill>
                  <a:srgbClr val="00B050"/>
                </a:solidFill>
              </a:rPr>
              <a:t>Takwa</a:t>
            </a:r>
            <a:endParaRPr lang="en-US" sz="1600" b="1" dirty="0" smtClean="0">
              <a:solidFill>
                <a:srgbClr val="00B050"/>
              </a:solidFill>
            </a:endParaRPr>
          </a:p>
          <a:p>
            <a:pPr lvl="0" algn="ctr">
              <a:lnSpc>
                <a:spcPct val="150000"/>
              </a:lnSpc>
            </a:pPr>
            <a:endParaRPr lang="en-US" sz="1600" b="1" dirty="0"/>
          </a:p>
          <a:p>
            <a:pPr lvl="0" algn="ctr">
              <a:lnSpc>
                <a:spcPct val="150000"/>
              </a:lnSpc>
            </a:pPr>
            <a:r>
              <a:rPr lang="en-US" sz="1600" b="1" dirty="0" smtClean="0"/>
              <a:t>	</a:t>
            </a:r>
            <a:r>
              <a:rPr lang="en-US" sz="1600" b="1" dirty="0" err="1" smtClean="0">
                <a:solidFill>
                  <a:srgbClr val="0070C0"/>
                </a:solidFill>
              </a:rPr>
              <a:t>Ikhlas</a:t>
            </a:r>
            <a:r>
              <a:rPr lang="en-US" sz="1600" b="1" dirty="0" smtClean="0"/>
              <a:t>			</a:t>
            </a:r>
            <a:r>
              <a:rPr lang="en-US" sz="1600" b="1" dirty="0" err="1" smtClean="0">
                <a:solidFill>
                  <a:srgbClr val="C00000"/>
                </a:solidFill>
              </a:rPr>
              <a:t>Rela</a:t>
            </a:r>
            <a:r>
              <a:rPr lang="en-US" sz="1600" b="1" dirty="0" smtClean="0">
                <a:solidFill>
                  <a:srgbClr val="C00000"/>
                </a:solidFill>
              </a:rPr>
              <a:t> </a:t>
            </a:r>
            <a:r>
              <a:rPr lang="en-US" sz="1600" b="1" dirty="0" err="1" smtClean="0">
                <a:solidFill>
                  <a:srgbClr val="C00000"/>
                </a:solidFill>
              </a:rPr>
              <a:t>Berkorban</a:t>
            </a:r>
            <a:endParaRPr lang="en" sz="1600" b="1" dirty="0">
              <a:solidFill>
                <a:srgbClr val="C00000"/>
              </a:solidFill>
            </a:endParaRPr>
          </a:p>
        </p:txBody>
      </p:sp>
      <p:sp>
        <p:nvSpPr>
          <p:cNvPr id="97" name="Shape 97"/>
          <p:cNvSpPr txBox="1"/>
          <p:nvPr/>
        </p:nvSpPr>
        <p:spPr>
          <a:xfrm>
            <a:off x="1133975" y="2291150"/>
            <a:ext cx="543899" cy="562199"/>
          </a:xfrm>
          <a:prstGeom prst="rect">
            <a:avLst/>
          </a:prstGeom>
          <a:noFill/>
          <a:ln>
            <a:noFill/>
          </a:ln>
        </p:spPr>
        <p:txBody>
          <a:bodyPr lIns="91425" tIns="91425" rIns="91425" bIns="91425" anchor="ctr" anchorCtr="0">
            <a:noAutofit/>
          </a:bodyPr>
          <a:lstStyle/>
          <a:p>
            <a:pPr algn="ctr">
              <a:spcBef>
                <a:spcPts val="0"/>
              </a:spcBef>
              <a:buNone/>
            </a:pPr>
            <a:r>
              <a:rPr lang="en" sz="2400" dirty="0" smtClean="0">
                <a:solidFill>
                  <a:schemeClr val="dk1"/>
                </a:solidFill>
                <a:latin typeface="Lora"/>
                <a:ea typeface="Lora"/>
                <a:cs typeface="Lora"/>
                <a:sym typeface="Lora"/>
              </a:rPr>
              <a:t>2</a:t>
            </a:r>
            <a:endParaRPr lang="en" sz="2400" dirty="0">
              <a:solidFill>
                <a:schemeClr val="dk1"/>
              </a:solidFill>
              <a:latin typeface="Lora"/>
              <a:ea typeface="Lora"/>
              <a:cs typeface="Lora"/>
              <a:sym typeface="Lora"/>
            </a:endParaRPr>
          </a:p>
        </p:txBody>
      </p:sp>
    </p:spTree>
    <p:extLst>
      <p:ext uri="{BB962C8B-B14F-4D97-AF65-F5344CB8AC3E}">
        <p14:creationId xmlns:p14="http://schemas.microsoft.com/office/powerpoint/2010/main" val="3202437216"/>
      </p:ext>
    </p:extLst>
  </p:cSld>
  <p:clrMapOvr>
    <a:masterClrMapping/>
  </p:clrMapOvr>
  <p:transition spd="slow">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0" y="924720"/>
            <a:ext cx="3804899" cy="435599"/>
          </a:xfrm>
          <a:prstGeom prst="rect">
            <a:avLst/>
          </a:prstGeom>
        </p:spPr>
        <p:txBody>
          <a:bodyPr lIns="91425" tIns="91425" rIns="91425" bIns="91425" anchor="ctr" anchorCtr="0">
            <a:noAutofit/>
          </a:bodyPr>
          <a:lstStyle/>
          <a:p>
            <a:r>
              <a:rPr lang="en-US" dirty="0" err="1" smtClean="0">
                <a:solidFill>
                  <a:srgbClr val="00B050"/>
                </a:solidFill>
              </a:rPr>
              <a:t>Takwa</a:t>
            </a:r>
            <a:endParaRPr lang="id-ID" dirty="0">
              <a:solidFill>
                <a:srgbClr val="00B050"/>
              </a:solidFill>
            </a:endParaRPr>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sz="2000" dirty="0" err="1" smtClean="0"/>
              <a:t>Contoh</a:t>
            </a:r>
            <a:r>
              <a:rPr lang="en-US" sz="2000" dirty="0" smtClean="0"/>
              <a:t> </a:t>
            </a:r>
            <a:r>
              <a:rPr lang="en-US" sz="2000" dirty="0" err="1" smtClean="0"/>
              <a:t>Penerapannya</a:t>
            </a:r>
            <a:r>
              <a:rPr lang="en-US" sz="2000" dirty="0" smtClean="0"/>
              <a:t>:</a:t>
            </a:r>
            <a:endParaRPr lang="id-ID" sz="2000"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099333"/>
            <a:ext cx="7153202" cy="78479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smtClean="0"/>
              <a:t>Sebelum</a:t>
            </a:r>
            <a:r>
              <a:rPr lang="en-US" sz="1400" dirty="0" smtClean="0"/>
              <a:t> </a:t>
            </a:r>
            <a:r>
              <a:rPr lang="en-US" sz="1400" dirty="0" err="1" smtClean="0"/>
              <a:t>memulai</a:t>
            </a:r>
            <a:r>
              <a:rPr lang="en-US" sz="1400" dirty="0" smtClean="0"/>
              <a:t> </a:t>
            </a:r>
            <a:r>
              <a:rPr lang="en-US" sz="1400" dirty="0" err="1" smtClean="0"/>
              <a:t>aktivitas</a:t>
            </a:r>
            <a:r>
              <a:rPr lang="en-US" sz="1400" dirty="0" smtClean="0"/>
              <a:t> </a:t>
            </a:r>
            <a:r>
              <a:rPr lang="en-US" sz="1400" dirty="0" err="1" smtClean="0"/>
              <a:t>kerjaan</a:t>
            </a:r>
            <a:r>
              <a:rPr lang="en-US" sz="1400" dirty="0" smtClean="0"/>
              <a:t> </a:t>
            </a:r>
            <a:r>
              <a:rPr lang="en-US" sz="1400" dirty="0" err="1" smtClean="0"/>
              <a:t>saya</a:t>
            </a:r>
            <a:r>
              <a:rPr lang="en-US" sz="1400" dirty="0" smtClean="0"/>
              <a:t> </a:t>
            </a:r>
            <a:r>
              <a:rPr lang="en-US" sz="1400" dirty="0" err="1" smtClean="0"/>
              <a:t>telah</a:t>
            </a:r>
            <a:r>
              <a:rPr lang="en-US" sz="1400" dirty="0" smtClean="0"/>
              <a:t> </a:t>
            </a:r>
            <a:r>
              <a:rPr lang="en-US" sz="1400" dirty="0" err="1" smtClean="0"/>
              <a:t>berdoa</a:t>
            </a:r>
            <a:r>
              <a:rPr lang="en-US" sz="1400" dirty="0" smtClean="0"/>
              <a:t> </a:t>
            </a:r>
            <a:r>
              <a:rPr lang="en-US" sz="1400" dirty="0" err="1" smtClean="0"/>
              <a:t>sebagai</a:t>
            </a:r>
            <a:r>
              <a:rPr lang="en-US" sz="1400" dirty="0" smtClean="0"/>
              <a:t> </a:t>
            </a:r>
            <a:r>
              <a:rPr lang="en-US" sz="1400" dirty="0" err="1" smtClean="0"/>
              <a:t>wujud</a:t>
            </a:r>
            <a:r>
              <a:rPr lang="en-US" sz="1400" dirty="0" smtClean="0"/>
              <a:t> </a:t>
            </a:r>
            <a:r>
              <a:rPr lang="en-US" sz="1400" b="1" dirty="0" err="1" smtClean="0"/>
              <a:t>takwa</a:t>
            </a:r>
            <a:r>
              <a:rPr lang="en-US" sz="1400" dirty="0" smtClean="0"/>
              <a:t> </a:t>
            </a:r>
            <a:r>
              <a:rPr lang="en-US" sz="1400" dirty="0" err="1" smtClean="0"/>
              <a:t>terhadap</a:t>
            </a:r>
            <a:r>
              <a:rPr lang="en-US" sz="1400" dirty="0" smtClean="0"/>
              <a:t> </a:t>
            </a:r>
            <a:r>
              <a:rPr lang="en-US" sz="1400" dirty="0" err="1" smtClean="0"/>
              <a:t>Tuhan</a:t>
            </a:r>
            <a:r>
              <a:rPr lang="en-US" sz="1400" dirty="0" smtClean="0"/>
              <a:t> Yang </a:t>
            </a:r>
            <a:r>
              <a:rPr lang="en-US" sz="1400" dirty="0" err="1" smtClean="0"/>
              <a:t>Maha</a:t>
            </a:r>
            <a:r>
              <a:rPr lang="en-US" sz="1400" dirty="0" smtClean="0"/>
              <a:t> </a:t>
            </a:r>
            <a:r>
              <a:rPr lang="en-US" sz="1400" dirty="0" err="1" smtClean="0"/>
              <a:t>Esa</a:t>
            </a:r>
            <a:r>
              <a:rPr lang="en-US" sz="1400" dirty="0" smtClean="0"/>
              <a:t> (</a:t>
            </a:r>
            <a:r>
              <a:rPr lang="en-US" sz="1400" b="1" dirty="0" err="1" smtClean="0"/>
              <a:t>Akuntabilitas</a:t>
            </a:r>
            <a:r>
              <a:rPr lang="en-US" sz="1400" dirty="0" smtClean="0"/>
              <a:t>).</a:t>
            </a:r>
            <a:endParaRPr lang="en" sz="1400" dirty="0"/>
          </a:p>
        </p:txBody>
      </p:sp>
      <p:sp>
        <p:nvSpPr>
          <p:cNvPr id="11" name="Shape 108"/>
          <p:cNvSpPr txBox="1">
            <a:spLocks/>
          </p:cNvSpPr>
          <p:nvPr/>
        </p:nvSpPr>
        <p:spPr>
          <a:xfrm>
            <a:off x="107824" y="2884132"/>
            <a:ext cx="58836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sz="2000" dirty="0" err="1" smtClean="0"/>
              <a:t>Jika</a:t>
            </a:r>
            <a:r>
              <a:rPr lang="en-US" sz="2000" dirty="0" smtClean="0"/>
              <a:t> </a:t>
            </a:r>
            <a:r>
              <a:rPr lang="en-US" sz="2000" dirty="0" err="1" smtClean="0"/>
              <a:t>Nilai</a:t>
            </a:r>
            <a:r>
              <a:rPr lang="en-US" sz="2000" dirty="0" smtClean="0"/>
              <a:t> </a:t>
            </a:r>
            <a:r>
              <a:rPr lang="en-US" sz="2000" dirty="0" err="1" smtClean="0"/>
              <a:t>Tidak</a:t>
            </a:r>
            <a:r>
              <a:rPr lang="en-US" sz="2000" dirty="0" smtClean="0"/>
              <a:t> </a:t>
            </a:r>
            <a:r>
              <a:rPr lang="en-US" sz="2000" dirty="0" err="1" smtClean="0"/>
              <a:t>Diterapkan</a:t>
            </a:r>
            <a:r>
              <a:rPr lang="en-US" sz="2000" dirty="0" smtClean="0"/>
              <a:t>:</a:t>
            </a:r>
            <a:endParaRPr lang="id-ID" sz="2000" dirty="0"/>
          </a:p>
        </p:txBody>
      </p:sp>
      <p:sp>
        <p:nvSpPr>
          <p:cNvPr id="12" name="Shape 96"/>
          <p:cNvSpPr txBox="1">
            <a:spLocks/>
          </p:cNvSpPr>
          <p:nvPr/>
        </p:nvSpPr>
        <p:spPr>
          <a:xfrm>
            <a:off x="1024282" y="3533366"/>
            <a:ext cx="7153202" cy="1011338"/>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buNone/>
            </a:pPr>
            <a:r>
              <a:rPr lang="en-US" sz="1400" dirty="0" err="1"/>
              <a:t>Sebagai</a:t>
            </a:r>
            <a:r>
              <a:rPr lang="en-US" sz="1400" dirty="0"/>
              <a:t> </a:t>
            </a:r>
            <a:r>
              <a:rPr lang="en-US" sz="1400" dirty="0" err="1"/>
              <a:t>contoh</a:t>
            </a:r>
            <a:r>
              <a:rPr lang="en-US" sz="1400" dirty="0"/>
              <a:t>, </a:t>
            </a:r>
            <a:r>
              <a:rPr lang="en-US" sz="1400" dirty="0" err="1"/>
              <a:t>dalam</a:t>
            </a:r>
            <a:r>
              <a:rPr lang="en-US" sz="1400" dirty="0"/>
              <a:t> </a:t>
            </a:r>
            <a:r>
              <a:rPr lang="en-US" sz="1400" dirty="0" err="1"/>
              <a:t>kegiatan</a:t>
            </a:r>
            <a:r>
              <a:rPr lang="en-US" sz="1400" dirty="0"/>
              <a:t> </a:t>
            </a:r>
            <a:r>
              <a:rPr lang="en-US" sz="1400" dirty="0" err="1"/>
              <a:t>mengentri</a:t>
            </a:r>
            <a:r>
              <a:rPr lang="en-US" sz="1400" dirty="0"/>
              <a:t> </a:t>
            </a:r>
            <a:r>
              <a:rPr lang="en-US" sz="1400" dirty="0" err="1"/>
              <a:t>dokumen</a:t>
            </a:r>
            <a:r>
              <a:rPr lang="en-US" sz="1400" dirty="0"/>
              <a:t> </a:t>
            </a:r>
            <a:r>
              <a:rPr lang="en-US" sz="1400" dirty="0" err="1"/>
              <a:t>susenas</a:t>
            </a:r>
            <a:r>
              <a:rPr lang="en-US" sz="1400" dirty="0"/>
              <a:t>, </a:t>
            </a:r>
            <a:r>
              <a:rPr lang="en-US" sz="1400" dirty="0" err="1"/>
              <a:t>jika</a:t>
            </a:r>
            <a:r>
              <a:rPr lang="en-US" sz="1400" dirty="0"/>
              <a:t> </a:t>
            </a:r>
            <a:r>
              <a:rPr lang="en-US" sz="1400" dirty="0" err="1"/>
              <a:t>saya</a:t>
            </a:r>
            <a:r>
              <a:rPr lang="en-US" sz="1400" dirty="0"/>
              <a:t> </a:t>
            </a:r>
            <a:r>
              <a:rPr lang="en-US" sz="1400" dirty="0" err="1"/>
              <a:t>tidak</a:t>
            </a:r>
            <a:r>
              <a:rPr lang="en-US" sz="1400" dirty="0"/>
              <a:t> </a:t>
            </a:r>
            <a:r>
              <a:rPr lang="en-US" sz="1400" dirty="0" err="1"/>
              <a:t>menerapkan</a:t>
            </a:r>
            <a:r>
              <a:rPr lang="en-US" sz="1400" dirty="0"/>
              <a:t> </a:t>
            </a:r>
            <a:r>
              <a:rPr lang="en-US" sz="1400" dirty="0" err="1"/>
              <a:t>nilai</a:t>
            </a:r>
            <a:r>
              <a:rPr lang="en-US" sz="1400" dirty="0"/>
              <a:t> </a:t>
            </a:r>
            <a:r>
              <a:rPr lang="en-US" sz="1400" dirty="0" err="1"/>
              <a:t>nilai</a:t>
            </a:r>
            <a:r>
              <a:rPr lang="en-US" sz="1400" dirty="0"/>
              <a:t> </a:t>
            </a:r>
            <a:r>
              <a:rPr lang="en-US" sz="1400" dirty="0" err="1"/>
              <a:t>takwa</a:t>
            </a:r>
            <a:r>
              <a:rPr lang="en-US" sz="1400" dirty="0"/>
              <a:t>, </a:t>
            </a:r>
            <a:r>
              <a:rPr lang="en-US" sz="1400" dirty="0" err="1"/>
              <a:t>maka</a:t>
            </a:r>
            <a:r>
              <a:rPr lang="en-US" sz="1400" dirty="0"/>
              <a:t> </a:t>
            </a:r>
            <a:r>
              <a:rPr lang="en-US" sz="1400" dirty="0" err="1"/>
              <a:t>saya</a:t>
            </a:r>
            <a:r>
              <a:rPr lang="en-US" sz="1400" dirty="0"/>
              <a:t> </a:t>
            </a:r>
            <a:r>
              <a:rPr lang="en-US" sz="1400" dirty="0" err="1"/>
              <a:t>akan</a:t>
            </a:r>
            <a:r>
              <a:rPr lang="en-US" sz="1400" dirty="0"/>
              <a:t> </a:t>
            </a:r>
            <a:r>
              <a:rPr lang="en-US" sz="1400" dirty="0" err="1"/>
              <a:t>mudah</a:t>
            </a:r>
            <a:r>
              <a:rPr lang="en-US" sz="1400" dirty="0"/>
              <a:t> </a:t>
            </a:r>
            <a:r>
              <a:rPr lang="en-US" sz="1400" dirty="0" err="1"/>
              <a:t>mengeluh</a:t>
            </a:r>
            <a:r>
              <a:rPr lang="en-US" sz="1400" dirty="0"/>
              <a:t> </a:t>
            </a:r>
            <a:r>
              <a:rPr lang="en-US" sz="1400" dirty="0" err="1"/>
              <a:t>mengingat</a:t>
            </a:r>
            <a:r>
              <a:rPr lang="en-US" sz="1400" dirty="0"/>
              <a:t> </a:t>
            </a:r>
            <a:r>
              <a:rPr lang="en-US" sz="1400" dirty="0" err="1"/>
              <a:t>kegiatan</a:t>
            </a:r>
            <a:r>
              <a:rPr lang="en-US" sz="1400" dirty="0"/>
              <a:t> </a:t>
            </a:r>
            <a:r>
              <a:rPr lang="en-US" sz="1400" dirty="0" err="1"/>
              <a:t>ini</a:t>
            </a:r>
            <a:r>
              <a:rPr lang="en-US" sz="1400" dirty="0"/>
              <a:t> </a:t>
            </a:r>
            <a:r>
              <a:rPr lang="en-US" sz="1400" dirty="0" err="1"/>
              <a:t>membutuhkan</a:t>
            </a:r>
            <a:r>
              <a:rPr lang="en-US" sz="1400" dirty="0"/>
              <a:t> </a:t>
            </a:r>
            <a:r>
              <a:rPr lang="en-US" sz="1400" dirty="0" err="1"/>
              <a:t>ketelitian</a:t>
            </a:r>
            <a:r>
              <a:rPr lang="en-US" sz="1400" dirty="0"/>
              <a:t> yang </a:t>
            </a:r>
            <a:r>
              <a:rPr lang="en-US" sz="1400" dirty="0" err="1"/>
              <a:t>cukup</a:t>
            </a:r>
            <a:r>
              <a:rPr lang="en-US" sz="1400" dirty="0"/>
              <a:t> </a:t>
            </a:r>
            <a:r>
              <a:rPr lang="en-US" sz="1400" dirty="0" err="1"/>
              <a:t>tinggi</a:t>
            </a:r>
            <a:r>
              <a:rPr lang="en-US" sz="1400" dirty="0"/>
              <a:t> </a:t>
            </a:r>
            <a:r>
              <a:rPr lang="en-US" sz="1400" dirty="0" err="1"/>
              <a:t>dalam</a:t>
            </a:r>
            <a:r>
              <a:rPr lang="en-US" sz="1400" dirty="0"/>
              <a:t> proses </a:t>
            </a:r>
            <a:r>
              <a:rPr lang="en-US" sz="1400" dirty="0" err="1"/>
              <a:t>pengentriannya</a:t>
            </a:r>
            <a:endParaRPr lang="id-ID" sz="1400" dirty="0"/>
          </a:p>
        </p:txBody>
      </p:sp>
    </p:spTree>
    <p:extLst>
      <p:ext uri="{BB962C8B-B14F-4D97-AF65-F5344CB8AC3E}">
        <p14:creationId xmlns:p14="http://schemas.microsoft.com/office/powerpoint/2010/main" val="1263082671"/>
      </p:ext>
    </p:extLst>
  </p:cSld>
  <p:clrMapOvr>
    <a:masterClrMapping/>
  </p:clrMapOvr>
  <p:transition spd="slow">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0" y="924720"/>
            <a:ext cx="3804899" cy="435599"/>
          </a:xfrm>
          <a:prstGeom prst="rect">
            <a:avLst/>
          </a:prstGeom>
        </p:spPr>
        <p:txBody>
          <a:bodyPr lIns="91425" tIns="91425" rIns="91425" bIns="91425" anchor="ctr" anchorCtr="0">
            <a:noAutofit/>
          </a:bodyPr>
          <a:lstStyle/>
          <a:p>
            <a:r>
              <a:rPr lang="en-US" dirty="0" err="1" smtClean="0">
                <a:solidFill>
                  <a:srgbClr val="00B0F0"/>
                </a:solidFill>
              </a:rPr>
              <a:t>Ikhlas</a:t>
            </a:r>
            <a:endParaRPr lang="id-ID" dirty="0">
              <a:solidFill>
                <a:srgbClr val="00B0F0"/>
              </a:solidFill>
            </a:endParaRPr>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sz="2000" dirty="0" err="1" smtClean="0"/>
              <a:t>Contoh</a:t>
            </a:r>
            <a:r>
              <a:rPr lang="en-US" sz="2000" dirty="0" smtClean="0"/>
              <a:t> </a:t>
            </a:r>
            <a:r>
              <a:rPr lang="en-US" sz="2000" dirty="0" err="1" smtClean="0"/>
              <a:t>Penerapannya</a:t>
            </a:r>
            <a:r>
              <a:rPr lang="en-US" sz="2000" dirty="0" smtClean="0"/>
              <a:t>:</a:t>
            </a:r>
            <a:endParaRPr lang="id-ID" sz="2000"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099333"/>
            <a:ext cx="7153202" cy="78479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a:t>Saya</a:t>
            </a:r>
            <a:r>
              <a:rPr lang="en-US" sz="1400" dirty="0"/>
              <a:t> </a:t>
            </a:r>
            <a:r>
              <a:rPr lang="en-US" sz="1400" dirty="0" err="1"/>
              <a:t>telah</a:t>
            </a:r>
            <a:r>
              <a:rPr lang="en-US" sz="1400" dirty="0"/>
              <a:t> </a:t>
            </a:r>
            <a:r>
              <a:rPr lang="en-US" sz="1400" dirty="0" err="1"/>
              <a:t>berusaha</a:t>
            </a:r>
            <a:r>
              <a:rPr lang="en-US" sz="1400" dirty="0"/>
              <a:t> </a:t>
            </a:r>
            <a:r>
              <a:rPr lang="en-US" sz="1400" dirty="0" err="1"/>
              <a:t>untuk</a:t>
            </a:r>
            <a:r>
              <a:rPr lang="en-US" sz="1400" dirty="0"/>
              <a:t> </a:t>
            </a:r>
            <a:r>
              <a:rPr lang="en-US" sz="1400" b="1" dirty="0" err="1"/>
              <a:t>ikhlas</a:t>
            </a:r>
            <a:r>
              <a:rPr lang="en-US" sz="1400" b="1" dirty="0"/>
              <a:t> </a:t>
            </a:r>
            <a:r>
              <a:rPr lang="en-US" sz="1400" dirty="0" err="1"/>
              <a:t>dalam</a:t>
            </a:r>
            <a:r>
              <a:rPr lang="en-US" sz="1400" dirty="0"/>
              <a:t> </a:t>
            </a:r>
            <a:r>
              <a:rPr lang="en-US" sz="1400" dirty="0" err="1"/>
              <a:t>melaksanakan</a:t>
            </a:r>
            <a:r>
              <a:rPr lang="en-US" sz="1400" dirty="0"/>
              <a:t> </a:t>
            </a:r>
            <a:r>
              <a:rPr lang="en-US" sz="1400" dirty="0" err="1"/>
              <a:t>kegiatan</a:t>
            </a:r>
            <a:r>
              <a:rPr lang="en-US" sz="1400" dirty="0"/>
              <a:t> </a:t>
            </a:r>
            <a:r>
              <a:rPr lang="en-US" sz="1400" dirty="0" err="1" smtClean="0"/>
              <a:t>instalasi</a:t>
            </a:r>
            <a:r>
              <a:rPr lang="en-US" sz="1400" dirty="0" smtClean="0"/>
              <a:t> program PST </a:t>
            </a:r>
            <a:r>
              <a:rPr lang="en-US" sz="1400" dirty="0" err="1" smtClean="0"/>
              <a:t>dengan</a:t>
            </a:r>
            <a:r>
              <a:rPr lang="en-US" sz="1400" dirty="0" smtClean="0"/>
              <a:t> </a:t>
            </a:r>
            <a:r>
              <a:rPr lang="en-US" sz="1400" dirty="0" err="1" smtClean="0"/>
              <a:t>tidak</a:t>
            </a:r>
            <a:r>
              <a:rPr lang="en-US" sz="1400" dirty="0" smtClean="0"/>
              <a:t> </a:t>
            </a:r>
            <a:r>
              <a:rPr lang="en-US" sz="1400" dirty="0" err="1" smtClean="0"/>
              <a:t>mengharapkan</a:t>
            </a:r>
            <a:r>
              <a:rPr lang="en-US" sz="1400" dirty="0" smtClean="0"/>
              <a:t> </a:t>
            </a:r>
            <a:r>
              <a:rPr lang="en-US" sz="1400" dirty="0" err="1" smtClean="0"/>
              <a:t>imbalan</a:t>
            </a:r>
            <a:r>
              <a:rPr lang="en-US" sz="1400" dirty="0" smtClean="0"/>
              <a:t> </a:t>
            </a:r>
            <a:r>
              <a:rPr lang="en-US" sz="1400" dirty="0" err="1" smtClean="0"/>
              <a:t>dalam</a:t>
            </a:r>
            <a:r>
              <a:rPr lang="en-US" sz="1400" dirty="0" smtClean="0"/>
              <a:t> </a:t>
            </a:r>
            <a:r>
              <a:rPr lang="en-US" sz="1400" dirty="0" err="1" smtClean="0"/>
              <a:t>bentuk</a:t>
            </a:r>
            <a:r>
              <a:rPr lang="en-US" sz="1400" dirty="0" smtClean="0"/>
              <a:t> </a:t>
            </a:r>
            <a:r>
              <a:rPr lang="en-US" sz="1400" dirty="0" err="1" smtClean="0"/>
              <a:t>apapun</a:t>
            </a:r>
            <a:r>
              <a:rPr lang="en-US" sz="1400" dirty="0" smtClean="0"/>
              <a:t> </a:t>
            </a:r>
            <a:r>
              <a:rPr lang="en-US" sz="1400" dirty="0"/>
              <a:t>(</a:t>
            </a:r>
            <a:r>
              <a:rPr lang="en-US" sz="1400" b="1" dirty="0" err="1"/>
              <a:t>nasionalisme</a:t>
            </a:r>
            <a:r>
              <a:rPr lang="en-US" sz="1400" dirty="0"/>
              <a:t>)</a:t>
            </a:r>
            <a:endParaRPr lang="en" sz="1400" dirty="0"/>
          </a:p>
        </p:txBody>
      </p:sp>
      <p:sp>
        <p:nvSpPr>
          <p:cNvPr id="11" name="Shape 108"/>
          <p:cNvSpPr txBox="1">
            <a:spLocks/>
          </p:cNvSpPr>
          <p:nvPr/>
        </p:nvSpPr>
        <p:spPr>
          <a:xfrm>
            <a:off x="107824" y="2884132"/>
            <a:ext cx="58836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sz="2000" dirty="0" err="1" smtClean="0"/>
              <a:t>Jika</a:t>
            </a:r>
            <a:r>
              <a:rPr lang="en-US" sz="2000" dirty="0" smtClean="0"/>
              <a:t> </a:t>
            </a:r>
            <a:r>
              <a:rPr lang="en-US" sz="2000" dirty="0" err="1" smtClean="0"/>
              <a:t>Nilai</a:t>
            </a:r>
            <a:r>
              <a:rPr lang="en-US" sz="2000" dirty="0" smtClean="0"/>
              <a:t> </a:t>
            </a:r>
            <a:r>
              <a:rPr lang="en-US" sz="2000" dirty="0" err="1" smtClean="0"/>
              <a:t>Tidak</a:t>
            </a:r>
            <a:r>
              <a:rPr lang="en-US" sz="2000" dirty="0" smtClean="0"/>
              <a:t> </a:t>
            </a:r>
            <a:r>
              <a:rPr lang="en-US" sz="2000" dirty="0" err="1" smtClean="0"/>
              <a:t>Diterapkan</a:t>
            </a:r>
            <a:r>
              <a:rPr lang="en-US" sz="2000" dirty="0" smtClean="0"/>
              <a:t>:</a:t>
            </a:r>
            <a:endParaRPr lang="id-ID" sz="2000" dirty="0"/>
          </a:p>
        </p:txBody>
      </p:sp>
      <p:sp>
        <p:nvSpPr>
          <p:cNvPr id="12" name="Shape 96"/>
          <p:cNvSpPr txBox="1">
            <a:spLocks/>
          </p:cNvSpPr>
          <p:nvPr/>
        </p:nvSpPr>
        <p:spPr>
          <a:xfrm>
            <a:off x="1024282" y="3533366"/>
            <a:ext cx="7153202" cy="1011338"/>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buNone/>
            </a:pPr>
            <a:r>
              <a:rPr lang="en-US" sz="1400" dirty="0" err="1"/>
              <a:t>Sebagai</a:t>
            </a:r>
            <a:r>
              <a:rPr lang="en-US" sz="1400" dirty="0"/>
              <a:t> </a:t>
            </a:r>
            <a:r>
              <a:rPr lang="en-US" sz="1400" dirty="0" err="1"/>
              <a:t>contoh</a:t>
            </a:r>
            <a:r>
              <a:rPr lang="en-US" sz="1400" dirty="0"/>
              <a:t> </a:t>
            </a:r>
            <a:r>
              <a:rPr lang="en-US" sz="1400" dirty="0" err="1"/>
              <a:t>dalam</a:t>
            </a:r>
            <a:r>
              <a:rPr lang="en-US" sz="1400" dirty="0"/>
              <a:t> </a:t>
            </a:r>
            <a:r>
              <a:rPr lang="en-US" sz="1400" dirty="0" err="1" smtClean="0"/>
              <a:t>kegiatan</a:t>
            </a:r>
            <a:r>
              <a:rPr lang="en-US" sz="1400" dirty="0" smtClean="0"/>
              <a:t> </a:t>
            </a:r>
            <a:r>
              <a:rPr lang="en-US" sz="1400" dirty="0" err="1"/>
              <a:t>melayani</a:t>
            </a:r>
            <a:r>
              <a:rPr lang="en-US" sz="1400" dirty="0"/>
              <a:t> </a:t>
            </a:r>
            <a:r>
              <a:rPr lang="en-US" sz="1400" dirty="0" err="1"/>
              <a:t>konsumen</a:t>
            </a:r>
            <a:r>
              <a:rPr lang="en-US" sz="1400" dirty="0"/>
              <a:t> data, </a:t>
            </a:r>
            <a:r>
              <a:rPr lang="en-US" sz="1400" dirty="0" err="1"/>
              <a:t>jika</a:t>
            </a:r>
            <a:r>
              <a:rPr lang="en-US" sz="1400" dirty="0"/>
              <a:t> </a:t>
            </a:r>
            <a:r>
              <a:rPr lang="en-US" sz="1400" dirty="0" err="1"/>
              <a:t>tidak</a:t>
            </a:r>
            <a:r>
              <a:rPr lang="en-US" sz="1400" dirty="0"/>
              <a:t> </a:t>
            </a:r>
            <a:r>
              <a:rPr lang="en-US" sz="1400" dirty="0" err="1"/>
              <a:t>ikhlas</a:t>
            </a:r>
            <a:r>
              <a:rPr lang="en-US" sz="1400" dirty="0"/>
              <a:t> </a:t>
            </a:r>
            <a:r>
              <a:rPr lang="en-US" sz="1400" dirty="0" err="1"/>
              <a:t>dalam</a:t>
            </a:r>
            <a:r>
              <a:rPr lang="en-US" sz="1400" dirty="0"/>
              <a:t> </a:t>
            </a:r>
            <a:r>
              <a:rPr lang="en-US" sz="1400" dirty="0" err="1"/>
              <a:t>menjalankannya</a:t>
            </a:r>
            <a:r>
              <a:rPr lang="en-US" sz="1400" dirty="0"/>
              <a:t> </a:t>
            </a:r>
            <a:r>
              <a:rPr lang="en-US" sz="1400" dirty="0" err="1"/>
              <a:t>tentu</a:t>
            </a:r>
            <a:r>
              <a:rPr lang="en-US" sz="1400" dirty="0"/>
              <a:t> </a:t>
            </a:r>
            <a:r>
              <a:rPr lang="en-US" sz="1400" dirty="0" err="1"/>
              <a:t>akan</a:t>
            </a:r>
            <a:r>
              <a:rPr lang="en-US" sz="1400" dirty="0"/>
              <a:t> </a:t>
            </a:r>
            <a:r>
              <a:rPr lang="en-US" sz="1400" dirty="0" err="1"/>
              <a:t>berdampak</a:t>
            </a:r>
            <a:r>
              <a:rPr lang="en-US" sz="1400" dirty="0"/>
              <a:t> </a:t>
            </a:r>
            <a:r>
              <a:rPr lang="en-US" sz="1400" dirty="0" err="1"/>
              <a:t>kepada</a:t>
            </a:r>
            <a:r>
              <a:rPr lang="en-US" sz="1400" dirty="0"/>
              <a:t> </a:t>
            </a:r>
            <a:r>
              <a:rPr lang="en-US" sz="1400" dirty="0" err="1"/>
              <a:t>kualitas</a:t>
            </a:r>
            <a:r>
              <a:rPr lang="en-US" sz="1400" dirty="0"/>
              <a:t> </a:t>
            </a:r>
            <a:r>
              <a:rPr lang="en-US" sz="1400" dirty="0" err="1"/>
              <a:t>pelayanan</a:t>
            </a:r>
            <a:r>
              <a:rPr lang="en-US" sz="1400" dirty="0"/>
              <a:t> yang </a:t>
            </a:r>
            <a:r>
              <a:rPr lang="en-US" sz="1400" dirty="0" err="1"/>
              <a:t>tidak</a:t>
            </a:r>
            <a:r>
              <a:rPr lang="en-US" sz="1400" dirty="0"/>
              <a:t> </a:t>
            </a:r>
            <a:r>
              <a:rPr lang="en-US" sz="1400" dirty="0" err="1"/>
              <a:t>maksimal</a:t>
            </a:r>
            <a:r>
              <a:rPr lang="en-US" sz="1400" dirty="0"/>
              <a:t>.</a:t>
            </a:r>
            <a:endParaRPr lang="id-ID" sz="1400" dirty="0"/>
          </a:p>
        </p:txBody>
      </p:sp>
    </p:spTree>
    <p:extLst>
      <p:ext uri="{BB962C8B-B14F-4D97-AF65-F5344CB8AC3E}">
        <p14:creationId xmlns:p14="http://schemas.microsoft.com/office/powerpoint/2010/main" val="2854893537"/>
      </p:ext>
    </p:extLst>
  </p:cSld>
  <p:clrMapOvr>
    <a:masterClrMapping/>
  </p:clrMapOvr>
  <p:transition spd="slow">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0" y="924720"/>
            <a:ext cx="3804899" cy="435599"/>
          </a:xfrm>
          <a:prstGeom prst="rect">
            <a:avLst/>
          </a:prstGeom>
        </p:spPr>
        <p:txBody>
          <a:bodyPr lIns="91425" tIns="91425" rIns="91425" bIns="91425" anchor="ctr" anchorCtr="0">
            <a:noAutofit/>
          </a:bodyPr>
          <a:lstStyle/>
          <a:p>
            <a:r>
              <a:rPr lang="en-US" dirty="0" err="1" smtClean="0">
                <a:solidFill>
                  <a:srgbClr val="C00000"/>
                </a:solidFill>
              </a:rPr>
              <a:t>Rela</a:t>
            </a:r>
            <a:r>
              <a:rPr lang="en-US" dirty="0" smtClean="0">
                <a:solidFill>
                  <a:srgbClr val="C00000"/>
                </a:solidFill>
              </a:rPr>
              <a:t> </a:t>
            </a:r>
            <a:r>
              <a:rPr lang="en-US" dirty="0" err="1" smtClean="0">
                <a:solidFill>
                  <a:srgbClr val="C00000"/>
                </a:solidFill>
              </a:rPr>
              <a:t>Berkorban</a:t>
            </a:r>
            <a:endParaRPr lang="id-ID" dirty="0">
              <a:solidFill>
                <a:srgbClr val="C00000"/>
              </a:solidFill>
            </a:endParaRPr>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sz="2000" dirty="0" err="1" smtClean="0"/>
              <a:t>Contoh</a:t>
            </a:r>
            <a:r>
              <a:rPr lang="en-US" sz="2000" dirty="0" smtClean="0"/>
              <a:t> </a:t>
            </a:r>
            <a:r>
              <a:rPr lang="en-US" sz="2000" dirty="0" err="1" smtClean="0"/>
              <a:t>Penerapannya</a:t>
            </a:r>
            <a:r>
              <a:rPr lang="en-US" sz="2000" dirty="0" smtClean="0"/>
              <a:t>:</a:t>
            </a:r>
            <a:endParaRPr lang="id-ID" sz="2000"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099333"/>
            <a:ext cx="7153202" cy="78479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a:t>Saya</a:t>
            </a:r>
            <a:r>
              <a:rPr lang="en-US" sz="1400" dirty="0"/>
              <a:t> </a:t>
            </a:r>
            <a:r>
              <a:rPr lang="en-US" sz="1400" dirty="0" err="1"/>
              <a:t>telah</a:t>
            </a:r>
            <a:r>
              <a:rPr lang="en-US" sz="1400" dirty="0"/>
              <a:t> </a:t>
            </a:r>
            <a:r>
              <a:rPr lang="en-US" sz="1400" b="1" dirty="0" err="1" smtClean="0"/>
              <a:t>rela</a:t>
            </a:r>
            <a:r>
              <a:rPr lang="en-US" sz="1400" b="1" dirty="0" smtClean="0"/>
              <a:t> </a:t>
            </a:r>
            <a:r>
              <a:rPr lang="en-US" sz="1400" b="1" dirty="0" err="1" smtClean="0"/>
              <a:t>berkorban</a:t>
            </a:r>
            <a:r>
              <a:rPr lang="en-US" sz="1400" b="1" dirty="0" smtClean="0"/>
              <a:t> </a:t>
            </a:r>
            <a:r>
              <a:rPr lang="en-US" sz="1400" dirty="0" err="1" smtClean="0"/>
              <a:t>dengan</a:t>
            </a:r>
            <a:r>
              <a:rPr lang="en-US" sz="1400" dirty="0" smtClean="0"/>
              <a:t> </a:t>
            </a:r>
            <a:r>
              <a:rPr lang="en-US" sz="1400" dirty="0" err="1" smtClean="0"/>
              <a:t>cara</a:t>
            </a:r>
            <a:r>
              <a:rPr lang="en-US" sz="1400" dirty="0" smtClean="0"/>
              <a:t> </a:t>
            </a:r>
            <a:r>
              <a:rPr lang="en-US" sz="1400" dirty="0" err="1" smtClean="0"/>
              <a:t>mengerjakan</a:t>
            </a:r>
            <a:r>
              <a:rPr lang="en-US" sz="1400" dirty="0" smtClean="0"/>
              <a:t> </a:t>
            </a:r>
            <a:r>
              <a:rPr lang="en-US" sz="1400" dirty="0" err="1" smtClean="0"/>
              <a:t>kegiatan</a:t>
            </a:r>
            <a:r>
              <a:rPr lang="en-US" sz="1400" dirty="0" smtClean="0"/>
              <a:t> </a:t>
            </a:r>
            <a:r>
              <a:rPr lang="en-US" sz="1400" dirty="0" err="1" smtClean="0"/>
              <a:t>mengunggah</a:t>
            </a:r>
            <a:r>
              <a:rPr lang="en-US" sz="1400" dirty="0" smtClean="0"/>
              <a:t> </a:t>
            </a:r>
            <a:r>
              <a:rPr lang="en-US" sz="1400" dirty="0" err="1" smtClean="0"/>
              <a:t>tabel</a:t>
            </a:r>
            <a:r>
              <a:rPr lang="en-US" sz="1400" dirty="0" smtClean="0"/>
              <a:t> </a:t>
            </a:r>
            <a:r>
              <a:rPr lang="en-US" sz="1400" dirty="0" err="1" smtClean="0"/>
              <a:t>statis</a:t>
            </a:r>
            <a:r>
              <a:rPr lang="en-US" sz="1400" dirty="0" smtClean="0"/>
              <a:t> </a:t>
            </a:r>
            <a:r>
              <a:rPr lang="en-US" sz="1400" dirty="0" err="1" smtClean="0"/>
              <a:t>ke</a:t>
            </a:r>
            <a:r>
              <a:rPr lang="en-US" sz="1400" dirty="0" smtClean="0"/>
              <a:t> </a:t>
            </a:r>
            <a:r>
              <a:rPr lang="en-US" sz="1400" i="1" dirty="0" smtClean="0"/>
              <a:t>website </a:t>
            </a:r>
            <a:r>
              <a:rPr lang="en-US" sz="1400" dirty="0" smtClean="0"/>
              <a:t>di </a:t>
            </a:r>
            <a:r>
              <a:rPr lang="en-US" sz="1400" dirty="0" err="1" smtClean="0"/>
              <a:t>luar</a:t>
            </a:r>
            <a:r>
              <a:rPr lang="en-US" sz="1400" dirty="0" smtClean="0"/>
              <a:t> jam </a:t>
            </a:r>
            <a:r>
              <a:rPr lang="en-US" sz="1400" dirty="0" err="1" smtClean="0"/>
              <a:t>kerja</a:t>
            </a:r>
            <a:r>
              <a:rPr lang="en-US" sz="1400" dirty="0" smtClean="0"/>
              <a:t> (</a:t>
            </a:r>
            <a:r>
              <a:rPr lang="en-US" sz="1400" b="1" dirty="0" err="1" smtClean="0"/>
              <a:t>nasionalisme</a:t>
            </a:r>
            <a:r>
              <a:rPr lang="en-US" sz="1400" dirty="0" smtClean="0"/>
              <a:t>).</a:t>
            </a:r>
            <a:endParaRPr lang="en" sz="1400" i="1" dirty="0"/>
          </a:p>
        </p:txBody>
      </p:sp>
      <p:sp>
        <p:nvSpPr>
          <p:cNvPr id="11" name="Shape 108"/>
          <p:cNvSpPr txBox="1">
            <a:spLocks/>
          </p:cNvSpPr>
          <p:nvPr/>
        </p:nvSpPr>
        <p:spPr>
          <a:xfrm>
            <a:off x="107824" y="2884132"/>
            <a:ext cx="58836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sz="2000" dirty="0" err="1" smtClean="0"/>
              <a:t>Jika</a:t>
            </a:r>
            <a:r>
              <a:rPr lang="en-US" sz="2000" dirty="0" smtClean="0"/>
              <a:t> </a:t>
            </a:r>
            <a:r>
              <a:rPr lang="en-US" sz="2000" dirty="0" err="1" smtClean="0"/>
              <a:t>Nilai</a:t>
            </a:r>
            <a:r>
              <a:rPr lang="en-US" sz="2000" dirty="0" smtClean="0"/>
              <a:t> </a:t>
            </a:r>
            <a:r>
              <a:rPr lang="en-US" sz="2000" dirty="0" err="1" smtClean="0"/>
              <a:t>Tidak</a:t>
            </a:r>
            <a:r>
              <a:rPr lang="en-US" sz="2000" dirty="0" smtClean="0"/>
              <a:t> </a:t>
            </a:r>
            <a:r>
              <a:rPr lang="en-US" sz="2000" dirty="0" err="1" smtClean="0"/>
              <a:t>Diterapkan</a:t>
            </a:r>
            <a:r>
              <a:rPr lang="en-US" sz="2000" dirty="0" smtClean="0"/>
              <a:t>:</a:t>
            </a:r>
            <a:endParaRPr lang="id-ID" sz="2000" dirty="0"/>
          </a:p>
        </p:txBody>
      </p:sp>
      <p:sp>
        <p:nvSpPr>
          <p:cNvPr id="12" name="Shape 96"/>
          <p:cNvSpPr txBox="1">
            <a:spLocks/>
          </p:cNvSpPr>
          <p:nvPr/>
        </p:nvSpPr>
        <p:spPr>
          <a:xfrm>
            <a:off x="1024282" y="3533366"/>
            <a:ext cx="7153202" cy="1011338"/>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buNone/>
            </a:pPr>
            <a:r>
              <a:rPr lang="en-US" sz="1400" dirty="0" err="1"/>
              <a:t>Bila</a:t>
            </a:r>
            <a:r>
              <a:rPr lang="en-US" sz="1400" dirty="0"/>
              <a:t> </a:t>
            </a:r>
            <a:r>
              <a:rPr lang="en-US" sz="1400" dirty="0" err="1"/>
              <a:t>saya</a:t>
            </a:r>
            <a:r>
              <a:rPr lang="en-US" sz="1400" dirty="0"/>
              <a:t> </a:t>
            </a:r>
            <a:r>
              <a:rPr lang="en-US" sz="1400" dirty="0" err="1"/>
              <a:t>tidak</a:t>
            </a:r>
            <a:r>
              <a:rPr lang="en-US" sz="1400" dirty="0"/>
              <a:t> </a:t>
            </a:r>
            <a:r>
              <a:rPr lang="en-US" sz="1400" dirty="0" err="1"/>
              <a:t>menerapkan</a:t>
            </a:r>
            <a:r>
              <a:rPr lang="en-US" sz="1400" dirty="0"/>
              <a:t> </a:t>
            </a:r>
            <a:r>
              <a:rPr lang="en-US" sz="1400" dirty="0" err="1"/>
              <a:t>nilai</a:t>
            </a:r>
            <a:r>
              <a:rPr lang="en-US" sz="1400" dirty="0"/>
              <a:t> </a:t>
            </a:r>
            <a:r>
              <a:rPr lang="en-US" sz="1400" dirty="0" err="1"/>
              <a:t>rela</a:t>
            </a:r>
            <a:r>
              <a:rPr lang="en-US" sz="1400" dirty="0"/>
              <a:t> </a:t>
            </a:r>
            <a:r>
              <a:rPr lang="en-US" sz="1400" dirty="0" err="1"/>
              <a:t>berkorban</a:t>
            </a:r>
            <a:r>
              <a:rPr lang="en-US" sz="1400" dirty="0"/>
              <a:t> </a:t>
            </a:r>
            <a:r>
              <a:rPr lang="en-US" sz="1400" dirty="0" err="1"/>
              <a:t>dengan</a:t>
            </a:r>
            <a:r>
              <a:rPr lang="en-US" sz="1400" dirty="0"/>
              <a:t> </a:t>
            </a:r>
            <a:r>
              <a:rPr lang="en-US" sz="1400" dirty="0" err="1"/>
              <a:t>mengerjakan</a:t>
            </a:r>
            <a:r>
              <a:rPr lang="en-US" sz="1400" dirty="0"/>
              <a:t> </a:t>
            </a:r>
            <a:r>
              <a:rPr lang="en-US" sz="1400" dirty="0" err="1"/>
              <a:t>diluar</a:t>
            </a:r>
            <a:r>
              <a:rPr lang="en-US" sz="1400" dirty="0"/>
              <a:t> jam </a:t>
            </a:r>
            <a:r>
              <a:rPr lang="en-US" sz="1400" dirty="0" err="1"/>
              <a:t>kerja</a:t>
            </a:r>
            <a:r>
              <a:rPr lang="en-US" sz="1400" dirty="0"/>
              <a:t> </a:t>
            </a:r>
            <a:r>
              <a:rPr lang="en-US" sz="1400" dirty="0" err="1"/>
              <a:t>maka</a:t>
            </a:r>
            <a:r>
              <a:rPr lang="en-US" sz="1400" dirty="0"/>
              <a:t> </a:t>
            </a:r>
            <a:r>
              <a:rPr lang="en-US" sz="1400" dirty="0" err="1"/>
              <a:t>pekerjaan</a:t>
            </a:r>
            <a:r>
              <a:rPr lang="en-US" sz="1400" dirty="0"/>
              <a:t> </a:t>
            </a:r>
            <a:r>
              <a:rPr lang="en-US" sz="1400" dirty="0" err="1"/>
              <a:t>tersebut</a:t>
            </a:r>
            <a:r>
              <a:rPr lang="en-US" sz="1400" dirty="0"/>
              <a:t> </a:t>
            </a:r>
            <a:r>
              <a:rPr lang="en-US" sz="1400" dirty="0" err="1"/>
              <a:t>tidak</a:t>
            </a:r>
            <a:r>
              <a:rPr lang="en-US" sz="1400" dirty="0"/>
              <a:t> </a:t>
            </a:r>
            <a:r>
              <a:rPr lang="en-US" sz="1400" dirty="0" err="1"/>
              <a:t>akan</a:t>
            </a:r>
            <a:r>
              <a:rPr lang="en-US" sz="1400" dirty="0"/>
              <a:t> </a:t>
            </a:r>
            <a:r>
              <a:rPr lang="en-US" sz="1400" dirty="0" err="1"/>
              <a:t>pernah</a:t>
            </a:r>
            <a:r>
              <a:rPr lang="en-US" sz="1400" dirty="0"/>
              <a:t> </a:t>
            </a:r>
            <a:r>
              <a:rPr lang="en-US" sz="1400" dirty="0" err="1"/>
              <a:t>selesai</a:t>
            </a:r>
            <a:r>
              <a:rPr lang="en-US" sz="1400" dirty="0"/>
              <a:t>. </a:t>
            </a:r>
            <a:r>
              <a:rPr lang="en-US" sz="1400" dirty="0" err="1"/>
              <a:t>Sehingga</a:t>
            </a:r>
            <a:r>
              <a:rPr lang="en-US" sz="1400" dirty="0"/>
              <a:t> </a:t>
            </a:r>
            <a:r>
              <a:rPr lang="en-US" sz="1400" dirty="0" err="1"/>
              <a:t>mengganggu</a:t>
            </a:r>
            <a:r>
              <a:rPr lang="en-US" sz="1400" dirty="0"/>
              <a:t> proses </a:t>
            </a:r>
            <a:r>
              <a:rPr lang="en-US" sz="1400" dirty="0" err="1"/>
              <a:t>kegiatan-kegiatan</a:t>
            </a:r>
            <a:r>
              <a:rPr lang="en-US" sz="1400" dirty="0"/>
              <a:t> </a:t>
            </a:r>
            <a:r>
              <a:rPr lang="en-US" sz="1400" dirty="0" err="1"/>
              <a:t>selanjutnya</a:t>
            </a:r>
            <a:r>
              <a:rPr lang="en-US" sz="1400" dirty="0"/>
              <a:t>.</a:t>
            </a:r>
            <a:r>
              <a:rPr lang="en-US" sz="1400" dirty="0" smtClean="0"/>
              <a:t>.</a:t>
            </a:r>
            <a:endParaRPr lang="id-ID" sz="1400" dirty="0"/>
          </a:p>
        </p:txBody>
      </p:sp>
    </p:spTree>
    <p:extLst>
      <p:ext uri="{BB962C8B-B14F-4D97-AF65-F5344CB8AC3E}">
        <p14:creationId xmlns:p14="http://schemas.microsoft.com/office/powerpoint/2010/main" val="2205960526"/>
      </p:ext>
    </p:extLst>
  </p:cSld>
  <p:clrMapOvr>
    <a:masterClrMapping/>
  </p:clrMapOvr>
  <p:transition spd="slow">
    <p:cu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Rectangle 1"/>
          <p:cNvSpPr/>
          <p:nvPr/>
        </p:nvSpPr>
        <p:spPr>
          <a:xfrm flipH="1">
            <a:off x="5117911" y="2291149"/>
            <a:ext cx="294062" cy="562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n>
                <a:solidFill>
                  <a:schemeClr val="bg1"/>
                </a:solidFill>
              </a:ln>
              <a:solidFill>
                <a:schemeClr val="bg1"/>
              </a:solidFill>
            </a:endParaRPr>
          </a:p>
        </p:txBody>
      </p:sp>
      <p:sp>
        <p:nvSpPr>
          <p:cNvPr id="95" name="Shape 95"/>
          <p:cNvSpPr txBox="1">
            <a:spLocks noGrp="1"/>
          </p:cNvSpPr>
          <p:nvPr>
            <p:ph type="ctrTitle"/>
          </p:nvPr>
        </p:nvSpPr>
        <p:spPr>
          <a:xfrm>
            <a:off x="1993196" y="1711250"/>
            <a:ext cx="3274840" cy="1159799"/>
          </a:xfrm>
          <a:prstGeom prst="rect">
            <a:avLst/>
          </a:prstGeom>
        </p:spPr>
        <p:txBody>
          <a:bodyPr lIns="91425" tIns="91425" rIns="91425" bIns="91425" anchor="b" anchorCtr="0">
            <a:noAutofit/>
          </a:bodyPr>
          <a:lstStyle/>
          <a:p>
            <a:pPr lvl="0"/>
            <a:r>
              <a:rPr lang="en-US" dirty="0" err="1" smtClean="0"/>
              <a:t>Etika</a:t>
            </a:r>
            <a:r>
              <a:rPr lang="en-US" dirty="0" smtClean="0"/>
              <a:t> </a:t>
            </a:r>
            <a:r>
              <a:rPr lang="en-US" dirty="0" err="1" smtClean="0"/>
              <a:t>Publik</a:t>
            </a:r>
            <a:endParaRPr lang="en" dirty="0"/>
          </a:p>
        </p:txBody>
      </p:sp>
      <p:sp>
        <p:nvSpPr>
          <p:cNvPr id="96" name="Shape 96"/>
          <p:cNvSpPr txBox="1">
            <a:spLocks noGrp="1"/>
          </p:cNvSpPr>
          <p:nvPr>
            <p:ph type="subTitle" idx="1"/>
          </p:nvPr>
        </p:nvSpPr>
        <p:spPr>
          <a:xfrm>
            <a:off x="1677874" y="2603244"/>
            <a:ext cx="7153202" cy="1660008"/>
          </a:xfrm>
          <a:prstGeom prst="rect">
            <a:avLst/>
          </a:prstGeom>
        </p:spPr>
        <p:txBody>
          <a:bodyPr lIns="91425" tIns="91425" rIns="91425" bIns="91425" anchor="t" anchorCtr="0">
            <a:noAutofit/>
          </a:bodyPr>
          <a:lstStyle/>
          <a:p>
            <a:pPr lvl="0" algn="ctr">
              <a:lnSpc>
                <a:spcPct val="150000"/>
              </a:lnSpc>
            </a:pPr>
            <a:endParaRPr lang="en-US" sz="1600" b="1" dirty="0"/>
          </a:p>
          <a:p>
            <a:pPr lvl="0" algn="ctr">
              <a:lnSpc>
                <a:spcPct val="150000"/>
              </a:lnSpc>
            </a:pPr>
            <a:r>
              <a:rPr lang="en-US" sz="1600" b="1" dirty="0" err="1" smtClean="0">
                <a:solidFill>
                  <a:srgbClr val="0070C0"/>
                </a:solidFill>
              </a:rPr>
              <a:t>Sopan</a:t>
            </a:r>
            <a:r>
              <a:rPr lang="en-US" sz="1600" b="1" dirty="0" smtClean="0">
                <a:solidFill>
                  <a:srgbClr val="0070C0"/>
                </a:solidFill>
              </a:rPr>
              <a:t> </a:t>
            </a:r>
            <a:r>
              <a:rPr lang="en-US" sz="1600" b="1" dirty="0" err="1" smtClean="0">
                <a:solidFill>
                  <a:srgbClr val="0070C0"/>
                </a:solidFill>
              </a:rPr>
              <a:t>Santun</a:t>
            </a:r>
            <a:endParaRPr lang="en-US" sz="1600" b="1" dirty="0" smtClean="0">
              <a:solidFill>
                <a:srgbClr val="0070C0"/>
              </a:solidFill>
            </a:endParaRPr>
          </a:p>
          <a:p>
            <a:pPr lvl="0" algn="ctr">
              <a:lnSpc>
                <a:spcPct val="150000"/>
              </a:lnSpc>
            </a:pPr>
            <a:endParaRPr lang="en-US" sz="1600" b="1" dirty="0" smtClean="0"/>
          </a:p>
          <a:p>
            <a:pPr lvl="0" algn="ctr">
              <a:lnSpc>
                <a:spcPct val="150000"/>
              </a:lnSpc>
            </a:pPr>
            <a:r>
              <a:rPr lang="en-US" sz="1600" b="1" dirty="0" err="1" smtClean="0">
                <a:solidFill>
                  <a:srgbClr val="00B050"/>
                </a:solidFill>
              </a:rPr>
              <a:t>Komunikasi</a:t>
            </a:r>
            <a:r>
              <a:rPr lang="en-US" sz="1600" b="1" dirty="0" smtClean="0"/>
              <a:t>			</a:t>
            </a:r>
            <a:r>
              <a:rPr lang="en-US" sz="1600" b="1" dirty="0" err="1" smtClean="0">
                <a:solidFill>
                  <a:srgbClr val="C00000"/>
                </a:solidFill>
              </a:rPr>
              <a:t>Cermat</a:t>
            </a:r>
            <a:endParaRPr lang="en" sz="1600" b="1" dirty="0">
              <a:solidFill>
                <a:srgbClr val="C00000"/>
              </a:solidFill>
            </a:endParaRPr>
          </a:p>
        </p:txBody>
      </p:sp>
      <p:sp>
        <p:nvSpPr>
          <p:cNvPr id="97" name="Shape 97"/>
          <p:cNvSpPr txBox="1"/>
          <p:nvPr/>
        </p:nvSpPr>
        <p:spPr>
          <a:xfrm>
            <a:off x="1133975" y="2291150"/>
            <a:ext cx="543899" cy="562199"/>
          </a:xfrm>
          <a:prstGeom prst="rect">
            <a:avLst/>
          </a:prstGeom>
          <a:noFill/>
          <a:ln>
            <a:noFill/>
          </a:ln>
        </p:spPr>
        <p:txBody>
          <a:bodyPr lIns="91425" tIns="91425" rIns="91425" bIns="91425" anchor="ctr" anchorCtr="0">
            <a:noAutofit/>
          </a:bodyPr>
          <a:lstStyle/>
          <a:p>
            <a:pPr algn="ctr">
              <a:spcBef>
                <a:spcPts val="0"/>
              </a:spcBef>
              <a:buNone/>
            </a:pPr>
            <a:r>
              <a:rPr lang="en" sz="2400" dirty="0" smtClean="0">
                <a:solidFill>
                  <a:schemeClr val="dk1"/>
                </a:solidFill>
                <a:latin typeface="Lora"/>
                <a:ea typeface="Lora"/>
                <a:cs typeface="Lora"/>
                <a:sym typeface="Lora"/>
              </a:rPr>
              <a:t>3</a:t>
            </a:r>
            <a:endParaRPr lang="en" sz="2400" dirty="0">
              <a:solidFill>
                <a:schemeClr val="dk1"/>
              </a:solidFill>
              <a:latin typeface="Lora"/>
              <a:ea typeface="Lora"/>
              <a:cs typeface="Lora"/>
              <a:sym typeface="Lora"/>
            </a:endParaRPr>
          </a:p>
        </p:txBody>
      </p:sp>
    </p:spTree>
    <p:extLst>
      <p:ext uri="{BB962C8B-B14F-4D97-AF65-F5344CB8AC3E}">
        <p14:creationId xmlns:p14="http://schemas.microsoft.com/office/powerpoint/2010/main" val="3738645846"/>
      </p:ext>
    </p:extLst>
  </p:cSld>
  <p:clrMapOvr>
    <a:masterClrMapping/>
  </p:clrMapOvr>
  <p:transition spd="slow">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0" y="924720"/>
            <a:ext cx="3804899" cy="435599"/>
          </a:xfrm>
          <a:prstGeom prst="rect">
            <a:avLst/>
          </a:prstGeom>
        </p:spPr>
        <p:txBody>
          <a:bodyPr lIns="91425" tIns="91425" rIns="91425" bIns="91425" anchor="ctr" anchorCtr="0">
            <a:noAutofit/>
          </a:bodyPr>
          <a:lstStyle/>
          <a:p>
            <a:r>
              <a:rPr lang="en-US" dirty="0" err="1" smtClean="0">
                <a:solidFill>
                  <a:srgbClr val="00B0F0"/>
                </a:solidFill>
              </a:rPr>
              <a:t>Sopan</a:t>
            </a:r>
            <a:r>
              <a:rPr lang="en-US" dirty="0" smtClean="0">
                <a:solidFill>
                  <a:srgbClr val="00B0F0"/>
                </a:solidFill>
              </a:rPr>
              <a:t> </a:t>
            </a:r>
            <a:r>
              <a:rPr lang="en-US" dirty="0" err="1" smtClean="0">
                <a:solidFill>
                  <a:srgbClr val="00B0F0"/>
                </a:solidFill>
              </a:rPr>
              <a:t>Santun</a:t>
            </a:r>
            <a:endParaRPr lang="id-ID" dirty="0">
              <a:solidFill>
                <a:srgbClr val="00B0F0"/>
              </a:solidFill>
            </a:endParaRPr>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sz="2000" dirty="0" err="1" smtClean="0"/>
              <a:t>Contoh</a:t>
            </a:r>
            <a:r>
              <a:rPr lang="en-US" sz="2000" dirty="0" smtClean="0"/>
              <a:t> </a:t>
            </a:r>
            <a:r>
              <a:rPr lang="en-US" sz="2000" dirty="0" err="1" smtClean="0"/>
              <a:t>Penerapannya</a:t>
            </a:r>
            <a:r>
              <a:rPr lang="en-US" sz="2000" dirty="0" smtClean="0"/>
              <a:t>:</a:t>
            </a:r>
            <a:endParaRPr lang="id-ID" sz="2000"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099333"/>
            <a:ext cx="7153202" cy="78479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smtClean="0"/>
              <a:t>Saya</a:t>
            </a:r>
            <a:r>
              <a:rPr lang="en-US" sz="1400" dirty="0" smtClean="0"/>
              <a:t> </a:t>
            </a:r>
            <a:r>
              <a:rPr lang="en-US" sz="1400" dirty="0" err="1" smtClean="0"/>
              <a:t>telah</a:t>
            </a:r>
            <a:r>
              <a:rPr lang="en-US" sz="1400" dirty="0" smtClean="0"/>
              <a:t> </a:t>
            </a:r>
            <a:r>
              <a:rPr lang="en-US" sz="1400" b="1" dirty="0" err="1" smtClean="0"/>
              <a:t>sopan</a:t>
            </a:r>
            <a:r>
              <a:rPr lang="en-US" sz="1400" b="1" dirty="0" smtClean="0"/>
              <a:t> </a:t>
            </a:r>
            <a:r>
              <a:rPr lang="en-US" sz="1400" b="1" dirty="0" err="1" smtClean="0"/>
              <a:t>santun</a:t>
            </a:r>
            <a:r>
              <a:rPr lang="en-US" sz="1400" b="1" dirty="0" smtClean="0"/>
              <a:t> </a:t>
            </a:r>
            <a:r>
              <a:rPr lang="en-US" sz="1400" dirty="0" err="1" smtClean="0"/>
              <a:t>dalam</a:t>
            </a:r>
            <a:r>
              <a:rPr lang="en-US" sz="1400" dirty="0" smtClean="0"/>
              <a:t> </a:t>
            </a:r>
            <a:r>
              <a:rPr lang="en-US" sz="1400" dirty="0" err="1" smtClean="0"/>
              <a:t>menerima</a:t>
            </a:r>
            <a:r>
              <a:rPr lang="en-US" sz="1400" dirty="0" smtClean="0"/>
              <a:t> </a:t>
            </a:r>
            <a:r>
              <a:rPr lang="en-US" sz="1400" dirty="0" err="1" smtClean="0"/>
              <a:t>tugas</a:t>
            </a:r>
            <a:r>
              <a:rPr lang="en-US" sz="1400" dirty="0" smtClean="0"/>
              <a:t> </a:t>
            </a:r>
            <a:r>
              <a:rPr lang="en-US" sz="1400" dirty="0" err="1" smtClean="0"/>
              <a:t>dari</a:t>
            </a:r>
            <a:r>
              <a:rPr lang="en-US" sz="1400" dirty="0" smtClean="0"/>
              <a:t> </a:t>
            </a:r>
            <a:r>
              <a:rPr lang="en-US" sz="1400" dirty="0" err="1" smtClean="0"/>
              <a:t>atasan</a:t>
            </a:r>
            <a:r>
              <a:rPr lang="en-US" sz="1400" dirty="0" smtClean="0"/>
              <a:t> (</a:t>
            </a:r>
            <a:r>
              <a:rPr lang="en-US" sz="1400" b="1" dirty="0" err="1" smtClean="0"/>
              <a:t>etika</a:t>
            </a:r>
            <a:r>
              <a:rPr lang="en-US" sz="1400" dirty="0" smtClean="0"/>
              <a:t> </a:t>
            </a:r>
            <a:r>
              <a:rPr lang="en-US" sz="1400" b="1" dirty="0" err="1" smtClean="0"/>
              <a:t>publik</a:t>
            </a:r>
            <a:r>
              <a:rPr lang="en-US" sz="1400" dirty="0" smtClean="0"/>
              <a:t>).</a:t>
            </a:r>
            <a:endParaRPr lang="en" sz="1400" dirty="0"/>
          </a:p>
        </p:txBody>
      </p:sp>
      <p:sp>
        <p:nvSpPr>
          <p:cNvPr id="11" name="Shape 108"/>
          <p:cNvSpPr txBox="1">
            <a:spLocks/>
          </p:cNvSpPr>
          <p:nvPr/>
        </p:nvSpPr>
        <p:spPr>
          <a:xfrm>
            <a:off x="107824" y="2884132"/>
            <a:ext cx="58836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sz="2000" dirty="0" err="1" smtClean="0"/>
              <a:t>Jika</a:t>
            </a:r>
            <a:r>
              <a:rPr lang="en-US" sz="2000" dirty="0" smtClean="0"/>
              <a:t> </a:t>
            </a:r>
            <a:r>
              <a:rPr lang="en-US" sz="2000" dirty="0" err="1" smtClean="0"/>
              <a:t>Nilai</a:t>
            </a:r>
            <a:r>
              <a:rPr lang="en-US" sz="2000" dirty="0" smtClean="0"/>
              <a:t> </a:t>
            </a:r>
            <a:r>
              <a:rPr lang="en-US" sz="2000" dirty="0" err="1" smtClean="0"/>
              <a:t>Tidak</a:t>
            </a:r>
            <a:r>
              <a:rPr lang="en-US" sz="2000" dirty="0" smtClean="0"/>
              <a:t> </a:t>
            </a:r>
            <a:r>
              <a:rPr lang="en-US" sz="2000" dirty="0" err="1" smtClean="0"/>
              <a:t>Diterapkan</a:t>
            </a:r>
            <a:r>
              <a:rPr lang="en-US" sz="2000" dirty="0" smtClean="0"/>
              <a:t>:</a:t>
            </a:r>
            <a:endParaRPr lang="id-ID" sz="2000" dirty="0"/>
          </a:p>
        </p:txBody>
      </p:sp>
      <p:sp>
        <p:nvSpPr>
          <p:cNvPr id="12" name="Shape 96"/>
          <p:cNvSpPr txBox="1">
            <a:spLocks/>
          </p:cNvSpPr>
          <p:nvPr/>
        </p:nvSpPr>
        <p:spPr>
          <a:xfrm>
            <a:off x="1024282" y="3533366"/>
            <a:ext cx="7153202" cy="1011338"/>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buNone/>
            </a:pPr>
            <a:r>
              <a:rPr lang="en-US" sz="1400" dirty="0" err="1"/>
              <a:t>Sebagai</a:t>
            </a:r>
            <a:r>
              <a:rPr lang="en-US" sz="1400" dirty="0"/>
              <a:t> </a:t>
            </a:r>
            <a:r>
              <a:rPr lang="en-US" sz="1400" dirty="0" err="1"/>
              <a:t>contoh</a:t>
            </a:r>
            <a:r>
              <a:rPr lang="en-US" sz="1400" dirty="0"/>
              <a:t> </a:t>
            </a:r>
            <a:r>
              <a:rPr lang="en-US" sz="1400" dirty="0" err="1"/>
              <a:t>dalam</a:t>
            </a:r>
            <a:r>
              <a:rPr lang="en-US" sz="1400" dirty="0"/>
              <a:t> </a:t>
            </a:r>
            <a:r>
              <a:rPr lang="en-US" sz="1400" dirty="0" err="1"/>
              <a:t>kegiatan</a:t>
            </a:r>
            <a:r>
              <a:rPr lang="en-US" sz="1400" dirty="0"/>
              <a:t> </a:t>
            </a:r>
            <a:r>
              <a:rPr lang="en-US" sz="1400" dirty="0" err="1"/>
              <a:t>melayani</a:t>
            </a:r>
            <a:r>
              <a:rPr lang="en-US" sz="1400" dirty="0"/>
              <a:t> </a:t>
            </a:r>
            <a:r>
              <a:rPr lang="en-US" sz="1400" dirty="0" err="1"/>
              <a:t>konsumen</a:t>
            </a:r>
            <a:r>
              <a:rPr lang="en-US" sz="1400" dirty="0"/>
              <a:t> data, </a:t>
            </a:r>
            <a:r>
              <a:rPr lang="en-US" sz="1400" dirty="0" err="1"/>
              <a:t>jika</a:t>
            </a:r>
            <a:r>
              <a:rPr lang="en-US" sz="1400" dirty="0"/>
              <a:t> </a:t>
            </a:r>
            <a:r>
              <a:rPr lang="en-US" sz="1400" dirty="0" err="1"/>
              <a:t>saya</a:t>
            </a:r>
            <a:r>
              <a:rPr lang="en-US" sz="1400" dirty="0"/>
              <a:t> </a:t>
            </a:r>
            <a:r>
              <a:rPr lang="en-US" sz="1400" dirty="0" err="1"/>
              <a:t>tidak</a:t>
            </a:r>
            <a:r>
              <a:rPr lang="en-US" sz="1400" dirty="0"/>
              <a:t> </a:t>
            </a:r>
            <a:r>
              <a:rPr lang="en-US" sz="1400" dirty="0" err="1"/>
              <a:t>bersikap</a:t>
            </a:r>
            <a:r>
              <a:rPr lang="en-US" sz="1400" dirty="0"/>
              <a:t> </a:t>
            </a:r>
            <a:r>
              <a:rPr lang="en-US" sz="1400" dirty="0" err="1"/>
              <a:t>sopan</a:t>
            </a:r>
            <a:r>
              <a:rPr lang="en-US" sz="1400" dirty="0"/>
              <a:t> </a:t>
            </a:r>
            <a:r>
              <a:rPr lang="en-US" sz="1400" dirty="0" err="1"/>
              <a:t>santun</a:t>
            </a:r>
            <a:r>
              <a:rPr lang="en-US" sz="1400" dirty="0"/>
              <a:t> </a:t>
            </a:r>
            <a:r>
              <a:rPr lang="en-US" sz="1400" dirty="0" err="1"/>
              <a:t>dalam</a:t>
            </a:r>
            <a:r>
              <a:rPr lang="en-US" sz="1400" dirty="0"/>
              <a:t> </a:t>
            </a:r>
            <a:r>
              <a:rPr lang="en-US" sz="1400" dirty="0" err="1"/>
              <a:t>kegiatan</a:t>
            </a:r>
            <a:r>
              <a:rPr lang="en-US" sz="1400" dirty="0"/>
              <a:t> </a:t>
            </a:r>
            <a:r>
              <a:rPr lang="en-US" sz="1400" dirty="0" err="1"/>
              <a:t>ini</a:t>
            </a:r>
            <a:r>
              <a:rPr lang="en-US" sz="1400" dirty="0"/>
              <a:t>, </a:t>
            </a:r>
            <a:r>
              <a:rPr lang="en-US" sz="1400" dirty="0" err="1"/>
              <a:t>maka</a:t>
            </a:r>
            <a:r>
              <a:rPr lang="en-US" sz="1400" dirty="0"/>
              <a:t> </a:t>
            </a:r>
            <a:r>
              <a:rPr lang="en-US" sz="1400" dirty="0" err="1"/>
              <a:t>bisa</a:t>
            </a:r>
            <a:r>
              <a:rPr lang="en-US" sz="1400" dirty="0"/>
              <a:t> </a:t>
            </a:r>
            <a:r>
              <a:rPr lang="en-US" sz="1400" dirty="0" err="1"/>
              <a:t>dipastikan</a:t>
            </a:r>
            <a:r>
              <a:rPr lang="en-US" sz="1400" dirty="0"/>
              <a:t> </a:t>
            </a:r>
            <a:r>
              <a:rPr lang="en-US" sz="1400" dirty="0" err="1"/>
              <a:t>konsumen</a:t>
            </a:r>
            <a:r>
              <a:rPr lang="en-US" sz="1400" dirty="0"/>
              <a:t> </a:t>
            </a:r>
            <a:r>
              <a:rPr lang="en-US" sz="1400" dirty="0" err="1"/>
              <a:t>menilai</a:t>
            </a:r>
            <a:r>
              <a:rPr lang="en-US" sz="1400" dirty="0"/>
              <a:t> </a:t>
            </a:r>
            <a:r>
              <a:rPr lang="en-US" sz="1400" dirty="0" err="1"/>
              <a:t>buruk</a:t>
            </a:r>
            <a:r>
              <a:rPr lang="en-US" sz="1400" dirty="0"/>
              <a:t> </a:t>
            </a:r>
            <a:r>
              <a:rPr lang="en-US" sz="1400" dirty="0" err="1"/>
              <a:t>pelayanan</a:t>
            </a:r>
            <a:r>
              <a:rPr lang="en-US" sz="1400" dirty="0"/>
              <a:t> BPS. Hal </a:t>
            </a:r>
            <a:r>
              <a:rPr lang="en-US" sz="1400" dirty="0" err="1"/>
              <a:t>ini</a:t>
            </a:r>
            <a:r>
              <a:rPr lang="en-US" sz="1400" dirty="0"/>
              <a:t> </a:t>
            </a:r>
            <a:r>
              <a:rPr lang="en-US" sz="1400" dirty="0" err="1"/>
              <a:t>juga</a:t>
            </a:r>
            <a:r>
              <a:rPr lang="en-US" sz="1400" dirty="0"/>
              <a:t> </a:t>
            </a:r>
            <a:r>
              <a:rPr lang="en-US" sz="1400" dirty="0" err="1"/>
              <a:t>akan</a:t>
            </a:r>
            <a:r>
              <a:rPr lang="en-US" sz="1400" dirty="0"/>
              <a:t> </a:t>
            </a:r>
            <a:r>
              <a:rPr lang="en-US" sz="1400" dirty="0" err="1"/>
              <a:t>menurunkan</a:t>
            </a:r>
            <a:r>
              <a:rPr lang="en-US" sz="1400" dirty="0"/>
              <a:t> </a:t>
            </a:r>
            <a:r>
              <a:rPr lang="en-US" sz="1400" dirty="0" err="1"/>
              <a:t>citra</a:t>
            </a:r>
            <a:r>
              <a:rPr lang="en-US" sz="1400" dirty="0"/>
              <a:t> BPS </a:t>
            </a:r>
            <a:r>
              <a:rPr lang="en-US" sz="1400" dirty="0" err="1"/>
              <a:t>sebagai</a:t>
            </a:r>
            <a:r>
              <a:rPr lang="en-US" sz="1400" dirty="0"/>
              <a:t> </a:t>
            </a:r>
            <a:r>
              <a:rPr lang="en-US" sz="1400" dirty="0" err="1"/>
              <a:t>instansi</a:t>
            </a:r>
            <a:r>
              <a:rPr lang="en-US" sz="1400" dirty="0"/>
              <a:t> </a:t>
            </a:r>
            <a:r>
              <a:rPr lang="en-US" sz="1400" dirty="0" err="1"/>
              <a:t>penyedia</a:t>
            </a:r>
            <a:r>
              <a:rPr lang="en-US" sz="1400" dirty="0"/>
              <a:t> data</a:t>
            </a:r>
            <a:endParaRPr lang="id-ID" sz="1400" dirty="0"/>
          </a:p>
        </p:txBody>
      </p:sp>
    </p:spTree>
    <p:extLst>
      <p:ext uri="{BB962C8B-B14F-4D97-AF65-F5344CB8AC3E}">
        <p14:creationId xmlns:p14="http://schemas.microsoft.com/office/powerpoint/2010/main" val="722727521"/>
      </p:ext>
    </p:extLst>
  </p:cSld>
  <p:clrMapOvr>
    <a:masterClrMapping/>
  </p:clrMapOvr>
  <p:transition spd="slow">
    <p:cu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0" y="924720"/>
            <a:ext cx="3804899" cy="435599"/>
          </a:xfrm>
          <a:prstGeom prst="rect">
            <a:avLst/>
          </a:prstGeom>
        </p:spPr>
        <p:txBody>
          <a:bodyPr lIns="91425" tIns="91425" rIns="91425" bIns="91425" anchor="ctr" anchorCtr="0">
            <a:noAutofit/>
          </a:bodyPr>
          <a:lstStyle/>
          <a:p>
            <a:r>
              <a:rPr lang="en-US" dirty="0" err="1" smtClean="0">
                <a:solidFill>
                  <a:srgbClr val="00B050"/>
                </a:solidFill>
              </a:rPr>
              <a:t>Komunikasi</a:t>
            </a:r>
            <a:endParaRPr lang="id-ID" dirty="0">
              <a:solidFill>
                <a:srgbClr val="00B050"/>
              </a:solidFill>
            </a:endParaRPr>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sz="2000" dirty="0" err="1" smtClean="0"/>
              <a:t>Contoh</a:t>
            </a:r>
            <a:r>
              <a:rPr lang="en-US" sz="2000" dirty="0" smtClean="0"/>
              <a:t> </a:t>
            </a:r>
            <a:r>
              <a:rPr lang="en-US" sz="2000" dirty="0" err="1" smtClean="0"/>
              <a:t>Penerapannya</a:t>
            </a:r>
            <a:r>
              <a:rPr lang="en-US" sz="2000" dirty="0" smtClean="0"/>
              <a:t>:</a:t>
            </a:r>
            <a:endParaRPr lang="id-ID" sz="2000"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099333"/>
            <a:ext cx="7153202" cy="78479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smtClean="0"/>
              <a:t>Saya</a:t>
            </a:r>
            <a:r>
              <a:rPr lang="en-US" sz="1400" dirty="0" smtClean="0"/>
              <a:t> </a:t>
            </a:r>
            <a:r>
              <a:rPr lang="en-US" sz="1400" dirty="0" err="1" smtClean="0"/>
              <a:t>telah</a:t>
            </a:r>
            <a:r>
              <a:rPr lang="en-US" sz="1400" dirty="0" smtClean="0"/>
              <a:t> </a:t>
            </a:r>
            <a:r>
              <a:rPr lang="en-US" sz="1400" b="1" dirty="0" err="1" smtClean="0"/>
              <a:t>berkomunikasi</a:t>
            </a:r>
            <a:r>
              <a:rPr lang="en-US" sz="1400" b="1" dirty="0" smtClean="0"/>
              <a:t> </a:t>
            </a:r>
            <a:r>
              <a:rPr lang="en-US" sz="1400" b="1" dirty="0" err="1" smtClean="0"/>
              <a:t>dengan</a:t>
            </a:r>
            <a:r>
              <a:rPr lang="en-US" sz="1400" b="1" dirty="0" smtClean="0"/>
              <a:t> </a:t>
            </a:r>
            <a:r>
              <a:rPr lang="en-US" sz="1400" b="1" dirty="0" err="1" smtClean="0"/>
              <a:t>efektif</a:t>
            </a:r>
            <a:r>
              <a:rPr lang="en-US" sz="1400" dirty="0" smtClean="0"/>
              <a:t>, </a:t>
            </a:r>
            <a:r>
              <a:rPr lang="en-US" sz="1400" dirty="0" err="1" smtClean="0"/>
              <a:t>saat</a:t>
            </a:r>
            <a:r>
              <a:rPr lang="en-US" sz="1400" dirty="0" smtClean="0"/>
              <a:t> </a:t>
            </a:r>
            <a:r>
              <a:rPr lang="en-US" sz="1400" dirty="0" err="1" smtClean="0"/>
              <a:t>meminta</a:t>
            </a:r>
            <a:r>
              <a:rPr lang="en-US" sz="1400" dirty="0" smtClean="0"/>
              <a:t> </a:t>
            </a:r>
            <a:r>
              <a:rPr lang="en-US" sz="1400" i="1" dirty="0" smtClean="0"/>
              <a:t>file </a:t>
            </a:r>
            <a:r>
              <a:rPr lang="en-US" sz="1400" dirty="0" err="1" smtClean="0"/>
              <a:t>instalasi</a:t>
            </a:r>
            <a:r>
              <a:rPr lang="en-US" sz="1400" dirty="0" smtClean="0"/>
              <a:t> program PST </a:t>
            </a:r>
            <a:r>
              <a:rPr lang="en-US" sz="1400" dirty="0" err="1" smtClean="0"/>
              <a:t>ke</a:t>
            </a:r>
            <a:r>
              <a:rPr lang="en-US" sz="1400" dirty="0" smtClean="0"/>
              <a:t> BPS </a:t>
            </a:r>
            <a:r>
              <a:rPr lang="en-US" sz="1400" dirty="0" err="1" smtClean="0"/>
              <a:t>Provinsi</a:t>
            </a:r>
            <a:r>
              <a:rPr lang="en-US" sz="1400" dirty="0" smtClean="0"/>
              <a:t> </a:t>
            </a:r>
            <a:r>
              <a:rPr lang="en-US" sz="1400" dirty="0" err="1" smtClean="0"/>
              <a:t>Kaltim</a:t>
            </a:r>
            <a:r>
              <a:rPr lang="en-US" sz="1400" dirty="0" smtClean="0"/>
              <a:t> </a:t>
            </a:r>
            <a:r>
              <a:rPr lang="en-US" sz="1400" dirty="0" err="1" smtClean="0"/>
              <a:t>bagian</a:t>
            </a:r>
            <a:r>
              <a:rPr lang="en-US" sz="1400" dirty="0" smtClean="0"/>
              <a:t> </a:t>
            </a:r>
            <a:r>
              <a:rPr lang="en-US" sz="1400" dirty="0" err="1" smtClean="0"/>
              <a:t>Perpustakaan</a:t>
            </a:r>
            <a:r>
              <a:rPr lang="en-US" sz="1400" dirty="0" smtClean="0"/>
              <a:t>.</a:t>
            </a:r>
            <a:endParaRPr lang="en" sz="1400" dirty="0"/>
          </a:p>
        </p:txBody>
      </p:sp>
      <p:sp>
        <p:nvSpPr>
          <p:cNvPr id="11" name="Shape 108"/>
          <p:cNvSpPr txBox="1">
            <a:spLocks/>
          </p:cNvSpPr>
          <p:nvPr/>
        </p:nvSpPr>
        <p:spPr>
          <a:xfrm>
            <a:off x="107824" y="2884132"/>
            <a:ext cx="58836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sz="2000" dirty="0" err="1" smtClean="0"/>
              <a:t>Jika</a:t>
            </a:r>
            <a:r>
              <a:rPr lang="en-US" sz="2000" dirty="0" smtClean="0"/>
              <a:t> </a:t>
            </a:r>
            <a:r>
              <a:rPr lang="en-US" sz="2000" dirty="0" err="1" smtClean="0"/>
              <a:t>Nilai</a:t>
            </a:r>
            <a:r>
              <a:rPr lang="en-US" sz="2000" dirty="0" smtClean="0"/>
              <a:t> </a:t>
            </a:r>
            <a:r>
              <a:rPr lang="en-US" sz="2000" dirty="0" err="1" smtClean="0"/>
              <a:t>Tidak</a:t>
            </a:r>
            <a:r>
              <a:rPr lang="en-US" sz="2000" dirty="0" smtClean="0"/>
              <a:t> </a:t>
            </a:r>
            <a:r>
              <a:rPr lang="en-US" sz="2000" dirty="0" err="1" smtClean="0"/>
              <a:t>Diterapkan</a:t>
            </a:r>
            <a:r>
              <a:rPr lang="en-US" sz="2000" dirty="0" smtClean="0"/>
              <a:t>:</a:t>
            </a:r>
            <a:endParaRPr lang="id-ID" sz="2000" dirty="0"/>
          </a:p>
        </p:txBody>
      </p:sp>
      <p:sp>
        <p:nvSpPr>
          <p:cNvPr id="12" name="Shape 96"/>
          <p:cNvSpPr txBox="1">
            <a:spLocks/>
          </p:cNvSpPr>
          <p:nvPr/>
        </p:nvSpPr>
        <p:spPr>
          <a:xfrm>
            <a:off x="1024282" y="3533366"/>
            <a:ext cx="7153202" cy="1011338"/>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buNone/>
            </a:pPr>
            <a:r>
              <a:rPr lang="en-US" sz="1400" dirty="0" err="1"/>
              <a:t>Sebagai</a:t>
            </a:r>
            <a:r>
              <a:rPr lang="en-US" sz="1400" dirty="0"/>
              <a:t> </a:t>
            </a:r>
            <a:r>
              <a:rPr lang="en-US" sz="1400" dirty="0" err="1"/>
              <a:t>contoh</a:t>
            </a:r>
            <a:r>
              <a:rPr lang="en-US" sz="1400" dirty="0"/>
              <a:t> </a:t>
            </a:r>
            <a:r>
              <a:rPr lang="en-US" sz="1400" dirty="0" err="1"/>
              <a:t>saat</a:t>
            </a:r>
            <a:r>
              <a:rPr lang="en-US" sz="1400" dirty="0"/>
              <a:t> </a:t>
            </a:r>
            <a:r>
              <a:rPr lang="en-US" sz="1400" dirty="0" err="1"/>
              <a:t>saya</a:t>
            </a:r>
            <a:r>
              <a:rPr lang="en-US" sz="1400" dirty="0"/>
              <a:t> </a:t>
            </a:r>
            <a:r>
              <a:rPr lang="en-US" sz="1400" dirty="0" err="1"/>
              <a:t>meminta</a:t>
            </a:r>
            <a:r>
              <a:rPr lang="en-US" sz="1400" dirty="0"/>
              <a:t> </a:t>
            </a:r>
            <a:r>
              <a:rPr lang="en-US" sz="1400" i="1" dirty="0"/>
              <a:t>file </a:t>
            </a:r>
            <a:r>
              <a:rPr lang="en-US" sz="1400" dirty="0" err="1"/>
              <a:t>instalasi</a:t>
            </a:r>
            <a:r>
              <a:rPr lang="en-US" sz="1400" dirty="0"/>
              <a:t> PST </a:t>
            </a:r>
            <a:r>
              <a:rPr lang="en-US" sz="1400" dirty="0" err="1"/>
              <a:t>ke</a:t>
            </a:r>
            <a:r>
              <a:rPr lang="en-US" sz="1400" dirty="0"/>
              <a:t> </a:t>
            </a:r>
            <a:r>
              <a:rPr lang="en-US" sz="1400" dirty="0" err="1"/>
              <a:t>bagian</a:t>
            </a:r>
            <a:r>
              <a:rPr lang="en-US" sz="1400" dirty="0"/>
              <a:t> </a:t>
            </a:r>
            <a:r>
              <a:rPr lang="en-US" sz="1400" dirty="0" err="1"/>
              <a:t>perpustakan</a:t>
            </a:r>
            <a:r>
              <a:rPr lang="en-US" sz="1400" dirty="0"/>
              <a:t> BPS </a:t>
            </a:r>
            <a:r>
              <a:rPr lang="en-US" sz="1400" dirty="0" err="1"/>
              <a:t>Provinsi</a:t>
            </a:r>
            <a:r>
              <a:rPr lang="en-US" sz="1400" dirty="0"/>
              <a:t> </a:t>
            </a:r>
            <a:r>
              <a:rPr lang="en-US" sz="1400" dirty="0" err="1"/>
              <a:t>Kaltim</a:t>
            </a:r>
            <a:r>
              <a:rPr lang="en-US" sz="1400" dirty="0"/>
              <a:t>, </a:t>
            </a:r>
            <a:r>
              <a:rPr lang="en-US" sz="1400" dirty="0" err="1"/>
              <a:t>jika</a:t>
            </a:r>
            <a:r>
              <a:rPr lang="en-US" sz="1400" dirty="0"/>
              <a:t> </a:t>
            </a:r>
            <a:r>
              <a:rPr lang="en-US" sz="1400" dirty="0" err="1"/>
              <a:t>komunikasi</a:t>
            </a:r>
            <a:r>
              <a:rPr lang="en-US" sz="1400" dirty="0"/>
              <a:t> </a:t>
            </a:r>
            <a:r>
              <a:rPr lang="en-US" sz="1400" dirty="0" err="1"/>
              <a:t>ini</a:t>
            </a:r>
            <a:r>
              <a:rPr lang="en-US" sz="1400" dirty="0"/>
              <a:t> </a:t>
            </a:r>
            <a:r>
              <a:rPr lang="en-US" sz="1400" dirty="0" err="1"/>
              <a:t>tidak</a:t>
            </a:r>
            <a:r>
              <a:rPr lang="en-US" sz="1400" dirty="0"/>
              <a:t> </a:t>
            </a:r>
            <a:r>
              <a:rPr lang="en-US" sz="1400" dirty="0" err="1"/>
              <a:t>berjalan</a:t>
            </a:r>
            <a:r>
              <a:rPr lang="en-US" sz="1400" dirty="0"/>
              <a:t> </a:t>
            </a:r>
            <a:r>
              <a:rPr lang="en-US" sz="1400" dirty="0" err="1"/>
              <a:t>efektif</a:t>
            </a:r>
            <a:r>
              <a:rPr lang="en-US" sz="1400" dirty="0"/>
              <a:t> </a:t>
            </a:r>
            <a:r>
              <a:rPr lang="en-US" sz="1400" dirty="0" err="1"/>
              <a:t>tentu</a:t>
            </a:r>
            <a:r>
              <a:rPr lang="en-US" sz="1400" dirty="0"/>
              <a:t> </a:t>
            </a:r>
            <a:r>
              <a:rPr lang="en-US" sz="1400" dirty="0" err="1"/>
              <a:t>akan</a:t>
            </a:r>
            <a:r>
              <a:rPr lang="en-US" sz="1400" dirty="0"/>
              <a:t> </a:t>
            </a:r>
            <a:r>
              <a:rPr lang="en-US" sz="1400" dirty="0" err="1"/>
              <a:t>menguras</a:t>
            </a:r>
            <a:r>
              <a:rPr lang="en-US" sz="1400" dirty="0"/>
              <a:t> </a:t>
            </a:r>
            <a:r>
              <a:rPr lang="en-US" sz="1400" dirty="0" err="1"/>
              <a:t>tenaga</a:t>
            </a:r>
            <a:r>
              <a:rPr lang="en-US" sz="1400" dirty="0"/>
              <a:t> </a:t>
            </a:r>
            <a:r>
              <a:rPr lang="en-US" sz="1400" dirty="0" err="1"/>
              <a:t>dan</a:t>
            </a:r>
            <a:r>
              <a:rPr lang="en-US" sz="1400" dirty="0"/>
              <a:t> </a:t>
            </a:r>
            <a:r>
              <a:rPr lang="en-US" sz="1400" dirty="0" err="1"/>
              <a:t>waktu</a:t>
            </a:r>
            <a:r>
              <a:rPr lang="en-US" sz="1400" dirty="0"/>
              <a:t>. </a:t>
            </a:r>
            <a:r>
              <a:rPr lang="en-US" sz="1400" dirty="0" err="1"/>
              <a:t>Sehingga</a:t>
            </a:r>
            <a:r>
              <a:rPr lang="en-US" sz="1400" dirty="0"/>
              <a:t> </a:t>
            </a:r>
            <a:r>
              <a:rPr lang="en-US" sz="1400" dirty="0" err="1"/>
              <a:t>tidak</a:t>
            </a:r>
            <a:r>
              <a:rPr lang="en-US" sz="1400" dirty="0"/>
              <a:t> </a:t>
            </a:r>
            <a:r>
              <a:rPr lang="en-US" sz="1400" dirty="0" err="1"/>
              <a:t>tercapainya</a:t>
            </a:r>
            <a:r>
              <a:rPr lang="en-US" sz="1400" dirty="0"/>
              <a:t> </a:t>
            </a:r>
            <a:r>
              <a:rPr lang="en-US" sz="1400" dirty="0" err="1"/>
              <a:t>tujuan</a:t>
            </a:r>
            <a:r>
              <a:rPr lang="en-US" sz="1400" dirty="0"/>
              <a:t> yang </a:t>
            </a:r>
            <a:r>
              <a:rPr lang="en-US" sz="1400" dirty="0" err="1"/>
              <a:t>diinginkan</a:t>
            </a:r>
            <a:r>
              <a:rPr lang="en-US" sz="1400" dirty="0"/>
              <a:t>.</a:t>
            </a:r>
            <a:endParaRPr lang="id-ID" sz="1400" dirty="0"/>
          </a:p>
        </p:txBody>
      </p:sp>
    </p:spTree>
    <p:extLst>
      <p:ext uri="{BB962C8B-B14F-4D97-AF65-F5344CB8AC3E}">
        <p14:creationId xmlns:p14="http://schemas.microsoft.com/office/powerpoint/2010/main" val="2794888670"/>
      </p:ext>
    </p:extLst>
  </p:cSld>
  <p:clrMapOvr>
    <a:masterClrMapping/>
  </p:clrMapOvr>
  <p:transition spd="slow">
    <p:cu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0" y="924720"/>
            <a:ext cx="3804899" cy="435599"/>
          </a:xfrm>
          <a:prstGeom prst="rect">
            <a:avLst/>
          </a:prstGeom>
        </p:spPr>
        <p:txBody>
          <a:bodyPr lIns="91425" tIns="91425" rIns="91425" bIns="91425" anchor="ctr" anchorCtr="0">
            <a:noAutofit/>
          </a:bodyPr>
          <a:lstStyle/>
          <a:p>
            <a:r>
              <a:rPr lang="en-US" dirty="0" err="1" smtClean="0">
                <a:solidFill>
                  <a:srgbClr val="C00000"/>
                </a:solidFill>
              </a:rPr>
              <a:t>Cermat</a:t>
            </a:r>
            <a:endParaRPr lang="id-ID" dirty="0">
              <a:solidFill>
                <a:srgbClr val="C00000"/>
              </a:solidFill>
            </a:endParaRPr>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sz="2000" dirty="0" err="1" smtClean="0"/>
              <a:t>Contoh</a:t>
            </a:r>
            <a:r>
              <a:rPr lang="en-US" sz="2000" dirty="0" smtClean="0"/>
              <a:t> </a:t>
            </a:r>
            <a:r>
              <a:rPr lang="en-US" sz="2000" dirty="0" err="1" smtClean="0"/>
              <a:t>Penerapannya</a:t>
            </a:r>
            <a:r>
              <a:rPr lang="en-US" sz="2000" dirty="0" smtClean="0"/>
              <a:t>:</a:t>
            </a:r>
            <a:endParaRPr lang="id-ID" sz="2000"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099333"/>
            <a:ext cx="7153202" cy="78479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smtClean="0"/>
              <a:t>Saya</a:t>
            </a:r>
            <a:r>
              <a:rPr lang="en-US" sz="1400" dirty="0" smtClean="0"/>
              <a:t> </a:t>
            </a:r>
            <a:r>
              <a:rPr lang="en-US" sz="1400" dirty="0" err="1" smtClean="0"/>
              <a:t>telah</a:t>
            </a:r>
            <a:r>
              <a:rPr lang="en-US" sz="1400" dirty="0" smtClean="0"/>
              <a:t> </a:t>
            </a:r>
            <a:r>
              <a:rPr lang="en-US" sz="1400" b="1" dirty="0" err="1" smtClean="0"/>
              <a:t>cermat</a:t>
            </a:r>
            <a:r>
              <a:rPr lang="en-US" sz="1400" b="1" dirty="0" smtClean="0"/>
              <a:t> </a:t>
            </a:r>
            <a:r>
              <a:rPr lang="en-US" sz="1400" dirty="0" err="1" smtClean="0"/>
              <a:t>dalam</a:t>
            </a:r>
            <a:r>
              <a:rPr lang="en-US" sz="1400" dirty="0" smtClean="0"/>
              <a:t> </a:t>
            </a:r>
            <a:r>
              <a:rPr lang="en-US" sz="1400" dirty="0" err="1" smtClean="0"/>
              <a:t>melakukan</a:t>
            </a:r>
            <a:r>
              <a:rPr lang="en-US" sz="1400" dirty="0" smtClean="0"/>
              <a:t> </a:t>
            </a:r>
            <a:r>
              <a:rPr lang="en-US" sz="1400" dirty="0" err="1" smtClean="0"/>
              <a:t>kegiatan</a:t>
            </a:r>
            <a:r>
              <a:rPr lang="en-US" sz="1400" dirty="0" smtClean="0"/>
              <a:t> scanning </a:t>
            </a:r>
            <a:r>
              <a:rPr lang="en-US" sz="1400" dirty="0" err="1" smtClean="0"/>
              <a:t>peta</a:t>
            </a:r>
            <a:r>
              <a:rPr lang="en-US" sz="1400" dirty="0" smtClean="0"/>
              <a:t> WB SE 2016 (</a:t>
            </a:r>
            <a:r>
              <a:rPr lang="en-US" sz="1400" b="1" dirty="0" err="1" smtClean="0"/>
              <a:t>etika</a:t>
            </a:r>
            <a:r>
              <a:rPr lang="en-US" sz="1400" dirty="0" smtClean="0"/>
              <a:t> </a:t>
            </a:r>
            <a:r>
              <a:rPr lang="en-US" sz="1400" b="1" dirty="0" err="1" smtClean="0"/>
              <a:t>publik</a:t>
            </a:r>
            <a:r>
              <a:rPr lang="en-US" sz="1400" dirty="0" smtClean="0"/>
              <a:t>).</a:t>
            </a:r>
            <a:endParaRPr lang="en" sz="1400" dirty="0"/>
          </a:p>
        </p:txBody>
      </p:sp>
      <p:sp>
        <p:nvSpPr>
          <p:cNvPr id="11" name="Shape 108"/>
          <p:cNvSpPr txBox="1">
            <a:spLocks/>
          </p:cNvSpPr>
          <p:nvPr/>
        </p:nvSpPr>
        <p:spPr>
          <a:xfrm>
            <a:off x="107824" y="2884132"/>
            <a:ext cx="58836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sz="2000" dirty="0" err="1" smtClean="0"/>
              <a:t>Jika</a:t>
            </a:r>
            <a:r>
              <a:rPr lang="en-US" sz="2000" dirty="0" smtClean="0"/>
              <a:t> </a:t>
            </a:r>
            <a:r>
              <a:rPr lang="en-US" sz="2000" dirty="0" err="1" smtClean="0"/>
              <a:t>Nilai</a:t>
            </a:r>
            <a:r>
              <a:rPr lang="en-US" sz="2000" dirty="0" smtClean="0"/>
              <a:t> </a:t>
            </a:r>
            <a:r>
              <a:rPr lang="en-US" sz="2000" dirty="0" err="1" smtClean="0"/>
              <a:t>Tidak</a:t>
            </a:r>
            <a:r>
              <a:rPr lang="en-US" sz="2000" dirty="0" smtClean="0"/>
              <a:t> </a:t>
            </a:r>
            <a:r>
              <a:rPr lang="en-US" sz="2000" dirty="0" err="1" smtClean="0"/>
              <a:t>Diterapkan</a:t>
            </a:r>
            <a:r>
              <a:rPr lang="en-US" sz="2000" dirty="0" smtClean="0"/>
              <a:t>:</a:t>
            </a:r>
            <a:endParaRPr lang="id-ID" sz="2000" dirty="0"/>
          </a:p>
        </p:txBody>
      </p:sp>
      <p:sp>
        <p:nvSpPr>
          <p:cNvPr id="12" name="Shape 96"/>
          <p:cNvSpPr txBox="1">
            <a:spLocks/>
          </p:cNvSpPr>
          <p:nvPr/>
        </p:nvSpPr>
        <p:spPr>
          <a:xfrm>
            <a:off x="1024282" y="3533366"/>
            <a:ext cx="7153202" cy="1011338"/>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buNone/>
            </a:pPr>
            <a:r>
              <a:rPr lang="en-US" sz="1400" dirty="0" err="1"/>
              <a:t>Sebagai</a:t>
            </a:r>
            <a:r>
              <a:rPr lang="en-US" sz="1400" dirty="0"/>
              <a:t> </a:t>
            </a:r>
            <a:r>
              <a:rPr lang="en-US" sz="1400" dirty="0" err="1"/>
              <a:t>contoh</a:t>
            </a:r>
            <a:r>
              <a:rPr lang="en-US" sz="1400" dirty="0"/>
              <a:t> </a:t>
            </a:r>
            <a:r>
              <a:rPr lang="en-US" sz="1400" dirty="0" err="1"/>
              <a:t>saat</a:t>
            </a:r>
            <a:r>
              <a:rPr lang="en-US" sz="1400" dirty="0"/>
              <a:t> </a:t>
            </a:r>
            <a:r>
              <a:rPr lang="en-US" sz="1400" dirty="0" err="1"/>
              <a:t>pelaksanaan</a:t>
            </a:r>
            <a:r>
              <a:rPr lang="en-US" sz="1400" dirty="0"/>
              <a:t> scanning </a:t>
            </a:r>
            <a:r>
              <a:rPr lang="en-US" sz="1400" dirty="0" err="1"/>
              <a:t>peta</a:t>
            </a:r>
            <a:r>
              <a:rPr lang="en-US" sz="1400" dirty="0"/>
              <a:t> WB SE 2016, </a:t>
            </a:r>
            <a:r>
              <a:rPr lang="en-US" sz="1400" dirty="0" err="1"/>
              <a:t>jika</a:t>
            </a:r>
            <a:r>
              <a:rPr lang="en-US" sz="1400" dirty="0"/>
              <a:t> </a:t>
            </a:r>
            <a:r>
              <a:rPr lang="en-US" sz="1400" dirty="0" err="1"/>
              <a:t>tidak</a:t>
            </a:r>
            <a:r>
              <a:rPr lang="en-US" sz="1400" dirty="0"/>
              <a:t> </a:t>
            </a:r>
            <a:r>
              <a:rPr lang="en-US" sz="1400" dirty="0" err="1"/>
              <a:t>cermat</a:t>
            </a:r>
            <a:r>
              <a:rPr lang="en-US" sz="1400" dirty="0"/>
              <a:t> </a:t>
            </a:r>
            <a:r>
              <a:rPr lang="en-US" sz="1400" dirty="0" err="1"/>
              <a:t>dalam</a:t>
            </a:r>
            <a:r>
              <a:rPr lang="en-US" sz="1400" dirty="0"/>
              <a:t> </a:t>
            </a:r>
            <a:r>
              <a:rPr lang="en-US" sz="1400" dirty="0" err="1"/>
              <a:t>melakukan</a:t>
            </a:r>
            <a:r>
              <a:rPr lang="en-US" sz="1400" dirty="0"/>
              <a:t> scanning </a:t>
            </a:r>
            <a:r>
              <a:rPr lang="en-US" sz="1400" dirty="0" err="1"/>
              <a:t>dan</a:t>
            </a:r>
            <a:r>
              <a:rPr lang="en-US" sz="1400" dirty="0"/>
              <a:t> </a:t>
            </a:r>
            <a:r>
              <a:rPr lang="en-US" sz="1400" dirty="0" err="1"/>
              <a:t>pengkodean</a:t>
            </a:r>
            <a:r>
              <a:rPr lang="en-US" sz="1400" dirty="0"/>
              <a:t> </a:t>
            </a:r>
            <a:r>
              <a:rPr lang="en-US" sz="1400" i="1" dirty="0"/>
              <a:t>file </a:t>
            </a:r>
            <a:r>
              <a:rPr lang="en-US" sz="1400" dirty="0" err="1"/>
              <a:t>maka</a:t>
            </a:r>
            <a:r>
              <a:rPr lang="en-US" sz="1400" dirty="0"/>
              <a:t> </a:t>
            </a:r>
            <a:r>
              <a:rPr lang="en-US" sz="1400" dirty="0" err="1"/>
              <a:t>berakibat</a:t>
            </a:r>
            <a:r>
              <a:rPr lang="en-US" sz="1400" dirty="0"/>
              <a:t> </a:t>
            </a:r>
            <a:r>
              <a:rPr lang="en-US" sz="1400" dirty="0" err="1"/>
              <a:t>pada</a:t>
            </a:r>
            <a:r>
              <a:rPr lang="en-US" sz="1400" dirty="0"/>
              <a:t> </a:t>
            </a:r>
            <a:r>
              <a:rPr lang="en-US" sz="1400" dirty="0" err="1"/>
              <a:t>tidak</a:t>
            </a:r>
            <a:r>
              <a:rPr lang="en-US" sz="1400" dirty="0"/>
              <a:t> </a:t>
            </a:r>
            <a:r>
              <a:rPr lang="en-US" sz="1400" dirty="0" err="1"/>
              <a:t>sesuainya</a:t>
            </a:r>
            <a:r>
              <a:rPr lang="en-US" sz="1400" dirty="0"/>
              <a:t> </a:t>
            </a:r>
            <a:r>
              <a:rPr lang="en-US" sz="1400" dirty="0" err="1"/>
              <a:t>peta</a:t>
            </a:r>
            <a:r>
              <a:rPr lang="en-US" sz="1400" dirty="0"/>
              <a:t> </a:t>
            </a:r>
            <a:r>
              <a:rPr lang="en-US" sz="1400" dirty="0" err="1"/>
              <a:t>dengan</a:t>
            </a:r>
            <a:r>
              <a:rPr lang="en-US" sz="1400" dirty="0"/>
              <a:t> </a:t>
            </a:r>
            <a:r>
              <a:rPr lang="en-US" sz="1400" dirty="0" err="1"/>
              <a:t>nama</a:t>
            </a:r>
            <a:r>
              <a:rPr lang="en-US" sz="1400" dirty="0"/>
              <a:t> </a:t>
            </a:r>
            <a:r>
              <a:rPr lang="en-US" sz="1400" i="1" dirty="0"/>
              <a:t>file</a:t>
            </a:r>
            <a:r>
              <a:rPr lang="en-US" sz="1400" dirty="0"/>
              <a:t> </a:t>
            </a:r>
            <a:r>
              <a:rPr lang="en-US" sz="1400" dirty="0" err="1"/>
              <a:t>peta</a:t>
            </a:r>
            <a:r>
              <a:rPr lang="en-US" sz="1400" dirty="0"/>
              <a:t>. Hal </a:t>
            </a:r>
            <a:r>
              <a:rPr lang="en-US" sz="1400" dirty="0" err="1"/>
              <a:t>ini</a:t>
            </a:r>
            <a:r>
              <a:rPr lang="en-US" sz="1400" dirty="0"/>
              <a:t> </a:t>
            </a:r>
            <a:r>
              <a:rPr lang="en-US" sz="1400" dirty="0" err="1"/>
              <a:t>sangat</a:t>
            </a:r>
            <a:r>
              <a:rPr lang="en-US" sz="1400" dirty="0"/>
              <a:t> </a:t>
            </a:r>
            <a:r>
              <a:rPr lang="en-US" sz="1400" dirty="0" err="1"/>
              <a:t>berdampak</a:t>
            </a:r>
            <a:r>
              <a:rPr lang="en-US" sz="1400" dirty="0"/>
              <a:t> </a:t>
            </a:r>
            <a:r>
              <a:rPr lang="en-US" sz="1400" dirty="0" err="1"/>
              <a:t>buruk</a:t>
            </a:r>
            <a:r>
              <a:rPr lang="en-US" sz="1400" dirty="0"/>
              <a:t> </a:t>
            </a:r>
            <a:r>
              <a:rPr lang="en-US" sz="1400" dirty="0" err="1"/>
              <a:t>dalam</a:t>
            </a:r>
            <a:r>
              <a:rPr lang="en-US" sz="1400" dirty="0"/>
              <a:t> </a:t>
            </a:r>
            <a:r>
              <a:rPr lang="en-US" sz="1400" dirty="0" err="1"/>
              <a:t>pelaksanaan</a:t>
            </a:r>
            <a:r>
              <a:rPr lang="en-US" sz="1400" dirty="0"/>
              <a:t> </a:t>
            </a:r>
            <a:r>
              <a:rPr lang="en-US" sz="1400" dirty="0" err="1"/>
              <a:t>survei-survei</a:t>
            </a:r>
            <a:r>
              <a:rPr lang="en-US" sz="1400" dirty="0"/>
              <a:t> yang </a:t>
            </a:r>
            <a:r>
              <a:rPr lang="en-US" sz="1400" dirty="0" err="1"/>
              <a:t>menggunakan</a:t>
            </a:r>
            <a:r>
              <a:rPr lang="en-US" sz="1400" dirty="0"/>
              <a:t> </a:t>
            </a:r>
            <a:r>
              <a:rPr lang="en-US" sz="1400" dirty="0" err="1"/>
              <a:t>peta</a:t>
            </a:r>
            <a:r>
              <a:rPr lang="en-US" sz="1400" dirty="0"/>
              <a:t> </a:t>
            </a:r>
            <a:r>
              <a:rPr lang="en-US" sz="1400" dirty="0" err="1"/>
              <a:t>tersebut</a:t>
            </a:r>
            <a:endParaRPr lang="id-ID" sz="1400" dirty="0"/>
          </a:p>
        </p:txBody>
      </p:sp>
    </p:spTree>
    <p:extLst>
      <p:ext uri="{BB962C8B-B14F-4D97-AF65-F5344CB8AC3E}">
        <p14:creationId xmlns:p14="http://schemas.microsoft.com/office/powerpoint/2010/main" val="3413219078"/>
      </p:ext>
    </p:extLst>
  </p:cSld>
  <p:clrMapOvr>
    <a:masterClrMapping/>
  </p:clrMapOvr>
  <p:transition spd="slow">
    <p:cu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Rectangle 1"/>
          <p:cNvSpPr/>
          <p:nvPr/>
        </p:nvSpPr>
        <p:spPr>
          <a:xfrm flipH="1">
            <a:off x="5117911" y="2291149"/>
            <a:ext cx="294062" cy="562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n>
                <a:solidFill>
                  <a:schemeClr val="bg1"/>
                </a:solidFill>
              </a:ln>
              <a:solidFill>
                <a:schemeClr val="bg1"/>
              </a:solidFill>
            </a:endParaRPr>
          </a:p>
        </p:txBody>
      </p:sp>
      <p:sp>
        <p:nvSpPr>
          <p:cNvPr id="95" name="Shape 95"/>
          <p:cNvSpPr txBox="1">
            <a:spLocks noGrp="1"/>
          </p:cNvSpPr>
          <p:nvPr>
            <p:ph type="ctrTitle"/>
          </p:nvPr>
        </p:nvSpPr>
        <p:spPr>
          <a:xfrm>
            <a:off x="1993196" y="2291149"/>
            <a:ext cx="3274840" cy="579900"/>
          </a:xfrm>
          <a:prstGeom prst="rect">
            <a:avLst/>
          </a:prstGeom>
        </p:spPr>
        <p:txBody>
          <a:bodyPr lIns="91425" tIns="91425" rIns="91425" bIns="91425" anchor="b" anchorCtr="0">
            <a:noAutofit/>
          </a:bodyPr>
          <a:lstStyle/>
          <a:p>
            <a:pPr lvl="0"/>
            <a:r>
              <a:rPr lang="en-US" dirty="0" err="1" smtClean="0"/>
              <a:t>Komitmen</a:t>
            </a:r>
            <a:r>
              <a:rPr lang="en-US" dirty="0" smtClean="0"/>
              <a:t> </a:t>
            </a:r>
            <a:r>
              <a:rPr lang="en-US" dirty="0" err="1" smtClean="0"/>
              <a:t>Mutu</a:t>
            </a:r>
            <a:endParaRPr lang="en" dirty="0"/>
          </a:p>
        </p:txBody>
      </p:sp>
      <p:sp>
        <p:nvSpPr>
          <p:cNvPr id="96" name="Shape 96"/>
          <p:cNvSpPr txBox="1">
            <a:spLocks noGrp="1"/>
          </p:cNvSpPr>
          <p:nvPr>
            <p:ph type="subTitle" idx="1"/>
          </p:nvPr>
        </p:nvSpPr>
        <p:spPr>
          <a:xfrm>
            <a:off x="1677874" y="2603244"/>
            <a:ext cx="7153202" cy="1660008"/>
          </a:xfrm>
          <a:prstGeom prst="rect">
            <a:avLst/>
          </a:prstGeom>
        </p:spPr>
        <p:txBody>
          <a:bodyPr lIns="91425" tIns="91425" rIns="91425" bIns="91425" anchor="t" anchorCtr="0">
            <a:noAutofit/>
          </a:bodyPr>
          <a:lstStyle/>
          <a:p>
            <a:pPr lvl="0" algn="ctr">
              <a:lnSpc>
                <a:spcPct val="150000"/>
              </a:lnSpc>
            </a:pPr>
            <a:endParaRPr lang="en-US" sz="1600" b="1" dirty="0"/>
          </a:p>
          <a:p>
            <a:pPr lvl="0" algn="ctr">
              <a:lnSpc>
                <a:spcPct val="150000"/>
              </a:lnSpc>
            </a:pPr>
            <a:r>
              <a:rPr lang="en-US" sz="1600" b="1" dirty="0" err="1" smtClean="0">
                <a:solidFill>
                  <a:srgbClr val="C00000"/>
                </a:solidFill>
              </a:rPr>
              <a:t>Efektif</a:t>
            </a:r>
            <a:r>
              <a:rPr lang="en-US" sz="1600" b="1" dirty="0" smtClean="0">
                <a:solidFill>
                  <a:srgbClr val="C00000"/>
                </a:solidFill>
              </a:rPr>
              <a:t> </a:t>
            </a:r>
            <a:r>
              <a:rPr lang="en-US" sz="1600" b="1" dirty="0" smtClean="0"/>
              <a:t>				</a:t>
            </a:r>
            <a:r>
              <a:rPr lang="en-US" sz="1600" b="1" dirty="0" err="1" smtClean="0">
                <a:solidFill>
                  <a:srgbClr val="00B050"/>
                </a:solidFill>
              </a:rPr>
              <a:t>Efisien</a:t>
            </a:r>
            <a:endParaRPr lang="en-US" sz="1600" b="1" dirty="0" smtClean="0">
              <a:solidFill>
                <a:srgbClr val="00B050"/>
              </a:solidFill>
            </a:endParaRPr>
          </a:p>
          <a:p>
            <a:pPr lvl="0" algn="ctr">
              <a:lnSpc>
                <a:spcPct val="150000"/>
              </a:lnSpc>
            </a:pPr>
            <a:endParaRPr lang="en-US" sz="1600" b="1" dirty="0" smtClean="0"/>
          </a:p>
          <a:p>
            <a:pPr lvl="0" algn="ctr">
              <a:lnSpc>
                <a:spcPct val="150000"/>
              </a:lnSpc>
            </a:pPr>
            <a:r>
              <a:rPr lang="en-US" sz="1600" b="1" dirty="0" err="1" smtClean="0">
                <a:solidFill>
                  <a:srgbClr val="0070C0"/>
                </a:solidFill>
              </a:rPr>
              <a:t>Inovasi</a:t>
            </a:r>
            <a:r>
              <a:rPr lang="en-US" sz="1600" b="1" dirty="0" smtClean="0"/>
              <a:t>			</a:t>
            </a:r>
            <a:r>
              <a:rPr lang="en-US" sz="1600" b="1" dirty="0" err="1" smtClean="0">
                <a:solidFill>
                  <a:srgbClr val="002060"/>
                </a:solidFill>
              </a:rPr>
              <a:t>Orientasi</a:t>
            </a:r>
            <a:r>
              <a:rPr lang="en-US" sz="1600" b="1" dirty="0" smtClean="0">
                <a:solidFill>
                  <a:srgbClr val="002060"/>
                </a:solidFill>
              </a:rPr>
              <a:t> </a:t>
            </a:r>
            <a:r>
              <a:rPr lang="en-US" sz="1600" b="1" dirty="0" err="1" smtClean="0">
                <a:solidFill>
                  <a:srgbClr val="002060"/>
                </a:solidFill>
              </a:rPr>
              <a:t>Mutu</a:t>
            </a:r>
            <a:endParaRPr lang="en" sz="1600" b="1" dirty="0">
              <a:solidFill>
                <a:srgbClr val="002060"/>
              </a:solidFill>
            </a:endParaRPr>
          </a:p>
        </p:txBody>
      </p:sp>
      <p:sp>
        <p:nvSpPr>
          <p:cNvPr id="97" name="Shape 97"/>
          <p:cNvSpPr txBox="1"/>
          <p:nvPr/>
        </p:nvSpPr>
        <p:spPr>
          <a:xfrm>
            <a:off x="1133975" y="2291150"/>
            <a:ext cx="543899" cy="562199"/>
          </a:xfrm>
          <a:prstGeom prst="rect">
            <a:avLst/>
          </a:prstGeom>
          <a:noFill/>
          <a:ln>
            <a:noFill/>
          </a:ln>
        </p:spPr>
        <p:txBody>
          <a:bodyPr lIns="91425" tIns="91425" rIns="91425" bIns="91425" anchor="ctr" anchorCtr="0">
            <a:noAutofit/>
          </a:bodyPr>
          <a:lstStyle/>
          <a:p>
            <a:pPr algn="ctr">
              <a:spcBef>
                <a:spcPts val="0"/>
              </a:spcBef>
              <a:buNone/>
            </a:pPr>
            <a:r>
              <a:rPr lang="en" sz="2400" dirty="0">
                <a:solidFill>
                  <a:schemeClr val="dk1"/>
                </a:solidFill>
                <a:latin typeface="Lora"/>
                <a:ea typeface="Lora"/>
                <a:cs typeface="Lora"/>
                <a:sym typeface="Lora"/>
              </a:rPr>
              <a:t>4</a:t>
            </a:r>
          </a:p>
        </p:txBody>
      </p:sp>
    </p:spTree>
    <p:extLst>
      <p:ext uri="{BB962C8B-B14F-4D97-AF65-F5344CB8AC3E}">
        <p14:creationId xmlns:p14="http://schemas.microsoft.com/office/powerpoint/2010/main" val="1586054301"/>
      </p:ext>
    </p:extLst>
  </p:cSld>
  <p:clrMapOvr>
    <a:masterClrMapping/>
  </p:clrMapOvr>
  <p:transition spd="slow">
    <p:cu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0" y="924720"/>
            <a:ext cx="3804899" cy="435599"/>
          </a:xfrm>
          <a:prstGeom prst="rect">
            <a:avLst/>
          </a:prstGeom>
        </p:spPr>
        <p:txBody>
          <a:bodyPr lIns="91425" tIns="91425" rIns="91425" bIns="91425" anchor="ctr" anchorCtr="0">
            <a:noAutofit/>
          </a:bodyPr>
          <a:lstStyle/>
          <a:p>
            <a:r>
              <a:rPr lang="en-US" dirty="0" err="1" smtClean="0">
                <a:solidFill>
                  <a:srgbClr val="C00000"/>
                </a:solidFill>
              </a:rPr>
              <a:t>Efektif</a:t>
            </a:r>
            <a:endParaRPr lang="id-ID" dirty="0">
              <a:solidFill>
                <a:srgbClr val="C00000"/>
              </a:solidFill>
            </a:endParaRPr>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sz="2000" dirty="0" err="1" smtClean="0"/>
              <a:t>Contoh</a:t>
            </a:r>
            <a:r>
              <a:rPr lang="en-US" sz="2000" dirty="0" smtClean="0"/>
              <a:t> </a:t>
            </a:r>
            <a:r>
              <a:rPr lang="en-US" sz="2000" dirty="0" err="1" smtClean="0"/>
              <a:t>Penerapannya</a:t>
            </a:r>
            <a:r>
              <a:rPr lang="en-US" sz="2000" dirty="0" smtClean="0"/>
              <a:t>:</a:t>
            </a:r>
            <a:endParaRPr lang="id-ID" sz="2000"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099333"/>
            <a:ext cx="7153202" cy="78479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smtClean="0"/>
              <a:t>Saya</a:t>
            </a:r>
            <a:r>
              <a:rPr lang="en-US" sz="1400" dirty="0" smtClean="0"/>
              <a:t> </a:t>
            </a:r>
            <a:r>
              <a:rPr lang="en-US" sz="1400" dirty="0" err="1" smtClean="0"/>
              <a:t>telah</a:t>
            </a:r>
            <a:r>
              <a:rPr lang="en-US" sz="1400" dirty="0" smtClean="0"/>
              <a:t> </a:t>
            </a:r>
            <a:r>
              <a:rPr lang="en-US" sz="1400" b="1" dirty="0" err="1" smtClean="0"/>
              <a:t>efektif</a:t>
            </a:r>
            <a:r>
              <a:rPr lang="en-US" sz="1400" b="1" dirty="0" smtClean="0"/>
              <a:t> </a:t>
            </a:r>
            <a:r>
              <a:rPr lang="en-US" sz="1400" dirty="0" err="1" smtClean="0"/>
              <a:t>dalam</a:t>
            </a:r>
            <a:r>
              <a:rPr lang="en-US" sz="1400" dirty="0" smtClean="0"/>
              <a:t> </a:t>
            </a:r>
            <a:r>
              <a:rPr lang="en-US" sz="1400" dirty="0" err="1" smtClean="0"/>
              <a:t>melaksanakan</a:t>
            </a:r>
            <a:r>
              <a:rPr lang="en-US" sz="1400" dirty="0" smtClean="0"/>
              <a:t> </a:t>
            </a:r>
            <a:r>
              <a:rPr lang="en-US" sz="1400" dirty="0" err="1" smtClean="0"/>
              <a:t>kegiatan</a:t>
            </a:r>
            <a:r>
              <a:rPr lang="en-US" sz="1400" dirty="0" smtClean="0"/>
              <a:t> </a:t>
            </a:r>
            <a:r>
              <a:rPr lang="en-US" sz="1400" dirty="0" err="1" smtClean="0"/>
              <a:t>instalasi</a:t>
            </a:r>
            <a:r>
              <a:rPr lang="en-US" sz="1400" dirty="0" smtClean="0"/>
              <a:t> program PST </a:t>
            </a:r>
            <a:r>
              <a:rPr lang="en-US" sz="1400" dirty="0" err="1" smtClean="0"/>
              <a:t>dengan</a:t>
            </a:r>
            <a:r>
              <a:rPr lang="en-US" sz="1400" dirty="0" smtClean="0"/>
              <a:t> </a:t>
            </a:r>
            <a:r>
              <a:rPr lang="en-US" sz="1400" dirty="0" err="1" smtClean="0"/>
              <a:t>cara</a:t>
            </a:r>
            <a:r>
              <a:rPr lang="en-US" sz="1400" dirty="0" smtClean="0"/>
              <a:t> </a:t>
            </a:r>
            <a:r>
              <a:rPr lang="en-US" sz="1400" dirty="0" err="1" smtClean="0"/>
              <a:t>membaca</a:t>
            </a:r>
            <a:r>
              <a:rPr lang="en-US" sz="1400" dirty="0" smtClean="0"/>
              <a:t> </a:t>
            </a:r>
            <a:r>
              <a:rPr lang="en-US" sz="1400" dirty="0" err="1" smtClean="0"/>
              <a:t>buku</a:t>
            </a:r>
            <a:r>
              <a:rPr lang="en-US" sz="1400" dirty="0" smtClean="0"/>
              <a:t> </a:t>
            </a:r>
            <a:r>
              <a:rPr lang="en-US" sz="1400" dirty="0" err="1" smtClean="0"/>
              <a:t>panduan</a:t>
            </a:r>
            <a:r>
              <a:rPr lang="en-US" sz="1400" dirty="0" smtClean="0"/>
              <a:t> </a:t>
            </a:r>
            <a:r>
              <a:rPr lang="en-US" sz="1400" dirty="0" err="1" smtClean="0"/>
              <a:t>instalasi</a:t>
            </a:r>
            <a:r>
              <a:rPr lang="en-US" sz="1400" dirty="0" smtClean="0"/>
              <a:t> </a:t>
            </a:r>
            <a:r>
              <a:rPr lang="en-US" sz="1400" dirty="0" err="1" smtClean="0"/>
              <a:t>terlebih</a:t>
            </a:r>
            <a:r>
              <a:rPr lang="en-US" sz="1400" dirty="0" smtClean="0"/>
              <a:t> </a:t>
            </a:r>
            <a:r>
              <a:rPr lang="en-US" sz="1400" dirty="0" err="1" smtClean="0"/>
              <a:t>dahulu</a:t>
            </a:r>
            <a:r>
              <a:rPr lang="en-US" sz="1400" dirty="0" smtClean="0"/>
              <a:t> (</a:t>
            </a:r>
            <a:r>
              <a:rPr lang="en-US" sz="1400" b="1" dirty="0" err="1" smtClean="0"/>
              <a:t>komitmen</a:t>
            </a:r>
            <a:r>
              <a:rPr lang="en-US" sz="1400" dirty="0" smtClean="0"/>
              <a:t> </a:t>
            </a:r>
            <a:r>
              <a:rPr lang="en-US" sz="1400" b="1" dirty="0" err="1" smtClean="0"/>
              <a:t>mutu</a:t>
            </a:r>
            <a:r>
              <a:rPr lang="en-US" sz="1400" dirty="0" smtClean="0"/>
              <a:t>).</a:t>
            </a:r>
            <a:endParaRPr lang="en" sz="1400" dirty="0"/>
          </a:p>
        </p:txBody>
      </p:sp>
      <p:sp>
        <p:nvSpPr>
          <p:cNvPr id="11" name="Shape 108"/>
          <p:cNvSpPr txBox="1">
            <a:spLocks/>
          </p:cNvSpPr>
          <p:nvPr/>
        </p:nvSpPr>
        <p:spPr>
          <a:xfrm>
            <a:off x="107824" y="2884132"/>
            <a:ext cx="58836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sz="2000" dirty="0" err="1" smtClean="0"/>
              <a:t>Jika</a:t>
            </a:r>
            <a:r>
              <a:rPr lang="en-US" sz="2000" dirty="0" smtClean="0"/>
              <a:t> </a:t>
            </a:r>
            <a:r>
              <a:rPr lang="en-US" sz="2000" dirty="0" err="1" smtClean="0"/>
              <a:t>Nilai</a:t>
            </a:r>
            <a:r>
              <a:rPr lang="en-US" sz="2000" dirty="0" smtClean="0"/>
              <a:t> </a:t>
            </a:r>
            <a:r>
              <a:rPr lang="en-US" sz="2000" dirty="0" err="1" smtClean="0"/>
              <a:t>Tidak</a:t>
            </a:r>
            <a:r>
              <a:rPr lang="en-US" sz="2000" dirty="0" smtClean="0"/>
              <a:t> </a:t>
            </a:r>
            <a:r>
              <a:rPr lang="en-US" sz="2000" dirty="0" err="1" smtClean="0"/>
              <a:t>Diterapkan</a:t>
            </a:r>
            <a:r>
              <a:rPr lang="en-US" sz="2000" dirty="0" smtClean="0"/>
              <a:t>:</a:t>
            </a:r>
            <a:endParaRPr lang="id-ID" sz="2000" dirty="0"/>
          </a:p>
        </p:txBody>
      </p:sp>
      <p:sp>
        <p:nvSpPr>
          <p:cNvPr id="12" name="Shape 96"/>
          <p:cNvSpPr txBox="1">
            <a:spLocks/>
          </p:cNvSpPr>
          <p:nvPr/>
        </p:nvSpPr>
        <p:spPr>
          <a:xfrm>
            <a:off x="1024282" y="3533366"/>
            <a:ext cx="7153202" cy="1011338"/>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buNone/>
            </a:pPr>
            <a:r>
              <a:rPr lang="en-US" sz="1400" dirty="0" err="1"/>
              <a:t>Sebagai</a:t>
            </a:r>
            <a:r>
              <a:rPr lang="en-US" sz="1400" dirty="0"/>
              <a:t> </a:t>
            </a:r>
            <a:r>
              <a:rPr lang="en-US" sz="1400" dirty="0" err="1"/>
              <a:t>contoh</a:t>
            </a:r>
            <a:r>
              <a:rPr lang="en-US" sz="1400" dirty="0"/>
              <a:t>, </a:t>
            </a:r>
            <a:r>
              <a:rPr lang="en-US" sz="1400" dirty="0" err="1"/>
              <a:t>dalam</a:t>
            </a:r>
            <a:r>
              <a:rPr lang="en-US" sz="1400" dirty="0"/>
              <a:t> </a:t>
            </a:r>
            <a:r>
              <a:rPr lang="en-US" sz="1400" dirty="0" err="1"/>
              <a:t>melakukan</a:t>
            </a:r>
            <a:r>
              <a:rPr lang="en-US" sz="1400" dirty="0"/>
              <a:t> </a:t>
            </a:r>
            <a:r>
              <a:rPr lang="en-US" sz="1400" dirty="0" err="1"/>
              <a:t>instalasi</a:t>
            </a:r>
            <a:r>
              <a:rPr lang="en-US" sz="1400" dirty="0"/>
              <a:t> program PST, </a:t>
            </a:r>
            <a:r>
              <a:rPr lang="en-US" sz="1400" dirty="0" err="1"/>
              <a:t>jika</a:t>
            </a:r>
            <a:r>
              <a:rPr lang="en-US" sz="1400" dirty="0"/>
              <a:t> </a:t>
            </a:r>
            <a:r>
              <a:rPr lang="en-US" sz="1400" dirty="0" err="1"/>
              <a:t>saya</a:t>
            </a:r>
            <a:r>
              <a:rPr lang="en-US" sz="1400" dirty="0"/>
              <a:t> </a:t>
            </a:r>
            <a:r>
              <a:rPr lang="en-US" sz="1400" dirty="0" err="1"/>
              <a:t>tidak</a:t>
            </a:r>
            <a:r>
              <a:rPr lang="en-US" sz="1400" dirty="0"/>
              <a:t> </a:t>
            </a:r>
            <a:r>
              <a:rPr lang="en-US" sz="1400" dirty="0" err="1"/>
              <a:t>membaca</a:t>
            </a:r>
            <a:r>
              <a:rPr lang="en-US" sz="1400" dirty="0"/>
              <a:t> </a:t>
            </a:r>
            <a:r>
              <a:rPr lang="en-US" sz="1400" dirty="0" err="1"/>
              <a:t>pedoman</a:t>
            </a:r>
            <a:r>
              <a:rPr lang="en-US" sz="1400" dirty="0"/>
              <a:t> </a:t>
            </a:r>
            <a:r>
              <a:rPr lang="en-US" sz="1400" dirty="0" err="1"/>
              <a:t>instalasi</a:t>
            </a:r>
            <a:r>
              <a:rPr lang="en-US" sz="1400" dirty="0"/>
              <a:t> </a:t>
            </a:r>
            <a:r>
              <a:rPr lang="en-US" sz="1400" dirty="0" err="1"/>
              <a:t>terlebih</a:t>
            </a:r>
            <a:r>
              <a:rPr lang="en-US" sz="1400" dirty="0"/>
              <a:t> </a:t>
            </a:r>
            <a:r>
              <a:rPr lang="en-US" sz="1400" dirty="0" err="1"/>
              <a:t>dahulu</a:t>
            </a:r>
            <a:r>
              <a:rPr lang="en-US" sz="1400" dirty="0"/>
              <a:t> </a:t>
            </a:r>
            <a:r>
              <a:rPr lang="en-US" sz="1400" dirty="0" err="1"/>
              <a:t>maka</a:t>
            </a:r>
            <a:r>
              <a:rPr lang="en-US" sz="1400" dirty="0"/>
              <a:t> </a:t>
            </a:r>
            <a:r>
              <a:rPr lang="en-US" sz="1400" dirty="0" err="1"/>
              <a:t>akan</a:t>
            </a:r>
            <a:r>
              <a:rPr lang="en-US" sz="1400" dirty="0"/>
              <a:t> </a:t>
            </a:r>
            <a:r>
              <a:rPr lang="en-US" sz="1400" dirty="0" err="1"/>
              <a:t>terjadi</a:t>
            </a:r>
            <a:r>
              <a:rPr lang="en-US" sz="1400" dirty="0"/>
              <a:t> </a:t>
            </a:r>
            <a:r>
              <a:rPr lang="en-US" sz="1400" dirty="0" err="1"/>
              <a:t>masalah</a:t>
            </a:r>
            <a:r>
              <a:rPr lang="en-US" sz="1400" dirty="0"/>
              <a:t> </a:t>
            </a:r>
            <a:r>
              <a:rPr lang="en-US" sz="1400" dirty="0" err="1"/>
              <a:t>dalam</a:t>
            </a:r>
            <a:r>
              <a:rPr lang="en-US" sz="1400" dirty="0"/>
              <a:t> proses </a:t>
            </a:r>
            <a:r>
              <a:rPr lang="en-US" sz="1400" dirty="0" err="1"/>
              <a:t>instalasi</a:t>
            </a:r>
            <a:r>
              <a:rPr lang="en-US" sz="1400" dirty="0"/>
              <a:t> </a:t>
            </a:r>
            <a:r>
              <a:rPr lang="en-US" sz="1400" dirty="0" err="1"/>
              <a:t>sehingga</a:t>
            </a:r>
            <a:r>
              <a:rPr lang="en-US" sz="1400" dirty="0"/>
              <a:t> </a:t>
            </a:r>
            <a:r>
              <a:rPr lang="en-US" sz="1400" dirty="0" err="1"/>
              <a:t>membuang</a:t>
            </a:r>
            <a:r>
              <a:rPr lang="en-US" sz="1400" dirty="0"/>
              <a:t> </a:t>
            </a:r>
            <a:r>
              <a:rPr lang="en-US" sz="1400" dirty="0" err="1"/>
              <a:t>banyak</a:t>
            </a:r>
            <a:r>
              <a:rPr lang="en-US" sz="1400" dirty="0"/>
              <a:t> </a:t>
            </a:r>
            <a:r>
              <a:rPr lang="en-US" sz="1400" dirty="0" err="1"/>
              <a:t>waktu</a:t>
            </a:r>
            <a:r>
              <a:rPr lang="en-US" sz="1400" dirty="0"/>
              <a:t> </a:t>
            </a:r>
            <a:r>
              <a:rPr lang="en-US" sz="1400" dirty="0" err="1"/>
              <a:t>dan</a:t>
            </a:r>
            <a:r>
              <a:rPr lang="en-US" sz="1400" dirty="0"/>
              <a:t> </a:t>
            </a:r>
            <a:r>
              <a:rPr lang="en-US" sz="1400" dirty="0" err="1"/>
              <a:t>tenaga</a:t>
            </a:r>
            <a:r>
              <a:rPr lang="en-US" sz="1400" dirty="0"/>
              <a:t>. </a:t>
            </a:r>
            <a:endParaRPr lang="id-ID" sz="1400" dirty="0"/>
          </a:p>
        </p:txBody>
      </p:sp>
    </p:spTree>
    <p:extLst>
      <p:ext uri="{BB962C8B-B14F-4D97-AF65-F5344CB8AC3E}">
        <p14:creationId xmlns:p14="http://schemas.microsoft.com/office/powerpoint/2010/main" val="539468345"/>
      </p:ext>
    </p:extLst>
  </p:cSld>
  <p:clrMapOvr>
    <a:masterClrMapping/>
  </p:clrMapOvr>
  <p:transition spd="slow">
    <p:cu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0" y="924720"/>
            <a:ext cx="3804899" cy="435599"/>
          </a:xfrm>
          <a:prstGeom prst="rect">
            <a:avLst/>
          </a:prstGeom>
        </p:spPr>
        <p:txBody>
          <a:bodyPr lIns="91425" tIns="91425" rIns="91425" bIns="91425" anchor="ctr" anchorCtr="0">
            <a:noAutofit/>
          </a:bodyPr>
          <a:lstStyle/>
          <a:p>
            <a:r>
              <a:rPr lang="en-US" dirty="0" err="1" smtClean="0">
                <a:solidFill>
                  <a:srgbClr val="00B050"/>
                </a:solidFill>
              </a:rPr>
              <a:t>Efisien</a:t>
            </a:r>
            <a:endParaRPr lang="id-ID" dirty="0">
              <a:solidFill>
                <a:srgbClr val="00B050"/>
              </a:solidFill>
            </a:endParaRPr>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sz="2000" dirty="0" err="1" smtClean="0"/>
              <a:t>Contoh</a:t>
            </a:r>
            <a:r>
              <a:rPr lang="en-US" sz="2000" dirty="0" smtClean="0"/>
              <a:t> </a:t>
            </a:r>
            <a:r>
              <a:rPr lang="en-US" sz="2000" dirty="0" err="1" smtClean="0"/>
              <a:t>Penerapannya</a:t>
            </a:r>
            <a:r>
              <a:rPr lang="en-US" sz="2000" dirty="0" smtClean="0"/>
              <a:t>:</a:t>
            </a:r>
            <a:endParaRPr lang="id-ID" sz="2000"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099333"/>
            <a:ext cx="7153202" cy="78479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smtClean="0"/>
              <a:t>Saya</a:t>
            </a:r>
            <a:r>
              <a:rPr lang="en-US" sz="1400" dirty="0" smtClean="0"/>
              <a:t> </a:t>
            </a:r>
            <a:r>
              <a:rPr lang="en-US" sz="1400" dirty="0" err="1" smtClean="0"/>
              <a:t>telah</a:t>
            </a:r>
            <a:r>
              <a:rPr lang="en-US" sz="1400" dirty="0" smtClean="0"/>
              <a:t> </a:t>
            </a:r>
            <a:r>
              <a:rPr lang="en-US" sz="1400" b="1" dirty="0" err="1" smtClean="0"/>
              <a:t>efisien</a:t>
            </a:r>
            <a:r>
              <a:rPr lang="en-US" sz="1400" b="1" dirty="0" smtClean="0"/>
              <a:t> </a:t>
            </a:r>
            <a:r>
              <a:rPr lang="en-US" sz="1400" dirty="0" err="1" smtClean="0"/>
              <a:t>dalam</a:t>
            </a:r>
            <a:r>
              <a:rPr lang="en-US" sz="1400" dirty="0" smtClean="0"/>
              <a:t> </a:t>
            </a:r>
            <a:r>
              <a:rPr lang="en-US" sz="1400" dirty="0" err="1" smtClean="0"/>
              <a:t>melaksanakan</a:t>
            </a:r>
            <a:r>
              <a:rPr lang="en-US" sz="1400" dirty="0" smtClean="0"/>
              <a:t> </a:t>
            </a:r>
            <a:r>
              <a:rPr lang="en-US" sz="1400" dirty="0" err="1" smtClean="0"/>
              <a:t>kegiatan</a:t>
            </a:r>
            <a:r>
              <a:rPr lang="en-US" sz="1400" dirty="0" smtClean="0"/>
              <a:t> </a:t>
            </a:r>
            <a:r>
              <a:rPr lang="en-US" sz="1400" i="1" dirty="0" smtClean="0"/>
              <a:t>scanning</a:t>
            </a:r>
            <a:r>
              <a:rPr lang="en-US" sz="1400" dirty="0" smtClean="0"/>
              <a:t> </a:t>
            </a:r>
            <a:r>
              <a:rPr lang="en-US" sz="1400" dirty="0" err="1" smtClean="0"/>
              <a:t>Peta</a:t>
            </a:r>
            <a:r>
              <a:rPr lang="en-US" sz="1400" dirty="0" smtClean="0"/>
              <a:t> WB SE 21016 </a:t>
            </a:r>
            <a:r>
              <a:rPr lang="en-US" sz="1400" dirty="0" err="1" smtClean="0"/>
              <a:t>dengan</a:t>
            </a:r>
            <a:r>
              <a:rPr lang="en-US" sz="1400" dirty="0" smtClean="0"/>
              <a:t> </a:t>
            </a:r>
            <a:r>
              <a:rPr lang="en-US" sz="1400" dirty="0" err="1" smtClean="0"/>
              <a:t>cara</a:t>
            </a:r>
            <a:r>
              <a:rPr lang="en-US" sz="1400" dirty="0" smtClean="0"/>
              <a:t> </a:t>
            </a:r>
            <a:r>
              <a:rPr lang="en-US" sz="1400" dirty="0" err="1" smtClean="0"/>
              <a:t>merapikan</a:t>
            </a:r>
            <a:r>
              <a:rPr lang="en-US" sz="1400" dirty="0" smtClean="0"/>
              <a:t> </a:t>
            </a:r>
            <a:r>
              <a:rPr lang="en-US" sz="1400" dirty="0" err="1" smtClean="0"/>
              <a:t>meja</a:t>
            </a:r>
            <a:r>
              <a:rPr lang="en-US" sz="1400" dirty="0" smtClean="0"/>
              <a:t> </a:t>
            </a:r>
            <a:r>
              <a:rPr lang="en-US" sz="1400" dirty="0" err="1" smtClean="0"/>
              <a:t>kerja</a:t>
            </a:r>
            <a:r>
              <a:rPr lang="en-US" sz="1400" dirty="0" smtClean="0"/>
              <a:t> </a:t>
            </a:r>
            <a:r>
              <a:rPr lang="en-US" sz="1400" dirty="0" err="1" smtClean="0"/>
              <a:t>terlebih</a:t>
            </a:r>
            <a:r>
              <a:rPr lang="en-US" sz="1400" dirty="0" smtClean="0"/>
              <a:t> </a:t>
            </a:r>
            <a:r>
              <a:rPr lang="en-US" sz="1400" dirty="0" err="1" smtClean="0"/>
              <a:t>dahulu</a:t>
            </a:r>
            <a:r>
              <a:rPr lang="en-US" sz="1400" dirty="0" smtClean="0"/>
              <a:t> (</a:t>
            </a:r>
            <a:r>
              <a:rPr lang="en-US" sz="1400" b="1" dirty="0" err="1" smtClean="0"/>
              <a:t>komitmen</a:t>
            </a:r>
            <a:r>
              <a:rPr lang="en-US" sz="1400" dirty="0" smtClean="0"/>
              <a:t> </a:t>
            </a:r>
            <a:r>
              <a:rPr lang="en-US" sz="1400" b="1" dirty="0" err="1" smtClean="0"/>
              <a:t>mutu</a:t>
            </a:r>
            <a:r>
              <a:rPr lang="en-US" sz="1400" dirty="0" smtClean="0"/>
              <a:t>).</a:t>
            </a:r>
            <a:endParaRPr lang="en" sz="1400" dirty="0"/>
          </a:p>
        </p:txBody>
      </p:sp>
      <p:sp>
        <p:nvSpPr>
          <p:cNvPr id="11" name="Shape 108"/>
          <p:cNvSpPr txBox="1">
            <a:spLocks/>
          </p:cNvSpPr>
          <p:nvPr/>
        </p:nvSpPr>
        <p:spPr>
          <a:xfrm>
            <a:off x="107824" y="2884132"/>
            <a:ext cx="58836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sz="2000" dirty="0" err="1" smtClean="0"/>
              <a:t>Jika</a:t>
            </a:r>
            <a:r>
              <a:rPr lang="en-US" sz="2000" dirty="0" smtClean="0"/>
              <a:t> </a:t>
            </a:r>
            <a:r>
              <a:rPr lang="en-US" sz="2000" dirty="0" err="1" smtClean="0"/>
              <a:t>Nilai</a:t>
            </a:r>
            <a:r>
              <a:rPr lang="en-US" sz="2000" dirty="0" smtClean="0"/>
              <a:t> </a:t>
            </a:r>
            <a:r>
              <a:rPr lang="en-US" sz="2000" dirty="0" err="1" smtClean="0"/>
              <a:t>Tidak</a:t>
            </a:r>
            <a:r>
              <a:rPr lang="en-US" sz="2000" dirty="0" smtClean="0"/>
              <a:t> </a:t>
            </a:r>
            <a:r>
              <a:rPr lang="en-US" sz="2000" dirty="0" err="1" smtClean="0"/>
              <a:t>Diterapkan</a:t>
            </a:r>
            <a:r>
              <a:rPr lang="en-US" sz="2000" dirty="0" smtClean="0"/>
              <a:t>:</a:t>
            </a:r>
            <a:endParaRPr lang="id-ID" sz="2000" dirty="0"/>
          </a:p>
        </p:txBody>
      </p:sp>
      <p:sp>
        <p:nvSpPr>
          <p:cNvPr id="12" name="Shape 96"/>
          <p:cNvSpPr txBox="1">
            <a:spLocks/>
          </p:cNvSpPr>
          <p:nvPr/>
        </p:nvSpPr>
        <p:spPr>
          <a:xfrm>
            <a:off x="1024282" y="3533366"/>
            <a:ext cx="7153202" cy="1011338"/>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buNone/>
            </a:pPr>
            <a:r>
              <a:rPr lang="en-US" sz="1400" dirty="0" err="1"/>
              <a:t>Sebagai</a:t>
            </a:r>
            <a:r>
              <a:rPr lang="en-US" sz="1400" dirty="0"/>
              <a:t> </a:t>
            </a:r>
            <a:r>
              <a:rPr lang="en-US" sz="1400" dirty="0" err="1"/>
              <a:t>contoh</a:t>
            </a:r>
            <a:r>
              <a:rPr lang="en-US" sz="1400" dirty="0"/>
              <a:t> </a:t>
            </a:r>
            <a:r>
              <a:rPr lang="en-US" sz="1400" dirty="0" err="1"/>
              <a:t>dalam</a:t>
            </a:r>
            <a:r>
              <a:rPr lang="en-US" sz="1400" dirty="0"/>
              <a:t> </a:t>
            </a:r>
            <a:r>
              <a:rPr lang="en-US" sz="1400" dirty="0" err="1"/>
              <a:t>kegiatan</a:t>
            </a:r>
            <a:r>
              <a:rPr lang="en-US" sz="1400" dirty="0"/>
              <a:t> </a:t>
            </a:r>
            <a:r>
              <a:rPr lang="en-US" sz="1400" dirty="0" err="1"/>
              <a:t>dalam</a:t>
            </a:r>
            <a:r>
              <a:rPr lang="en-US" sz="1400" dirty="0"/>
              <a:t> </a:t>
            </a:r>
            <a:r>
              <a:rPr lang="en-US" sz="1400" dirty="0" err="1"/>
              <a:t>melaksanakan</a:t>
            </a:r>
            <a:r>
              <a:rPr lang="en-US" sz="1400" dirty="0"/>
              <a:t> </a:t>
            </a:r>
            <a:r>
              <a:rPr lang="en-US" sz="1400" dirty="0" err="1"/>
              <a:t>kegiatan</a:t>
            </a:r>
            <a:r>
              <a:rPr lang="en-US" sz="1400" dirty="0"/>
              <a:t> scanning </a:t>
            </a:r>
            <a:r>
              <a:rPr lang="en-US" sz="1400" dirty="0" err="1"/>
              <a:t>peta</a:t>
            </a:r>
            <a:r>
              <a:rPr lang="en-US" sz="1400" dirty="0"/>
              <a:t> SE 2016. </a:t>
            </a:r>
            <a:r>
              <a:rPr lang="en-US" sz="1400" dirty="0" err="1"/>
              <a:t>Jika</a:t>
            </a:r>
            <a:r>
              <a:rPr lang="en-US" sz="1400" dirty="0"/>
              <a:t> </a:t>
            </a:r>
            <a:r>
              <a:rPr lang="en-US" sz="1400" dirty="0" err="1"/>
              <a:t>saya</a:t>
            </a:r>
            <a:r>
              <a:rPr lang="en-US" sz="1400" dirty="0"/>
              <a:t> </a:t>
            </a:r>
            <a:r>
              <a:rPr lang="en-US" sz="1400" dirty="0" err="1"/>
              <a:t>tidak</a:t>
            </a:r>
            <a:r>
              <a:rPr lang="en-US" sz="1400" dirty="0"/>
              <a:t> </a:t>
            </a:r>
            <a:r>
              <a:rPr lang="en-US" sz="1400" dirty="0" err="1"/>
              <a:t>merapikan</a:t>
            </a:r>
            <a:r>
              <a:rPr lang="en-US" sz="1400" dirty="0"/>
              <a:t> </a:t>
            </a:r>
            <a:r>
              <a:rPr lang="en-US" sz="1400" dirty="0" err="1"/>
              <a:t>meja</a:t>
            </a:r>
            <a:r>
              <a:rPr lang="en-US" sz="1400" dirty="0"/>
              <a:t> </a:t>
            </a:r>
            <a:r>
              <a:rPr lang="en-US" sz="1400" dirty="0" err="1"/>
              <a:t>kerja</a:t>
            </a:r>
            <a:r>
              <a:rPr lang="en-US" sz="1400" dirty="0"/>
              <a:t> </a:t>
            </a:r>
            <a:r>
              <a:rPr lang="en-US" sz="1400" dirty="0" err="1"/>
              <a:t>terlebih</a:t>
            </a:r>
            <a:r>
              <a:rPr lang="en-US" sz="1400" dirty="0"/>
              <a:t> </a:t>
            </a:r>
            <a:r>
              <a:rPr lang="en-US" sz="1400" dirty="0" err="1"/>
              <a:t>dahulu</a:t>
            </a:r>
            <a:r>
              <a:rPr lang="en-US" sz="1400" dirty="0"/>
              <a:t> </a:t>
            </a:r>
            <a:r>
              <a:rPr lang="en-US" sz="1400" dirty="0" err="1"/>
              <a:t>maka</a:t>
            </a:r>
            <a:r>
              <a:rPr lang="en-US" sz="1400" dirty="0"/>
              <a:t> </a:t>
            </a:r>
            <a:r>
              <a:rPr lang="en-US" sz="1400" dirty="0" err="1"/>
              <a:t>tentu</a:t>
            </a:r>
            <a:r>
              <a:rPr lang="en-US" sz="1400" dirty="0"/>
              <a:t> </a:t>
            </a:r>
            <a:r>
              <a:rPr lang="en-US" sz="1400" dirty="0" err="1"/>
              <a:t>akan</a:t>
            </a:r>
            <a:r>
              <a:rPr lang="en-US" sz="1400" dirty="0"/>
              <a:t> </a:t>
            </a:r>
            <a:r>
              <a:rPr lang="en-US" sz="1400" dirty="0" err="1"/>
              <a:t>berantakan</a:t>
            </a:r>
            <a:r>
              <a:rPr lang="en-US" sz="1400" dirty="0"/>
              <a:t> </a:t>
            </a:r>
            <a:r>
              <a:rPr lang="en-US" sz="1400" dirty="0" err="1"/>
              <a:t>oleh</a:t>
            </a:r>
            <a:r>
              <a:rPr lang="en-US" sz="1400" dirty="0"/>
              <a:t> </a:t>
            </a:r>
            <a:r>
              <a:rPr lang="en-US" sz="1400" dirty="0" err="1"/>
              <a:t>barang-barang</a:t>
            </a:r>
            <a:r>
              <a:rPr lang="en-US" sz="1400" dirty="0"/>
              <a:t> lain yang </a:t>
            </a:r>
            <a:r>
              <a:rPr lang="en-US" sz="1400" dirty="0" err="1"/>
              <a:t>tidak</a:t>
            </a:r>
            <a:r>
              <a:rPr lang="en-US" sz="1400" dirty="0"/>
              <a:t> </a:t>
            </a:r>
            <a:r>
              <a:rPr lang="en-US" sz="1400" dirty="0" err="1"/>
              <a:t>berhubungan</a:t>
            </a:r>
            <a:r>
              <a:rPr lang="en-US" sz="1400" dirty="0"/>
              <a:t> </a:t>
            </a:r>
            <a:r>
              <a:rPr lang="en-US" sz="1400" dirty="0" err="1"/>
              <a:t>dengan</a:t>
            </a:r>
            <a:r>
              <a:rPr lang="en-US" sz="1400" dirty="0"/>
              <a:t> </a:t>
            </a:r>
            <a:r>
              <a:rPr lang="en-US" sz="1400" dirty="0" err="1"/>
              <a:t>peta</a:t>
            </a:r>
            <a:r>
              <a:rPr lang="en-US" sz="1400" dirty="0"/>
              <a:t> </a:t>
            </a:r>
            <a:r>
              <a:rPr lang="en-US" sz="1400" dirty="0" err="1"/>
              <a:t>ditambah</a:t>
            </a:r>
            <a:r>
              <a:rPr lang="en-US" sz="1400" dirty="0"/>
              <a:t> </a:t>
            </a:r>
            <a:r>
              <a:rPr lang="en-US" sz="1400" dirty="0" err="1"/>
              <a:t>lagi</a:t>
            </a:r>
            <a:r>
              <a:rPr lang="en-US" sz="1400" dirty="0"/>
              <a:t> </a:t>
            </a:r>
            <a:r>
              <a:rPr lang="en-US" sz="1400" dirty="0" err="1"/>
              <a:t>jumlah</a:t>
            </a:r>
            <a:r>
              <a:rPr lang="en-US" sz="1400" dirty="0"/>
              <a:t> </a:t>
            </a:r>
            <a:r>
              <a:rPr lang="en-US" sz="1400" dirty="0" err="1"/>
              <a:t>peta</a:t>
            </a:r>
            <a:r>
              <a:rPr lang="en-US" sz="1400" dirty="0"/>
              <a:t> yang </a:t>
            </a:r>
            <a:r>
              <a:rPr lang="en-US" sz="1400" dirty="0" err="1"/>
              <a:t>cukup</a:t>
            </a:r>
            <a:r>
              <a:rPr lang="en-US" sz="1400" dirty="0"/>
              <a:t> </a:t>
            </a:r>
            <a:r>
              <a:rPr lang="en-US" sz="1400" dirty="0" err="1"/>
              <a:t>banyak</a:t>
            </a:r>
            <a:endParaRPr lang="id-ID" sz="1400" dirty="0"/>
          </a:p>
        </p:txBody>
      </p:sp>
    </p:spTree>
    <p:extLst>
      <p:ext uri="{BB962C8B-B14F-4D97-AF65-F5344CB8AC3E}">
        <p14:creationId xmlns:p14="http://schemas.microsoft.com/office/powerpoint/2010/main" val="2927059836"/>
      </p:ext>
    </p:extLst>
  </p:cSld>
  <p:clrMapOvr>
    <a:masterClrMapping/>
  </p:clrMapOvr>
  <p:transition spd="slow">
    <p:cu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0" y="924720"/>
            <a:ext cx="3804899" cy="435599"/>
          </a:xfrm>
          <a:prstGeom prst="rect">
            <a:avLst/>
          </a:prstGeom>
        </p:spPr>
        <p:txBody>
          <a:bodyPr lIns="91425" tIns="91425" rIns="91425" bIns="91425" anchor="ctr" anchorCtr="0">
            <a:noAutofit/>
          </a:bodyPr>
          <a:lstStyle/>
          <a:p>
            <a:r>
              <a:rPr lang="en-US" dirty="0" err="1" smtClean="0">
                <a:solidFill>
                  <a:srgbClr val="0070C0"/>
                </a:solidFill>
              </a:rPr>
              <a:t>Inovasi</a:t>
            </a:r>
            <a:endParaRPr lang="id-ID" dirty="0">
              <a:solidFill>
                <a:srgbClr val="0070C0"/>
              </a:solidFill>
            </a:endParaRPr>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sz="2000" dirty="0" err="1" smtClean="0"/>
              <a:t>Contoh</a:t>
            </a:r>
            <a:r>
              <a:rPr lang="en-US" sz="2000" dirty="0" smtClean="0"/>
              <a:t> </a:t>
            </a:r>
            <a:r>
              <a:rPr lang="en-US" sz="2000" dirty="0" err="1" smtClean="0"/>
              <a:t>Penerapannya</a:t>
            </a:r>
            <a:r>
              <a:rPr lang="en-US" sz="2000" dirty="0" smtClean="0"/>
              <a:t>:</a:t>
            </a:r>
            <a:endParaRPr lang="id-ID" sz="2000"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099333"/>
            <a:ext cx="7153202" cy="78479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smtClean="0"/>
              <a:t>Saya</a:t>
            </a:r>
            <a:r>
              <a:rPr lang="en-US" sz="1400" dirty="0" smtClean="0"/>
              <a:t> </a:t>
            </a:r>
            <a:r>
              <a:rPr lang="en-US" sz="1400" dirty="0" err="1" smtClean="0"/>
              <a:t>telah</a:t>
            </a:r>
            <a:r>
              <a:rPr lang="en-US" sz="1400" dirty="0" smtClean="0"/>
              <a:t> </a:t>
            </a:r>
            <a:r>
              <a:rPr lang="en-US" sz="1400" b="1" dirty="0" err="1" smtClean="0"/>
              <a:t>berinovasi</a:t>
            </a:r>
            <a:r>
              <a:rPr lang="en-US" sz="1400" b="1" dirty="0" smtClean="0"/>
              <a:t> </a:t>
            </a:r>
            <a:r>
              <a:rPr lang="en-US" sz="1400" dirty="0" err="1" smtClean="0"/>
              <a:t>dalam</a:t>
            </a:r>
            <a:r>
              <a:rPr lang="en-US" sz="1400" dirty="0" smtClean="0"/>
              <a:t> </a:t>
            </a:r>
            <a:r>
              <a:rPr lang="en-US" sz="1400" dirty="0" err="1" smtClean="0"/>
              <a:t>menyajikan</a:t>
            </a:r>
            <a:r>
              <a:rPr lang="en-US" sz="1400" dirty="0" smtClean="0"/>
              <a:t> data BPS </a:t>
            </a:r>
            <a:r>
              <a:rPr lang="en-US" sz="1400" dirty="0" err="1" smtClean="0"/>
              <a:t>dengan</a:t>
            </a:r>
            <a:r>
              <a:rPr lang="en-US" sz="1400" dirty="0" smtClean="0"/>
              <a:t> </a:t>
            </a:r>
            <a:r>
              <a:rPr lang="en-US" sz="1400" dirty="0" err="1" smtClean="0"/>
              <a:t>cara</a:t>
            </a:r>
            <a:r>
              <a:rPr lang="en-US" sz="1400" dirty="0" smtClean="0"/>
              <a:t> </a:t>
            </a:r>
            <a:r>
              <a:rPr lang="en-US" sz="1400" dirty="0" err="1" smtClean="0"/>
              <a:t>membuat</a:t>
            </a:r>
            <a:r>
              <a:rPr lang="en-US" sz="1400" dirty="0" smtClean="0"/>
              <a:t> </a:t>
            </a:r>
            <a:r>
              <a:rPr lang="en-US" sz="1400" dirty="0" err="1" smtClean="0"/>
              <a:t>peta</a:t>
            </a:r>
            <a:r>
              <a:rPr lang="en-US" sz="1400" dirty="0" smtClean="0"/>
              <a:t> </a:t>
            </a:r>
            <a:r>
              <a:rPr lang="en-US" sz="1400" dirty="0" err="1" smtClean="0"/>
              <a:t>tematik</a:t>
            </a:r>
            <a:r>
              <a:rPr lang="en-US" sz="1400" dirty="0" smtClean="0"/>
              <a:t> (</a:t>
            </a:r>
            <a:r>
              <a:rPr lang="en-US" sz="1400" b="1" dirty="0" err="1" smtClean="0"/>
              <a:t>komitmen</a:t>
            </a:r>
            <a:r>
              <a:rPr lang="en-US" sz="1400" dirty="0" smtClean="0"/>
              <a:t> </a:t>
            </a:r>
            <a:r>
              <a:rPr lang="en-US" sz="1400" b="1" dirty="0" err="1" smtClean="0"/>
              <a:t>mutu</a:t>
            </a:r>
            <a:r>
              <a:rPr lang="en-US" sz="1400" dirty="0" smtClean="0"/>
              <a:t>).</a:t>
            </a:r>
            <a:endParaRPr lang="en" sz="1400" dirty="0"/>
          </a:p>
        </p:txBody>
      </p:sp>
      <p:sp>
        <p:nvSpPr>
          <p:cNvPr id="11" name="Shape 108"/>
          <p:cNvSpPr txBox="1">
            <a:spLocks/>
          </p:cNvSpPr>
          <p:nvPr/>
        </p:nvSpPr>
        <p:spPr>
          <a:xfrm>
            <a:off x="107824" y="2884132"/>
            <a:ext cx="58836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sz="2000" dirty="0" err="1" smtClean="0"/>
              <a:t>Jika</a:t>
            </a:r>
            <a:r>
              <a:rPr lang="en-US" sz="2000" dirty="0" smtClean="0"/>
              <a:t> </a:t>
            </a:r>
            <a:r>
              <a:rPr lang="en-US" sz="2000" dirty="0" err="1" smtClean="0"/>
              <a:t>Nilai</a:t>
            </a:r>
            <a:r>
              <a:rPr lang="en-US" sz="2000" dirty="0" smtClean="0"/>
              <a:t> </a:t>
            </a:r>
            <a:r>
              <a:rPr lang="en-US" sz="2000" dirty="0" err="1" smtClean="0"/>
              <a:t>Tidak</a:t>
            </a:r>
            <a:r>
              <a:rPr lang="en-US" sz="2000" dirty="0" smtClean="0"/>
              <a:t> </a:t>
            </a:r>
            <a:r>
              <a:rPr lang="en-US" sz="2000" dirty="0" err="1" smtClean="0"/>
              <a:t>Diterapkan</a:t>
            </a:r>
            <a:r>
              <a:rPr lang="en-US" sz="2000" dirty="0" smtClean="0"/>
              <a:t>:</a:t>
            </a:r>
            <a:endParaRPr lang="id-ID" sz="2000" dirty="0"/>
          </a:p>
        </p:txBody>
      </p:sp>
      <p:sp>
        <p:nvSpPr>
          <p:cNvPr id="12" name="Shape 96"/>
          <p:cNvSpPr txBox="1">
            <a:spLocks/>
          </p:cNvSpPr>
          <p:nvPr/>
        </p:nvSpPr>
        <p:spPr>
          <a:xfrm>
            <a:off x="1024282" y="3533366"/>
            <a:ext cx="7153202" cy="1011338"/>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buNone/>
            </a:pPr>
            <a:r>
              <a:rPr lang="en-US" sz="1400" dirty="0" err="1"/>
              <a:t>Sebagai</a:t>
            </a:r>
            <a:r>
              <a:rPr lang="en-US" sz="1400" dirty="0"/>
              <a:t> </a:t>
            </a:r>
            <a:r>
              <a:rPr lang="en-US" sz="1400" dirty="0" err="1"/>
              <a:t>contoh</a:t>
            </a:r>
            <a:r>
              <a:rPr lang="en-US" sz="1400" dirty="0"/>
              <a:t>, </a:t>
            </a:r>
            <a:r>
              <a:rPr lang="en-US" sz="1400" dirty="0" err="1"/>
              <a:t>jika</a:t>
            </a:r>
            <a:r>
              <a:rPr lang="en-US" sz="1400" dirty="0"/>
              <a:t> </a:t>
            </a:r>
            <a:r>
              <a:rPr lang="en-US" sz="1400" dirty="0" err="1"/>
              <a:t>saya</a:t>
            </a:r>
            <a:r>
              <a:rPr lang="en-US" sz="1400" dirty="0"/>
              <a:t> </a:t>
            </a:r>
            <a:r>
              <a:rPr lang="en-US" sz="1400" dirty="0" err="1"/>
              <a:t>tidak</a:t>
            </a:r>
            <a:r>
              <a:rPr lang="en-US" sz="1400" dirty="0"/>
              <a:t> </a:t>
            </a:r>
            <a:r>
              <a:rPr lang="en-US" sz="1400" dirty="0" err="1"/>
              <a:t>inovatif</a:t>
            </a:r>
            <a:r>
              <a:rPr lang="en-US" sz="1400" dirty="0"/>
              <a:t> </a:t>
            </a:r>
            <a:r>
              <a:rPr lang="en-US" sz="1400" dirty="0" err="1"/>
              <a:t>dengan</a:t>
            </a:r>
            <a:r>
              <a:rPr lang="en-US" sz="1400" dirty="0"/>
              <a:t> </a:t>
            </a:r>
            <a:r>
              <a:rPr lang="en-US" sz="1400" dirty="0" err="1"/>
              <a:t>melaksanakan</a:t>
            </a:r>
            <a:r>
              <a:rPr lang="en-US" sz="1400" dirty="0"/>
              <a:t> </a:t>
            </a:r>
            <a:r>
              <a:rPr lang="en-US" sz="1400" dirty="0" err="1"/>
              <a:t>kegiatan</a:t>
            </a:r>
            <a:r>
              <a:rPr lang="en-US" sz="1400" dirty="0"/>
              <a:t> </a:t>
            </a:r>
            <a:r>
              <a:rPr lang="en-US" sz="1400" dirty="0" err="1"/>
              <a:t>membuat</a:t>
            </a:r>
            <a:r>
              <a:rPr lang="en-US" sz="1400" dirty="0"/>
              <a:t> </a:t>
            </a:r>
            <a:r>
              <a:rPr lang="en-US" sz="1400" dirty="0" err="1"/>
              <a:t>peta</a:t>
            </a:r>
            <a:r>
              <a:rPr lang="en-US" sz="1400" dirty="0"/>
              <a:t> </a:t>
            </a:r>
            <a:r>
              <a:rPr lang="en-US" sz="1400" dirty="0" err="1"/>
              <a:t>tematik</a:t>
            </a:r>
            <a:r>
              <a:rPr lang="en-US" sz="1400" dirty="0"/>
              <a:t>, </a:t>
            </a:r>
            <a:r>
              <a:rPr lang="en-US" sz="1400" dirty="0" err="1"/>
              <a:t>maka</a:t>
            </a:r>
            <a:r>
              <a:rPr lang="en-US" sz="1400" dirty="0"/>
              <a:t> data yang </a:t>
            </a:r>
            <a:r>
              <a:rPr lang="en-US" sz="1400" dirty="0" err="1"/>
              <a:t>disajikan</a:t>
            </a:r>
            <a:r>
              <a:rPr lang="en-US" sz="1400" dirty="0"/>
              <a:t> pun </a:t>
            </a:r>
            <a:r>
              <a:rPr lang="en-US" sz="1400" dirty="0" err="1"/>
              <a:t>akan</a:t>
            </a:r>
            <a:r>
              <a:rPr lang="en-US" sz="1400" dirty="0"/>
              <a:t> </a:t>
            </a:r>
            <a:r>
              <a:rPr lang="en-US" sz="1400" dirty="0" err="1"/>
              <a:t>menjadi</a:t>
            </a:r>
            <a:r>
              <a:rPr lang="en-US" sz="1400" dirty="0"/>
              <a:t> </a:t>
            </a:r>
            <a:r>
              <a:rPr lang="en-US" sz="1400" dirty="0" err="1"/>
              <a:t>kurang</a:t>
            </a:r>
            <a:r>
              <a:rPr lang="en-US" sz="1400" dirty="0"/>
              <a:t> </a:t>
            </a:r>
            <a:r>
              <a:rPr lang="en-US" sz="1400" dirty="0" err="1"/>
              <a:t>menarik</a:t>
            </a:r>
            <a:r>
              <a:rPr lang="en-US" sz="1400" dirty="0"/>
              <a:t> </a:t>
            </a:r>
            <a:r>
              <a:rPr lang="en-US" sz="1400" dirty="0" err="1"/>
              <a:t>sehingga</a:t>
            </a:r>
            <a:r>
              <a:rPr lang="en-US" sz="1400" dirty="0"/>
              <a:t> </a:t>
            </a:r>
            <a:r>
              <a:rPr lang="en-US" sz="1400" dirty="0" err="1"/>
              <a:t>masyarakat</a:t>
            </a:r>
            <a:r>
              <a:rPr lang="en-US" sz="1400" dirty="0"/>
              <a:t> </a:t>
            </a:r>
            <a:r>
              <a:rPr lang="en-US" sz="1400" dirty="0" err="1"/>
              <a:t>tidak</a:t>
            </a:r>
            <a:r>
              <a:rPr lang="en-US" sz="1400" dirty="0"/>
              <a:t> </a:t>
            </a:r>
            <a:r>
              <a:rPr lang="en-US" sz="1400" dirty="0" err="1"/>
              <a:t>paham</a:t>
            </a:r>
            <a:r>
              <a:rPr lang="en-US" sz="1400" dirty="0"/>
              <a:t> </a:t>
            </a:r>
            <a:r>
              <a:rPr lang="en-US" sz="1400" dirty="0" err="1"/>
              <a:t>dengan</a:t>
            </a:r>
            <a:r>
              <a:rPr lang="en-US" sz="1400" dirty="0"/>
              <a:t> data yang </a:t>
            </a:r>
            <a:r>
              <a:rPr lang="en-US" sz="1400" dirty="0" err="1"/>
              <a:t>disajikan</a:t>
            </a:r>
            <a:r>
              <a:rPr lang="en-US" sz="1400" dirty="0"/>
              <a:t>.</a:t>
            </a:r>
            <a:endParaRPr lang="id-ID" sz="1400" dirty="0"/>
          </a:p>
        </p:txBody>
      </p:sp>
    </p:spTree>
    <p:extLst>
      <p:ext uri="{BB962C8B-B14F-4D97-AF65-F5344CB8AC3E}">
        <p14:creationId xmlns:p14="http://schemas.microsoft.com/office/powerpoint/2010/main" val="1550709286"/>
      </p:ext>
    </p:extLst>
  </p:cSld>
  <p:clrMapOvr>
    <a:masterClrMapping/>
  </p:clrMapOvr>
  <p:transition spd="slow">
    <p:cu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0" y="924720"/>
            <a:ext cx="3804899" cy="435599"/>
          </a:xfrm>
          <a:prstGeom prst="rect">
            <a:avLst/>
          </a:prstGeom>
        </p:spPr>
        <p:txBody>
          <a:bodyPr lIns="91425" tIns="91425" rIns="91425" bIns="91425" anchor="ctr" anchorCtr="0">
            <a:noAutofit/>
          </a:bodyPr>
          <a:lstStyle/>
          <a:p>
            <a:r>
              <a:rPr lang="en-US" dirty="0" err="1" smtClean="0">
                <a:solidFill>
                  <a:srgbClr val="FF0000"/>
                </a:solidFill>
              </a:rPr>
              <a:t>Orientasi</a:t>
            </a:r>
            <a:r>
              <a:rPr lang="en-US" dirty="0" smtClean="0">
                <a:solidFill>
                  <a:srgbClr val="FF0000"/>
                </a:solidFill>
              </a:rPr>
              <a:t> </a:t>
            </a:r>
            <a:r>
              <a:rPr lang="en-US" dirty="0" err="1" smtClean="0">
                <a:solidFill>
                  <a:srgbClr val="FF0000"/>
                </a:solidFill>
              </a:rPr>
              <a:t>Mutu</a:t>
            </a:r>
            <a:endParaRPr lang="id-ID" dirty="0">
              <a:solidFill>
                <a:srgbClr val="FF0000"/>
              </a:solidFill>
            </a:endParaRPr>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sz="2000" dirty="0" err="1" smtClean="0"/>
              <a:t>Contoh</a:t>
            </a:r>
            <a:r>
              <a:rPr lang="en-US" sz="2000" dirty="0" smtClean="0"/>
              <a:t> </a:t>
            </a:r>
            <a:r>
              <a:rPr lang="en-US" sz="2000" dirty="0" err="1" smtClean="0"/>
              <a:t>Penerapannya</a:t>
            </a:r>
            <a:r>
              <a:rPr lang="en-US" sz="2000" dirty="0" smtClean="0"/>
              <a:t>:</a:t>
            </a:r>
            <a:endParaRPr lang="id-ID" sz="2000"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099333"/>
            <a:ext cx="7153202" cy="78479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a:t>Agar </a:t>
            </a:r>
            <a:r>
              <a:rPr lang="en-US" sz="1400" dirty="0" err="1"/>
              <a:t>dapat</a:t>
            </a:r>
            <a:r>
              <a:rPr lang="en-US" sz="1400" dirty="0"/>
              <a:t> </a:t>
            </a:r>
            <a:r>
              <a:rPr lang="en-US" sz="1400" dirty="0" err="1"/>
              <a:t>menjaga</a:t>
            </a:r>
            <a:r>
              <a:rPr lang="en-US" sz="1400" dirty="0"/>
              <a:t> </a:t>
            </a:r>
            <a:r>
              <a:rPr lang="en-US" sz="1400" b="1" dirty="0" err="1"/>
              <a:t>kualitas</a:t>
            </a:r>
            <a:r>
              <a:rPr lang="en-US" sz="1400" b="1" dirty="0"/>
              <a:t> </a:t>
            </a:r>
            <a:r>
              <a:rPr lang="en-US" sz="1400" b="1" dirty="0" err="1"/>
              <a:t>mutu</a:t>
            </a:r>
            <a:r>
              <a:rPr lang="en-US" sz="1400" b="1" dirty="0"/>
              <a:t> </a:t>
            </a:r>
            <a:r>
              <a:rPr lang="en-US" sz="1400" dirty="0"/>
              <a:t>data yang </a:t>
            </a:r>
            <a:r>
              <a:rPr lang="en-US" sz="1400" dirty="0" err="1"/>
              <a:t>akan</a:t>
            </a:r>
            <a:r>
              <a:rPr lang="en-US" sz="1400" dirty="0"/>
              <a:t> di </a:t>
            </a:r>
            <a:r>
              <a:rPr lang="en-US" sz="1400" dirty="0" err="1"/>
              <a:t>sajikan</a:t>
            </a:r>
            <a:r>
              <a:rPr lang="en-US" sz="1400" dirty="0"/>
              <a:t> </a:t>
            </a:r>
            <a:r>
              <a:rPr lang="en-US" sz="1400" dirty="0" err="1"/>
              <a:t>maka</a:t>
            </a:r>
            <a:r>
              <a:rPr lang="en-US" sz="1400" dirty="0"/>
              <a:t> </a:t>
            </a:r>
            <a:r>
              <a:rPr lang="en-US" sz="1400" dirty="0" err="1"/>
              <a:t>saya</a:t>
            </a:r>
            <a:r>
              <a:rPr lang="en-US" sz="1400" dirty="0"/>
              <a:t> </a:t>
            </a:r>
            <a:r>
              <a:rPr lang="en-US" sz="1400" dirty="0" err="1"/>
              <a:t>telah</a:t>
            </a:r>
            <a:r>
              <a:rPr lang="en-US" sz="1400" dirty="0"/>
              <a:t> </a:t>
            </a:r>
            <a:r>
              <a:rPr lang="en-US" sz="1400" dirty="0" err="1"/>
              <a:t>memastikan</a:t>
            </a:r>
            <a:r>
              <a:rPr lang="en-US" sz="1400" dirty="0"/>
              <a:t> </a:t>
            </a:r>
            <a:r>
              <a:rPr lang="en-US" sz="1400" dirty="0" err="1"/>
              <a:t>bahwa</a:t>
            </a:r>
            <a:r>
              <a:rPr lang="en-US" sz="1400" dirty="0"/>
              <a:t> data yang </a:t>
            </a:r>
            <a:r>
              <a:rPr lang="en-US" sz="1400" dirty="0" err="1"/>
              <a:t>disajikan</a:t>
            </a:r>
            <a:r>
              <a:rPr lang="en-US" sz="1400" dirty="0"/>
              <a:t> </a:t>
            </a:r>
            <a:r>
              <a:rPr lang="en-US" sz="1400" dirty="0" err="1"/>
              <a:t>sudah</a:t>
            </a:r>
            <a:r>
              <a:rPr lang="en-US" sz="1400" dirty="0"/>
              <a:t> </a:t>
            </a:r>
            <a:r>
              <a:rPr lang="en-US" sz="1400" dirty="0" err="1"/>
              <a:t>benar</a:t>
            </a:r>
            <a:r>
              <a:rPr lang="en-US" sz="1400" dirty="0"/>
              <a:t> (</a:t>
            </a:r>
            <a:r>
              <a:rPr lang="en-US" sz="1400" b="1" dirty="0" err="1"/>
              <a:t>komitmen</a:t>
            </a:r>
            <a:r>
              <a:rPr lang="en-US" sz="1400" dirty="0"/>
              <a:t> </a:t>
            </a:r>
            <a:r>
              <a:rPr lang="en-US" sz="1400" b="1" dirty="0" err="1"/>
              <a:t>mutu</a:t>
            </a:r>
            <a:r>
              <a:rPr lang="en-US" sz="1400" dirty="0"/>
              <a:t>)</a:t>
            </a:r>
            <a:endParaRPr lang="en" sz="1400" dirty="0"/>
          </a:p>
        </p:txBody>
      </p:sp>
      <p:sp>
        <p:nvSpPr>
          <p:cNvPr id="11" name="Shape 108"/>
          <p:cNvSpPr txBox="1">
            <a:spLocks/>
          </p:cNvSpPr>
          <p:nvPr/>
        </p:nvSpPr>
        <p:spPr>
          <a:xfrm>
            <a:off x="107824" y="2884132"/>
            <a:ext cx="58836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sz="2000" dirty="0" err="1" smtClean="0"/>
              <a:t>Jika</a:t>
            </a:r>
            <a:r>
              <a:rPr lang="en-US" sz="2000" dirty="0" smtClean="0"/>
              <a:t> </a:t>
            </a:r>
            <a:r>
              <a:rPr lang="en-US" sz="2000" dirty="0" err="1" smtClean="0"/>
              <a:t>Nilai</a:t>
            </a:r>
            <a:r>
              <a:rPr lang="en-US" sz="2000" dirty="0" smtClean="0"/>
              <a:t> </a:t>
            </a:r>
            <a:r>
              <a:rPr lang="en-US" sz="2000" dirty="0" err="1" smtClean="0"/>
              <a:t>Tidak</a:t>
            </a:r>
            <a:r>
              <a:rPr lang="en-US" sz="2000" dirty="0" smtClean="0"/>
              <a:t> </a:t>
            </a:r>
            <a:r>
              <a:rPr lang="en-US" sz="2000" dirty="0" err="1" smtClean="0"/>
              <a:t>Diterapkan</a:t>
            </a:r>
            <a:r>
              <a:rPr lang="en-US" sz="2000" dirty="0" smtClean="0"/>
              <a:t>:</a:t>
            </a:r>
            <a:endParaRPr lang="id-ID" sz="2000" dirty="0"/>
          </a:p>
        </p:txBody>
      </p:sp>
      <p:sp>
        <p:nvSpPr>
          <p:cNvPr id="12" name="Shape 96"/>
          <p:cNvSpPr txBox="1">
            <a:spLocks/>
          </p:cNvSpPr>
          <p:nvPr/>
        </p:nvSpPr>
        <p:spPr>
          <a:xfrm>
            <a:off x="1024282" y="3533366"/>
            <a:ext cx="7153202" cy="1011338"/>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buNone/>
            </a:pPr>
            <a:r>
              <a:rPr lang="en-US" sz="1400" dirty="0" err="1"/>
              <a:t>Sebagai</a:t>
            </a:r>
            <a:r>
              <a:rPr lang="en-US" sz="1400" dirty="0"/>
              <a:t> </a:t>
            </a:r>
            <a:r>
              <a:rPr lang="en-US" sz="1400" dirty="0" err="1"/>
              <a:t>contoh</a:t>
            </a:r>
            <a:r>
              <a:rPr lang="en-US" sz="1400" dirty="0"/>
              <a:t>, </a:t>
            </a:r>
            <a:r>
              <a:rPr lang="en-US" sz="1400" dirty="0" err="1"/>
              <a:t>dalam</a:t>
            </a:r>
            <a:r>
              <a:rPr lang="en-US" sz="1400" dirty="0"/>
              <a:t> </a:t>
            </a:r>
            <a:r>
              <a:rPr lang="en-US" sz="1400" dirty="0" err="1"/>
              <a:t>melakukan</a:t>
            </a:r>
            <a:r>
              <a:rPr lang="en-US" sz="1400" dirty="0"/>
              <a:t> </a:t>
            </a:r>
            <a:r>
              <a:rPr lang="en-US" sz="1400" dirty="0" err="1"/>
              <a:t>pengunggahan</a:t>
            </a:r>
            <a:r>
              <a:rPr lang="en-US" sz="1400" dirty="0"/>
              <a:t> </a:t>
            </a:r>
            <a:r>
              <a:rPr lang="en-US" sz="1400" dirty="0" err="1"/>
              <a:t>tabel</a:t>
            </a:r>
            <a:r>
              <a:rPr lang="en-US" sz="1400" dirty="0"/>
              <a:t> </a:t>
            </a:r>
            <a:r>
              <a:rPr lang="en-US" sz="1400" dirty="0" err="1"/>
              <a:t>statis</a:t>
            </a:r>
            <a:r>
              <a:rPr lang="en-US" sz="1400" dirty="0"/>
              <a:t> </a:t>
            </a:r>
            <a:r>
              <a:rPr lang="en-US" sz="1400" dirty="0" err="1"/>
              <a:t>jika</a:t>
            </a:r>
            <a:r>
              <a:rPr lang="en-US" sz="1400" dirty="0"/>
              <a:t> </a:t>
            </a:r>
            <a:r>
              <a:rPr lang="en-US" sz="1400" dirty="0" err="1"/>
              <a:t>saya</a:t>
            </a:r>
            <a:r>
              <a:rPr lang="en-US" sz="1400" dirty="0"/>
              <a:t> </a:t>
            </a:r>
            <a:r>
              <a:rPr lang="en-US" sz="1400" dirty="0" err="1"/>
              <a:t>tidak</a:t>
            </a:r>
            <a:r>
              <a:rPr lang="en-US" sz="1400" dirty="0"/>
              <a:t> </a:t>
            </a:r>
            <a:r>
              <a:rPr lang="en-US" sz="1400" dirty="0" err="1"/>
              <a:t>berorientasi</a:t>
            </a:r>
            <a:r>
              <a:rPr lang="en-US" sz="1400" dirty="0"/>
              <a:t> </a:t>
            </a:r>
            <a:r>
              <a:rPr lang="en-US" sz="1400" dirty="0" err="1"/>
              <a:t>mutu</a:t>
            </a:r>
            <a:r>
              <a:rPr lang="en-US" sz="1400" dirty="0"/>
              <a:t> </a:t>
            </a:r>
            <a:r>
              <a:rPr lang="en-US" sz="1400" dirty="0" err="1"/>
              <a:t>dalam</a:t>
            </a:r>
            <a:r>
              <a:rPr lang="en-US" sz="1400" dirty="0"/>
              <a:t> </a:t>
            </a:r>
            <a:r>
              <a:rPr lang="en-US" sz="1400" dirty="0" err="1"/>
              <a:t>pelaksanaannya</a:t>
            </a:r>
            <a:r>
              <a:rPr lang="en-US" sz="1400" dirty="0"/>
              <a:t> </a:t>
            </a:r>
            <a:r>
              <a:rPr lang="en-US" sz="1400" dirty="0" err="1"/>
              <a:t>bisa</a:t>
            </a:r>
            <a:r>
              <a:rPr lang="en-US" sz="1400" dirty="0"/>
              <a:t> </a:t>
            </a:r>
            <a:r>
              <a:rPr lang="en-US" sz="1400" dirty="0" err="1"/>
              <a:t>jadi</a:t>
            </a:r>
            <a:r>
              <a:rPr lang="en-US" sz="1400" dirty="0"/>
              <a:t> </a:t>
            </a:r>
            <a:r>
              <a:rPr lang="en-US" sz="1400" dirty="0" err="1"/>
              <a:t>tabel</a:t>
            </a:r>
            <a:r>
              <a:rPr lang="en-US" sz="1400" dirty="0"/>
              <a:t> yang </a:t>
            </a:r>
            <a:r>
              <a:rPr lang="en-US" sz="1400" dirty="0" err="1"/>
              <a:t>diunggah</a:t>
            </a:r>
            <a:r>
              <a:rPr lang="en-US" sz="1400" dirty="0"/>
              <a:t> </a:t>
            </a:r>
            <a:r>
              <a:rPr lang="en-US" sz="1400" dirty="0" err="1"/>
              <a:t>terdapat</a:t>
            </a:r>
            <a:r>
              <a:rPr lang="en-US" sz="1400" dirty="0"/>
              <a:t> </a:t>
            </a:r>
            <a:r>
              <a:rPr lang="en-US" sz="1400" dirty="0" err="1" smtClean="0"/>
              <a:t>kesalahan-kesalahaan</a:t>
            </a:r>
            <a:r>
              <a:rPr lang="en-US" sz="1400" dirty="0" smtClean="0"/>
              <a:t>.</a:t>
            </a:r>
            <a:endParaRPr lang="id-ID" sz="1400" dirty="0"/>
          </a:p>
        </p:txBody>
      </p:sp>
    </p:spTree>
    <p:extLst>
      <p:ext uri="{BB962C8B-B14F-4D97-AF65-F5344CB8AC3E}">
        <p14:creationId xmlns:p14="http://schemas.microsoft.com/office/powerpoint/2010/main" val="3615203657"/>
      </p:ext>
    </p:extLst>
  </p:cSld>
  <p:clrMapOvr>
    <a:masterClrMapping/>
  </p:clrMapOvr>
  <p:transition spd="slow">
    <p:cu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Rectangle 1"/>
          <p:cNvSpPr/>
          <p:nvPr/>
        </p:nvSpPr>
        <p:spPr>
          <a:xfrm flipH="1">
            <a:off x="5117911" y="2291149"/>
            <a:ext cx="294062" cy="562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n>
                <a:solidFill>
                  <a:schemeClr val="bg1"/>
                </a:solidFill>
              </a:ln>
              <a:solidFill>
                <a:schemeClr val="bg1"/>
              </a:solidFill>
            </a:endParaRPr>
          </a:p>
        </p:txBody>
      </p:sp>
      <p:sp>
        <p:nvSpPr>
          <p:cNvPr id="95" name="Shape 95"/>
          <p:cNvSpPr txBox="1">
            <a:spLocks noGrp="1"/>
          </p:cNvSpPr>
          <p:nvPr>
            <p:ph type="ctrTitle"/>
          </p:nvPr>
        </p:nvSpPr>
        <p:spPr>
          <a:xfrm>
            <a:off x="1993196" y="2291149"/>
            <a:ext cx="3274840" cy="579900"/>
          </a:xfrm>
          <a:prstGeom prst="rect">
            <a:avLst/>
          </a:prstGeom>
        </p:spPr>
        <p:txBody>
          <a:bodyPr lIns="91425" tIns="91425" rIns="91425" bIns="91425" anchor="b" anchorCtr="0">
            <a:noAutofit/>
          </a:bodyPr>
          <a:lstStyle/>
          <a:p>
            <a:pPr lvl="0"/>
            <a:r>
              <a:rPr lang="en-US" dirty="0" smtClean="0"/>
              <a:t>Anti </a:t>
            </a:r>
            <a:r>
              <a:rPr lang="en-US" dirty="0" err="1" smtClean="0"/>
              <a:t>Korupsi</a:t>
            </a:r>
            <a:endParaRPr lang="en" dirty="0"/>
          </a:p>
        </p:txBody>
      </p:sp>
      <p:sp>
        <p:nvSpPr>
          <p:cNvPr id="96" name="Shape 96"/>
          <p:cNvSpPr txBox="1">
            <a:spLocks noGrp="1"/>
          </p:cNvSpPr>
          <p:nvPr>
            <p:ph type="subTitle" idx="1"/>
          </p:nvPr>
        </p:nvSpPr>
        <p:spPr>
          <a:xfrm>
            <a:off x="1677874" y="2603244"/>
            <a:ext cx="7153202" cy="1660008"/>
          </a:xfrm>
          <a:prstGeom prst="rect">
            <a:avLst/>
          </a:prstGeom>
        </p:spPr>
        <p:txBody>
          <a:bodyPr lIns="91425" tIns="91425" rIns="91425" bIns="91425" anchor="t" anchorCtr="0">
            <a:noAutofit/>
          </a:bodyPr>
          <a:lstStyle/>
          <a:p>
            <a:pPr lvl="0" algn="ctr">
              <a:lnSpc>
                <a:spcPct val="150000"/>
              </a:lnSpc>
            </a:pPr>
            <a:endParaRPr lang="en-US" sz="1600" b="1" dirty="0"/>
          </a:p>
          <a:p>
            <a:pPr lvl="0" algn="ctr">
              <a:lnSpc>
                <a:spcPct val="150000"/>
              </a:lnSpc>
            </a:pPr>
            <a:r>
              <a:rPr lang="en-US" sz="1600" b="1" dirty="0" err="1" smtClean="0">
                <a:solidFill>
                  <a:srgbClr val="FF0000"/>
                </a:solidFill>
              </a:rPr>
              <a:t>Disiplin</a:t>
            </a:r>
            <a:endParaRPr lang="en-US" sz="1600" b="1" dirty="0" smtClean="0">
              <a:solidFill>
                <a:srgbClr val="FF0000"/>
              </a:solidFill>
            </a:endParaRPr>
          </a:p>
          <a:p>
            <a:pPr lvl="0" algn="ctr">
              <a:lnSpc>
                <a:spcPct val="150000"/>
              </a:lnSpc>
            </a:pPr>
            <a:r>
              <a:rPr lang="en-US" sz="1600" b="1" dirty="0" err="1" smtClean="0">
                <a:solidFill>
                  <a:srgbClr val="0070C0"/>
                </a:solidFill>
              </a:rPr>
              <a:t>Mandiri</a:t>
            </a:r>
            <a:r>
              <a:rPr lang="en-US" sz="1600" b="1" dirty="0" smtClean="0"/>
              <a:t>			</a:t>
            </a:r>
            <a:r>
              <a:rPr lang="en-US" sz="1600" b="1" dirty="0" err="1" smtClean="0">
                <a:solidFill>
                  <a:srgbClr val="00B050"/>
                </a:solidFill>
              </a:rPr>
              <a:t>Jujur</a:t>
            </a:r>
            <a:endParaRPr lang="en" sz="1600" b="1" dirty="0">
              <a:solidFill>
                <a:srgbClr val="00B050"/>
              </a:solidFill>
            </a:endParaRPr>
          </a:p>
        </p:txBody>
      </p:sp>
      <p:sp>
        <p:nvSpPr>
          <p:cNvPr id="97" name="Shape 97"/>
          <p:cNvSpPr txBox="1"/>
          <p:nvPr/>
        </p:nvSpPr>
        <p:spPr>
          <a:xfrm>
            <a:off x="1133975" y="2291150"/>
            <a:ext cx="543899" cy="562199"/>
          </a:xfrm>
          <a:prstGeom prst="rect">
            <a:avLst/>
          </a:prstGeom>
          <a:noFill/>
          <a:ln>
            <a:noFill/>
          </a:ln>
        </p:spPr>
        <p:txBody>
          <a:bodyPr lIns="91425" tIns="91425" rIns="91425" bIns="91425" anchor="ctr" anchorCtr="0">
            <a:noAutofit/>
          </a:bodyPr>
          <a:lstStyle/>
          <a:p>
            <a:pPr algn="ctr">
              <a:spcBef>
                <a:spcPts val="0"/>
              </a:spcBef>
              <a:buNone/>
            </a:pPr>
            <a:r>
              <a:rPr lang="en" sz="2400" dirty="0">
                <a:solidFill>
                  <a:schemeClr val="dk1"/>
                </a:solidFill>
                <a:latin typeface="Lora"/>
                <a:ea typeface="Lora"/>
                <a:cs typeface="Lora"/>
                <a:sym typeface="Lora"/>
              </a:rPr>
              <a:t>5</a:t>
            </a:r>
          </a:p>
        </p:txBody>
      </p:sp>
    </p:spTree>
    <p:extLst>
      <p:ext uri="{BB962C8B-B14F-4D97-AF65-F5344CB8AC3E}">
        <p14:creationId xmlns:p14="http://schemas.microsoft.com/office/powerpoint/2010/main" val="4082741803"/>
      </p:ext>
    </p:extLst>
  </p:cSld>
  <p:clrMapOvr>
    <a:masterClrMapping/>
  </p:clrMapOvr>
  <p:transition spd="slow">
    <p:cu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0" y="924720"/>
            <a:ext cx="3804899" cy="435599"/>
          </a:xfrm>
          <a:prstGeom prst="rect">
            <a:avLst/>
          </a:prstGeom>
        </p:spPr>
        <p:txBody>
          <a:bodyPr lIns="91425" tIns="91425" rIns="91425" bIns="91425" anchor="ctr" anchorCtr="0">
            <a:noAutofit/>
          </a:bodyPr>
          <a:lstStyle/>
          <a:p>
            <a:r>
              <a:rPr lang="en-US" dirty="0" err="1" smtClean="0"/>
              <a:t>Disiplin</a:t>
            </a:r>
            <a:endParaRPr lang="id-ID" dirty="0"/>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sz="2000" dirty="0" err="1" smtClean="0"/>
              <a:t>Contoh</a:t>
            </a:r>
            <a:r>
              <a:rPr lang="en-US" sz="2000" dirty="0" smtClean="0"/>
              <a:t> </a:t>
            </a:r>
            <a:r>
              <a:rPr lang="en-US" sz="2000" dirty="0" err="1" smtClean="0"/>
              <a:t>Penerapannya</a:t>
            </a:r>
            <a:r>
              <a:rPr lang="en-US" sz="2000" dirty="0" smtClean="0"/>
              <a:t>:</a:t>
            </a:r>
            <a:endParaRPr lang="id-ID" sz="2000"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099333"/>
            <a:ext cx="7153202" cy="78479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smtClean="0"/>
              <a:t>Saya</a:t>
            </a:r>
            <a:r>
              <a:rPr lang="en-US" sz="1400" dirty="0" smtClean="0"/>
              <a:t> </a:t>
            </a:r>
            <a:r>
              <a:rPr lang="en-US" sz="1400" dirty="0" err="1" smtClean="0"/>
              <a:t>telah</a:t>
            </a:r>
            <a:r>
              <a:rPr lang="en-US" sz="1400" dirty="0" smtClean="0"/>
              <a:t> </a:t>
            </a:r>
            <a:r>
              <a:rPr lang="en-US" sz="1400" b="1" dirty="0" err="1" smtClean="0"/>
              <a:t>disiplin</a:t>
            </a:r>
            <a:r>
              <a:rPr lang="en-US" sz="1400" b="1" dirty="0" smtClean="0"/>
              <a:t> </a:t>
            </a:r>
            <a:r>
              <a:rPr lang="en-US" sz="1400" dirty="0" err="1" smtClean="0"/>
              <a:t>dengan</a:t>
            </a:r>
            <a:r>
              <a:rPr lang="en-US" sz="1400" dirty="0" smtClean="0"/>
              <a:t> </a:t>
            </a:r>
            <a:r>
              <a:rPr lang="en-US" sz="1400" dirty="0" err="1" smtClean="0"/>
              <a:t>selalu</a:t>
            </a:r>
            <a:r>
              <a:rPr lang="en-US" sz="1400" dirty="0" smtClean="0"/>
              <a:t> </a:t>
            </a:r>
            <a:r>
              <a:rPr lang="en-US" sz="1400" dirty="0" err="1" smtClean="0"/>
              <a:t>datang</a:t>
            </a:r>
            <a:r>
              <a:rPr lang="en-US" sz="1400" dirty="0" smtClean="0"/>
              <a:t> </a:t>
            </a:r>
            <a:r>
              <a:rPr lang="en-US" sz="1400" dirty="0" err="1" smtClean="0"/>
              <a:t>tepat</a:t>
            </a:r>
            <a:r>
              <a:rPr lang="en-US" sz="1400" dirty="0" smtClean="0"/>
              <a:t> </a:t>
            </a:r>
            <a:r>
              <a:rPr lang="en-US" sz="1400" dirty="0" err="1" smtClean="0"/>
              <a:t>waktu</a:t>
            </a:r>
            <a:r>
              <a:rPr lang="en-US" sz="1400" dirty="0" smtClean="0"/>
              <a:t> </a:t>
            </a:r>
            <a:r>
              <a:rPr lang="en-US" sz="1400" dirty="0" err="1" smtClean="0"/>
              <a:t>sebelum</a:t>
            </a:r>
            <a:r>
              <a:rPr lang="en-US" sz="1400" dirty="0" smtClean="0"/>
              <a:t> jam </a:t>
            </a:r>
            <a:r>
              <a:rPr lang="en-US" sz="1400" dirty="0" err="1" smtClean="0"/>
              <a:t>kerja</a:t>
            </a:r>
            <a:r>
              <a:rPr lang="en-US" sz="1400" dirty="0" smtClean="0"/>
              <a:t> </a:t>
            </a:r>
            <a:r>
              <a:rPr lang="en-US" sz="1400" dirty="0" err="1" smtClean="0"/>
              <a:t>dimulai</a:t>
            </a:r>
            <a:r>
              <a:rPr lang="en-US" sz="1400" dirty="0" smtClean="0"/>
              <a:t>. (</a:t>
            </a:r>
            <a:r>
              <a:rPr lang="en-US" sz="1400" b="1" dirty="0" smtClean="0"/>
              <a:t>Anti </a:t>
            </a:r>
            <a:r>
              <a:rPr lang="en-US" sz="1400" b="1" dirty="0" err="1" smtClean="0"/>
              <a:t>Korupsi</a:t>
            </a:r>
            <a:r>
              <a:rPr lang="en-US" sz="1400" dirty="0" smtClean="0"/>
              <a:t>).</a:t>
            </a:r>
            <a:endParaRPr lang="en" sz="1400" dirty="0"/>
          </a:p>
        </p:txBody>
      </p:sp>
      <p:sp>
        <p:nvSpPr>
          <p:cNvPr id="11" name="Shape 108"/>
          <p:cNvSpPr txBox="1">
            <a:spLocks/>
          </p:cNvSpPr>
          <p:nvPr/>
        </p:nvSpPr>
        <p:spPr>
          <a:xfrm>
            <a:off x="107824" y="2884132"/>
            <a:ext cx="58836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sz="2000" dirty="0" err="1" smtClean="0"/>
              <a:t>Jika</a:t>
            </a:r>
            <a:r>
              <a:rPr lang="en-US" sz="2000" dirty="0" smtClean="0"/>
              <a:t> </a:t>
            </a:r>
            <a:r>
              <a:rPr lang="en-US" sz="2000" dirty="0" err="1" smtClean="0"/>
              <a:t>Nilai</a:t>
            </a:r>
            <a:r>
              <a:rPr lang="en-US" sz="2000" dirty="0" smtClean="0"/>
              <a:t> </a:t>
            </a:r>
            <a:r>
              <a:rPr lang="en-US" sz="2000" dirty="0" err="1" smtClean="0"/>
              <a:t>Tidak</a:t>
            </a:r>
            <a:r>
              <a:rPr lang="en-US" sz="2000" dirty="0" smtClean="0"/>
              <a:t> </a:t>
            </a:r>
            <a:r>
              <a:rPr lang="en-US" sz="2000" dirty="0" err="1" smtClean="0"/>
              <a:t>Diterapkan</a:t>
            </a:r>
            <a:r>
              <a:rPr lang="en-US" sz="2000" dirty="0" smtClean="0"/>
              <a:t>:</a:t>
            </a:r>
            <a:endParaRPr lang="id-ID" sz="2000" dirty="0"/>
          </a:p>
        </p:txBody>
      </p:sp>
      <p:sp>
        <p:nvSpPr>
          <p:cNvPr id="12" name="Shape 96"/>
          <p:cNvSpPr txBox="1">
            <a:spLocks/>
          </p:cNvSpPr>
          <p:nvPr/>
        </p:nvSpPr>
        <p:spPr>
          <a:xfrm>
            <a:off x="1024282" y="3533366"/>
            <a:ext cx="7153202" cy="1011338"/>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buNone/>
            </a:pPr>
            <a:r>
              <a:rPr lang="en-US" sz="1400" dirty="0" err="1"/>
              <a:t>Sebagai</a:t>
            </a:r>
            <a:r>
              <a:rPr lang="en-US" sz="1400" dirty="0"/>
              <a:t> </a:t>
            </a:r>
            <a:r>
              <a:rPr lang="en-US" sz="1400" dirty="0" err="1"/>
              <a:t>contoh</a:t>
            </a:r>
            <a:r>
              <a:rPr lang="en-US" sz="1400" dirty="0"/>
              <a:t>, </a:t>
            </a:r>
            <a:r>
              <a:rPr lang="en-US" sz="1400" dirty="0" err="1"/>
              <a:t>dalam</a:t>
            </a:r>
            <a:r>
              <a:rPr lang="en-US" sz="1400" dirty="0"/>
              <a:t> </a:t>
            </a:r>
            <a:r>
              <a:rPr lang="en-US" sz="1400" dirty="0" err="1"/>
              <a:t>kegiatan</a:t>
            </a:r>
            <a:r>
              <a:rPr lang="en-US" sz="1400" dirty="0"/>
              <a:t> </a:t>
            </a:r>
            <a:r>
              <a:rPr lang="en-US" sz="1400" dirty="0" err="1"/>
              <a:t>pelayanan</a:t>
            </a:r>
            <a:r>
              <a:rPr lang="en-US" sz="1400" dirty="0"/>
              <a:t> </a:t>
            </a:r>
            <a:r>
              <a:rPr lang="en-US" sz="1400" dirty="0" err="1"/>
              <a:t>konsumen</a:t>
            </a:r>
            <a:r>
              <a:rPr lang="en-US" sz="1400" dirty="0"/>
              <a:t> data, </a:t>
            </a:r>
            <a:r>
              <a:rPr lang="en-US" sz="1400" dirty="0" err="1"/>
              <a:t>jika</a:t>
            </a:r>
            <a:r>
              <a:rPr lang="en-US" sz="1400" dirty="0"/>
              <a:t> </a:t>
            </a:r>
            <a:r>
              <a:rPr lang="en-US" sz="1400" dirty="0" err="1"/>
              <a:t>saya</a:t>
            </a:r>
            <a:r>
              <a:rPr lang="en-US" sz="1400" dirty="0"/>
              <a:t> </a:t>
            </a:r>
            <a:r>
              <a:rPr lang="en-US" sz="1400" dirty="0" err="1"/>
              <a:t>tidak</a:t>
            </a:r>
            <a:r>
              <a:rPr lang="en-US" sz="1400" dirty="0"/>
              <a:t> </a:t>
            </a:r>
            <a:r>
              <a:rPr lang="en-US" sz="1400" dirty="0" err="1"/>
              <a:t>berdisiplin</a:t>
            </a:r>
            <a:r>
              <a:rPr lang="en-US" sz="1400" dirty="0"/>
              <a:t> </a:t>
            </a:r>
            <a:r>
              <a:rPr lang="en-US" sz="1400" dirty="0" err="1"/>
              <a:t>dengan</a:t>
            </a:r>
            <a:r>
              <a:rPr lang="en-US" sz="1400" dirty="0"/>
              <a:t> </a:t>
            </a:r>
            <a:r>
              <a:rPr lang="en-US" sz="1400" dirty="0" err="1"/>
              <a:t>datang</a:t>
            </a:r>
            <a:r>
              <a:rPr lang="en-US" sz="1400" dirty="0"/>
              <a:t> </a:t>
            </a:r>
            <a:r>
              <a:rPr lang="en-US" sz="1400" dirty="0" err="1"/>
              <a:t>tepat</a:t>
            </a:r>
            <a:r>
              <a:rPr lang="en-US" sz="1400" dirty="0"/>
              <a:t> </a:t>
            </a:r>
            <a:r>
              <a:rPr lang="en-US" sz="1400" dirty="0" err="1"/>
              <a:t>waktu</a:t>
            </a:r>
            <a:r>
              <a:rPr lang="en-US" sz="1400" dirty="0"/>
              <a:t> </a:t>
            </a:r>
            <a:r>
              <a:rPr lang="en-US" sz="1400" dirty="0" err="1"/>
              <a:t>bisa</a:t>
            </a:r>
            <a:r>
              <a:rPr lang="en-US" sz="1400" dirty="0"/>
              <a:t> </a:t>
            </a:r>
            <a:r>
              <a:rPr lang="en-US" sz="1400" dirty="0" err="1"/>
              <a:t>saja</a:t>
            </a:r>
            <a:r>
              <a:rPr lang="en-US" sz="1400" dirty="0"/>
              <a:t> </a:t>
            </a:r>
            <a:r>
              <a:rPr lang="en-US" sz="1400" dirty="0" err="1"/>
              <a:t>pengunjung</a:t>
            </a:r>
            <a:r>
              <a:rPr lang="en-US" sz="1400" dirty="0"/>
              <a:t> </a:t>
            </a:r>
            <a:r>
              <a:rPr lang="en-US" sz="1400" dirty="0" err="1"/>
              <a:t>sudah</a:t>
            </a:r>
            <a:r>
              <a:rPr lang="en-US" sz="1400" dirty="0"/>
              <a:t> </a:t>
            </a:r>
            <a:r>
              <a:rPr lang="en-US" sz="1400" dirty="0" err="1"/>
              <a:t>berada</a:t>
            </a:r>
            <a:r>
              <a:rPr lang="en-US" sz="1400" dirty="0"/>
              <a:t> </a:t>
            </a:r>
            <a:r>
              <a:rPr lang="en-US" sz="1400" dirty="0" err="1"/>
              <a:t>diperpustakaan</a:t>
            </a:r>
            <a:r>
              <a:rPr lang="en-US" sz="1400" dirty="0"/>
              <a:t> </a:t>
            </a:r>
            <a:r>
              <a:rPr lang="en-US" sz="1400" dirty="0" err="1"/>
              <a:t>sedangkan</a:t>
            </a:r>
            <a:r>
              <a:rPr lang="en-US" sz="1400" dirty="0"/>
              <a:t> </a:t>
            </a:r>
            <a:r>
              <a:rPr lang="en-US" sz="1400" dirty="0" err="1"/>
              <a:t>saya</a:t>
            </a:r>
            <a:r>
              <a:rPr lang="en-US" sz="1400" dirty="0"/>
              <a:t> </a:t>
            </a:r>
            <a:r>
              <a:rPr lang="en-US" sz="1400" dirty="0" err="1"/>
              <a:t>belum</a:t>
            </a:r>
            <a:r>
              <a:rPr lang="en-US" sz="1400" dirty="0"/>
              <a:t> </a:t>
            </a:r>
            <a:r>
              <a:rPr lang="en-US" sz="1400" dirty="0" err="1"/>
              <a:t>datang</a:t>
            </a:r>
            <a:r>
              <a:rPr lang="en-US" sz="1400" dirty="0"/>
              <a:t>. Hal </a:t>
            </a:r>
            <a:r>
              <a:rPr lang="en-US" sz="1400" dirty="0" err="1"/>
              <a:t>ini</a:t>
            </a:r>
            <a:r>
              <a:rPr lang="en-US" sz="1400" dirty="0"/>
              <a:t> </a:t>
            </a:r>
            <a:r>
              <a:rPr lang="en-US" sz="1400" dirty="0" err="1"/>
              <a:t>akan</a:t>
            </a:r>
            <a:r>
              <a:rPr lang="en-US" sz="1400" dirty="0"/>
              <a:t> </a:t>
            </a:r>
            <a:r>
              <a:rPr lang="en-US" sz="1400" dirty="0" err="1"/>
              <a:t>berdampak</a:t>
            </a:r>
            <a:r>
              <a:rPr lang="en-US" sz="1400" dirty="0"/>
              <a:t> </a:t>
            </a:r>
            <a:r>
              <a:rPr lang="en-US" sz="1400" dirty="0" err="1"/>
              <a:t>terhadap</a:t>
            </a:r>
            <a:r>
              <a:rPr lang="en-US" sz="1400" dirty="0"/>
              <a:t> </a:t>
            </a:r>
            <a:r>
              <a:rPr lang="en-US" sz="1400" dirty="0" err="1"/>
              <a:t>citra</a:t>
            </a:r>
            <a:r>
              <a:rPr lang="en-US" sz="1400" dirty="0"/>
              <a:t> BPS di </a:t>
            </a:r>
            <a:r>
              <a:rPr lang="en-US" sz="1400" dirty="0" err="1"/>
              <a:t>masyarakat</a:t>
            </a:r>
            <a:r>
              <a:rPr lang="en-US" sz="1400" dirty="0"/>
              <a:t> </a:t>
            </a:r>
            <a:r>
              <a:rPr lang="en-US" sz="1400" dirty="0" err="1"/>
              <a:t>bahwa</a:t>
            </a:r>
            <a:r>
              <a:rPr lang="en-US" sz="1400" dirty="0"/>
              <a:t> </a:t>
            </a:r>
            <a:r>
              <a:rPr lang="en-US" sz="1400" dirty="0" err="1"/>
              <a:t>pegawai</a:t>
            </a:r>
            <a:r>
              <a:rPr lang="en-US" sz="1400" dirty="0"/>
              <a:t> BPS </a:t>
            </a:r>
            <a:r>
              <a:rPr lang="en-US" sz="1400" dirty="0" err="1"/>
              <a:t>sering</a:t>
            </a:r>
            <a:r>
              <a:rPr lang="en-US" sz="1400" dirty="0"/>
              <a:t> </a:t>
            </a:r>
            <a:r>
              <a:rPr lang="en-US" sz="1400" dirty="0" err="1"/>
              <a:t>terlambat</a:t>
            </a:r>
            <a:r>
              <a:rPr lang="en-US" sz="1400" dirty="0"/>
              <a:t> </a:t>
            </a:r>
            <a:r>
              <a:rPr lang="en-US" sz="1400" dirty="0" err="1"/>
              <a:t>masuk</a:t>
            </a:r>
            <a:r>
              <a:rPr lang="en-US" sz="1400" dirty="0"/>
              <a:t> </a:t>
            </a:r>
            <a:r>
              <a:rPr lang="en-US" sz="1400" dirty="0" err="1"/>
              <a:t>kerja</a:t>
            </a:r>
            <a:endParaRPr lang="id-ID" sz="1400" dirty="0"/>
          </a:p>
        </p:txBody>
      </p:sp>
    </p:spTree>
    <p:extLst>
      <p:ext uri="{BB962C8B-B14F-4D97-AF65-F5344CB8AC3E}">
        <p14:creationId xmlns:p14="http://schemas.microsoft.com/office/powerpoint/2010/main" val="268178683"/>
      </p:ext>
    </p:extLst>
  </p:cSld>
  <p:clrMapOvr>
    <a:masterClrMapping/>
  </p:clrMapOvr>
  <p:transition spd="slow">
    <p:cu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0" y="924720"/>
            <a:ext cx="3804899" cy="435599"/>
          </a:xfrm>
          <a:prstGeom prst="rect">
            <a:avLst/>
          </a:prstGeom>
        </p:spPr>
        <p:txBody>
          <a:bodyPr lIns="91425" tIns="91425" rIns="91425" bIns="91425" anchor="ctr" anchorCtr="0">
            <a:noAutofit/>
          </a:bodyPr>
          <a:lstStyle/>
          <a:p>
            <a:r>
              <a:rPr lang="en-US" dirty="0" err="1" smtClean="0"/>
              <a:t>Mandiri</a:t>
            </a:r>
            <a:endParaRPr lang="id-ID" dirty="0"/>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sz="2000" dirty="0" err="1" smtClean="0"/>
              <a:t>Contoh</a:t>
            </a:r>
            <a:r>
              <a:rPr lang="en-US" sz="2000" dirty="0" smtClean="0"/>
              <a:t> </a:t>
            </a:r>
            <a:r>
              <a:rPr lang="en-US" sz="2000" dirty="0" err="1" smtClean="0"/>
              <a:t>Penerapannya</a:t>
            </a:r>
            <a:r>
              <a:rPr lang="en-US" sz="2000" dirty="0" smtClean="0"/>
              <a:t>:</a:t>
            </a:r>
            <a:endParaRPr lang="id-ID" sz="2000"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099333"/>
            <a:ext cx="7153202" cy="78479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smtClean="0"/>
              <a:t>Saya</a:t>
            </a:r>
            <a:r>
              <a:rPr lang="en-US" sz="1400" dirty="0" smtClean="0"/>
              <a:t> </a:t>
            </a:r>
            <a:r>
              <a:rPr lang="en-US" sz="1400" dirty="0" err="1" smtClean="0"/>
              <a:t>telah</a:t>
            </a:r>
            <a:r>
              <a:rPr lang="en-US" sz="1400" dirty="0" smtClean="0"/>
              <a:t> </a:t>
            </a:r>
            <a:r>
              <a:rPr lang="en-US" sz="1400" dirty="0" err="1" smtClean="0"/>
              <a:t>berusaha</a:t>
            </a:r>
            <a:r>
              <a:rPr lang="en-US" sz="1400" dirty="0" smtClean="0"/>
              <a:t> </a:t>
            </a:r>
            <a:r>
              <a:rPr lang="en-US" sz="1400" b="1" dirty="0" err="1" smtClean="0"/>
              <a:t>mandiri</a:t>
            </a:r>
            <a:r>
              <a:rPr lang="en-US" sz="1400" b="1" dirty="0" smtClean="0"/>
              <a:t> </a:t>
            </a:r>
            <a:r>
              <a:rPr lang="en-US" sz="1400" dirty="0" err="1" smtClean="0"/>
              <a:t>dalam</a:t>
            </a:r>
            <a:r>
              <a:rPr lang="en-US" sz="1400" dirty="0" smtClean="0"/>
              <a:t> </a:t>
            </a:r>
            <a:r>
              <a:rPr lang="en-US" sz="1400" dirty="0" err="1" smtClean="0"/>
              <a:t>mengerjakan</a:t>
            </a:r>
            <a:r>
              <a:rPr lang="en-US" sz="1400" dirty="0" smtClean="0"/>
              <a:t> </a:t>
            </a:r>
            <a:r>
              <a:rPr lang="en-US" sz="1400" dirty="0" err="1" smtClean="0"/>
              <a:t>peta</a:t>
            </a:r>
            <a:r>
              <a:rPr lang="en-US" sz="1400" dirty="0" smtClean="0"/>
              <a:t> </a:t>
            </a:r>
            <a:r>
              <a:rPr lang="en-US" sz="1400" dirty="0" err="1" smtClean="0"/>
              <a:t>tematik</a:t>
            </a:r>
            <a:r>
              <a:rPr lang="en-US" sz="1400" b="1" dirty="0" smtClean="0"/>
              <a:t> </a:t>
            </a:r>
            <a:r>
              <a:rPr lang="en-US" sz="1400" dirty="0" err="1" smtClean="0"/>
              <a:t>dengan</a:t>
            </a:r>
            <a:r>
              <a:rPr lang="en-US" sz="1400" dirty="0" smtClean="0"/>
              <a:t> </a:t>
            </a:r>
            <a:r>
              <a:rPr lang="en-US" sz="1400" dirty="0" err="1" smtClean="0"/>
              <a:t>cara</a:t>
            </a:r>
            <a:r>
              <a:rPr lang="en-US" sz="1400" dirty="0" smtClean="0"/>
              <a:t> </a:t>
            </a:r>
            <a:r>
              <a:rPr lang="en-US" sz="1400" dirty="0" err="1" smtClean="0"/>
              <a:t>tidak</a:t>
            </a:r>
            <a:r>
              <a:rPr lang="en-US" sz="1400" dirty="0" smtClean="0"/>
              <a:t> </a:t>
            </a:r>
            <a:r>
              <a:rPr lang="en-US" sz="1400" dirty="0" err="1" smtClean="0"/>
              <a:t>merepotkan</a:t>
            </a:r>
            <a:r>
              <a:rPr lang="en-US" sz="1400" dirty="0" smtClean="0"/>
              <a:t> </a:t>
            </a:r>
            <a:r>
              <a:rPr lang="en-US" sz="1400" dirty="0" err="1" smtClean="0"/>
              <a:t>pegawai</a:t>
            </a:r>
            <a:r>
              <a:rPr lang="en-US" sz="1400" dirty="0" smtClean="0"/>
              <a:t> yang lain. (</a:t>
            </a:r>
            <a:r>
              <a:rPr lang="en-US" sz="1400" b="1" dirty="0" smtClean="0"/>
              <a:t>Anti </a:t>
            </a:r>
            <a:r>
              <a:rPr lang="en-US" sz="1400" b="1" dirty="0" err="1" smtClean="0"/>
              <a:t>Korupsi</a:t>
            </a:r>
            <a:r>
              <a:rPr lang="en-US" sz="1400" dirty="0" smtClean="0"/>
              <a:t>).</a:t>
            </a:r>
            <a:endParaRPr lang="en" sz="1400" dirty="0"/>
          </a:p>
        </p:txBody>
      </p:sp>
      <p:sp>
        <p:nvSpPr>
          <p:cNvPr id="11" name="Shape 108"/>
          <p:cNvSpPr txBox="1">
            <a:spLocks/>
          </p:cNvSpPr>
          <p:nvPr/>
        </p:nvSpPr>
        <p:spPr>
          <a:xfrm>
            <a:off x="107824" y="2884132"/>
            <a:ext cx="58836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sz="2000" dirty="0" err="1" smtClean="0"/>
              <a:t>Jika</a:t>
            </a:r>
            <a:r>
              <a:rPr lang="en-US" sz="2000" dirty="0" smtClean="0"/>
              <a:t> </a:t>
            </a:r>
            <a:r>
              <a:rPr lang="en-US" sz="2000" dirty="0" err="1" smtClean="0"/>
              <a:t>Nilai</a:t>
            </a:r>
            <a:r>
              <a:rPr lang="en-US" sz="2000" dirty="0" smtClean="0"/>
              <a:t> </a:t>
            </a:r>
            <a:r>
              <a:rPr lang="en-US" sz="2000" dirty="0" err="1" smtClean="0"/>
              <a:t>Tidak</a:t>
            </a:r>
            <a:r>
              <a:rPr lang="en-US" sz="2000" dirty="0" smtClean="0"/>
              <a:t> </a:t>
            </a:r>
            <a:r>
              <a:rPr lang="en-US" sz="2000" dirty="0" err="1" smtClean="0"/>
              <a:t>Diterapkan</a:t>
            </a:r>
            <a:r>
              <a:rPr lang="en-US" sz="2000" dirty="0" smtClean="0"/>
              <a:t>:</a:t>
            </a:r>
            <a:endParaRPr lang="id-ID" sz="2000" dirty="0"/>
          </a:p>
        </p:txBody>
      </p:sp>
      <p:sp>
        <p:nvSpPr>
          <p:cNvPr id="12" name="Shape 96"/>
          <p:cNvSpPr txBox="1">
            <a:spLocks/>
          </p:cNvSpPr>
          <p:nvPr/>
        </p:nvSpPr>
        <p:spPr>
          <a:xfrm>
            <a:off x="1024282" y="3533365"/>
            <a:ext cx="7153202" cy="118875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buNone/>
            </a:pPr>
            <a:r>
              <a:rPr lang="en-US" sz="1400" dirty="0" err="1"/>
              <a:t>Sebagai</a:t>
            </a:r>
            <a:r>
              <a:rPr lang="en-US" sz="1400" dirty="0"/>
              <a:t> </a:t>
            </a:r>
            <a:r>
              <a:rPr lang="en-US" sz="1400" dirty="0" err="1"/>
              <a:t>contoh</a:t>
            </a:r>
            <a:r>
              <a:rPr lang="en-US" sz="1400" dirty="0"/>
              <a:t>, </a:t>
            </a:r>
            <a:r>
              <a:rPr lang="en-US" sz="1400" dirty="0" err="1"/>
              <a:t>dalam</a:t>
            </a:r>
            <a:r>
              <a:rPr lang="en-US" sz="1400" dirty="0"/>
              <a:t> </a:t>
            </a:r>
            <a:r>
              <a:rPr lang="en-US" sz="1400" dirty="0" err="1"/>
              <a:t>membuat</a:t>
            </a:r>
            <a:r>
              <a:rPr lang="en-US" sz="1400" dirty="0"/>
              <a:t> </a:t>
            </a:r>
            <a:r>
              <a:rPr lang="en-US" sz="1400" dirty="0" err="1"/>
              <a:t>peta</a:t>
            </a:r>
            <a:r>
              <a:rPr lang="en-US" sz="1400" dirty="0"/>
              <a:t> </a:t>
            </a:r>
            <a:r>
              <a:rPr lang="en-US" sz="1400" dirty="0" err="1"/>
              <a:t>tematik</a:t>
            </a:r>
            <a:r>
              <a:rPr lang="en-US" sz="1400" dirty="0"/>
              <a:t>, </a:t>
            </a:r>
            <a:r>
              <a:rPr lang="en-US" sz="1400" dirty="0" err="1"/>
              <a:t>jika</a:t>
            </a:r>
            <a:r>
              <a:rPr lang="en-US" sz="1400" dirty="0"/>
              <a:t> </a:t>
            </a:r>
            <a:r>
              <a:rPr lang="en-US" sz="1400" dirty="0" err="1"/>
              <a:t>saya</a:t>
            </a:r>
            <a:r>
              <a:rPr lang="en-US" sz="1400" dirty="0"/>
              <a:t> </a:t>
            </a:r>
            <a:r>
              <a:rPr lang="en-US" sz="1400" dirty="0" err="1"/>
              <a:t>tidak</a:t>
            </a:r>
            <a:r>
              <a:rPr lang="en-US" sz="1400" dirty="0"/>
              <a:t> </a:t>
            </a:r>
            <a:r>
              <a:rPr lang="en-US" sz="1400" dirty="0" err="1"/>
              <a:t>melakukan</a:t>
            </a:r>
            <a:r>
              <a:rPr lang="en-US" sz="1400" dirty="0"/>
              <a:t> </a:t>
            </a:r>
            <a:r>
              <a:rPr lang="en-US" sz="1400" dirty="0" err="1"/>
              <a:t>kegiatan</a:t>
            </a:r>
            <a:r>
              <a:rPr lang="en-US" sz="1400" dirty="0"/>
              <a:t> </a:t>
            </a:r>
            <a:r>
              <a:rPr lang="en-US" sz="1400" dirty="0" err="1"/>
              <a:t>ini</a:t>
            </a:r>
            <a:r>
              <a:rPr lang="en-US" sz="1400" dirty="0"/>
              <a:t> </a:t>
            </a:r>
            <a:r>
              <a:rPr lang="en-US" sz="1400" dirty="0" err="1"/>
              <a:t>dengan</a:t>
            </a:r>
            <a:r>
              <a:rPr lang="en-US" sz="1400" dirty="0"/>
              <a:t> </a:t>
            </a:r>
            <a:r>
              <a:rPr lang="en-US" sz="1400" dirty="0" err="1"/>
              <a:t>mandiri</a:t>
            </a:r>
            <a:r>
              <a:rPr lang="en-US" sz="1400" dirty="0"/>
              <a:t> </a:t>
            </a:r>
            <a:r>
              <a:rPr lang="en-US" sz="1400" dirty="0" err="1"/>
              <a:t>atau</a:t>
            </a:r>
            <a:r>
              <a:rPr lang="en-US" sz="1400" dirty="0"/>
              <a:t> </a:t>
            </a:r>
            <a:r>
              <a:rPr lang="en-US" sz="1400" dirty="0" err="1"/>
              <a:t>dengan</a:t>
            </a:r>
            <a:r>
              <a:rPr lang="en-US" sz="1400" dirty="0"/>
              <a:t> kata lain </a:t>
            </a:r>
            <a:r>
              <a:rPr lang="en-US" sz="1400" dirty="0" err="1"/>
              <a:t>melimpahkannya</a:t>
            </a:r>
            <a:r>
              <a:rPr lang="en-US" sz="1400" dirty="0"/>
              <a:t> </a:t>
            </a:r>
            <a:r>
              <a:rPr lang="en-US" sz="1400" dirty="0" err="1"/>
              <a:t>kepada</a:t>
            </a:r>
            <a:r>
              <a:rPr lang="en-US" sz="1400" dirty="0"/>
              <a:t> orang lain </a:t>
            </a:r>
            <a:r>
              <a:rPr lang="en-US" sz="1400" dirty="0" err="1"/>
              <a:t>dengan</a:t>
            </a:r>
            <a:r>
              <a:rPr lang="en-US" sz="1400" dirty="0"/>
              <a:t> </a:t>
            </a:r>
            <a:r>
              <a:rPr lang="en-US" sz="1400" dirty="0" err="1"/>
              <a:t>alasan</a:t>
            </a:r>
            <a:r>
              <a:rPr lang="en-US" sz="1400" dirty="0"/>
              <a:t> yang </a:t>
            </a:r>
            <a:r>
              <a:rPr lang="en-US" sz="1400" dirty="0" err="1"/>
              <a:t>jelas</a:t>
            </a:r>
            <a:r>
              <a:rPr lang="en-US" sz="1400" dirty="0"/>
              <a:t>, </a:t>
            </a:r>
            <a:r>
              <a:rPr lang="en-US" sz="1400" dirty="0" err="1"/>
              <a:t>maka</a:t>
            </a:r>
            <a:r>
              <a:rPr lang="en-US" sz="1400" dirty="0"/>
              <a:t> </a:t>
            </a:r>
            <a:r>
              <a:rPr lang="en-US" sz="1400" dirty="0" err="1"/>
              <a:t>kegiatan</a:t>
            </a:r>
            <a:r>
              <a:rPr lang="en-US" sz="1400" dirty="0"/>
              <a:t> </a:t>
            </a:r>
            <a:r>
              <a:rPr lang="en-US" sz="1400" dirty="0" err="1"/>
              <a:t>akan</a:t>
            </a:r>
            <a:r>
              <a:rPr lang="en-US" sz="1400" dirty="0"/>
              <a:t> </a:t>
            </a:r>
            <a:r>
              <a:rPr lang="en-US" sz="1400" dirty="0" err="1"/>
              <a:t>tidak</a:t>
            </a:r>
            <a:r>
              <a:rPr lang="en-US" sz="1400" dirty="0"/>
              <a:t> </a:t>
            </a:r>
            <a:r>
              <a:rPr lang="en-US" sz="1400" dirty="0" err="1"/>
              <a:t>segera</a:t>
            </a:r>
            <a:r>
              <a:rPr lang="en-US" sz="1400" dirty="0"/>
              <a:t> </a:t>
            </a:r>
            <a:r>
              <a:rPr lang="en-US" sz="1400" dirty="0" err="1"/>
              <a:t>selesai</a:t>
            </a:r>
            <a:r>
              <a:rPr lang="en-US" sz="1400" dirty="0"/>
              <a:t>. </a:t>
            </a:r>
            <a:r>
              <a:rPr lang="en-US" sz="1400" dirty="0" err="1"/>
              <a:t>Selain</a:t>
            </a:r>
            <a:r>
              <a:rPr lang="en-US" sz="1400" dirty="0"/>
              <a:t> </a:t>
            </a:r>
            <a:r>
              <a:rPr lang="en-US" sz="1400" dirty="0" err="1"/>
              <a:t>itu</a:t>
            </a:r>
            <a:r>
              <a:rPr lang="en-US" sz="1400" dirty="0"/>
              <a:t> </a:t>
            </a:r>
            <a:r>
              <a:rPr lang="en-US" sz="1400" dirty="0" err="1"/>
              <a:t>kepercayaan</a:t>
            </a:r>
            <a:r>
              <a:rPr lang="en-US" sz="1400" dirty="0"/>
              <a:t> </a:t>
            </a:r>
            <a:r>
              <a:rPr lang="en-US" sz="1400" dirty="0" err="1"/>
              <a:t>atasan</a:t>
            </a:r>
            <a:r>
              <a:rPr lang="en-US" sz="1400" dirty="0"/>
              <a:t> </a:t>
            </a:r>
            <a:r>
              <a:rPr lang="en-US" sz="1400" dirty="0" err="1"/>
              <a:t>juga</a:t>
            </a:r>
            <a:r>
              <a:rPr lang="en-US" sz="1400" dirty="0"/>
              <a:t> </a:t>
            </a:r>
            <a:r>
              <a:rPr lang="en-US" sz="1400" dirty="0" err="1"/>
              <a:t>akan</a:t>
            </a:r>
            <a:r>
              <a:rPr lang="en-US" sz="1400" dirty="0"/>
              <a:t> </a:t>
            </a:r>
            <a:r>
              <a:rPr lang="en-US" sz="1400" dirty="0" err="1"/>
              <a:t>berkurang</a:t>
            </a:r>
            <a:r>
              <a:rPr lang="en-US" sz="1400" dirty="0"/>
              <a:t> </a:t>
            </a:r>
            <a:r>
              <a:rPr lang="en-US" sz="1400" dirty="0" err="1"/>
              <a:t>karena</a:t>
            </a:r>
            <a:r>
              <a:rPr lang="en-US" sz="1400" dirty="0"/>
              <a:t> </a:t>
            </a:r>
            <a:r>
              <a:rPr lang="en-US" sz="1400" dirty="0" err="1"/>
              <a:t>saya</a:t>
            </a:r>
            <a:r>
              <a:rPr lang="en-US" sz="1400" dirty="0"/>
              <a:t> </a:t>
            </a:r>
            <a:r>
              <a:rPr lang="en-US" sz="1400" dirty="0" err="1"/>
              <a:t>tidak</a:t>
            </a:r>
            <a:r>
              <a:rPr lang="en-US" sz="1400" dirty="0"/>
              <a:t> </a:t>
            </a:r>
            <a:r>
              <a:rPr lang="en-US" sz="1400" dirty="0" err="1"/>
              <a:t>bisa</a:t>
            </a:r>
            <a:r>
              <a:rPr lang="en-US" sz="1400" dirty="0"/>
              <a:t> </a:t>
            </a:r>
            <a:r>
              <a:rPr lang="en-US" sz="1400" dirty="0" err="1"/>
              <a:t>melakukan</a:t>
            </a:r>
            <a:r>
              <a:rPr lang="en-US" sz="1400" dirty="0"/>
              <a:t> </a:t>
            </a:r>
            <a:r>
              <a:rPr lang="en-US" sz="1400" dirty="0" err="1"/>
              <a:t>kegiatan</a:t>
            </a:r>
            <a:r>
              <a:rPr lang="en-US" sz="1400" dirty="0"/>
              <a:t> </a:t>
            </a:r>
            <a:r>
              <a:rPr lang="en-US" sz="1400" dirty="0" err="1"/>
              <a:t>ini</a:t>
            </a:r>
            <a:r>
              <a:rPr lang="en-US" sz="1400" dirty="0"/>
              <a:t> </a:t>
            </a:r>
            <a:r>
              <a:rPr lang="en-US" sz="1400" dirty="0" err="1"/>
              <a:t>secara</a:t>
            </a:r>
            <a:r>
              <a:rPr lang="en-US" sz="1400" dirty="0"/>
              <a:t> </a:t>
            </a:r>
            <a:r>
              <a:rPr lang="en-US" sz="1400" dirty="0" err="1"/>
              <a:t>mandiri</a:t>
            </a:r>
            <a:r>
              <a:rPr lang="en-US" sz="1400" dirty="0"/>
              <a:t>.</a:t>
            </a:r>
            <a:endParaRPr lang="id-ID" sz="1400" dirty="0"/>
          </a:p>
        </p:txBody>
      </p:sp>
    </p:spTree>
    <p:extLst>
      <p:ext uri="{BB962C8B-B14F-4D97-AF65-F5344CB8AC3E}">
        <p14:creationId xmlns:p14="http://schemas.microsoft.com/office/powerpoint/2010/main" val="2254154653"/>
      </p:ext>
    </p:extLst>
  </p:cSld>
  <p:clrMapOvr>
    <a:masterClrMapping/>
  </p:clrMapOvr>
  <p:transition spd="slow">
    <p:cu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0" y="924720"/>
            <a:ext cx="3804899" cy="435599"/>
          </a:xfrm>
          <a:prstGeom prst="rect">
            <a:avLst/>
          </a:prstGeom>
        </p:spPr>
        <p:txBody>
          <a:bodyPr lIns="91425" tIns="91425" rIns="91425" bIns="91425" anchor="ctr" anchorCtr="0">
            <a:noAutofit/>
          </a:bodyPr>
          <a:lstStyle/>
          <a:p>
            <a:r>
              <a:rPr lang="en-US" dirty="0" err="1" smtClean="0"/>
              <a:t>Jujur</a:t>
            </a:r>
            <a:endParaRPr lang="id-ID" dirty="0"/>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sz="2000" dirty="0" err="1" smtClean="0"/>
              <a:t>Contoh</a:t>
            </a:r>
            <a:r>
              <a:rPr lang="en-US" sz="2000" dirty="0" smtClean="0"/>
              <a:t> </a:t>
            </a:r>
            <a:r>
              <a:rPr lang="en-US" sz="2000" dirty="0" err="1" smtClean="0"/>
              <a:t>Penerapannya</a:t>
            </a:r>
            <a:r>
              <a:rPr lang="en-US" sz="2000" dirty="0" smtClean="0"/>
              <a:t>:</a:t>
            </a:r>
            <a:endParaRPr lang="id-ID" sz="2000"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099333"/>
            <a:ext cx="7153202" cy="78479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smtClean="0"/>
              <a:t>Saya</a:t>
            </a:r>
            <a:r>
              <a:rPr lang="en-US" sz="1400" dirty="0" smtClean="0"/>
              <a:t> </a:t>
            </a:r>
            <a:r>
              <a:rPr lang="en-US" sz="1400" dirty="0" err="1" smtClean="0"/>
              <a:t>telah</a:t>
            </a:r>
            <a:r>
              <a:rPr lang="en-US" sz="1400" dirty="0" smtClean="0"/>
              <a:t> </a:t>
            </a:r>
            <a:r>
              <a:rPr lang="en-US" sz="1400" b="1" dirty="0" err="1" smtClean="0"/>
              <a:t>jujur</a:t>
            </a:r>
            <a:r>
              <a:rPr lang="en-US" sz="1400" b="1" dirty="0" smtClean="0"/>
              <a:t> </a:t>
            </a:r>
            <a:r>
              <a:rPr lang="en-US" sz="1400" dirty="0" err="1" smtClean="0"/>
              <a:t>dalam</a:t>
            </a:r>
            <a:r>
              <a:rPr lang="en-US" sz="1400" dirty="0" smtClean="0"/>
              <a:t> </a:t>
            </a:r>
            <a:r>
              <a:rPr lang="en-US" sz="1400" dirty="0" err="1" smtClean="0"/>
              <a:t>melayani</a:t>
            </a:r>
            <a:r>
              <a:rPr lang="en-US" sz="1400" dirty="0" smtClean="0"/>
              <a:t> </a:t>
            </a:r>
            <a:r>
              <a:rPr lang="en-US" sz="1400" dirty="0" err="1" smtClean="0"/>
              <a:t>konsumen</a:t>
            </a:r>
            <a:r>
              <a:rPr lang="en-US" sz="1400" dirty="0" smtClean="0"/>
              <a:t> data</a:t>
            </a:r>
            <a:r>
              <a:rPr lang="en-US" sz="1400" b="1" dirty="0" smtClean="0"/>
              <a:t> </a:t>
            </a:r>
            <a:r>
              <a:rPr lang="en-US" sz="1400" dirty="0" err="1" smtClean="0"/>
              <a:t>dengan</a:t>
            </a:r>
            <a:r>
              <a:rPr lang="en-US" sz="1400" dirty="0" smtClean="0"/>
              <a:t> </a:t>
            </a:r>
            <a:r>
              <a:rPr lang="en-US" sz="1400" dirty="0" err="1" smtClean="0"/>
              <a:t>cara</a:t>
            </a:r>
            <a:r>
              <a:rPr lang="en-US" sz="1400" dirty="0" smtClean="0"/>
              <a:t> </a:t>
            </a:r>
            <a:r>
              <a:rPr lang="en-US" sz="1400" dirty="0" err="1" smtClean="0"/>
              <a:t>menyampaikan</a:t>
            </a:r>
            <a:r>
              <a:rPr lang="en-US" sz="1400" dirty="0" smtClean="0"/>
              <a:t> </a:t>
            </a:r>
            <a:r>
              <a:rPr lang="en-US" sz="1400" dirty="0" err="1" smtClean="0"/>
              <a:t>biaya</a:t>
            </a:r>
            <a:r>
              <a:rPr lang="en-US" sz="1400" dirty="0" smtClean="0"/>
              <a:t> </a:t>
            </a:r>
            <a:r>
              <a:rPr lang="en-US" sz="1400" dirty="0" err="1" smtClean="0"/>
              <a:t>permintaan</a:t>
            </a:r>
            <a:r>
              <a:rPr lang="en-US" sz="1400" dirty="0" smtClean="0"/>
              <a:t> data </a:t>
            </a:r>
            <a:r>
              <a:rPr lang="en-US" sz="1400" dirty="0" err="1" smtClean="0"/>
              <a:t>sesuai</a:t>
            </a:r>
            <a:r>
              <a:rPr lang="en-US" sz="1400" dirty="0" smtClean="0"/>
              <a:t> </a:t>
            </a:r>
            <a:r>
              <a:rPr lang="en-US" sz="1400" dirty="0" err="1" smtClean="0"/>
              <a:t>peraturan</a:t>
            </a:r>
            <a:r>
              <a:rPr lang="en-US" sz="1400" dirty="0" smtClean="0"/>
              <a:t> yang </a:t>
            </a:r>
            <a:r>
              <a:rPr lang="en-US" sz="1400" dirty="0" err="1" smtClean="0"/>
              <a:t>berlaku</a:t>
            </a:r>
            <a:r>
              <a:rPr lang="en-US" sz="1400" dirty="0" smtClean="0"/>
              <a:t>. (</a:t>
            </a:r>
            <a:r>
              <a:rPr lang="en-US" sz="1400" b="1" dirty="0" smtClean="0"/>
              <a:t>Anti </a:t>
            </a:r>
            <a:r>
              <a:rPr lang="en-US" sz="1400" b="1" dirty="0" err="1" smtClean="0"/>
              <a:t>Korupsi</a:t>
            </a:r>
            <a:r>
              <a:rPr lang="en-US" sz="1400" dirty="0" smtClean="0"/>
              <a:t>).</a:t>
            </a:r>
            <a:endParaRPr lang="en" sz="1400" dirty="0"/>
          </a:p>
        </p:txBody>
      </p:sp>
      <p:sp>
        <p:nvSpPr>
          <p:cNvPr id="11" name="Shape 108"/>
          <p:cNvSpPr txBox="1">
            <a:spLocks/>
          </p:cNvSpPr>
          <p:nvPr/>
        </p:nvSpPr>
        <p:spPr>
          <a:xfrm>
            <a:off x="107824" y="2884132"/>
            <a:ext cx="58836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sz="2000" dirty="0" err="1" smtClean="0"/>
              <a:t>Jika</a:t>
            </a:r>
            <a:r>
              <a:rPr lang="en-US" sz="2000" dirty="0" smtClean="0"/>
              <a:t> </a:t>
            </a:r>
            <a:r>
              <a:rPr lang="en-US" sz="2000" dirty="0" err="1" smtClean="0"/>
              <a:t>Nilai</a:t>
            </a:r>
            <a:r>
              <a:rPr lang="en-US" sz="2000" dirty="0" smtClean="0"/>
              <a:t> </a:t>
            </a:r>
            <a:r>
              <a:rPr lang="en-US" sz="2000" dirty="0" err="1" smtClean="0"/>
              <a:t>Tidak</a:t>
            </a:r>
            <a:r>
              <a:rPr lang="en-US" sz="2000" dirty="0" smtClean="0"/>
              <a:t> </a:t>
            </a:r>
            <a:r>
              <a:rPr lang="en-US" sz="2000" dirty="0" err="1" smtClean="0"/>
              <a:t>Diterapkan</a:t>
            </a:r>
            <a:r>
              <a:rPr lang="en-US" sz="2000" dirty="0" smtClean="0"/>
              <a:t>:</a:t>
            </a:r>
            <a:endParaRPr lang="id-ID" sz="2000" dirty="0"/>
          </a:p>
        </p:txBody>
      </p:sp>
      <p:sp>
        <p:nvSpPr>
          <p:cNvPr id="12" name="Shape 96"/>
          <p:cNvSpPr txBox="1">
            <a:spLocks/>
          </p:cNvSpPr>
          <p:nvPr/>
        </p:nvSpPr>
        <p:spPr>
          <a:xfrm>
            <a:off x="1024282" y="3533365"/>
            <a:ext cx="7153202" cy="118875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buNone/>
            </a:pPr>
            <a:r>
              <a:rPr lang="en-US" sz="1400" dirty="0" err="1"/>
              <a:t>Sebagai</a:t>
            </a:r>
            <a:r>
              <a:rPr lang="en-US" sz="1400" dirty="0"/>
              <a:t> </a:t>
            </a:r>
            <a:r>
              <a:rPr lang="en-US" sz="1400" dirty="0" err="1"/>
              <a:t>contoh</a:t>
            </a:r>
            <a:r>
              <a:rPr lang="en-US" sz="1400" dirty="0"/>
              <a:t>, </a:t>
            </a:r>
            <a:r>
              <a:rPr lang="en-US" sz="1400" dirty="0" err="1"/>
              <a:t>dalam</a:t>
            </a:r>
            <a:r>
              <a:rPr lang="en-US" sz="1400" dirty="0"/>
              <a:t> </a:t>
            </a:r>
            <a:r>
              <a:rPr lang="en-US" sz="1400" dirty="0" err="1"/>
              <a:t>melaksanakan</a:t>
            </a:r>
            <a:r>
              <a:rPr lang="en-US" sz="1400" dirty="0"/>
              <a:t> </a:t>
            </a:r>
            <a:r>
              <a:rPr lang="en-US" sz="1400" dirty="0" err="1"/>
              <a:t>kegiatan</a:t>
            </a:r>
            <a:r>
              <a:rPr lang="en-US" sz="1400" dirty="0"/>
              <a:t> </a:t>
            </a:r>
            <a:r>
              <a:rPr lang="en-US" sz="1400" dirty="0" err="1"/>
              <a:t>melayani</a:t>
            </a:r>
            <a:r>
              <a:rPr lang="en-US" sz="1400" dirty="0"/>
              <a:t> </a:t>
            </a:r>
            <a:r>
              <a:rPr lang="en-US" sz="1400" dirty="0" err="1"/>
              <a:t>konsumen</a:t>
            </a:r>
            <a:r>
              <a:rPr lang="en-US" sz="1400" dirty="0"/>
              <a:t> data </a:t>
            </a:r>
            <a:r>
              <a:rPr lang="en-US" sz="1400" dirty="0" err="1"/>
              <a:t>saya</a:t>
            </a:r>
            <a:r>
              <a:rPr lang="en-US" sz="1400" dirty="0"/>
              <a:t> </a:t>
            </a:r>
            <a:r>
              <a:rPr lang="en-US" sz="1400" dirty="0" err="1"/>
              <a:t>tidak</a:t>
            </a:r>
            <a:r>
              <a:rPr lang="en-US" sz="1400" dirty="0"/>
              <a:t> </a:t>
            </a:r>
            <a:r>
              <a:rPr lang="en-US" sz="1400" dirty="0" err="1"/>
              <a:t>jujur</a:t>
            </a:r>
            <a:r>
              <a:rPr lang="en-US" sz="1400" dirty="0"/>
              <a:t> </a:t>
            </a:r>
            <a:r>
              <a:rPr lang="en-US" sz="1400" dirty="0" err="1"/>
              <a:t>dengan</a:t>
            </a:r>
            <a:r>
              <a:rPr lang="en-US" sz="1400" dirty="0"/>
              <a:t> </a:t>
            </a:r>
            <a:r>
              <a:rPr lang="en-US" sz="1400" dirty="0" err="1"/>
              <a:t>menyampaikan</a:t>
            </a:r>
            <a:r>
              <a:rPr lang="en-US" sz="1400" dirty="0"/>
              <a:t> </a:t>
            </a:r>
            <a:r>
              <a:rPr lang="en-US" sz="1400" dirty="0" err="1"/>
              <a:t>bahwa</a:t>
            </a:r>
            <a:r>
              <a:rPr lang="en-US" sz="1400" dirty="0"/>
              <a:t> data yang </a:t>
            </a:r>
            <a:r>
              <a:rPr lang="en-US" sz="1400" dirty="0" err="1"/>
              <a:t>seharusnya</a:t>
            </a:r>
            <a:r>
              <a:rPr lang="en-US" sz="1400" dirty="0"/>
              <a:t> gratis </a:t>
            </a:r>
            <a:r>
              <a:rPr lang="en-US" sz="1400" dirty="0" err="1"/>
              <a:t>menjadi</a:t>
            </a:r>
            <a:r>
              <a:rPr lang="en-US" sz="1400" dirty="0"/>
              <a:t> </a:t>
            </a:r>
            <a:r>
              <a:rPr lang="en-US" sz="1400" dirty="0" err="1"/>
              <a:t>berbayar</a:t>
            </a:r>
            <a:r>
              <a:rPr lang="en-US" sz="1400" dirty="0"/>
              <a:t>. </a:t>
            </a:r>
            <a:r>
              <a:rPr lang="en-US" sz="1400" dirty="0" err="1"/>
              <a:t>Maka</a:t>
            </a:r>
            <a:r>
              <a:rPr lang="en-US" sz="1400" dirty="0"/>
              <a:t> </a:t>
            </a:r>
            <a:r>
              <a:rPr lang="en-US" sz="1400" dirty="0" err="1"/>
              <a:t>akan</a:t>
            </a:r>
            <a:r>
              <a:rPr lang="en-US" sz="1400" dirty="0"/>
              <a:t> </a:t>
            </a:r>
            <a:r>
              <a:rPr lang="en-US" sz="1400" dirty="0" err="1"/>
              <a:t>merugikan</a:t>
            </a:r>
            <a:r>
              <a:rPr lang="en-US" sz="1400" dirty="0"/>
              <a:t> </a:t>
            </a:r>
            <a:r>
              <a:rPr lang="en-US" sz="1400" dirty="0" err="1"/>
              <a:t>nama</a:t>
            </a:r>
            <a:r>
              <a:rPr lang="en-US" sz="1400" dirty="0"/>
              <a:t> </a:t>
            </a:r>
            <a:r>
              <a:rPr lang="en-US" sz="1400" dirty="0" err="1"/>
              <a:t>baik</a:t>
            </a:r>
            <a:r>
              <a:rPr lang="en-US" sz="1400" dirty="0"/>
              <a:t> BPS </a:t>
            </a:r>
            <a:r>
              <a:rPr lang="en-US" sz="1400" dirty="0" err="1"/>
              <a:t>apalagi</a:t>
            </a:r>
            <a:r>
              <a:rPr lang="en-US" sz="1400" dirty="0"/>
              <a:t> </a:t>
            </a:r>
            <a:r>
              <a:rPr lang="en-US" sz="1400" dirty="0" err="1"/>
              <a:t>jika</a:t>
            </a:r>
            <a:r>
              <a:rPr lang="en-US" sz="1400" dirty="0"/>
              <a:t> </a:t>
            </a:r>
            <a:r>
              <a:rPr lang="en-US" sz="1400" dirty="0" err="1"/>
              <a:t>konsumen</a:t>
            </a:r>
            <a:r>
              <a:rPr lang="en-US" sz="1400" dirty="0"/>
              <a:t> </a:t>
            </a:r>
            <a:r>
              <a:rPr lang="en-US" sz="1400" dirty="0" err="1"/>
              <a:t>tersebut</a:t>
            </a:r>
            <a:r>
              <a:rPr lang="en-US" sz="1400" dirty="0"/>
              <a:t> </a:t>
            </a:r>
            <a:r>
              <a:rPr lang="en-US" sz="1400" dirty="0" err="1"/>
              <a:t>mengerti</a:t>
            </a:r>
            <a:r>
              <a:rPr lang="en-US" sz="1400" dirty="0"/>
              <a:t> </a:t>
            </a:r>
            <a:r>
              <a:rPr lang="en-US" sz="1400" dirty="0" err="1"/>
              <a:t>bahwa</a:t>
            </a:r>
            <a:r>
              <a:rPr lang="en-US" sz="1400" dirty="0"/>
              <a:t> data yang </a:t>
            </a:r>
            <a:r>
              <a:rPr lang="en-US" sz="1400" dirty="0" err="1"/>
              <a:t>dia</a:t>
            </a:r>
            <a:r>
              <a:rPr lang="en-US" sz="1400" dirty="0"/>
              <a:t> </a:t>
            </a:r>
            <a:r>
              <a:rPr lang="en-US" sz="1400" dirty="0" err="1"/>
              <a:t>minta</a:t>
            </a:r>
            <a:r>
              <a:rPr lang="en-US" sz="1400" dirty="0"/>
              <a:t> </a:t>
            </a:r>
            <a:r>
              <a:rPr lang="en-US" sz="1400" dirty="0" err="1"/>
              <a:t>adalah</a:t>
            </a:r>
            <a:r>
              <a:rPr lang="en-US" sz="1400" dirty="0"/>
              <a:t> gratis.</a:t>
            </a:r>
            <a:endParaRPr lang="id-ID" sz="1400" dirty="0"/>
          </a:p>
        </p:txBody>
      </p:sp>
    </p:spTree>
    <p:extLst>
      <p:ext uri="{BB962C8B-B14F-4D97-AF65-F5344CB8AC3E}">
        <p14:creationId xmlns:p14="http://schemas.microsoft.com/office/powerpoint/2010/main" val="4124967887"/>
      </p:ext>
    </p:extLst>
  </p:cSld>
  <p:clrMapOvr>
    <a:masterClrMapping/>
  </p:clrMapOvr>
  <p:transition spd="slow">
    <p:cu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10937" y="300252"/>
            <a:ext cx="4449169" cy="338554"/>
          </a:xfrm>
          <a:prstGeom prst="rect">
            <a:avLst/>
          </a:prstGeom>
          <a:noFill/>
        </p:spPr>
        <p:txBody>
          <a:bodyPr wrap="square" rtlCol="0">
            <a:spAutoFit/>
          </a:bodyPr>
          <a:lstStyle/>
          <a:p>
            <a:pPr algn="ctr"/>
            <a:r>
              <a:rPr lang="en-US" sz="1600" b="1" dirty="0" err="1" smtClean="0"/>
              <a:t>Tabel</a:t>
            </a:r>
            <a:r>
              <a:rPr lang="en-US" sz="1600" b="1" dirty="0" smtClean="0"/>
              <a:t> </a:t>
            </a:r>
            <a:r>
              <a:rPr lang="en-US" sz="1600" b="1" dirty="0" err="1" smtClean="0"/>
              <a:t>Kendala</a:t>
            </a:r>
            <a:r>
              <a:rPr lang="en-US" sz="1600" b="1" dirty="0" smtClean="0"/>
              <a:t> </a:t>
            </a:r>
            <a:r>
              <a:rPr lang="en-US" sz="1600" b="1" dirty="0" err="1" smtClean="0"/>
              <a:t>dan</a:t>
            </a:r>
            <a:r>
              <a:rPr lang="en-US" sz="1600" b="1" dirty="0" smtClean="0"/>
              <a:t> </a:t>
            </a:r>
            <a:r>
              <a:rPr lang="en-US" sz="1600" b="1" dirty="0" err="1" smtClean="0"/>
              <a:t>Solusi</a:t>
            </a:r>
            <a:endParaRPr lang="id-ID" sz="1600" dirty="0"/>
          </a:p>
        </p:txBody>
      </p:sp>
      <p:graphicFrame>
        <p:nvGraphicFramePr>
          <p:cNvPr id="4" name="Table 3"/>
          <p:cNvGraphicFramePr>
            <a:graphicFrameLocks noGrp="1"/>
          </p:cNvGraphicFramePr>
          <p:nvPr>
            <p:extLst>
              <p:ext uri="{D42A27DB-BD31-4B8C-83A1-F6EECF244321}">
                <p14:modId xmlns:p14="http://schemas.microsoft.com/office/powerpoint/2010/main" val="1876817862"/>
              </p:ext>
            </p:extLst>
          </p:nvPr>
        </p:nvGraphicFramePr>
        <p:xfrm>
          <a:off x="1173708" y="736980"/>
          <a:ext cx="6837528" cy="4080680"/>
        </p:xfrm>
        <a:graphic>
          <a:graphicData uri="http://schemas.openxmlformats.org/drawingml/2006/table">
            <a:tbl>
              <a:tblPr firstRow="1" firstCol="1" bandRow="1">
                <a:tableStyleId>{284E427A-3D55-4303-BF80-6455036E1DE7}</a:tableStyleId>
              </a:tblPr>
              <a:tblGrid>
                <a:gridCol w="542630"/>
                <a:gridCol w="2126809"/>
                <a:gridCol w="2151517"/>
                <a:gridCol w="2016572"/>
              </a:tblGrid>
              <a:tr h="398920">
                <a:tc>
                  <a:txBody>
                    <a:bodyPr/>
                    <a:lstStyle/>
                    <a:p>
                      <a:pPr marL="0" marR="0" algn="ctr">
                        <a:lnSpc>
                          <a:spcPct val="115000"/>
                        </a:lnSpc>
                        <a:spcBef>
                          <a:spcPts val="200"/>
                        </a:spcBef>
                        <a:spcAft>
                          <a:spcPts val="100"/>
                        </a:spcAft>
                      </a:pPr>
                      <a:r>
                        <a:rPr lang="en-US" sz="1050" dirty="0">
                          <a:effectLst/>
                        </a:rPr>
                        <a:t>No.</a:t>
                      </a:r>
                      <a:endParaRPr lang="id-ID"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55371" marR="55371" marT="0" marB="0" anchor="ctr"/>
                </a:tc>
                <a:tc>
                  <a:txBody>
                    <a:bodyPr/>
                    <a:lstStyle/>
                    <a:p>
                      <a:pPr marL="0" marR="0" algn="ctr">
                        <a:lnSpc>
                          <a:spcPct val="115000"/>
                        </a:lnSpc>
                        <a:spcBef>
                          <a:spcPts val="200"/>
                        </a:spcBef>
                        <a:spcAft>
                          <a:spcPts val="100"/>
                        </a:spcAft>
                      </a:pPr>
                      <a:r>
                        <a:rPr lang="en-US" sz="1050">
                          <a:effectLst/>
                        </a:rPr>
                        <a:t>Kegiatan</a:t>
                      </a:r>
                      <a:endParaRPr lang="id-ID" sz="1050">
                        <a:effectLst/>
                        <a:latin typeface="Calibri" panose="020F0502020204030204" pitchFamily="34" charset="0"/>
                        <a:ea typeface="Calibri" panose="020F0502020204030204" pitchFamily="34" charset="0"/>
                        <a:cs typeface="Times New Roman" panose="02020603050405020304" pitchFamily="18" charset="0"/>
                      </a:endParaRPr>
                    </a:p>
                  </a:txBody>
                  <a:tcPr marL="55371" marR="55371" marT="0" marB="0" anchor="ctr"/>
                </a:tc>
                <a:tc>
                  <a:txBody>
                    <a:bodyPr/>
                    <a:lstStyle/>
                    <a:p>
                      <a:pPr marL="0" marR="0" algn="ctr">
                        <a:lnSpc>
                          <a:spcPct val="115000"/>
                        </a:lnSpc>
                        <a:spcBef>
                          <a:spcPts val="200"/>
                        </a:spcBef>
                        <a:spcAft>
                          <a:spcPts val="100"/>
                        </a:spcAft>
                      </a:pPr>
                      <a:r>
                        <a:rPr lang="en-US" sz="1050">
                          <a:effectLst/>
                        </a:rPr>
                        <a:t>Kendala</a:t>
                      </a:r>
                      <a:endParaRPr lang="id-ID" sz="1050">
                        <a:effectLst/>
                        <a:latin typeface="Calibri" panose="020F0502020204030204" pitchFamily="34" charset="0"/>
                        <a:ea typeface="Calibri" panose="020F0502020204030204" pitchFamily="34" charset="0"/>
                        <a:cs typeface="Times New Roman" panose="02020603050405020304" pitchFamily="18" charset="0"/>
                      </a:endParaRPr>
                    </a:p>
                  </a:txBody>
                  <a:tcPr marL="55371" marR="55371" marT="0" marB="0" anchor="ctr"/>
                </a:tc>
                <a:tc>
                  <a:txBody>
                    <a:bodyPr/>
                    <a:lstStyle/>
                    <a:p>
                      <a:pPr marL="0" marR="0" algn="ctr">
                        <a:lnSpc>
                          <a:spcPct val="115000"/>
                        </a:lnSpc>
                        <a:spcBef>
                          <a:spcPts val="200"/>
                        </a:spcBef>
                        <a:spcAft>
                          <a:spcPts val="100"/>
                        </a:spcAft>
                      </a:pPr>
                      <a:r>
                        <a:rPr lang="en-US" sz="1050" dirty="0" err="1">
                          <a:effectLst/>
                        </a:rPr>
                        <a:t>Solusi</a:t>
                      </a:r>
                      <a:endParaRPr lang="id-ID"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55371" marR="55371" marT="0" marB="0" anchor="ctr"/>
                </a:tc>
              </a:tr>
              <a:tr h="230971">
                <a:tc>
                  <a:txBody>
                    <a:bodyPr/>
                    <a:lstStyle/>
                    <a:p>
                      <a:pPr marL="0" marR="0" algn="ctr">
                        <a:lnSpc>
                          <a:spcPct val="115000"/>
                        </a:lnSpc>
                        <a:spcBef>
                          <a:spcPts val="200"/>
                        </a:spcBef>
                        <a:spcAft>
                          <a:spcPts val="100"/>
                        </a:spcAft>
                      </a:pPr>
                      <a:r>
                        <a:rPr lang="en-US" sz="900">
                          <a:effectLst/>
                        </a:rPr>
                        <a:t>(1)</a:t>
                      </a:r>
                      <a:endParaRPr lang="id-ID" sz="900">
                        <a:effectLst/>
                        <a:latin typeface="Calibri" panose="020F0502020204030204" pitchFamily="34" charset="0"/>
                        <a:ea typeface="Calibri" panose="020F0502020204030204" pitchFamily="34" charset="0"/>
                        <a:cs typeface="Times New Roman" panose="02020603050405020304" pitchFamily="18" charset="0"/>
                      </a:endParaRPr>
                    </a:p>
                  </a:txBody>
                  <a:tcPr marL="55371" marR="55371" marT="0" marB="0" anchor="ctr"/>
                </a:tc>
                <a:tc>
                  <a:txBody>
                    <a:bodyPr/>
                    <a:lstStyle/>
                    <a:p>
                      <a:pPr marL="0" marR="0" algn="ctr">
                        <a:lnSpc>
                          <a:spcPct val="115000"/>
                        </a:lnSpc>
                        <a:spcBef>
                          <a:spcPts val="200"/>
                        </a:spcBef>
                        <a:spcAft>
                          <a:spcPts val="100"/>
                        </a:spcAft>
                      </a:pPr>
                      <a:r>
                        <a:rPr lang="en-US" sz="900">
                          <a:effectLst/>
                        </a:rPr>
                        <a:t>(2)</a:t>
                      </a:r>
                      <a:endParaRPr lang="id-ID" sz="900">
                        <a:effectLst/>
                        <a:latin typeface="Calibri" panose="020F0502020204030204" pitchFamily="34" charset="0"/>
                        <a:ea typeface="Calibri" panose="020F0502020204030204" pitchFamily="34" charset="0"/>
                        <a:cs typeface="Times New Roman" panose="02020603050405020304" pitchFamily="18" charset="0"/>
                      </a:endParaRPr>
                    </a:p>
                  </a:txBody>
                  <a:tcPr marL="55371" marR="55371" marT="0" marB="0" anchor="ctr"/>
                </a:tc>
                <a:tc>
                  <a:txBody>
                    <a:bodyPr/>
                    <a:lstStyle/>
                    <a:p>
                      <a:pPr marL="0" marR="0" algn="ctr">
                        <a:lnSpc>
                          <a:spcPct val="115000"/>
                        </a:lnSpc>
                        <a:spcBef>
                          <a:spcPts val="200"/>
                        </a:spcBef>
                        <a:spcAft>
                          <a:spcPts val="100"/>
                        </a:spcAft>
                      </a:pPr>
                      <a:r>
                        <a:rPr lang="en-US" sz="900">
                          <a:effectLst/>
                        </a:rPr>
                        <a:t>(3)</a:t>
                      </a:r>
                      <a:endParaRPr lang="id-ID" sz="900">
                        <a:effectLst/>
                        <a:latin typeface="Calibri" panose="020F0502020204030204" pitchFamily="34" charset="0"/>
                        <a:ea typeface="Calibri" panose="020F0502020204030204" pitchFamily="34" charset="0"/>
                        <a:cs typeface="Times New Roman" panose="02020603050405020304" pitchFamily="18" charset="0"/>
                      </a:endParaRPr>
                    </a:p>
                  </a:txBody>
                  <a:tcPr marL="55371" marR="55371" marT="0" marB="0" anchor="ctr"/>
                </a:tc>
                <a:tc>
                  <a:txBody>
                    <a:bodyPr/>
                    <a:lstStyle/>
                    <a:p>
                      <a:pPr marL="0" marR="0" algn="ctr">
                        <a:lnSpc>
                          <a:spcPct val="115000"/>
                        </a:lnSpc>
                        <a:spcBef>
                          <a:spcPts val="200"/>
                        </a:spcBef>
                        <a:spcAft>
                          <a:spcPts val="100"/>
                        </a:spcAft>
                      </a:pPr>
                      <a:r>
                        <a:rPr lang="en-US" sz="900">
                          <a:effectLst/>
                        </a:rPr>
                        <a:t>(4)</a:t>
                      </a:r>
                      <a:endParaRPr lang="id-ID" sz="900">
                        <a:effectLst/>
                        <a:latin typeface="Calibri" panose="020F0502020204030204" pitchFamily="34" charset="0"/>
                        <a:ea typeface="Calibri" panose="020F0502020204030204" pitchFamily="34" charset="0"/>
                        <a:cs typeface="Times New Roman" panose="02020603050405020304" pitchFamily="18" charset="0"/>
                      </a:endParaRPr>
                    </a:p>
                  </a:txBody>
                  <a:tcPr marL="55371" marR="55371" marT="0" marB="0" anchor="ctr"/>
                </a:tc>
              </a:tr>
              <a:tr h="1616926">
                <a:tc>
                  <a:txBody>
                    <a:bodyPr/>
                    <a:lstStyle/>
                    <a:p>
                      <a:pPr marL="0" marR="0" algn="ctr">
                        <a:lnSpc>
                          <a:spcPct val="115000"/>
                        </a:lnSpc>
                        <a:spcBef>
                          <a:spcPts val="200"/>
                        </a:spcBef>
                        <a:spcAft>
                          <a:spcPts val="100"/>
                        </a:spcAft>
                      </a:pPr>
                      <a:r>
                        <a:rPr lang="en-US" sz="1050">
                          <a:effectLst/>
                        </a:rPr>
                        <a:t>1</a:t>
                      </a:r>
                      <a:endParaRPr lang="id-ID" sz="1050">
                        <a:effectLst/>
                        <a:latin typeface="Calibri" panose="020F0502020204030204" pitchFamily="34" charset="0"/>
                        <a:ea typeface="Calibri" panose="020F0502020204030204" pitchFamily="34" charset="0"/>
                        <a:cs typeface="Times New Roman" panose="02020603050405020304" pitchFamily="18" charset="0"/>
                      </a:endParaRPr>
                    </a:p>
                  </a:txBody>
                  <a:tcPr marL="55371" marR="55371" marT="0" marB="0" anchor="ctr"/>
                </a:tc>
                <a:tc>
                  <a:txBody>
                    <a:bodyPr/>
                    <a:lstStyle/>
                    <a:p>
                      <a:pPr marL="0" marR="0" algn="just">
                        <a:lnSpc>
                          <a:spcPct val="115000"/>
                        </a:lnSpc>
                        <a:spcBef>
                          <a:spcPts val="200"/>
                        </a:spcBef>
                        <a:spcAft>
                          <a:spcPts val="100"/>
                        </a:spcAft>
                      </a:pPr>
                      <a:r>
                        <a:rPr lang="en-US" sz="1050">
                          <a:effectLst/>
                        </a:rPr>
                        <a:t>Membuat peta tematik dari data bontang dalam angka 2015</a:t>
                      </a:r>
                      <a:endParaRPr lang="id-ID" sz="1050">
                        <a:effectLst/>
                        <a:latin typeface="Calibri" panose="020F0502020204030204" pitchFamily="34" charset="0"/>
                        <a:ea typeface="Calibri" panose="020F0502020204030204" pitchFamily="34" charset="0"/>
                        <a:cs typeface="Times New Roman" panose="02020603050405020304" pitchFamily="18" charset="0"/>
                      </a:endParaRPr>
                    </a:p>
                  </a:txBody>
                  <a:tcPr marL="55371" marR="55371" marT="0" marB="0" anchor="ctr"/>
                </a:tc>
                <a:tc>
                  <a:txBody>
                    <a:bodyPr/>
                    <a:lstStyle/>
                    <a:p>
                      <a:pPr marL="0" marR="0" algn="just">
                        <a:lnSpc>
                          <a:spcPct val="115000"/>
                        </a:lnSpc>
                        <a:spcBef>
                          <a:spcPts val="200"/>
                        </a:spcBef>
                        <a:spcAft>
                          <a:spcPts val="100"/>
                        </a:spcAft>
                      </a:pPr>
                      <a:r>
                        <a:rPr lang="en-US" sz="1050" dirty="0">
                          <a:effectLst/>
                        </a:rPr>
                        <a:t>Di unit </a:t>
                      </a:r>
                      <a:r>
                        <a:rPr lang="en-US" sz="1050" dirty="0" err="1">
                          <a:effectLst/>
                        </a:rPr>
                        <a:t>kerja</a:t>
                      </a:r>
                      <a:r>
                        <a:rPr lang="en-US" sz="1050" dirty="0">
                          <a:effectLst/>
                        </a:rPr>
                        <a:t> </a:t>
                      </a:r>
                      <a:r>
                        <a:rPr lang="en-US" sz="1050" dirty="0" err="1">
                          <a:effectLst/>
                        </a:rPr>
                        <a:t>tidak</a:t>
                      </a:r>
                      <a:r>
                        <a:rPr lang="en-US" sz="1050" dirty="0">
                          <a:effectLst/>
                        </a:rPr>
                        <a:t> </a:t>
                      </a:r>
                      <a:r>
                        <a:rPr lang="en-US" sz="1050" dirty="0" err="1">
                          <a:effectLst/>
                        </a:rPr>
                        <a:t>menyimpan</a:t>
                      </a:r>
                      <a:r>
                        <a:rPr lang="en-US" sz="1050" dirty="0">
                          <a:effectLst/>
                        </a:rPr>
                        <a:t> </a:t>
                      </a:r>
                      <a:r>
                        <a:rPr lang="en-US" sz="1050" dirty="0" err="1">
                          <a:effectLst/>
                        </a:rPr>
                        <a:t>shapefile</a:t>
                      </a:r>
                      <a:r>
                        <a:rPr lang="en-US" sz="1050" dirty="0">
                          <a:effectLst/>
                        </a:rPr>
                        <a:t> </a:t>
                      </a:r>
                      <a:r>
                        <a:rPr lang="en-US" sz="1050" dirty="0" err="1">
                          <a:effectLst/>
                        </a:rPr>
                        <a:t>peta</a:t>
                      </a:r>
                      <a:r>
                        <a:rPr lang="en-US" sz="1050" dirty="0">
                          <a:effectLst/>
                        </a:rPr>
                        <a:t> </a:t>
                      </a:r>
                      <a:r>
                        <a:rPr lang="en-US" sz="1050" dirty="0" err="1">
                          <a:effectLst/>
                        </a:rPr>
                        <a:t>kota</a:t>
                      </a:r>
                      <a:r>
                        <a:rPr lang="en-US" sz="1050" dirty="0">
                          <a:effectLst/>
                        </a:rPr>
                        <a:t> </a:t>
                      </a:r>
                      <a:r>
                        <a:rPr lang="en-US" sz="1050" dirty="0" err="1">
                          <a:effectLst/>
                        </a:rPr>
                        <a:t>bontang</a:t>
                      </a:r>
                      <a:r>
                        <a:rPr lang="en-US" sz="1050" dirty="0">
                          <a:effectLst/>
                        </a:rPr>
                        <a:t>, yang </a:t>
                      </a:r>
                      <a:r>
                        <a:rPr lang="en-US" sz="1050" dirty="0" err="1">
                          <a:effectLst/>
                        </a:rPr>
                        <a:t>merupakan</a:t>
                      </a:r>
                      <a:r>
                        <a:rPr lang="en-US" sz="1050" dirty="0">
                          <a:effectLst/>
                        </a:rPr>
                        <a:t> </a:t>
                      </a:r>
                      <a:r>
                        <a:rPr lang="en-US" sz="1050" dirty="0" err="1">
                          <a:effectLst/>
                        </a:rPr>
                        <a:t>bahan</a:t>
                      </a:r>
                      <a:r>
                        <a:rPr lang="en-US" sz="1050" dirty="0">
                          <a:effectLst/>
                        </a:rPr>
                        <a:t> </a:t>
                      </a:r>
                      <a:r>
                        <a:rPr lang="en-US" sz="1050" dirty="0" err="1">
                          <a:effectLst/>
                        </a:rPr>
                        <a:t>pembuatan</a:t>
                      </a:r>
                      <a:r>
                        <a:rPr lang="en-US" sz="1050" dirty="0">
                          <a:effectLst/>
                        </a:rPr>
                        <a:t> </a:t>
                      </a:r>
                      <a:r>
                        <a:rPr lang="en-US" sz="1050" dirty="0" err="1">
                          <a:effectLst/>
                        </a:rPr>
                        <a:t>peta</a:t>
                      </a:r>
                      <a:r>
                        <a:rPr lang="en-US" sz="1050" dirty="0">
                          <a:effectLst/>
                        </a:rPr>
                        <a:t> </a:t>
                      </a:r>
                      <a:r>
                        <a:rPr lang="en-US" sz="1050" dirty="0" err="1">
                          <a:effectLst/>
                        </a:rPr>
                        <a:t>tematik</a:t>
                      </a:r>
                      <a:r>
                        <a:rPr lang="en-US" sz="1050" dirty="0">
                          <a:effectLst/>
                        </a:rPr>
                        <a:t> yang </a:t>
                      </a:r>
                      <a:r>
                        <a:rPr lang="en-US" sz="1050" dirty="0" err="1">
                          <a:effectLst/>
                        </a:rPr>
                        <a:t>seharusnya</a:t>
                      </a:r>
                      <a:r>
                        <a:rPr lang="en-US" sz="1050" dirty="0">
                          <a:effectLst/>
                        </a:rPr>
                        <a:t> </a:t>
                      </a:r>
                      <a:r>
                        <a:rPr lang="en-US" sz="1050" dirty="0" err="1">
                          <a:effectLst/>
                        </a:rPr>
                        <a:t>dimiliki</a:t>
                      </a:r>
                      <a:r>
                        <a:rPr lang="en-US" sz="1050" dirty="0">
                          <a:effectLst/>
                        </a:rPr>
                        <a:t> </a:t>
                      </a:r>
                      <a:r>
                        <a:rPr lang="en-US" sz="1050" dirty="0" err="1">
                          <a:effectLst/>
                        </a:rPr>
                        <a:t>setiap</a:t>
                      </a:r>
                      <a:r>
                        <a:rPr lang="en-US" sz="1050" dirty="0">
                          <a:effectLst/>
                        </a:rPr>
                        <a:t> bps </a:t>
                      </a:r>
                      <a:r>
                        <a:rPr lang="en-US" sz="1050" dirty="0" err="1">
                          <a:effectLst/>
                        </a:rPr>
                        <a:t>kab</a:t>
                      </a:r>
                      <a:r>
                        <a:rPr lang="en-US" sz="1050" dirty="0">
                          <a:effectLst/>
                        </a:rPr>
                        <a:t>/</a:t>
                      </a:r>
                      <a:r>
                        <a:rPr lang="en-US" sz="1050" dirty="0" err="1">
                          <a:effectLst/>
                        </a:rPr>
                        <a:t>kota</a:t>
                      </a:r>
                      <a:endParaRPr lang="id-ID"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55371" marR="55371" marT="0" marB="0" anchor="ctr"/>
                </a:tc>
                <a:tc>
                  <a:txBody>
                    <a:bodyPr/>
                    <a:lstStyle/>
                    <a:p>
                      <a:pPr marL="0" marR="0" algn="just">
                        <a:lnSpc>
                          <a:spcPct val="115000"/>
                        </a:lnSpc>
                        <a:spcBef>
                          <a:spcPts val="200"/>
                        </a:spcBef>
                        <a:spcAft>
                          <a:spcPts val="100"/>
                        </a:spcAft>
                      </a:pPr>
                      <a:r>
                        <a:rPr lang="en-US" sz="1050">
                          <a:effectLst/>
                        </a:rPr>
                        <a:t>Menghubungi bagian diseminasi dan promosi statistik BPS Pusat untuk meminta shapefile-nya</a:t>
                      </a:r>
                      <a:endParaRPr lang="id-ID" sz="1050">
                        <a:effectLst/>
                        <a:latin typeface="Calibri" panose="020F0502020204030204" pitchFamily="34" charset="0"/>
                        <a:ea typeface="Calibri" panose="020F0502020204030204" pitchFamily="34" charset="0"/>
                        <a:cs typeface="Times New Roman" panose="02020603050405020304" pitchFamily="18" charset="0"/>
                      </a:endParaRPr>
                    </a:p>
                  </a:txBody>
                  <a:tcPr marL="55371" marR="55371" marT="0" marB="0" anchor="ctr"/>
                </a:tc>
              </a:tr>
              <a:tr h="1140951">
                <a:tc>
                  <a:txBody>
                    <a:bodyPr/>
                    <a:lstStyle/>
                    <a:p>
                      <a:pPr marL="0" marR="0" algn="ctr">
                        <a:lnSpc>
                          <a:spcPct val="115000"/>
                        </a:lnSpc>
                        <a:spcBef>
                          <a:spcPts val="200"/>
                        </a:spcBef>
                        <a:spcAft>
                          <a:spcPts val="100"/>
                        </a:spcAft>
                      </a:pPr>
                      <a:r>
                        <a:rPr lang="en-US" sz="1050" dirty="0">
                          <a:effectLst/>
                        </a:rPr>
                        <a:t>2</a:t>
                      </a:r>
                      <a:endParaRPr lang="id-ID"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55371" marR="55371" marT="0" marB="0" anchor="ctr"/>
                </a:tc>
                <a:tc>
                  <a:txBody>
                    <a:bodyPr/>
                    <a:lstStyle/>
                    <a:p>
                      <a:pPr marL="0" marR="0" algn="just">
                        <a:lnSpc>
                          <a:spcPct val="115000"/>
                        </a:lnSpc>
                        <a:spcBef>
                          <a:spcPts val="200"/>
                        </a:spcBef>
                        <a:spcAft>
                          <a:spcPts val="100"/>
                        </a:spcAft>
                      </a:pPr>
                      <a:r>
                        <a:rPr lang="en-US" sz="1050">
                          <a:effectLst/>
                        </a:rPr>
                        <a:t>Melakukan instalasi program PST</a:t>
                      </a:r>
                      <a:endParaRPr lang="id-ID" sz="1050">
                        <a:effectLst/>
                        <a:latin typeface="Calibri" panose="020F0502020204030204" pitchFamily="34" charset="0"/>
                        <a:ea typeface="Calibri" panose="020F0502020204030204" pitchFamily="34" charset="0"/>
                        <a:cs typeface="Times New Roman" panose="02020603050405020304" pitchFamily="18" charset="0"/>
                      </a:endParaRPr>
                    </a:p>
                  </a:txBody>
                  <a:tcPr marL="55371" marR="55371" marT="0" marB="0" anchor="ctr"/>
                </a:tc>
                <a:tc>
                  <a:txBody>
                    <a:bodyPr/>
                    <a:lstStyle/>
                    <a:p>
                      <a:pPr marL="0" marR="0" algn="just">
                        <a:lnSpc>
                          <a:spcPct val="115000"/>
                        </a:lnSpc>
                        <a:spcBef>
                          <a:spcPts val="200"/>
                        </a:spcBef>
                        <a:spcAft>
                          <a:spcPts val="100"/>
                        </a:spcAft>
                      </a:pPr>
                      <a:r>
                        <a:rPr lang="en-US" sz="1050">
                          <a:effectLst/>
                        </a:rPr>
                        <a:t>Di unit kerja tidak terdapat file instalasi program PST </a:t>
                      </a:r>
                      <a:endParaRPr lang="id-ID" sz="1050">
                        <a:effectLst/>
                        <a:latin typeface="Calibri" panose="020F0502020204030204" pitchFamily="34" charset="0"/>
                        <a:ea typeface="Calibri" panose="020F0502020204030204" pitchFamily="34" charset="0"/>
                        <a:cs typeface="Times New Roman" panose="02020603050405020304" pitchFamily="18" charset="0"/>
                      </a:endParaRPr>
                    </a:p>
                  </a:txBody>
                  <a:tcPr marL="55371" marR="55371" marT="0" marB="0" anchor="ctr"/>
                </a:tc>
                <a:tc>
                  <a:txBody>
                    <a:bodyPr/>
                    <a:lstStyle/>
                    <a:p>
                      <a:pPr marL="0" marR="0" algn="just">
                        <a:lnSpc>
                          <a:spcPct val="115000"/>
                        </a:lnSpc>
                        <a:spcBef>
                          <a:spcPts val="200"/>
                        </a:spcBef>
                        <a:spcAft>
                          <a:spcPts val="100"/>
                        </a:spcAft>
                      </a:pPr>
                      <a:r>
                        <a:rPr lang="en-US" sz="1050">
                          <a:effectLst/>
                        </a:rPr>
                        <a:t>Menghubungi bagian perpustakaan BPS Provinsi Kaltim untuk meminta file program PST</a:t>
                      </a:r>
                      <a:endParaRPr lang="id-ID" sz="1050">
                        <a:effectLst/>
                        <a:latin typeface="Calibri" panose="020F0502020204030204" pitchFamily="34" charset="0"/>
                        <a:ea typeface="Calibri" panose="020F0502020204030204" pitchFamily="34" charset="0"/>
                        <a:cs typeface="Times New Roman" panose="02020603050405020304" pitchFamily="18" charset="0"/>
                      </a:endParaRPr>
                    </a:p>
                  </a:txBody>
                  <a:tcPr marL="55371" marR="55371" marT="0" marB="0" anchor="ctr"/>
                </a:tc>
              </a:tr>
              <a:tr h="692912">
                <a:tc>
                  <a:txBody>
                    <a:bodyPr/>
                    <a:lstStyle/>
                    <a:p>
                      <a:pPr marL="0" marR="0" algn="ctr">
                        <a:lnSpc>
                          <a:spcPct val="115000"/>
                        </a:lnSpc>
                        <a:spcBef>
                          <a:spcPts val="200"/>
                        </a:spcBef>
                        <a:spcAft>
                          <a:spcPts val="100"/>
                        </a:spcAft>
                      </a:pPr>
                      <a:r>
                        <a:rPr lang="en-US" sz="1050" dirty="0">
                          <a:effectLst/>
                        </a:rPr>
                        <a:t>3</a:t>
                      </a:r>
                      <a:endParaRPr lang="id-ID"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55371" marR="55371" marT="0" marB="0" anchor="ctr"/>
                </a:tc>
                <a:tc>
                  <a:txBody>
                    <a:bodyPr/>
                    <a:lstStyle/>
                    <a:p>
                      <a:pPr marL="0" marR="0" algn="just">
                        <a:lnSpc>
                          <a:spcPct val="115000"/>
                        </a:lnSpc>
                        <a:spcBef>
                          <a:spcPts val="200"/>
                        </a:spcBef>
                        <a:spcAft>
                          <a:spcPts val="100"/>
                        </a:spcAft>
                      </a:pPr>
                      <a:r>
                        <a:rPr lang="en-US" sz="1050">
                          <a:effectLst/>
                        </a:rPr>
                        <a:t>Melakukan entri sakernas</a:t>
                      </a:r>
                      <a:endParaRPr lang="id-ID" sz="1050">
                        <a:effectLst/>
                        <a:latin typeface="Calibri" panose="020F0502020204030204" pitchFamily="34" charset="0"/>
                        <a:ea typeface="Calibri" panose="020F0502020204030204" pitchFamily="34" charset="0"/>
                        <a:cs typeface="Times New Roman" panose="02020603050405020304" pitchFamily="18" charset="0"/>
                      </a:endParaRPr>
                    </a:p>
                  </a:txBody>
                  <a:tcPr marL="55371" marR="55371" marT="0" marB="0" anchor="ctr"/>
                </a:tc>
                <a:tc>
                  <a:txBody>
                    <a:bodyPr/>
                    <a:lstStyle/>
                    <a:p>
                      <a:pPr marL="0" marR="0" algn="just">
                        <a:lnSpc>
                          <a:spcPct val="115000"/>
                        </a:lnSpc>
                        <a:spcBef>
                          <a:spcPts val="200"/>
                        </a:spcBef>
                        <a:spcAft>
                          <a:spcPts val="100"/>
                        </a:spcAft>
                      </a:pPr>
                      <a:r>
                        <a:rPr lang="en-US" sz="1050" dirty="0" err="1">
                          <a:effectLst/>
                        </a:rPr>
                        <a:t>Dokumen</a:t>
                      </a:r>
                      <a:r>
                        <a:rPr lang="en-US" sz="1050" dirty="0">
                          <a:effectLst/>
                        </a:rPr>
                        <a:t> yang di </a:t>
                      </a:r>
                      <a:r>
                        <a:rPr lang="en-US" sz="1050" dirty="0" err="1">
                          <a:effectLst/>
                        </a:rPr>
                        <a:t>entri</a:t>
                      </a:r>
                      <a:r>
                        <a:rPr lang="en-US" sz="1050" dirty="0">
                          <a:effectLst/>
                        </a:rPr>
                        <a:t> </a:t>
                      </a:r>
                      <a:r>
                        <a:rPr lang="en-US" sz="1050" dirty="0" err="1">
                          <a:effectLst/>
                        </a:rPr>
                        <a:t>tidak</a:t>
                      </a:r>
                      <a:r>
                        <a:rPr lang="en-US" sz="1050" dirty="0">
                          <a:effectLst/>
                        </a:rPr>
                        <a:t> </a:t>
                      </a:r>
                      <a:r>
                        <a:rPr lang="en-US" sz="1050" dirty="0" err="1">
                          <a:effectLst/>
                        </a:rPr>
                        <a:t>memenuhi</a:t>
                      </a:r>
                      <a:r>
                        <a:rPr lang="en-US" sz="1050" dirty="0">
                          <a:effectLst/>
                        </a:rPr>
                        <a:t> target</a:t>
                      </a:r>
                      <a:endParaRPr lang="id-ID"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55371" marR="55371" marT="0" marB="0" anchor="ctr"/>
                </a:tc>
                <a:tc>
                  <a:txBody>
                    <a:bodyPr/>
                    <a:lstStyle/>
                    <a:p>
                      <a:pPr marL="0" marR="0" algn="just">
                        <a:lnSpc>
                          <a:spcPct val="115000"/>
                        </a:lnSpc>
                        <a:spcBef>
                          <a:spcPts val="200"/>
                        </a:spcBef>
                        <a:spcAft>
                          <a:spcPts val="100"/>
                        </a:spcAft>
                      </a:pPr>
                      <a:r>
                        <a:rPr lang="en-US" sz="1050" dirty="0" err="1">
                          <a:effectLst/>
                        </a:rPr>
                        <a:t>Menukar</a:t>
                      </a:r>
                      <a:r>
                        <a:rPr lang="en-US" sz="1050" dirty="0">
                          <a:effectLst/>
                        </a:rPr>
                        <a:t> </a:t>
                      </a:r>
                      <a:r>
                        <a:rPr lang="en-US" sz="1050" dirty="0" err="1">
                          <a:effectLst/>
                        </a:rPr>
                        <a:t>tanggal</a:t>
                      </a:r>
                      <a:r>
                        <a:rPr lang="en-US" sz="1050" dirty="0">
                          <a:effectLst/>
                        </a:rPr>
                        <a:t> </a:t>
                      </a:r>
                      <a:r>
                        <a:rPr lang="en-US" sz="1050" dirty="0" err="1">
                          <a:effectLst/>
                        </a:rPr>
                        <a:t>kegiatan</a:t>
                      </a:r>
                      <a:r>
                        <a:rPr lang="en-US" sz="1050" dirty="0">
                          <a:effectLst/>
                        </a:rPr>
                        <a:t> </a:t>
                      </a:r>
                      <a:r>
                        <a:rPr lang="en-US" sz="1050" dirty="0" err="1">
                          <a:effectLst/>
                        </a:rPr>
                        <a:t>menjadi</a:t>
                      </a:r>
                      <a:r>
                        <a:rPr lang="en-US" sz="1050" dirty="0">
                          <a:effectLst/>
                        </a:rPr>
                        <a:t> yang </a:t>
                      </a:r>
                      <a:r>
                        <a:rPr lang="en-US" sz="1050" dirty="0" err="1">
                          <a:effectLst/>
                        </a:rPr>
                        <a:t>terakhir</a:t>
                      </a:r>
                      <a:endParaRPr lang="id-ID"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55371" marR="55371" marT="0" marB="0" anchor="ctr"/>
                </a:tc>
              </a:tr>
            </a:tbl>
          </a:graphicData>
        </a:graphic>
      </p:graphicFrame>
    </p:spTree>
    <p:extLst>
      <p:ext uri="{BB962C8B-B14F-4D97-AF65-F5344CB8AC3E}">
        <p14:creationId xmlns:p14="http://schemas.microsoft.com/office/powerpoint/2010/main" val="278319385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Shape 331"/>
          <p:cNvSpPr txBox="1">
            <a:spLocks noGrp="1"/>
          </p:cNvSpPr>
          <p:nvPr>
            <p:ph type="subTitle" idx="1"/>
          </p:nvPr>
        </p:nvSpPr>
        <p:spPr>
          <a:xfrm>
            <a:off x="2403749" y="2859165"/>
            <a:ext cx="5021399" cy="784799"/>
          </a:xfrm>
          <a:prstGeom prst="rect">
            <a:avLst/>
          </a:prstGeom>
          <a:noFill/>
          <a:ln>
            <a:noFill/>
          </a:ln>
        </p:spPr>
        <p:txBody>
          <a:bodyPr lIns="91425" tIns="91425" rIns="91425" bIns="91425" anchor="t" anchorCtr="0">
            <a:noAutofit/>
          </a:bodyPr>
          <a:lstStyle/>
          <a:p>
            <a:pPr lvl="0" rtl="0">
              <a:spcBef>
                <a:spcPts val="0"/>
              </a:spcBef>
              <a:buNone/>
            </a:pPr>
            <a:r>
              <a:rPr lang="en" sz="3600" b="1" i="1" dirty="0">
                <a:latin typeface="Lora"/>
                <a:ea typeface="Lora"/>
                <a:cs typeface="Lora"/>
                <a:sym typeface="Lora"/>
              </a:rPr>
              <a:t>Any questions ?</a:t>
            </a:r>
          </a:p>
          <a:p>
            <a:pPr lvl="0" rtl="0">
              <a:spcBef>
                <a:spcPts val="0"/>
              </a:spcBef>
              <a:buNone/>
            </a:pPr>
            <a:endParaRPr sz="1800" dirty="0">
              <a:solidFill>
                <a:schemeClr val="dk1"/>
              </a:solidFill>
            </a:endParaRPr>
          </a:p>
        </p:txBody>
      </p:sp>
      <p:cxnSp>
        <p:nvCxnSpPr>
          <p:cNvPr id="332" name="Shape 332"/>
          <p:cNvCxnSpPr/>
          <p:nvPr/>
        </p:nvCxnSpPr>
        <p:spPr>
          <a:xfrm>
            <a:off x="6450" y="1428750"/>
            <a:ext cx="2397299" cy="0"/>
          </a:xfrm>
          <a:prstGeom prst="straightConnector1">
            <a:avLst/>
          </a:prstGeom>
          <a:noFill/>
          <a:ln w="9525" cap="flat" cmpd="sng">
            <a:solidFill>
              <a:srgbClr val="CCCCCC"/>
            </a:solidFill>
            <a:prstDash val="solid"/>
            <a:round/>
            <a:headEnd type="none" w="lg" len="lg"/>
            <a:tailEnd type="none" w="lg" len="lg"/>
          </a:ln>
        </p:spPr>
      </p:cxnSp>
      <p:sp>
        <p:nvSpPr>
          <p:cNvPr id="333" name="Shape 333"/>
          <p:cNvSpPr txBox="1">
            <a:spLocks noGrp="1"/>
          </p:cNvSpPr>
          <p:nvPr>
            <p:ph type="ctrTitle"/>
          </p:nvPr>
        </p:nvSpPr>
        <p:spPr>
          <a:xfrm>
            <a:off x="2371625" y="816550"/>
            <a:ext cx="4908000" cy="1159799"/>
          </a:xfrm>
          <a:prstGeom prst="rect">
            <a:avLst/>
          </a:prstGeom>
          <a:noFill/>
          <a:ln>
            <a:noFill/>
          </a:ln>
        </p:spPr>
        <p:txBody>
          <a:bodyPr lIns="91425" tIns="91425" rIns="91425" bIns="91425" anchor="ctr" anchorCtr="0">
            <a:noAutofit/>
          </a:bodyPr>
          <a:lstStyle/>
          <a:p>
            <a:pPr lvl="0" rtl="0">
              <a:spcBef>
                <a:spcPts val="0"/>
              </a:spcBef>
              <a:buNone/>
            </a:pPr>
            <a:r>
              <a:rPr lang="en" sz="6000" dirty="0"/>
              <a:t>Thanks!</a:t>
            </a:r>
          </a:p>
        </p:txBody>
      </p:sp>
      <p:cxnSp>
        <p:nvCxnSpPr>
          <p:cNvPr id="334" name="Shape 334"/>
          <p:cNvCxnSpPr/>
          <p:nvPr/>
        </p:nvCxnSpPr>
        <p:spPr>
          <a:xfrm>
            <a:off x="5589800" y="1428750"/>
            <a:ext cx="3554100" cy="0"/>
          </a:xfrm>
          <a:prstGeom prst="straightConnector1">
            <a:avLst/>
          </a:prstGeom>
          <a:noFill/>
          <a:ln w="9525" cap="flat" cmpd="sng">
            <a:solidFill>
              <a:srgbClr val="CCCCCC"/>
            </a:solidFill>
            <a:prstDash val="solid"/>
            <a:round/>
            <a:headEnd type="none" w="lg" len="lg"/>
            <a:tailEnd type="none" w="lg" len="lg"/>
          </a:ln>
        </p:spPr>
      </p:cxnSp>
      <p:sp>
        <p:nvSpPr>
          <p:cNvPr id="335" name="Shape 335"/>
          <p:cNvSpPr/>
          <p:nvPr/>
        </p:nvSpPr>
        <p:spPr>
          <a:xfrm>
            <a:off x="831925" y="859175"/>
            <a:ext cx="1139100" cy="1139100"/>
          </a:xfrm>
          <a:prstGeom prst="ellipse">
            <a:avLst/>
          </a:prstGeom>
          <a:solidFill>
            <a:srgbClr val="FFCD00"/>
          </a:solidFill>
          <a:ln>
            <a:noFill/>
          </a:ln>
        </p:spPr>
        <p:txBody>
          <a:bodyPr lIns="91425" tIns="91425" rIns="91425" bIns="91425" anchor="ctr" anchorCtr="0">
            <a:noAutofit/>
          </a:bodyPr>
          <a:lstStyle/>
          <a:p>
            <a:pPr>
              <a:spcBef>
                <a:spcPts val="0"/>
              </a:spcBef>
              <a:buNone/>
            </a:pPr>
            <a:endParaRPr/>
          </a:p>
        </p:txBody>
      </p:sp>
      <p:grpSp>
        <p:nvGrpSpPr>
          <p:cNvPr id="336" name="Shape 336"/>
          <p:cNvGrpSpPr/>
          <p:nvPr/>
        </p:nvGrpSpPr>
        <p:grpSpPr>
          <a:xfrm>
            <a:off x="1148888" y="1190759"/>
            <a:ext cx="505722" cy="475767"/>
            <a:chOff x="5972700" y="2330200"/>
            <a:chExt cx="411625" cy="387275"/>
          </a:xfrm>
        </p:grpSpPr>
        <p:sp>
          <p:nvSpPr>
            <p:cNvPr id="337" name="Shape 337"/>
            <p:cNvSpPr/>
            <p:nvPr/>
          </p:nvSpPr>
          <p:spPr>
            <a:xfrm>
              <a:off x="5972700" y="2476950"/>
              <a:ext cx="98050" cy="219825"/>
            </a:xfrm>
            <a:custGeom>
              <a:avLst/>
              <a:gdLst/>
              <a:ahLst/>
              <a:cxnLst/>
              <a:rect l="0" t="0" r="0" b="0"/>
              <a:pathLst>
                <a:path w="3922" h="8793" fill="none" extrusionOk="0">
                  <a:moveTo>
                    <a:pt x="0" y="0"/>
                  </a:moveTo>
                  <a:lnTo>
                    <a:pt x="0" y="8792"/>
                  </a:lnTo>
                  <a:lnTo>
                    <a:pt x="3921" y="8792"/>
                  </a:lnTo>
                  <a:lnTo>
                    <a:pt x="3921" y="0"/>
                  </a:lnTo>
                  <a:lnTo>
                    <a:pt x="0" y="0"/>
                  </a:lnTo>
                  <a:close/>
                  <a:moveTo>
                    <a:pt x="2411" y="2411"/>
                  </a:moveTo>
                  <a:lnTo>
                    <a:pt x="2411" y="2411"/>
                  </a:lnTo>
                  <a:lnTo>
                    <a:pt x="2265" y="2387"/>
                  </a:lnTo>
                  <a:lnTo>
                    <a:pt x="2143" y="2363"/>
                  </a:lnTo>
                  <a:lnTo>
                    <a:pt x="2022" y="2290"/>
                  </a:lnTo>
                  <a:lnTo>
                    <a:pt x="1924" y="2216"/>
                  </a:lnTo>
                  <a:lnTo>
                    <a:pt x="1827" y="2095"/>
                  </a:lnTo>
                  <a:lnTo>
                    <a:pt x="1754" y="1973"/>
                  </a:lnTo>
                  <a:lnTo>
                    <a:pt x="1729" y="1851"/>
                  </a:lnTo>
                  <a:lnTo>
                    <a:pt x="1705" y="1705"/>
                  </a:lnTo>
                  <a:lnTo>
                    <a:pt x="1705" y="1705"/>
                  </a:lnTo>
                  <a:lnTo>
                    <a:pt x="1729" y="1559"/>
                  </a:lnTo>
                  <a:lnTo>
                    <a:pt x="1754" y="1437"/>
                  </a:lnTo>
                  <a:lnTo>
                    <a:pt x="1827" y="1315"/>
                  </a:lnTo>
                  <a:lnTo>
                    <a:pt x="1924" y="1218"/>
                  </a:lnTo>
                  <a:lnTo>
                    <a:pt x="2022" y="1120"/>
                  </a:lnTo>
                  <a:lnTo>
                    <a:pt x="2143" y="1072"/>
                  </a:lnTo>
                  <a:lnTo>
                    <a:pt x="2265" y="1023"/>
                  </a:lnTo>
                  <a:lnTo>
                    <a:pt x="2411" y="999"/>
                  </a:lnTo>
                  <a:lnTo>
                    <a:pt x="2411" y="999"/>
                  </a:lnTo>
                  <a:lnTo>
                    <a:pt x="2557" y="1023"/>
                  </a:lnTo>
                  <a:lnTo>
                    <a:pt x="2679" y="1072"/>
                  </a:lnTo>
                  <a:lnTo>
                    <a:pt x="2801" y="1120"/>
                  </a:lnTo>
                  <a:lnTo>
                    <a:pt x="2898" y="1218"/>
                  </a:lnTo>
                  <a:lnTo>
                    <a:pt x="2996" y="1315"/>
                  </a:lnTo>
                  <a:lnTo>
                    <a:pt x="3069" y="1437"/>
                  </a:lnTo>
                  <a:lnTo>
                    <a:pt x="3093" y="1559"/>
                  </a:lnTo>
                  <a:lnTo>
                    <a:pt x="3118" y="1705"/>
                  </a:lnTo>
                  <a:lnTo>
                    <a:pt x="3118" y="1705"/>
                  </a:lnTo>
                  <a:lnTo>
                    <a:pt x="3093" y="1851"/>
                  </a:lnTo>
                  <a:lnTo>
                    <a:pt x="3069" y="1973"/>
                  </a:lnTo>
                  <a:lnTo>
                    <a:pt x="2996" y="2095"/>
                  </a:lnTo>
                  <a:lnTo>
                    <a:pt x="2898" y="2216"/>
                  </a:lnTo>
                  <a:lnTo>
                    <a:pt x="2801" y="2290"/>
                  </a:lnTo>
                  <a:lnTo>
                    <a:pt x="2679" y="2363"/>
                  </a:lnTo>
                  <a:lnTo>
                    <a:pt x="2557" y="2387"/>
                  </a:lnTo>
                  <a:lnTo>
                    <a:pt x="2411" y="2411"/>
                  </a:lnTo>
                  <a:lnTo>
                    <a:pt x="2411" y="2411"/>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338" name="Shape 338"/>
            <p:cNvSpPr/>
            <p:nvPr/>
          </p:nvSpPr>
          <p:spPr>
            <a:xfrm>
              <a:off x="6078025" y="2330200"/>
              <a:ext cx="306300" cy="387275"/>
            </a:xfrm>
            <a:custGeom>
              <a:avLst/>
              <a:gdLst/>
              <a:ahLst/>
              <a:cxnLst/>
              <a:rect l="0" t="0" r="0" b="0"/>
              <a:pathLst>
                <a:path w="12252" h="15491" fill="none" extrusionOk="0">
                  <a:moveTo>
                    <a:pt x="1" y="13396"/>
                  </a:moveTo>
                  <a:lnTo>
                    <a:pt x="1511" y="13396"/>
                  </a:lnTo>
                  <a:lnTo>
                    <a:pt x="1511" y="13396"/>
                  </a:lnTo>
                  <a:lnTo>
                    <a:pt x="1998" y="13639"/>
                  </a:lnTo>
                  <a:lnTo>
                    <a:pt x="2680" y="13932"/>
                  </a:lnTo>
                  <a:lnTo>
                    <a:pt x="3556" y="14273"/>
                  </a:lnTo>
                  <a:lnTo>
                    <a:pt x="4531" y="14638"/>
                  </a:lnTo>
                  <a:lnTo>
                    <a:pt x="5578" y="14955"/>
                  </a:lnTo>
                  <a:lnTo>
                    <a:pt x="6114" y="15101"/>
                  </a:lnTo>
                  <a:lnTo>
                    <a:pt x="6650" y="15222"/>
                  </a:lnTo>
                  <a:lnTo>
                    <a:pt x="7161" y="15344"/>
                  </a:lnTo>
                  <a:lnTo>
                    <a:pt x="7672" y="15417"/>
                  </a:lnTo>
                  <a:lnTo>
                    <a:pt x="8135" y="15466"/>
                  </a:lnTo>
                  <a:lnTo>
                    <a:pt x="8598" y="15490"/>
                  </a:lnTo>
                  <a:lnTo>
                    <a:pt x="8598" y="15490"/>
                  </a:lnTo>
                  <a:lnTo>
                    <a:pt x="9377" y="15490"/>
                  </a:lnTo>
                  <a:lnTo>
                    <a:pt x="9791" y="15466"/>
                  </a:lnTo>
                  <a:lnTo>
                    <a:pt x="10181" y="15417"/>
                  </a:lnTo>
                  <a:lnTo>
                    <a:pt x="10522" y="15320"/>
                  </a:lnTo>
                  <a:lnTo>
                    <a:pt x="10692" y="15271"/>
                  </a:lnTo>
                  <a:lnTo>
                    <a:pt x="10814" y="15222"/>
                  </a:lnTo>
                  <a:lnTo>
                    <a:pt x="10936" y="15149"/>
                  </a:lnTo>
                  <a:lnTo>
                    <a:pt x="11033" y="15052"/>
                  </a:lnTo>
                  <a:lnTo>
                    <a:pt x="11082" y="14955"/>
                  </a:lnTo>
                  <a:lnTo>
                    <a:pt x="11131" y="14833"/>
                  </a:lnTo>
                  <a:lnTo>
                    <a:pt x="11204" y="14126"/>
                  </a:lnTo>
                  <a:lnTo>
                    <a:pt x="11204" y="14126"/>
                  </a:lnTo>
                  <a:lnTo>
                    <a:pt x="11180" y="13956"/>
                  </a:lnTo>
                  <a:lnTo>
                    <a:pt x="11131" y="13810"/>
                  </a:lnTo>
                  <a:lnTo>
                    <a:pt x="11033" y="13664"/>
                  </a:lnTo>
                  <a:lnTo>
                    <a:pt x="10887" y="13542"/>
                  </a:lnTo>
                  <a:lnTo>
                    <a:pt x="10887" y="13542"/>
                  </a:lnTo>
                  <a:lnTo>
                    <a:pt x="11009" y="13518"/>
                  </a:lnTo>
                  <a:lnTo>
                    <a:pt x="11131" y="13469"/>
                  </a:lnTo>
                  <a:lnTo>
                    <a:pt x="11253" y="13420"/>
                  </a:lnTo>
                  <a:lnTo>
                    <a:pt x="11350" y="13323"/>
                  </a:lnTo>
                  <a:lnTo>
                    <a:pt x="11423" y="13225"/>
                  </a:lnTo>
                  <a:lnTo>
                    <a:pt x="11496" y="13104"/>
                  </a:lnTo>
                  <a:lnTo>
                    <a:pt x="11545" y="12957"/>
                  </a:lnTo>
                  <a:lnTo>
                    <a:pt x="11569" y="12836"/>
                  </a:lnTo>
                  <a:lnTo>
                    <a:pt x="11642" y="11959"/>
                  </a:lnTo>
                  <a:lnTo>
                    <a:pt x="11642" y="11959"/>
                  </a:lnTo>
                  <a:lnTo>
                    <a:pt x="11642" y="11837"/>
                  </a:lnTo>
                  <a:lnTo>
                    <a:pt x="11642" y="11740"/>
                  </a:lnTo>
                  <a:lnTo>
                    <a:pt x="11618" y="11618"/>
                  </a:lnTo>
                  <a:lnTo>
                    <a:pt x="11569" y="11521"/>
                  </a:lnTo>
                  <a:lnTo>
                    <a:pt x="11447" y="11350"/>
                  </a:lnTo>
                  <a:lnTo>
                    <a:pt x="11374" y="11277"/>
                  </a:lnTo>
                  <a:lnTo>
                    <a:pt x="11301" y="11204"/>
                  </a:lnTo>
                  <a:lnTo>
                    <a:pt x="11301" y="11204"/>
                  </a:lnTo>
                  <a:lnTo>
                    <a:pt x="11423" y="11180"/>
                  </a:lnTo>
                  <a:lnTo>
                    <a:pt x="11521" y="11131"/>
                  </a:lnTo>
                  <a:lnTo>
                    <a:pt x="11618" y="11058"/>
                  </a:lnTo>
                  <a:lnTo>
                    <a:pt x="11715" y="10960"/>
                  </a:lnTo>
                  <a:lnTo>
                    <a:pt x="11788" y="10863"/>
                  </a:lnTo>
                  <a:lnTo>
                    <a:pt x="11837" y="10766"/>
                  </a:lnTo>
                  <a:lnTo>
                    <a:pt x="11886" y="10644"/>
                  </a:lnTo>
                  <a:lnTo>
                    <a:pt x="11910" y="10498"/>
                  </a:lnTo>
                  <a:lnTo>
                    <a:pt x="11983" y="9645"/>
                  </a:lnTo>
                  <a:lnTo>
                    <a:pt x="11983" y="9645"/>
                  </a:lnTo>
                  <a:lnTo>
                    <a:pt x="11983" y="9523"/>
                  </a:lnTo>
                  <a:lnTo>
                    <a:pt x="11983" y="9402"/>
                  </a:lnTo>
                  <a:lnTo>
                    <a:pt x="11959" y="9280"/>
                  </a:lnTo>
                  <a:lnTo>
                    <a:pt x="11910" y="9182"/>
                  </a:lnTo>
                  <a:lnTo>
                    <a:pt x="11861" y="9085"/>
                  </a:lnTo>
                  <a:lnTo>
                    <a:pt x="11788" y="9012"/>
                  </a:lnTo>
                  <a:lnTo>
                    <a:pt x="11715" y="8939"/>
                  </a:lnTo>
                  <a:lnTo>
                    <a:pt x="11618" y="8866"/>
                  </a:lnTo>
                  <a:lnTo>
                    <a:pt x="11618" y="8866"/>
                  </a:lnTo>
                  <a:lnTo>
                    <a:pt x="11715" y="8841"/>
                  </a:lnTo>
                  <a:lnTo>
                    <a:pt x="11813" y="8768"/>
                  </a:lnTo>
                  <a:lnTo>
                    <a:pt x="11910" y="8695"/>
                  </a:lnTo>
                  <a:lnTo>
                    <a:pt x="11983" y="8622"/>
                  </a:lnTo>
                  <a:lnTo>
                    <a:pt x="12056" y="8525"/>
                  </a:lnTo>
                  <a:lnTo>
                    <a:pt x="12105" y="8427"/>
                  </a:lnTo>
                  <a:lnTo>
                    <a:pt x="12129" y="8306"/>
                  </a:lnTo>
                  <a:lnTo>
                    <a:pt x="12154" y="8184"/>
                  </a:lnTo>
                  <a:lnTo>
                    <a:pt x="12251" y="7307"/>
                  </a:lnTo>
                  <a:lnTo>
                    <a:pt x="12251" y="7307"/>
                  </a:lnTo>
                  <a:lnTo>
                    <a:pt x="12227" y="7185"/>
                  </a:lnTo>
                  <a:lnTo>
                    <a:pt x="12202" y="7064"/>
                  </a:lnTo>
                  <a:lnTo>
                    <a:pt x="12154" y="6966"/>
                  </a:lnTo>
                  <a:lnTo>
                    <a:pt x="12105" y="6869"/>
                  </a:lnTo>
                  <a:lnTo>
                    <a:pt x="12032" y="6771"/>
                  </a:lnTo>
                  <a:lnTo>
                    <a:pt x="11935" y="6698"/>
                  </a:lnTo>
                  <a:lnTo>
                    <a:pt x="11715" y="6552"/>
                  </a:lnTo>
                  <a:lnTo>
                    <a:pt x="11472" y="6430"/>
                  </a:lnTo>
                  <a:lnTo>
                    <a:pt x="11180" y="6333"/>
                  </a:lnTo>
                  <a:lnTo>
                    <a:pt x="10863" y="6260"/>
                  </a:lnTo>
                  <a:lnTo>
                    <a:pt x="10546" y="6211"/>
                  </a:lnTo>
                  <a:lnTo>
                    <a:pt x="10546" y="6211"/>
                  </a:lnTo>
                  <a:lnTo>
                    <a:pt x="9864" y="6114"/>
                  </a:lnTo>
                  <a:lnTo>
                    <a:pt x="8817" y="6016"/>
                  </a:lnTo>
                  <a:lnTo>
                    <a:pt x="7575" y="5943"/>
                  </a:lnTo>
                  <a:lnTo>
                    <a:pt x="6309" y="5870"/>
                  </a:lnTo>
                  <a:lnTo>
                    <a:pt x="6309" y="5870"/>
                  </a:lnTo>
                  <a:lnTo>
                    <a:pt x="6479" y="5578"/>
                  </a:lnTo>
                  <a:lnTo>
                    <a:pt x="6625" y="5237"/>
                  </a:lnTo>
                  <a:lnTo>
                    <a:pt x="6771" y="4872"/>
                  </a:lnTo>
                  <a:lnTo>
                    <a:pt x="6869" y="4482"/>
                  </a:lnTo>
                  <a:lnTo>
                    <a:pt x="6966" y="4092"/>
                  </a:lnTo>
                  <a:lnTo>
                    <a:pt x="7064" y="3678"/>
                  </a:lnTo>
                  <a:lnTo>
                    <a:pt x="7161" y="2875"/>
                  </a:lnTo>
                  <a:lnTo>
                    <a:pt x="7234" y="2144"/>
                  </a:lnTo>
                  <a:lnTo>
                    <a:pt x="7283" y="1535"/>
                  </a:lnTo>
                  <a:lnTo>
                    <a:pt x="7283" y="975"/>
                  </a:lnTo>
                  <a:lnTo>
                    <a:pt x="7283" y="975"/>
                  </a:lnTo>
                  <a:lnTo>
                    <a:pt x="7283" y="804"/>
                  </a:lnTo>
                  <a:lnTo>
                    <a:pt x="7210" y="609"/>
                  </a:lnTo>
                  <a:lnTo>
                    <a:pt x="7137" y="463"/>
                  </a:lnTo>
                  <a:lnTo>
                    <a:pt x="7015" y="317"/>
                  </a:lnTo>
                  <a:lnTo>
                    <a:pt x="6869" y="171"/>
                  </a:lnTo>
                  <a:lnTo>
                    <a:pt x="6698" y="98"/>
                  </a:lnTo>
                  <a:lnTo>
                    <a:pt x="6503" y="25"/>
                  </a:lnTo>
                  <a:lnTo>
                    <a:pt x="6309" y="1"/>
                  </a:lnTo>
                  <a:lnTo>
                    <a:pt x="6309" y="1"/>
                  </a:lnTo>
                  <a:lnTo>
                    <a:pt x="5943" y="25"/>
                  </a:lnTo>
                  <a:lnTo>
                    <a:pt x="5700" y="74"/>
                  </a:lnTo>
                  <a:lnTo>
                    <a:pt x="5505" y="147"/>
                  </a:lnTo>
                  <a:lnTo>
                    <a:pt x="5359" y="220"/>
                  </a:lnTo>
                  <a:lnTo>
                    <a:pt x="5359" y="220"/>
                  </a:lnTo>
                  <a:lnTo>
                    <a:pt x="4969" y="1462"/>
                  </a:lnTo>
                  <a:lnTo>
                    <a:pt x="4774" y="2022"/>
                  </a:lnTo>
                  <a:lnTo>
                    <a:pt x="4579" y="2534"/>
                  </a:lnTo>
                  <a:lnTo>
                    <a:pt x="4385" y="2996"/>
                  </a:lnTo>
                  <a:lnTo>
                    <a:pt x="4190" y="3386"/>
                  </a:lnTo>
                  <a:lnTo>
                    <a:pt x="4019" y="3678"/>
                  </a:lnTo>
                  <a:lnTo>
                    <a:pt x="3873" y="3922"/>
                  </a:lnTo>
                  <a:lnTo>
                    <a:pt x="3873" y="3922"/>
                  </a:lnTo>
                  <a:lnTo>
                    <a:pt x="3654" y="4141"/>
                  </a:lnTo>
                  <a:lnTo>
                    <a:pt x="3313" y="4482"/>
                  </a:lnTo>
                  <a:lnTo>
                    <a:pt x="2509" y="5237"/>
                  </a:lnTo>
                  <a:lnTo>
                    <a:pt x="1438" y="6211"/>
                  </a:lnTo>
                  <a:lnTo>
                    <a:pt x="1" y="6211"/>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3" name="Rectangle 2"/>
          <p:cNvSpPr/>
          <p:nvPr/>
        </p:nvSpPr>
        <p:spPr>
          <a:xfrm>
            <a:off x="1343910" y="4017448"/>
            <a:ext cx="6963430" cy="584775"/>
          </a:xfrm>
          <a:prstGeom prst="rect">
            <a:avLst/>
          </a:prstGeom>
        </p:spPr>
        <p:txBody>
          <a:bodyPr wrap="square">
            <a:spAutoFit/>
          </a:bodyPr>
          <a:lstStyle/>
          <a:p>
            <a:pPr algn="ctr"/>
            <a:r>
              <a:rPr lang="id-ID" sz="1600" i="1" dirty="0"/>
              <a:t>"Mudahkanlah setiap urusan dan janganlah kalian mempersulitnya, buatlah mereka senang dan jangan membuat mereka lari."(H.R Imam Bukhari)</a:t>
            </a:r>
          </a:p>
        </p:txBody>
      </p:sp>
      <p:sp>
        <p:nvSpPr>
          <p:cNvPr id="15" name="Rectangle 14"/>
          <p:cNvSpPr/>
          <p:nvPr/>
        </p:nvSpPr>
        <p:spPr>
          <a:xfrm>
            <a:off x="2668953" y="2380014"/>
            <a:ext cx="1968809" cy="338554"/>
          </a:xfrm>
          <a:prstGeom prst="rect">
            <a:avLst/>
          </a:prstGeom>
        </p:spPr>
        <p:txBody>
          <a:bodyPr wrap="none">
            <a:spAutoFit/>
          </a:bodyPr>
          <a:lstStyle/>
          <a:p>
            <a:pPr lvl="0"/>
            <a:r>
              <a:rPr lang="en-US" sz="1600" b="1" dirty="0" smtClean="0">
                <a:solidFill>
                  <a:schemeClr val="dk1"/>
                </a:solidFill>
              </a:rPr>
              <a:t>We </a:t>
            </a:r>
            <a:r>
              <a:rPr lang="en-US" sz="1600" b="1" dirty="0">
                <a:solidFill>
                  <a:schemeClr val="dk1"/>
                </a:solidFill>
              </a:rPr>
              <a:t>s</a:t>
            </a:r>
            <a:r>
              <a:rPr lang="en-US" sz="1600" b="1" dirty="0" smtClean="0">
                <a:solidFill>
                  <a:schemeClr val="dk1"/>
                </a:solidFill>
              </a:rPr>
              <a:t>till have time</a:t>
            </a:r>
            <a:endParaRPr lang="en" sz="1600" b="1" dirty="0">
              <a:solidFill>
                <a:schemeClr val="dk1"/>
              </a:solidFill>
            </a:endParaRPr>
          </a:p>
        </p:txBody>
      </p:sp>
    </p:spTree>
  </p:cSld>
  <p:clrMapOvr>
    <a:masterClrMapping/>
  </p:clrMapOvr>
  <p:transition spd="slow">
    <p:cu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7" name="Shape 237"/>
          <p:cNvSpPr txBox="1">
            <a:spLocks noGrp="1"/>
          </p:cNvSpPr>
          <p:nvPr>
            <p:ph type="subTitle" idx="3"/>
          </p:nvPr>
        </p:nvSpPr>
        <p:spPr>
          <a:xfrm>
            <a:off x="725212" y="4679724"/>
            <a:ext cx="7772400" cy="463200"/>
          </a:xfrm>
          <a:prstGeom prst="rect">
            <a:avLst/>
          </a:prstGeom>
          <a:noFill/>
          <a:ln>
            <a:noFill/>
          </a:ln>
        </p:spPr>
        <p:txBody>
          <a:bodyPr lIns="91425" tIns="91425" rIns="91425" bIns="91425" anchor="t" anchorCtr="0">
            <a:noAutofit/>
          </a:bodyPr>
          <a:lstStyle/>
          <a:p>
            <a:pPr lvl="0" algn="ctr" rtl="0">
              <a:spcBef>
                <a:spcPts val="0"/>
              </a:spcBef>
              <a:buNone/>
            </a:pPr>
            <a:r>
              <a:rPr lang="id-ID" sz="1800" dirty="0" smtClean="0"/>
              <a:t>S</a:t>
            </a:r>
            <a:r>
              <a:rPr lang="en" sz="1800" dirty="0" smtClean="0"/>
              <a:t>uccess Insya Allah !</a:t>
            </a:r>
            <a:endParaRPr lang="en" sz="1800" dirty="0"/>
          </a:p>
        </p:txBody>
      </p:sp>
      <p:grpSp>
        <p:nvGrpSpPr>
          <p:cNvPr id="240" name="Shape 240"/>
          <p:cNvGrpSpPr/>
          <p:nvPr/>
        </p:nvGrpSpPr>
        <p:grpSpPr>
          <a:xfrm>
            <a:off x="4433047" y="4413424"/>
            <a:ext cx="277858" cy="201655"/>
            <a:chOff x="3932350" y="3714775"/>
            <a:chExt cx="439650" cy="319075"/>
          </a:xfrm>
        </p:grpSpPr>
        <p:sp>
          <p:nvSpPr>
            <p:cNvPr id="241" name="Shape 241"/>
            <p:cNvSpPr/>
            <p:nvPr/>
          </p:nvSpPr>
          <p:spPr>
            <a:xfrm>
              <a:off x="3932350" y="3714775"/>
              <a:ext cx="439650" cy="319075"/>
            </a:xfrm>
            <a:custGeom>
              <a:avLst/>
              <a:gdLst/>
              <a:ahLst/>
              <a:cxnLst/>
              <a:rect l="0" t="0" r="0" b="0"/>
              <a:pathLst>
                <a:path w="17586" h="12763" fill="none" extrusionOk="0">
                  <a:moveTo>
                    <a:pt x="1" y="1"/>
                  </a:moveTo>
                  <a:lnTo>
                    <a:pt x="1" y="12276"/>
                  </a:lnTo>
                  <a:lnTo>
                    <a:pt x="1" y="12276"/>
                  </a:lnTo>
                  <a:lnTo>
                    <a:pt x="1" y="12373"/>
                  </a:lnTo>
                  <a:lnTo>
                    <a:pt x="25" y="12471"/>
                  </a:lnTo>
                  <a:lnTo>
                    <a:pt x="74" y="12544"/>
                  </a:lnTo>
                  <a:lnTo>
                    <a:pt x="123" y="12617"/>
                  </a:lnTo>
                  <a:lnTo>
                    <a:pt x="196" y="12690"/>
                  </a:lnTo>
                  <a:lnTo>
                    <a:pt x="293" y="12714"/>
                  </a:lnTo>
                  <a:lnTo>
                    <a:pt x="366" y="12763"/>
                  </a:lnTo>
                  <a:lnTo>
                    <a:pt x="488" y="12763"/>
                  </a:lnTo>
                  <a:lnTo>
                    <a:pt x="17585" y="1276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42" name="Shape 242"/>
            <p:cNvSpPr/>
            <p:nvPr/>
          </p:nvSpPr>
          <p:spPr>
            <a:xfrm>
              <a:off x="3970100" y="3862750"/>
              <a:ext cx="77350" cy="132750"/>
            </a:xfrm>
            <a:custGeom>
              <a:avLst/>
              <a:gdLst/>
              <a:ahLst/>
              <a:cxnLst/>
              <a:rect l="0" t="0" r="0" b="0"/>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43" name="Shape 243"/>
            <p:cNvSpPr/>
            <p:nvPr/>
          </p:nvSpPr>
          <p:spPr>
            <a:xfrm>
              <a:off x="4278800" y="3862750"/>
              <a:ext cx="77350" cy="132750"/>
            </a:xfrm>
            <a:custGeom>
              <a:avLst/>
              <a:gdLst/>
              <a:ahLst/>
              <a:cxnLst/>
              <a:rect l="0" t="0" r="0" b="0"/>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0"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44" name="Shape 244"/>
            <p:cNvSpPr/>
            <p:nvPr/>
          </p:nvSpPr>
          <p:spPr>
            <a:xfrm>
              <a:off x="4073000" y="3716600"/>
              <a:ext cx="77350" cy="278900"/>
            </a:xfrm>
            <a:custGeom>
              <a:avLst/>
              <a:gdLst/>
              <a:ahLst/>
              <a:cxnLst/>
              <a:rect l="0" t="0" r="0" b="0"/>
              <a:pathLst>
                <a:path w="3094" h="11156" fill="none" extrusionOk="0">
                  <a:moveTo>
                    <a:pt x="3094" y="11155"/>
                  </a:moveTo>
                  <a:lnTo>
                    <a:pt x="3094" y="488"/>
                  </a:lnTo>
                  <a:lnTo>
                    <a:pt x="3094" y="488"/>
                  </a:lnTo>
                  <a:lnTo>
                    <a:pt x="3094" y="391"/>
                  </a:lnTo>
                  <a:lnTo>
                    <a:pt x="3070" y="293"/>
                  </a:lnTo>
                  <a:lnTo>
                    <a:pt x="3021" y="220"/>
                  </a:lnTo>
                  <a:lnTo>
                    <a:pt x="2948" y="147"/>
                  </a:lnTo>
                  <a:lnTo>
                    <a:pt x="2899" y="98"/>
                  </a:lnTo>
                  <a:lnTo>
                    <a:pt x="2802" y="50"/>
                  </a:lnTo>
                  <a:lnTo>
                    <a:pt x="2704" y="25"/>
                  </a:lnTo>
                  <a:lnTo>
                    <a:pt x="2607" y="1"/>
                  </a:lnTo>
                  <a:lnTo>
                    <a:pt x="488" y="1"/>
                  </a:lnTo>
                  <a:lnTo>
                    <a:pt x="488" y="1"/>
                  </a:lnTo>
                  <a:lnTo>
                    <a:pt x="391" y="25"/>
                  </a:lnTo>
                  <a:lnTo>
                    <a:pt x="293" y="50"/>
                  </a:lnTo>
                  <a:lnTo>
                    <a:pt x="220" y="98"/>
                  </a:lnTo>
                  <a:lnTo>
                    <a:pt x="147" y="147"/>
                  </a:lnTo>
                  <a:lnTo>
                    <a:pt x="74" y="220"/>
                  </a:lnTo>
                  <a:lnTo>
                    <a:pt x="50" y="293"/>
                  </a:lnTo>
                  <a:lnTo>
                    <a:pt x="1" y="391"/>
                  </a:lnTo>
                  <a:lnTo>
                    <a:pt x="1" y="488"/>
                  </a:lnTo>
                  <a:lnTo>
                    <a:pt x="1" y="11155"/>
                  </a:lnTo>
                  <a:lnTo>
                    <a:pt x="3094" y="11155"/>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45" name="Shape 245"/>
            <p:cNvSpPr/>
            <p:nvPr/>
          </p:nvSpPr>
          <p:spPr>
            <a:xfrm>
              <a:off x="4175900" y="3787250"/>
              <a:ext cx="77350" cy="208250"/>
            </a:xfrm>
            <a:custGeom>
              <a:avLst/>
              <a:gdLst/>
              <a:ahLst/>
              <a:cxnLst/>
              <a:rect l="0" t="0" r="0" b="0"/>
              <a:pathLst>
                <a:path w="3094" h="8330" fill="none" extrusionOk="0">
                  <a:moveTo>
                    <a:pt x="3094" y="832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8329"/>
                  </a:lnTo>
                  <a:lnTo>
                    <a:pt x="3094" y="8329"/>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3" name="Rectangle 2"/>
          <p:cNvSpPr/>
          <p:nvPr/>
        </p:nvSpPr>
        <p:spPr>
          <a:xfrm>
            <a:off x="2300970" y="219108"/>
            <a:ext cx="4572000" cy="461665"/>
          </a:xfrm>
          <a:prstGeom prst="rect">
            <a:avLst/>
          </a:prstGeom>
        </p:spPr>
        <p:txBody>
          <a:bodyPr>
            <a:spAutoFit/>
          </a:bodyPr>
          <a:lstStyle/>
          <a:p>
            <a:pPr algn="ctr"/>
            <a:r>
              <a:rPr lang="en-US" sz="2400" b="1" dirty="0" err="1" smtClean="0"/>
              <a:t>Kesimpulan</a:t>
            </a:r>
            <a:endParaRPr lang="id-ID" sz="2400" dirty="0"/>
          </a:p>
        </p:txBody>
      </p:sp>
      <p:sp>
        <p:nvSpPr>
          <p:cNvPr id="4" name="Rectangle 3"/>
          <p:cNvSpPr/>
          <p:nvPr/>
        </p:nvSpPr>
        <p:spPr>
          <a:xfrm>
            <a:off x="181949" y="787716"/>
            <a:ext cx="8679977" cy="3330207"/>
          </a:xfrm>
          <a:prstGeom prst="rect">
            <a:avLst/>
          </a:prstGeom>
        </p:spPr>
        <p:txBody>
          <a:bodyPr wrap="square">
            <a:spAutoFit/>
          </a:bodyPr>
          <a:lstStyle/>
          <a:p>
            <a:pPr marL="342900" lvl="0" indent="-342900" algn="just">
              <a:lnSpc>
                <a:spcPct val="150000"/>
              </a:lnSpc>
              <a:buFont typeface="+mj-lt"/>
              <a:buAutoNum type="arabicPeriod"/>
            </a:pPr>
            <a:r>
              <a:rPr lang="x-none" dirty="0">
                <a:latin typeface="Arial" panose="020B0604020202020204" pitchFamily="34" charset="0"/>
                <a:ea typeface="Times New Roman" panose="02020603050405020304" pitchFamily="18" charset="0"/>
                <a:cs typeface="Times New Roman" panose="02020603050405020304" pitchFamily="18" charset="0"/>
              </a:rPr>
              <a:t>Pelaksanaan kegiatan yang telah dilakukan PNS yang dikaitkan dengan beberapa indikator Nilai-nilai dasar profesi PNS (ANEKA) sangat penting untuk diimplementasikan agar PNS selalu bekerja secara jujur, amanah, berkinerja tinggi dst sehingga PNS benar-benar menjadi profesional dalam melayani masyarakat, bangsa dan negara. </a:t>
            </a:r>
            <a:endParaRPr lang="en-US" dirty="0" smtClean="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endParaRPr lang="en-US" sz="1600" dirty="0" smtClean="0">
              <a:latin typeface="VAG Rounded Lt"/>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r>
              <a:rPr lang="en-US" dirty="0" err="1" smtClean="0">
                <a:latin typeface="Arial" panose="020B0604020202020204" pitchFamily="34" charset="0"/>
                <a:ea typeface="Times New Roman" panose="02020603050405020304" pitchFamily="18" charset="0"/>
                <a:cs typeface="Times New Roman" panose="02020603050405020304" pitchFamily="18" charset="0"/>
              </a:rPr>
              <a:t>Analisis</a:t>
            </a:r>
            <a:r>
              <a:rPr lang="en-US" dirty="0" smtClean="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terhadap</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dampak</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apabila</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suatu</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pekerjaan</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tidak</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dilandasi</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nilai-nilai</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dasar</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profesi</a:t>
            </a:r>
            <a:r>
              <a:rPr lang="en-US" dirty="0">
                <a:latin typeface="Arial" panose="020B0604020202020204" pitchFamily="34" charset="0"/>
                <a:ea typeface="Times New Roman" panose="02020603050405020304" pitchFamily="18" charset="0"/>
                <a:cs typeface="Times New Roman" panose="02020603050405020304" pitchFamily="18" charset="0"/>
              </a:rPr>
              <a:t> PNS, </a:t>
            </a:r>
            <a:r>
              <a:rPr lang="en-US" dirty="0" err="1">
                <a:latin typeface="Arial" panose="020B0604020202020204" pitchFamily="34" charset="0"/>
                <a:ea typeface="Times New Roman" panose="02020603050405020304" pitchFamily="18" charset="0"/>
                <a:cs typeface="Times New Roman" panose="02020603050405020304" pitchFamily="18" charset="0"/>
              </a:rPr>
              <a:t>maka</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akan</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mengakibatkan</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kerugian</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diberbagai</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aspek</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diantaranya</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adalah</a:t>
            </a:r>
            <a:r>
              <a:rPr lang="en-US" dirty="0">
                <a:latin typeface="Arial" panose="020B0604020202020204" pitchFamily="34" charset="0"/>
                <a:ea typeface="Times New Roman" panose="02020603050405020304" pitchFamily="18" charset="0"/>
                <a:cs typeface="Times New Roman" panose="02020603050405020304" pitchFamily="18" charset="0"/>
              </a:rPr>
              <a:t> output </a:t>
            </a:r>
            <a:r>
              <a:rPr lang="en-US" dirty="0" err="1">
                <a:latin typeface="Arial" panose="020B0604020202020204" pitchFamily="34" charset="0"/>
                <a:ea typeface="Times New Roman" panose="02020603050405020304" pitchFamily="18" charset="0"/>
                <a:cs typeface="Times New Roman" panose="02020603050405020304" pitchFamily="18" charset="0"/>
              </a:rPr>
              <a:t>pekerjaan</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tidak</a:t>
            </a:r>
            <a:r>
              <a:rPr lang="en-US" dirty="0">
                <a:latin typeface="Arial" panose="020B0604020202020204" pitchFamily="34" charset="0"/>
                <a:ea typeface="Times New Roman" panose="02020603050405020304" pitchFamily="18" charset="0"/>
                <a:cs typeface="Times New Roman" panose="02020603050405020304" pitchFamily="18" charset="0"/>
              </a:rPr>
              <a:t> optimal, </a:t>
            </a:r>
            <a:r>
              <a:rPr lang="en-US" dirty="0" err="1">
                <a:latin typeface="Arial" panose="020B0604020202020204" pitchFamily="34" charset="0"/>
                <a:ea typeface="Times New Roman" panose="02020603050405020304" pitchFamily="18" charset="0"/>
                <a:cs typeface="Times New Roman" panose="02020603050405020304" pitchFamily="18" charset="0"/>
              </a:rPr>
              <a:t>penggunaan</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waktu</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dan</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sumber</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daya</a:t>
            </a:r>
            <a:r>
              <a:rPr lang="en-US" dirty="0">
                <a:latin typeface="Arial" panose="020B0604020202020204" pitchFamily="34" charset="0"/>
                <a:ea typeface="Times New Roman" panose="02020603050405020304" pitchFamily="18" charset="0"/>
                <a:cs typeface="Times New Roman" panose="02020603050405020304" pitchFamily="18" charset="0"/>
              </a:rPr>
              <a:t> yang </a:t>
            </a:r>
            <a:r>
              <a:rPr lang="en-US" dirty="0" err="1">
                <a:latin typeface="Arial" panose="020B0604020202020204" pitchFamily="34" charset="0"/>
                <a:ea typeface="Times New Roman" panose="02020603050405020304" pitchFamily="18" charset="0"/>
                <a:cs typeface="Times New Roman" panose="02020603050405020304" pitchFamily="18" charset="0"/>
              </a:rPr>
              <a:t>tidak</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bijak</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dan</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penyelesaian</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pekerjaan</a:t>
            </a:r>
            <a:r>
              <a:rPr lang="en-US" dirty="0">
                <a:latin typeface="Arial" panose="020B0604020202020204" pitchFamily="34" charset="0"/>
                <a:ea typeface="Times New Roman" panose="02020603050405020304" pitchFamily="18" charset="0"/>
                <a:cs typeface="Times New Roman" panose="02020603050405020304" pitchFamily="18" charset="0"/>
              </a:rPr>
              <a:t> yang </a:t>
            </a:r>
            <a:r>
              <a:rPr lang="en-US" dirty="0" err="1">
                <a:latin typeface="Arial" panose="020B0604020202020204" pitchFamily="34" charset="0"/>
                <a:ea typeface="Times New Roman" panose="02020603050405020304" pitchFamily="18" charset="0"/>
                <a:cs typeface="Times New Roman" panose="02020603050405020304" pitchFamily="18" charset="0"/>
              </a:rPr>
              <a:t>tidak</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sesuai</a:t>
            </a:r>
            <a:r>
              <a:rPr lang="en-US" dirty="0">
                <a:latin typeface="Arial" panose="020B0604020202020204" pitchFamily="34" charset="0"/>
                <a:ea typeface="Times New Roman" panose="02020603050405020304" pitchFamily="18" charset="0"/>
                <a:cs typeface="Times New Roman" panose="02020603050405020304" pitchFamily="18" charset="0"/>
              </a:rPr>
              <a:t> target. </a:t>
            </a:r>
            <a:r>
              <a:rPr lang="en-US" dirty="0" err="1">
                <a:latin typeface="Arial" panose="020B0604020202020204" pitchFamily="34" charset="0"/>
                <a:ea typeface="Times New Roman" panose="02020603050405020304" pitchFamily="18" charset="0"/>
                <a:cs typeface="Times New Roman" panose="02020603050405020304" pitchFamily="18" charset="0"/>
              </a:rPr>
              <a:t>Selain</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itu</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dampak</a:t>
            </a:r>
            <a:r>
              <a:rPr lang="en-US" dirty="0">
                <a:latin typeface="Arial" panose="020B0604020202020204" pitchFamily="34" charset="0"/>
                <a:ea typeface="Times New Roman" panose="02020603050405020304" pitchFamily="18" charset="0"/>
                <a:cs typeface="Times New Roman" panose="02020603050405020304" pitchFamily="18" charset="0"/>
              </a:rPr>
              <a:t> yang </a:t>
            </a:r>
            <a:r>
              <a:rPr lang="en-US" dirty="0" err="1">
                <a:latin typeface="Arial" panose="020B0604020202020204" pitchFamily="34" charset="0"/>
                <a:ea typeface="Times New Roman" panose="02020603050405020304" pitchFamily="18" charset="0"/>
                <a:cs typeface="Times New Roman" panose="02020603050405020304" pitchFamily="18" charset="0"/>
              </a:rPr>
              <a:t>terjadi</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juga</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dapat</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berpengaruh</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negatif</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pada</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penilaian</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atasan</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terhadap</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kinerja</a:t>
            </a:r>
            <a:r>
              <a:rPr lang="en-US" dirty="0">
                <a:latin typeface="Arial" panose="020B0604020202020204" pitchFamily="34" charset="0"/>
                <a:ea typeface="Times New Roman" panose="02020603050405020304" pitchFamily="18" charset="0"/>
                <a:cs typeface="Times New Roman" panose="02020603050405020304" pitchFamily="18" charset="0"/>
              </a:rPr>
              <a:t> </a:t>
            </a:r>
            <a:r>
              <a:rPr lang="en-US" dirty="0" err="1">
                <a:latin typeface="Arial" panose="020B0604020202020204" pitchFamily="34" charset="0"/>
                <a:ea typeface="Times New Roman" panose="02020603050405020304" pitchFamily="18" charset="0"/>
                <a:cs typeface="Times New Roman" panose="02020603050405020304" pitchFamily="18" charset="0"/>
              </a:rPr>
              <a:t>seorang</a:t>
            </a:r>
            <a:r>
              <a:rPr lang="en-US" dirty="0">
                <a:latin typeface="Arial" panose="020B0604020202020204" pitchFamily="34" charset="0"/>
                <a:ea typeface="Times New Roman" panose="02020603050405020304" pitchFamily="18" charset="0"/>
                <a:cs typeface="Times New Roman" panose="02020603050405020304" pitchFamily="18" charset="0"/>
              </a:rPr>
              <a:t> ASN.</a:t>
            </a:r>
            <a:endParaRPr lang="id-ID" sz="1600" dirty="0">
              <a:effectLst/>
              <a:latin typeface="VAG Rounded Lt"/>
              <a:ea typeface="Times New Roman" panose="02020603050405020304" pitchFamily="18" charset="0"/>
              <a:cs typeface="Times New Roman" panose="02020603050405020304" pitchFamily="18" charset="0"/>
            </a:endParaRPr>
          </a:p>
        </p:txBody>
      </p:sp>
    </p:spTree>
  </p:cSld>
  <p:clrMapOvr>
    <a:masterClrMapping/>
  </p:clrMapOvr>
  <p:transition spd="slow">
    <p:cu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Shape 331"/>
          <p:cNvSpPr txBox="1">
            <a:spLocks noGrp="1"/>
          </p:cNvSpPr>
          <p:nvPr>
            <p:ph type="subTitle" idx="4294967295"/>
          </p:nvPr>
        </p:nvSpPr>
        <p:spPr>
          <a:xfrm>
            <a:off x="2403749" y="2859165"/>
            <a:ext cx="5021399" cy="784799"/>
          </a:xfrm>
          <a:prstGeom prst="rect">
            <a:avLst/>
          </a:prstGeom>
          <a:noFill/>
          <a:ln>
            <a:noFill/>
          </a:ln>
        </p:spPr>
        <p:txBody>
          <a:bodyPr lIns="91425" tIns="91425" rIns="91425" bIns="91425" anchor="t" anchorCtr="0">
            <a:noAutofit/>
          </a:bodyPr>
          <a:lstStyle/>
          <a:p>
            <a:pPr lvl="0" rtl="0">
              <a:spcBef>
                <a:spcPts val="0"/>
              </a:spcBef>
              <a:buNone/>
            </a:pPr>
            <a:r>
              <a:rPr lang="en" sz="3600" b="1" i="1" dirty="0">
                <a:latin typeface="Lora"/>
                <a:ea typeface="Lora"/>
                <a:cs typeface="Lora"/>
                <a:sym typeface="Lora"/>
              </a:rPr>
              <a:t>Any questions ?</a:t>
            </a:r>
          </a:p>
          <a:p>
            <a:pPr lvl="0" rtl="0">
              <a:spcBef>
                <a:spcPts val="0"/>
              </a:spcBef>
              <a:buNone/>
            </a:pPr>
            <a:endParaRPr sz="1800" dirty="0">
              <a:solidFill>
                <a:schemeClr val="dk1"/>
              </a:solidFill>
            </a:endParaRPr>
          </a:p>
        </p:txBody>
      </p:sp>
      <p:cxnSp>
        <p:nvCxnSpPr>
          <p:cNvPr id="332" name="Shape 332"/>
          <p:cNvCxnSpPr/>
          <p:nvPr/>
        </p:nvCxnSpPr>
        <p:spPr>
          <a:xfrm>
            <a:off x="6450" y="1428750"/>
            <a:ext cx="2397299" cy="0"/>
          </a:xfrm>
          <a:prstGeom prst="straightConnector1">
            <a:avLst/>
          </a:prstGeom>
          <a:noFill/>
          <a:ln w="9525" cap="flat" cmpd="sng">
            <a:solidFill>
              <a:srgbClr val="CCCCCC"/>
            </a:solidFill>
            <a:prstDash val="solid"/>
            <a:round/>
            <a:headEnd type="none" w="lg" len="lg"/>
            <a:tailEnd type="none" w="lg" len="lg"/>
          </a:ln>
        </p:spPr>
      </p:cxnSp>
      <p:sp>
        <p:nvSpPr>
          <p:cNvPr id="333" name="Shape 333"/>
          <p:cNvSpPr txBox="1">
            <a:spLocks noGrp="1"/>
          </p:cNvSpPr>
          <p:nvPr>
            <p:ph type="ctrTitle" idx="4294967295"/>
          </p:nvPr>
        </p:nvSpPr>
        <p:spPr>
          <a:xfrm>
            <a:off x="2371625" y="816550"/>
            <a:ext cx="4908000" cy="1159799"/>
          </a:xfrm>
          <a:prstGeom prst="rect">
            <a:avLst/>
          </a:prstGeom>
          <a:noFill/>
          <a:ln>
            <a:noFill/>
          </a:ln>
        </p:spPr>
        <p:txBody>
          <a:bodyPr lIns="91425" tIns="91425" rIns="91425" bIns="91425" anchor="ctr" anchorCtr="0">
            <a:noAutofit/>
          </a:bodyPr>
          <a:lstStyle/>
          <a:p>
            <a:pPr lvl="0" rtl="0">
              <a:spcBef>
                <a:spcPts val="0"/>
              </a:spcBef>
              <a:buNone/>
            </a:pPr>
            <a:r>
              <a:rPr lang="en" sz="6000" dirty="0"/>
              <a:t>Thanks!</a:t>
            </a:r>
          </a:p>
        </p:txBody>
      </p:sp>
      <p:cxnSp>
        <p:nvCxnSpPr>
          <p:cNvPr id="334" name="Shape 334"/>
          <p:cNvCxnSpPr/>
          <p:nvPr/>
        </p:nvCxnSpPr>
        <p:spPr>
          <a:xfrm>
            <a:off x="5589800" y="1428750"/>
            <a:ext cx="3554100" cy="0"/>
          </a:xfrm>
          <a:prstGeom prst="straightConnector1">
            <a:avLst/>
          </a:prstGeom>
          <a:noFill/>
          <a:ln w="9525" cap="flat" cmpd="sng">
            <a:solidFill>
              <a:srgbClr val="CCCCCC"/>
            </a:solidFill>
            <a:prstDash val="solid"/>
            <a:round/>
            <a:headEnd type="none" w="lg" len="lg"/>
            <a:tailEnd type="none" w="lg" len="lg"/>
          </a:ln>
        </p:spPr>
      </p:cxnSp>
      <p:sp>
        <p:nvSpPr>
          <p:cNvPr id="335" name="Shape 335"/>
          <p:cNvSpPr/>
          <p:nvPr/>
        </p:nvSpPr>
        <p:spPr>
          <a:xfrm>
            <a:off x="831925" y="859175"/>
            <a:ext cx="1139100" cy="1139100"/>
          </a:xfrm>
          <a:prstGeom prst="ellipse">
            <a:avLst/>
          </a:prstGeom>
          <a:solidFill>
            <a:srgbClr val="FFCD00"/>
          </a:solidFill>
          <a:ln>
            <a:noFill/>
          </a:ln>
        </p:spPr>
        <p:txBody>
          <a:bodyPr lIns="91425" tIns="91425" rIns="91425" bIns="91425" anchor="ctr" anchorCtr="0">
            <a:noAutofit/>
          </a:bodyPr>
          <a:lstStyle/>
          <a:p>
            <a:pPr>
              <a:spcBef>
                <a:spcPts val="0"/>
              </a:spcBef>
              <a:buNone/>
            </a:pPr>
            <a:endParaRPr/>
          </a:p>
        </p:txBody>
      </p:sp>
      <p:grpSp>
        <p:nvGrpSpPr>
          <p:cNvPr id="336" name="Shape 336"/>
          <p:cNvGrpSpPr/>
          <p:nvPr/>
        </p:nvGrpSpPr>
        <p:grpSpPr>
          <a:xfrm>
            <a:off x="1148888" y="1190759"/>
            <a:ext cx="505722" cy="475767"/>
            <a:chOff x="5972700" y="2330200"/>
            <a:chExt cx="411625" cy="387275"/>
          </a:xfrm>
        </p:grpSpPr>
        <p:sp>
          <p:nvSpPr>
            <p:cNvPr id="337" name="Shape 337"/>
            <p:cNvSpPr/>
            <p:nvPr/>
          </p:nvSpPr>
          <p:spPr>
            <a:xfrm>
              <a:off x="5972700" y="2476950"/>
              <a:ext cx="98050" cy="219825"/>
            </a:xfrm>
            <a:custGeom>
              <a:avLst/>
              <a:gdLst/>
              <a:ahLst/>
              <a:cxnLst/>
              <a:rect l="0" t="0" r="0" b="0"/>
              <a:pathLst>
                <a:path w="3922" h="8793" fill="none" extrusionOk="0">
                  <a:moveTo>
                    <a:pt x="0" y="0"/>
                  </a:moveTo>
                  <a:lnTo>
                    <a:pt x="0" y="8792"/>
                  </a:lnTo>
                  <a:lnTo>
                    <a:pt x="3921" y="8792"/>
                  </a:lnTo>
                  <a:lnTo>
                    <a:pt x="3921" y="0"/>
                  </a:lnTo>
                  <a:lnTo>
                    <a:pt x="0" y="0"/>
                  </a:lnTo>
                  <a:close/>
                  <a:moveTo>
                    <a:pt x="2411" y="2411"/>
                  </a:moveTo>
                  <a:lnTo>
                    <a:pt x="2411" y="2411"/>
                  </a:lnTo>
                  <a:lnTo>
                    <a:pt x="2265" y="2387"/>
                  </a:lnTo>
                  <a:lnTo>
                    <a:pt x="2143" y="2363"/>
                  </a:lnTo>
                  <a:lnTo>
                    <a:pt x="2022" y="2290"/>
                  </a:lnTo>
                  <a:lnTo>
                    <a:pt x="1924" y="2216"/>
                  </a:lnTo>
                  <a:lnTo>
                    <a:pt x="1827" y="2095"/>
                  </a:lnTo>
                  <a:lnTo>
                    <a:pt x="1754" y="1973"/>
                  </a:lnTo>
                  <a:lnTo>
                    <a:pt x="1729" y="1851"/>
                  </a:lnTo>
                  <a:lnTo>
                    <a:pt x="1705" y="1705"/>
                  </a:lnTo>
                  <a:lnTo>
                    <a:pt x="1705" y="1705"/>
                  </a:lnTo>
                  <a:lnTo>
                    <a:pt x="1729" y="1559"/>
                  </a:lnTo>
                  <a:lnTo>
                    <a:pt x="1754" y="1437"/>
                  </a:lnTo>
                  <a:lnTo>
                    <a:pt x="1827" y="1315"/>
                  </a:lnTo>
                  <a:lnTo>
                    <a:pt x="1924" y="1218"/>
                  </a:lnTo>
                  <a:lnTo>
                    <a:pt x="2022" y="1120"/>
                  </a:lnTo>
                  <a:lnTo>
                    <a:pt x="2143" y="1072"/>
                  </a:lnTo>
                  <a:lnTo>
                    <a:pt x="2265" y="1023"/>
                  </a:lnTo>
                  <a:lnTo>
                    <a:pt x="2411" y="999"/>
                  </a:lnTo>
                  <a:lnTo>
                    <a:pt x="2411" y="999"/>
                  </a:lnTo>
                  <a:lnTo>
                    <a:pt x="2557" y="1023"/>
                  </a:lnTo>
                  <a:lnTo>
                    <a:pt x="2679" y="1072"/>
                  </a:lnTo>
                  <a:lnTo>
                    <a:pt x="2801" y="1120"/>
                  </a:lnTo>
                  <a:lnTo>
                    <a:pt x="2898" y="1218"/>
                  </a:lnTo>
                  <a:lnTo>
                    <a:pt x="2996" y="1315"/>
                  </a:lnTo>
                  <a:lnTo>
                    <a:pt x="3069" y="1437"/>
                  </a:lnTo>
                  <a:lnTo>
                    <a:pt x="3093" y="1559"/>
                  </a:lnTo>
                  <a:lnTo>
                    <a:pt x="3118" y="1705"/>
                  </a:lnTo>
                  <a:lnTo>
                    <a:pt x="3118" y="1705"/>
                  </a:lnTo>
                  <a:lnTo>
                    <a:pt x="3093" y="1851"/>
                  </a:lnTo>
                  <a:lnTo>
                    <a:pt x="3069" y="1973"/>
                  </a:lnTo>
                  <a:lnTo>
                    <a:pt x="2996" y="2095"/>
                  </a:lnTo>
                  <a:lnTo>
                    <a:pt x="2898" y="2216"/>
                  </a:lnTo>
                  <a:lnTo>
                    <a:pt x="2801" y="2290"/>
                  </a:lnTo>
                  <a:lnTo>
                    <a:pt x="2679" y="2363"/>
                  </a:lnTo>
                  <a:lnTo>
                    <a:pt x="2557" y="2387"/>
                  </a:lnTo>
                  <a:lnTo>
                    <a:pt x="2411" y="2411"/>
                  </a:lnTo>
                  <a:lnTo>
                    <a:pt x="2411" y="2411"/>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338" name="Shape 338"/>
            <p:cNvSpPr/>
            <p:nvPr/>
          </p:nvSpPr>
          <p:spPr>
            <a:xfrm>
              <a:off x="6078025" y="2330200"/>
              <a:ext cx="306300" cy="387275"/>
            </a:xfrm>
            <a:custGeom>
              <a:avLst/>
              <a:gdLst/>
              <a:ahLst/>
              <a:cxnLst/>
              <a:rect l="0" t="0" r="0" b="0"/>
              <a:pathLst>
                <a:path w="12252" h="15491" fill="none" extrusionOk="0">
                  <a:moveTo>
                    <a:pt x="1" y="13396"/>
                  </a:moveTo>
                  <a:lnTo>
                    <a:pt x="1511" y="13396"/>
                  </a:lnTo>
                  <a:lnTo>
                    <a:pt x="1511" y="13396"/>
                  </a:lnTo>
                  <a:lnTo>
                    <a:pt x="1998" y="13639"/>
                  </a:lnTo>
                  <a:lnTo>
                    <a:pt x="2680" y="13932"/>
                  </a:lnTo>
                  <a:lnTo>
                    <a:pt x="3556" y="14273"/>
                  </a:lnTo>
                  <a:lnTo>
                    <a:pt x="4531" y="14638"/>
                  </a:lnTo>
                  <a:lnTo>
                    <a:pt x="5578" y="14955"/>
                  </a:lnTo>
                  <a:lnTo>
                    <a:pt x="6114" y="15101"/>
                  </a:lnTo>
                  <a:lnTo>
                    <a:pt x="6650" y="15222"/>
                  </a:lnTo>
                  <a:lnTo>
                    <a:pt x="7161" y="15344"/>
                  </a:lnTo>
                  <a:lnTo>
                    <a:pt x="7672" y="15417"/>
                  </a:lnTo>
                  <a:lnTo>
                    <a:pt x="8135" y="15466"/>
                  </a:lnTo>
                  <a:lnTo>
                    <a:pt x="8598" y="15490"/>
                  </a:lnTo>
                  <a:lnTo>
                    <a:pt x="8598" y="15490"/>
                  </a:lnTo>
                  <a:lnTo>
                    <a:pt x="9377" y="15490"/>
                  </a:lnTo>
                  <a:lnTo>
                    <a:pt x="9791" y="15466"/>
                  </a:lnTo>
                  <a:lnTo>
                    <a:pt x="10181" y="15417"/>
                  </a:lnTo>
                  <a:lnTo>
                    <a:pt x="10522" y="15320"/>
                  </a:lnTo>
                  <a:lnTo>
                    <a:pt x="10692" y="15271"/>
                  </a:lnTo>
                  <a:lnTo>
                    <a:pt x="10814" y="15222"/>
                  </a:lnTo>
                  <a:lnTo>
                    <a:pt x="10936" y="15149"/>
                  </a:lnTo>
                  <a:lnTo>
                    <a:pt x="11033" y="15052"/>
                  </a:lnTo>
                  <a:lnTo>
                    <a:pt x="11082" y="14955"/>
                  </a:lnTo>
                  <a:lnTo>
                    <a:pt x="11131" y="14833"/>
                  </a:lnTo>
                  <a:lnTo>
                    <a:pt x="11204" y="14126"/>
                  </a:lnTo>
                  <a:lnTo>
                    <a:pt x="11204" y="14126"/>
                  </a:lnTo>
                  <a:lnTo>
                    <a:pt x="11180" y="13956"/>
                  </a:lnTo>
                  <a:lnTo>
                    <a:pt x="11131" y="13810"/>
                  </a:lnTo>
                  <a:lnTo>
                    <a:pt x="11033" y="13664"/>
                  </a:lnTo>
                  <a:lnTo>
                    <a:pt x="10887" y="13542"/>
                  </a:lnTo>
                  <a:lnTo>
                    <a:pt x="10887" y="13542"/>
                  </a:lnTo>
                  <a:lnTo>
                    <a:pt x="11009" y="13518"/>
                  </a:lnTo>
                  <a:lnTo>
                    <a:pt x="11131" y="13469"/>
                  </a:lnTo>
                  <a:lnTo>
                    <a:pt x="11253" y="13420"/>
                  </a:lnTo>
                  <a:lnTo>
                    <a:pt x="11350" y="13323"/>
                  </a:lnTo>
                  <a:lnTo>
                    <a:pt x="11423" y="13225"/>
                  </a:lnTo>
                  <a:lnTo>
                    <a:pt x="11496" y="13104"/>
                  </a:lnTo>
                  <a:lnTo>
                    <a:pt x="11545" y="12957"/>
                  </a:lnTo>
                  <a:lnTo>
                    <a:pt x="11569" y="12836"/>
                  </a:lnTo>
                  <a:lnTo>
                    <a:pt x="11642" y="11959"/>
                  </a:lnTo>
                  <a:lnTo>
                    <a:pt x="11642" y="11959"/>
                  </a:lnTo>
                  <a:lnTo>
                    <a:pt x="11642" y="11837"/>
                  </a:lnTo>
                  <a:lnTo>
                    <a:pt x="11642" y="11740"/>
                  </a:lnTo>
                  <a:lnTo>
                    <a:pt x="11618" y="11618"/>
                  </a:lnTo>
                  <a:lnTo>
                    <a:pt x="11569" y="11521"/>
                  </a:lnTo>
                  <a:lnTo>
                    <a:pt x="11447" y="11350"/>
                  </a:lnTo>
                  <a:lnTo>
                    <a:pt x="11374" y="11277"/>
                  </a:lnTo>
                  <a:lnTo>
                    <a:pt x="11301" y="11204"/>
                  </a:lnTo>
                  <a:lnTo>
                    <a:pt x="11301" y="11204"/>
                  </a:lnTo>
                  <a:lnTo>
                    <a:pt x="11423" y="11180"/>
                  </a:lnTo>
                  <a:lnTo>
                    <a:pt x="11521" y="11131"/>
                  </a:lnTo>
                  <a:lnTo>
                    <a:pt x="11618" y="11058"/>
                  </a:lnTo>
                  <a:lnTo>
                    <a:pt x="11715" y="10960"/>
                  </a:lnTo>
                  <a:lnTo>
                    <a:pt x="11788" y="10863"/>
                  </a:lnTo>
                  <a:lnTo>
                    <a:pt x="11837" y="10766"/>
                  </a:lnTo>
                  <a:lnTo>
                    <a:pt x="11886" y="10644"/>
                  </a:lnTo>
                  <a:lnTo>
                    <a:pt x="11910" y="10498"/>
                  </a:lnTo>
                  <a:lnTo>
                    <a:pt x="11983" y="9645"/>
                  </a:lnTo>
                  <a:lnTo>
                    <a:pt x="11983" y="9645"/>
                  </a:lnTo>
                  <a:lnTo>
                    <a:pt x="11983" y="9523"/>
                  </a:lnTo>
                  <a:lnTo>
                    <a:pt x="11983" y="9402"/>
                  </a:lnTo>
                  <a:lnTo>
                    <a:pt x="11959" y="9280"/>
                  </a:lnTo>
                  <a:lnTo>
                    <a:pt x="11910" y="9182"/>
                  </a:lnTo>
                  <a:lnTo>
                    <a:pt x="11861" y="9085"/>
                  </a:lnTo>
                  <a:lnTo>
                    <a:pt x="11788" y="9012"/>
                  </a:lnTo>
                  <a:lnTo>
                    <a:pt x="11715" y="8939"/>
                  </a:lnTo>
                  <a:lnTo>
                    <a:pt x="11618" y="8866"/>
                  </a:lnTo>
                  <a:lnTo>
                    <a:pt x="11618" y="8866"/>
                  </a:lnTo>
                  <a:lnTo>
                    <a:pt x="11715" y="8841"/>
                  </a:lnTo>
                  <a:lnTo>
                    <a:pt x="11813" y="8768"/>
                  </a:lnTo>
                  <a:lnTo>
                    <a:pt x="11910" y="8695"/>
                  </a:lnTo>
                  <a:lnTo>
                    <a:pt x="11983" y="8622"/>
                  </a:lnTo>
                  <a:lnTo>
                    <a:pt x="12056" y="8525"/>
                  </a:lnTo>
                  <a:lnTo>
                    <a:pt x="12105" y="8427"/>
                  </a:lnTo>
                  <a:lnTo>
                    <a:pt x="12129" y="8306"/>
                  </a:lnTo>
                  <a:lnTo>
                    <a:pt x="12154" y="8184"/>
                  </a:lnTo>
                  <a:lnTo>
                    <a:pt x="12251" y="7307"/>
                  </a:lnTo>
                  <a:lnTo>
                    <a:pt x="12251" y="7307"/>
                  </a:lnTo>
                  <a:lnTo>
                    <a:pt x="12227" y="7185"/>
                  </a:lnTo>
                  <a:lnTo>
                    <a:pt x="12202" y="7064"/>
                  </a:lnTo>
                  <a:lnTo>
                    <a:pt x="12154" y="6966"/>
                  </a:lnTo>
                  <a:lnTo>
                    <a:pt x="12105" y="6869"/>
                  </a:lnTo>
                  <a:lnTo>
                    <a:pt x="12032" y="6771"/>
                  </a:lnTo>
                  <a:lnTo>
                    <a:pt x="11935" y="6698"/>
                  </a:lnTo>
                  <a:lnTo>
                    <a:pt x="11715" y="6552"/>
                  </a:lnTo>
                  <a:lnTo>
                    <a:pt x="11472" y="6430"/>
                  </a:lnTo>
                  <a:lnTo>
                    <a:pt x="11180" y="6333"/>
                  </a:lnTo>
                  <a:lnTo>
                    <a:pt x="10863" y="6260"/>
                  </a:lnTo>
                  <a:lnTo>
                    <a:pt x="10546" y="6211"/>
                  </a:lnTo>
                  <a:lnTo>
                    <a:pt x="10546" y="6211"/>
                  </a:lnTo>
                  <a:lnTo>
                    <a:pt x="9864" y="6114"/>
                  </a:lnTo>
                  <a:lnTo>
                    <a:pt x="8817" y="6016"/>
                  </a:lnTo>
                  <a:lnTo>
                    <a:pt x="7575" y="5943"/>
                  </a:lnTo>
                  <a:lnTo>
                    <a:pt x="6309" y="5870"/>
                  </a:lnTo>
                  <a:lnTo>
                    <a:pt x="6309" y="5870"/>
                  </a:lnTo>
                  <a:lnTo>
                    <a:pt x="6479" y="5578"/>
                  </a:lnTo>
                  <a:lnTo>
                    <a:pt x="6625" y="5237"/>
                  </a:lnTo>
                  <a:lnTo>
                    <a:pt x="6771" y="4872"/>
                  </a:lnTo>
                  <a:lnTo>
                    <a:pt x="6869" y="4482"/>
                  </a:lnTo>
                  <a:lnTo>
                    <a:pt x="6966" y="4092"/>
                  </a:lnTo>
                  <a:lnTo>
                    <a:pt x="7064" y="3678"/>
                  </a:lnTo>
                  <a:lnTo>
                    <a:pt x="7161" y="2875"/>
                  </a:lnTo>
                  <a:lnTo>
                    <a:pt x="7234" y="2144"/>
                  </a:lnTo>
                  <a:lnTo>
                    <a:pt x="7283" y="1535"/>
                  </a:lnTo>
                  <a:lnTo>
                    <a:pt x="7283" y="975"/>
                  </a:lnTo>
                  <a:lnTo>
                    <a:pt x="7283" y="975"/>
                  </a:lnTo>
                  <a:lnTo>
                    <a:pt x="7283" y="804"/>
                  </a:lnTo>
                  <a:lnTo>
                    <a:pt x="7210" y="609"/>
                  </a:lnTo>
                  <a:lnTo>
                    <a:pt x="7137" y="463"/>
                  </a:lnTo>
                  <a:lnTo>
                    <a:pt x="7015" y="317"/>
                  </a:lnTo>
                  <a:lnTo>
                    <a:pt x="6869" y="171"/>
                  </a:lnTo>
                  <a:lnTo>
                    <a:pt x="6698" y="98"/>
                  </a:lnTo>
                  <a:lnTo>
                    <a:pt x="6503" y="25"/>
                  </a:lnTo>
                  <a:lnTo>
                    <a:pt x="6309" y="1"/>
                  </a:lnTo>
                  <a:lnTo>
                    <a:pt x="6309" y="1"/>
                  </a:lnTo>
                  <a:lnTo>
                    <a:pt x="5943" y="25"/>
                  </a:lnTo>
                  <a:lnTo>
                    <a:pt x="5700" y="74"/>
                  </a:lnTo>
                  <a:lnTo>
                    <a:pt x="5505" y="147"/>
                  </a:lnTo>
                  <a:lnTo>
                    <a:pt x="5359" y="220"/>
                  </a:lnTo>
                  <a:lnTo>
                    <a:pt x="5359" y="220"/>
                  </a:lnTo>
                  <a:lnTo>
                    <a:pt x="4969" y="1462"/>
                  </a:lnTo>
                  <a:lnTo>
                    <a:pt x="4774" y="2022"/>
                  </a:lnTo>
                  <a:lnTo>
                    <a:pt x="4579" y="2534"/>
                  </a:lnTo>
                  <a:lnTo>
                    <a:pt x="4385" y="2996"/>
                  </a:lnTo>
                  <a:lnTo>
                    <a:pt x="4190" y="3386"/>
                  </a:lnTo>
                  <a:lnTo>
                    <a:pt x="4019" y="3678"/>
                  </a:lnTo>
                  <a:lnTo>
                    <a:pt x="3873" y="3922"/>
                  </a:lnTo>
                  <a:lnTo>
                    <a:pt x="3873" y="3922"/>
                  </a:lnTo>
                  <a:lnTo>
                    <a:pt x="3654" y="4141"/>
                  </a:lnTo>
                  <a:lnTo>
                    <a:pt x="3313" y="4482"/>
                  </a:lnTo>
                  <a:lnTo>
                    <a:pt x="2509" y="5237"/>
                  </a:lnTo>
                  <a:lnTo>
                    <a:pt x="1438" y="6211"/>
                  </a:lnTo>
                  <a:lnTo>
                    <a:pt x="1" y="6211"/>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3" name="Rectangle 2"/>
          <p:cNvSpPr/>
          <p:nvPr/>
        </p:nvSpPr>
        <p:spPr>
          <a:xfrm>
            <a:off x="326532" y="3784561"/>
            <a:ext cx="8680168" cy="1015663"/>
          </a:xfrm>
          <a:prstGeom prst="rect">
            <a:avLst/>
          </a:prstGeom>
        </p:spPr>
        <p:txBody>
          <a:bodyPr wrap="square">
            <a:spAutoFit/>
          </a:bodyPr>
          <a:lstStyle/>
          <a:p>
            <a:r>
              <a:rPr lang="id-ID" sz="1200" i="1" dirty="0">
                <a:latin typeface="Arial" panose="020B0604020202020204" pitchFamily="34" charset="0"/>
                <a:cs typeface="Arial" panose="020B0604020202020204" pitchFamily="34" charset="0"/>
              </a:rPr>
              <a:t>“</a:t>
            </a:r>
            <a:r>
              <a:rPr lang="id-ID" sz="1200" b="1" i="1" dirty="0">
                <a:latin typeface="Arial" panose="020B0604020202020204" pitchFamily="34" charset="0"/>
                <a:cs typeface="Arial" panose="020B0604020202020204" pitchFamily="34" charset="0"/>
              </a:rPr>
              <a:t>Barang siapa yang melepaskan satu kesusahan seorang mukmin, pasti Allah akan melepaskan darinya satu kesusahan pada hari kiamat. Barang siapa yang menjadikan mudah urusan orang lain, pasti Allah akan memudahkannya di dunia dan di akhirat</a:t>
            </a:r>
            <a:r>
              <a:rPr lang="id-ID" sz="1200" i="1" dirty="0">
                <a:latin typeface="Arial" panose="020B0604020202020204" pitchFamily="34" charset="0"/>
                <a:cs typeface="Arial" panose="020B0604020202020204" pitchFamily="34" charset="0"/>
              </a:rPr>
              <a:t>. Barang siapa yang menutupi aib seorang muslim, pasti Allah akan menutupi aibnya di dunia dan di akhirat. </a:t>
            </a:r>
            <a:r>
              <a:rPr lang="id-ID" sz="1200" b="1" i="1" dirty="0">
                <a:latin typeface="Arial" panose="020B0604020202020204" pitchFamily="34" charset="0"/>
                <a:cs typeface="Arial" panose="020B0604020202020204" pitchFamily="34" charset="0"/>
              </a:rPr>
              <a:t>Allah senantiasa menolong hamba Nya selama hamba Nya itu suka menolong saudaranya</a:t>
            </a:r>
            <a:r>
              <a:rPr lang="id-ID" sz="1200" i="1" dirty="0">
                <a:latin typeface="Arial" panose="020B0604020202020204" pitchFamily="34" charset="0"/>
                <a:cs typeface="Arial" panose="020B0604020202020204" pitchFamily="34" charset="0"/>
              </a:rPr>
              <a:t>”. (HR. </a:t>
            </a:r>
            <a:r>
              <a:rPr lang="id-ID" sz="1200" i="1" dirty="0" smtClean="0">
                <a:latin typeface="Arial" panose="020B0604020202020204" pitchFamily="34" charset="0"/>
                <a:cs typeface="Arial" panose="020B0604020202020204" pitchFamily="34" charset="0"/>
              </a:rPr>
              <a:t>Muslim</a:t>
            </a:r>
            <a:r>
              <a:rPr lang="en-US" sz="1200" i="1" dirty="0" smtClean="0">
                <a:latin typeface="Arial" panose="020B0604020202020204" pitchFamily="34" charset="0"/>
                <a:cs typeface="Arial" panose="020B0604020202020204" pitchFamily="34" charset="0"/>
              </a:rPr>
              <a:t>)</a:t>
            </a:r>
            <a:endParaRPr lang="id-ID" sz="1200" i="1" dirty="0">
              <a:latin typeface="Arial" panose="020B0604020202020204" pitchFamily="34" charset="0"/>
              <a:cs typeface="Arial" panose="020B0604020202020204" pitchFamily="34" charset="0"/>
            </a:endParaRPr>
          </a:p>
        </p:txBody>
      </p:sp>
      <p:sp>
        <p:nvSpPr>
          <p:cNvPr id="12" name="Rectangle 11"/>
          <p:cNvSpPr/>
          <p:nvPr/>
        </p:nvSpPr>
        <p:spPr>
          <a:xfrm>
            <a:off x="2668953" y="2380014"/>
            <a:ext cx="1997663" cy="338554"/>
          </a:xfrm>
          <a:prstGeom prst="rect">
            <a:avLst/>
          </a:prstGeom>
        </p:spPr>
        <p:txBody>
          <a:bodyPr wrap="none">
            <a:spAutoFit/>
          </a:bodyPr>
          <a:lstStyle/>
          <a:p>
            <a:pPr lvl="0"/>
            <a:r>
              <a:rPr lang="id-ID" sz="1600" b="1" dirty="0">
                <a:solidFill>
                  <a:schemeClr val="dk1"/>
                </a:solidFill>
              </a:rPr>
              <a:t>B</a:t>
            </a:r>
            <a:r>
              <a:rPr lang="en" sz="1600" b="1" dirty="0">
                <a:solidFill>
                  <a:schemeClr val="dk1"/>
                </a:solidFill>
              </a:rPr>
              <a:t>ack to moderator</a:t>
            </a:r>
          </a:p>
        </p:txBody>
      </p:sp>
    </p:spTree>
    <p:extLst>
      <p:ext uri="{BB962C8B-B14F-4D97-AF65-F5344CB8AC3E}">
        <p14:creationId xmlns:p14="http://schemas.microsoft.com/office/powerpoint/2010/main" val="3707460649"/>
      </p:ext>
    </p:extLst>
  </p:cSld>
  <p:clrMapOvr>
    <a:masterClrMapping/>
  </p:clrMapOvr>
  <p:transition spd="slow">
    <p:cut/>
  </p:transition>
  <p:timing>
    <p:tnLst>
      <p:par>
        <p:cTn id="1" dur="indefinite" restart="never" nodeType="tmRoot"/>
      </p:par>
    </p:tnLst>
  </p:timing>
</p:sld>
</file>

<file path=ppt/theme/theme1.xml><?xml version="1.0" encoding="utf-8"?>
<a:theme xmlns:a="http://schemas.openxmlformats.org/drawingml/2006/main" name="Viola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771</TotalTime>
  <Words>1828</Words>
  <Application>Microsoft Office PowerPoint</Application>
  <PresentationFormat>On-screen Show (16:9)</PresentationFormat>
  <Paragraphs>253</Paragraphs>
  <Slides>34</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Lora</vt:lpstr>
      <vt:lpstr>Quattrocento Sans</vt:lpstr>
      <vt:lpstr>Times New Roman</vt:lpstr>
      <vt:lpstr>VAG Rounded Lt</vt:lpstr>
      <vt:lpstr>Viola template</vt:lpstr>
      <vt:lpstr>LAPORAN AKTUALISASI NILAI-NILAI DASAR PROFESI PEGAWAI NEGERI SIPIL PADA SEKSI IPDS BPS KOTA BONTANG PROVINSI KALIMANTAN TIMUR</vt:lpstr>
      <vt:lpstr>Hello!</vt:lpstr>
      <vt:lpstr>PowerPoint Presentation</vt:lpstr>
      <vt:lpstr>8-25 Agustus 2016</vt:lpstr>
      <vt:lpstr>Outline</vt:lpstr>
      <vt:lpstr>PowerPoint Presentation</vt:lpstr>
      <vt:lpstr>PowerPoint Presentation</vt:lpstr>
      <vt:lpstr>PowerPoint Presentation</vt:lpstr>
      <vt:lpstr>Akuntabilitas</vt:lpstr>
      <vt:lpstr>Tanggung Jawab</vt:lpstr>
      <vt:lpstr>Laporan</vt:lpstr>
      <vt:lpstr>Kejelasan</vt:lpstr>
      <vt:lpstr>Penggunaan Sumber Daya Milik Negara</vt:lpstr>
      <vt:lpstr>Nasionalisme</vt:lpstr>
      <vt:lpstr>Takwa</vt:lpstr>
      <vt:lpstr>Ikhlas</vt:lpstr>
      <vt:lpstr>Rela Berkorban</vt:lpstr>
      <vt:lpstr>Etika Publik</vt:lpstr>
      <vt:lpstr>Sopan Santun</vt:lpstr>
      <vt:lpstr>Komunikasi</vt:lpstr>
      <vt:lpstr>Cermat</vt:lpstr>
      <vt:lpstr>Komitmen Mutu</vt:lpstr>
      <vt:lpstr>Efektif</vt:lpstr>
      <vt:lpstr>Efisien</vt:lpstr>
      <vt:lpstr>Inovasi</vt:lpstr>
      <vt:lpstr>Orientasi Mutu</vt:lpstr>
      <vt:lpstr>Anti Korupsi</vt:lpstr>
      <vt:lpstr>Disiplin</vt:lpstr>
      <vt:lpstr>Mandiri</vt:lpstr>
      <vt:lpstr>Jujur</vt:lpstr>
      <vt:lpstr>PowerPoint Presentation</vt:lpstr>
      <vt:lpstr>Thanks!</vt:lpstr>
      <vt:lpstr>PowerPoint Presentation</vt:lpstr>
      <vt:lpstr>Thanks!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RANCANGAN AKTUALISASI NILAI-NILAI DASAR PROFESI PEGAWAI NEGERI SIPIL PADA SEKSI IPDS BPS KOTA BONTANG</dc:title>
  <dc:creator>haidir magribi</dc:creator>
  <cp:lastModifiedBy>haidir magribi</cp:lastModifiedBy>
  <cp:revision>196</cp:revision>
  <dcterms:modified xsi:type="dcterms:W3CDTF">2016-08-29T02:26:04Z</dcterms:modified>
</cp:coreProperties>
</file>